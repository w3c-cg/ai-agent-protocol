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e7ea039aed143c6" /><Relationship Type="http://schemas.openxmlformats.org/officeDocument/2006/relationships/extended-properties" Target="/docProps/app.xml" Id="R0bdfe4e7e9024b08" /><Relationship Type="http://schemas.openxmlformats.org/officeDocument/2006/relationships/officeDocument" Target="/ppt/presentation.xml" Id="R4d5e76403aa94b81" /></Relationships>
</file>

<file path=ppt/presentation.xml><?xml version="1.0" encoding="utf-8"?>
<p:presentation xmlns:p="http://schemas.openxmlformats.org/presentationml/2006/main">
  <p:sldMasterIdLst>
    <p:sldMasterId xmlns:r="http://schemas.openxmlformats.org/officeDocument/2006/relationships" id="2147483648" r:id="R73f52130beba4894"/>
  </p:sldMasterIdLst>
  <p:notesMasterIdLst>
    <p:notesMasterId xmlns:r="http://schemas.openxmlformats.org/officeDocument/2006/relationships" r:id="Rd6937cf5851f4313"/>
  </p:notesMasterIdLst>
  <p:sldIdLst>
    <p:sldId xmlns:r="http://schemas.openxmlformats.org/officeDocument/2006/relationships" id="256" r:id="R99b3ea9a5983494d"/>
    <p:sldId xmlns:r="http://schemas.openxmlformats.org/officeDocument/2006/relationships" id="257" r:id="R3cb750aa70f64ef5"/>
    <p:sldId xmlns:r="http://schemas.openxmlformats.org/officeDocument/2006/relationships" id="258" r:id="Raef3a4ad945448ea"/>
    <p:sldId xmlns:r="http://schemas.openxmlformats.org/officeDocument/2006/relationships" id="259" r:id="R4766e34e2de0413d"/>
    <p:sldId xmlns:r="http://schemas.openxmlformats.org/officeDocument/2006/relationships" id="260" r:id="Rb5c7851ae6fc436b"/>
    <p:sldId xmlns:r="http://schemas.openxmlformats.org/officeDocument/2006/relationships" id="261" r:id="Rd37d9b7847554164"/>
    <p:sldId xmlns:r="http://schemas.openxmlformats.org/officeDocument/2006/relationships" id="262" r:id="Rc79f828588f44788"/>
    <p:sldId xmlns:r="http://schemas.openxmlformats.org/officeDocument/2006/relationships" id="263" r:id="R19b9323bd697435a"/>
    <p:sldId xmlns:r="http://schemas.openxmlformats.org/officeDocument/2006/relationships" id="264" r:id="Rc5d5fb4dd6194a20"/>
    <p:sldId xmlns:r="http://schemas.openxmlformats.org/officeDocument/2006/relationships" id="265" r:id="R72991d2ff038414f"/>
    <p:sldId xmlns:r="http://schemas.openxmlformats.org/officeDocument/2006/relationships" id="266" r:id="Rd86a4d6b81b845c9"/>
    <p:sldId xmlns:r="http://schemas.openxmlformats.org/officeDocument/2006/relationships" id="267" r:id="R2fc01ee78ba54be4"/>
    <p:sldId xmlns:r="http://schemas.openxmlformats.org/officeDocument/2006/relationships" id="268" r:id="Re335e5459c834197"/>
    <p:sldId xmlns:r="http://schemas.openxmlformats.org/officeDocument/2006/relationships" id="269" r:id="R634af0f981ae46b6"/>
    <p:sldId xmlns:r="http://schemas.openxmlformats.org/officeDocument/2006/relationships" id="270" r:id="R63464ea7524d4338"/>
    <p:sldId xmlns:r="http://schemas.openxmlformats.org/officeDocument/2006/relationships" id="271" r:id="R515c10af73ec4a7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29878b5beea4496" /><Relationship Type="http://schemas.openxmlformats.org/officeDocument/2006/relationships/slideMaster" Target="/ppt/slideMasters/slideMaster1.xml" Id="R73f52130beba4894" /><Relationship Type="http://schemas.openxmlformats.org/officeDocument/2006/relationships/notesMaster" Target="/ppt/notesMasters/notesMaster1.xml" Id="Rd6937cf5851f4313" /><Relationship Type="http://schemas.openxmlformats.org/officeDocument/2006/relationships/presProps" Target="/ppt/presProps.xml" Id="Rc2dd648a061746ac" /><Relationship Type="http://schemas.openxmlformats.org/officeDocument/2006/relationships/tableStyles" Target="/ppt/tableStyles.xml" Id="R463da4134a6448c5" /><Relationship Type="http://schemas.openxmlformats.org/officeDocument/2006/relationships/slide" Target="/ppt/slides/slide1.xml" Id="R99b3ea9a5983494d" /><Relationship Type="http://schemas.openxmlformats.org/officeDocument/2006/relationships/slide" Target="/ppt/slides/slide2.xml" Id="R3cb750aa70f64ef5" /><Relationship Type="http://schemas.openxmlformats.org/officeDocument/2006/relationships/slide" Target="/ppt/slides/slide3.xml" Id="Raef3a4ad945448ea" /><Relationship Type="http://schemas.openxmlformats.org/officeDocument/2006/relationships/slide" Target="/ppt/slides/slide4.xml" Id="R4766e34e2de0413d" /><Relationship Type="http://schemas.openxmlformats.org/officeDocument/2006/relationships/slide" Target="/ppt/slides/slide5.xml" Id="Rb5c7851ae6fc436b" /><Relationship Type="http://schemas.openxmlformats.org/officeDocument/2006/relationships/slide" Target="/ppt/slides/slide6.xml" Id="Rd37d9b7847554164" /><Relationship Type="http://schemas.openxmlformats.org/officeDocument/2006/relationships/slide" Target="/ppt/slides/slide7.xml" Id="Rc79f828588f44788" /><Relationship Type="http://schemas.openxmlformats.org/officeDocument/2006/relationships/slide" Target="/ppt/slides/slide8.xml" Id="R19b9323bd697435a" /><Relationship Type="http://schemas.openxmlformats.org/officeDocument/2006/relationships/slide" Target="/ppt/slides/slide9.xml" Id="Rc5d5fb4dd6194a20" /><Relationship Type="http://schemas.openxmlformats.org/officeDocument/2006/relationships/slide" Target="/ppt/slides/slide10.xml" Id="R72991d2ff038414f" /><Relationship Type="http://schemas.openxmlformats.org/officeDocument/2006/relationships/slide" Target="/ppt/slides/slide11.xml" Id="Rd86a4d6b81b845c9" /><Relationship Type="http://schemas.openxmlformats.org/officeDocument/2006/relationships/slide" Target="/ppt/slides/slide12.xml" Id="R2fc01ee78ba54be4" /><Relationship Type="http://schemas.openxmlformats.org/officeDocument/2006/relationships/slide" Target="/ppt/slides/slide13.xml" Id="Re335e5459c834197" /><Relationship Type="http://schemas.openxmlformats.org/officeDocument/2006/relationships/slide" Target="/ppt/slides/slide14.xml" Id="R634af0f981ae46b6" /><Relationship Type="http://schemas.openxmlformats.org/officeDocument/2006/relationships/slide" Target="/ppt/slides/slide15.xml" Id="R63464ea7524d4338" /><Relationship Type="http://schemas.openxmlformats.org/officeDocument/2006/relationships/slide" Target="/ppt/slides/slide16.xml" Id="R515c10af73ec4a7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cc2041d8055400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0da5b98dce84927" /><Relationship Type="http://schemas.openxmlformats.org/officeDocument/2006/relationships/notesMaster" Target="/ppt/notesMasters/notesMaster1.xml" Id="Rcd46c092e6474d3f" /></Relationships>
</file>

<file path=ppt/notesSlides/_rels/notesSlide2.xml.rels>&#65279;<?xml version="1.0" encoding="utf-8"?><Relationships xmlns="http://schemas.openxmlformats.org/package/2006/relationships"><Relationship Type="http://schemas.openxmlformats.org/officeDocument/2006/relationships/slide" Target="/ppt/slides/slide2.xml" Id="Reab5410731ee4870" /><Relationship Type="http://schemas.openxmlformats.org/officeDocument/2006/relationships/notesMaster" Target="/ppt/notesMasters/notesMaster1.xml" Id="Rcf2ff98e873a4857" /></Relationships>
</file>

<file path=ppt/notesSlides/_rels/notesSlide3.xml.rels>&#65279;<?xml version="1.0" encoding="utf-8"?><Relationships xmlns="http://schemas.openxmlformats.org/package/2006/relationships"><Relationship Type="http://schemas.openxmlformats.org/officeDocument/2006/relationships/slide" Target="/ppt/slides/slide3.xml" Id="Red7a9cef00094754" /><Relationship Type="http://schemas.openxmlformats.org/officeDocument/2006/relationships/notesMaster" Target="/ppt/notesMasters/notesMaster1.xml" Id="R3aa219bb3fd04c9f" /></Relationships>
</file>

<file path=ppt/notesSlides/_rels/notesSlide4.xml.rels>&#65279;<?xml version="1.0" encoding="utf-8"?><Relationships xmlns="http://schemas.openxmlformats.org/package/2006/relationships"><Relationship Type="http://schemas.openxmlformats.org/officeDocument/2006/relationships/slide" Target="/ppt/slides/slide4.xml" Id="R2436c8b6f35749ec" /><Relationship Type="http://schemas.openxmlformats.org/officeDocument/2006/relationships/notesMaster" Target="/ppt/notesMasters/notesMaster1.xml" Id="R8e1c55a7d979443d" /></Relationships>
</file>

<file path=ppt/notesSlides/_rels/notesSlide5.xml.rels>&#65279;<?xml version="1.0" encoding="utf-8"?><Relationships xmlns="http://schemas.openxmlformats.org/package/2006/relationships"><Relationship Type="http://schemas.openxmlformats.org/officeDocument/2006/relationships/slide" Target="/ppt/slides/slide5.xml" Id="R0286ca67f0c141a9" /><Relationship Type="http://schemas.openxmlformats.org/officeDocument/2006/relationships/notesMaster" Target="/ppt/notesMasters/notesMaster1.xml" Id="Raf95ac5420d04040" /></Relationships>
</file>

<file path=ppt/notesSlides/_rels/notesSlide6.xml.rels>&#65279;<?xml version="1.0" encoding="utf-8"?><Relationships xmlns="http://schemas.openxmlformats.org/package/2006/relationships"><Relationship Type="http://schemas.openxmlformats.org/officeDocument/2006/relationships/slide" Target="/ppt/slides/slide6.xml" Id="R8c33e93494cf443b" /><Relationship Type="http://schemas.openxmlformats.org/officeDocument/2006/relationships/notesMaster" Target="/ppt/notesMasters/notesMaster1.xml" Id="Rd2ebd9feba744329" /></Relationships>
</file>

<file path=ppt/notesSlides/_rels/notesSlide7.xml.rels>&#65279;<?xml version="1.0" encoding="utf-8"?><Relationships xmlns="http://schemas.openxmlformats.org/package/2006/relationships"><Relationship Type="http://schemas.openxmlformats.org/officeDocument/2006/relationships/slide" Target="/ppt/slides/slide7.xml" Id="R7b3b49cd83ef4bfd" /><Relationship Type="http://schemas.openxmlformats.org/officeDocument/2006/relationships/notesMaster" Target="/ppt/notesMasters/notesMaster1.xml" Id="Rb926776da5494571" /></Relationships>
</file>

<file path=ppt/notesSlides/_rels/notesSlide8.xml.rels>&#65279;<?xml version="1.0" encoding="utf-8"?><Relationships xmlns="http://schemas.openxmlformats.org/package/2006/relationships"><Relationship Type="http://schemas.openxmlformats.org/officeDocument/2006/relationships/slide" Target="/ppt/slides/slide8.xml" Id="Rb51b5482323844a3" /><Relationship Type="http://schemas.openxmlformats.org/officeDocument/2006/relationships/notesMaster" Target="/ppt/notesMasters/notesMaster1.xml" Id="R4389b8fa42064561" /></Relationships>
</file>

<file path=ppt/notesSlides/_rels/notesSlide9.xml.rels>&#65279;<?xml version="1.0" encoding="utf-8"?><Relationships xmlns="http://schemas.openxmlformats.org/package/2006/relationships"><Relationship Type="http://schemas.openxmlformats.org/officeDocument/2006/relationships/slide" Target="/ppt/slides/slide9.xml" Id="R23afae5474524a4b" /><Relationship Type="http://schemas.openxmlformats.org/officeDocument/2006/relationships/notesMaster" Target="/ppt/notesMasters/notesMaster1.xml" Id="R523c5a40bd09443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c482ff3bfa6452c" /><Relationship Type="http://schemas.openxmlformats.org/officeDocument/2006/relationships/notesMaster" Target="/ppt/notesMasters/notesMaster1.xml" Id="R934543867edd464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1b4a69ea68b42a8" /><Relationship Type="http://schemas.openxmlformats.org/officeDocument/2006/relationships/notesMaster" Target="/ppt/notesMasters/notesMaster1.xml" Id="R7a3a3cd781014ed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d7f784c0f5b452e" /><Relationship Type="http://schemas.openxmlformats.org/officeDocument/2006/relationships/notesMaster" Target="/ppt/notesMasters/notesMaster1.xml" Id="R8051fac32fc7442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9b1f67de6c14d25" /><Relationship Type="http://schemas.openxmlformats.org/officeDocument/2006/relationships/notesMaster" Target="/ppt/notesMasters/notesMaster1.xml" Id="R8d5044ca7f72472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029f21a280b4e18" /><Relationship Type="http://schemas.openxmlformats.org/officeDocument/2006/relationships/notesMaster" Target="/ppt/notesMasters/notesMaster1.xml" Id="Rde78d98b27e8433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926310af5b14af1" /><Relationship Type="http://schemas.openxmlformats.org/officeDocument/2006/relationships/notesMaster" Target="/ppt/notesMasters/notesMaster1.xml" Id="Rfe6d4f832bdb476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5ad42bdf372419c" /><Relationship Type="http://schemas.openxmlformats.org/officeDocument/2006/relationships/notesMaster" Target="/ppt/notesMasters/notesMaster1.xml" Id="Rb4f2903763fc466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or good afternoon, everyone. Today I would like to introduce Pull Request 45, titled “Split Agent Identity and DID method documents.” The central idea is simple: this pull request separates the common agent authentication mechanism from method-specific DID trust models. I will first explain why that separation matters, then walk through the five changed files, and finally highlight a few questions where review feedback would be especially useful.</a:t>
            </a:r>
          </a:p>
          <a:p xmlns:a="http://schemas.openxmlformats.org/drawingml/2006/main">
            <a:r>
              <a:t/>
            </a:r>
          </a:p>
          <a:p xmlns:a="http://schemas.openxmlformats.org/drawingml/2006/main">
            <a:r>
              <a:t>[Sources]</a:t>
            </a:r>
          </a:p>
          <a:p xmlns:a="http://schemas.openxmlformats.org/drawingml/2006/main">
            <a:r>
              <a:t>- https://github.com/w3c-cg/ai-agent-protocol/pull/45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key point is that this is not merely an editorial move from one HTML file to several files. It creates a clearer standards architecture. The common HTTP authentication protocol can now be reused independently of any specific DID method. At the same time, did:wba, did:web, and did:webvh retain different resolution, validation, update, deactivation, and trust assumptions. The pull request changes five files, adds three companion specifications, and remains open for review. So the most useful review question is not whether the text was moved correctly, but whether the new boundaries are the right boundaries for interoperability and future extension.</a:t>
            </a:r>
          </a:p>
          <a:p xmlns:a="http://schemas.openxmlformats.org/drawingml/2006/main">
            <a:r>
              <a:t/>
            </a:r>
          </a:p>
          <a:p xmlns:a="http://schemas.openxmlformats.org/drawingml/2006/main">
            <a:r>
              <a:t>[Sources]</a:t>
            </a:r>
          </a:p>
          <a:p xmlns:a="http://schemas.openxmlformats.org/drawingml/2006/main">
            <a:r>
              <a:t>- https://github.com/w3c-cg/ai-agent-protocol/pull/45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Previously, the Agent Identity section in protocol.html carried four different kinds of content: a general identity model, an HTTP authentication flow, the did:wba method specification, and compatibility rules for did:web and did:webvh. That made it easy to read did:wba as the center of the identity architecture. After this pull request, the common protocol, the binding layer, and the method specification are separate. protocol.html remains an entry point and migration surface. This is important because future DID methods can add a Binding Profile without rewriting the authentication protocol or inheriting did:wba-specific security assumptions.</a:t>
            </a:r>
          </a:p>
          <a:p xmlns:a="http://schemas.openxmlformats.org/drawingml/2006/main">
            <a:r>
              <a:t/>
            </a:r>
          </a:p>
          <a:p xmlns:a="http://schemas.openxmlformats.org/drawingml/2006/main">
            <a:r>
              <a:t>[Sources]</a:t>
            </a:r>
          </a:p>
          <a:p xmlns:a="http://schemas.openxmlformats.org/drawingml/2006/main">
            <a:r>
              <a:t>- https://github.com/w3c-cg/ai-agent-protocol/pull/45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five files form a small standards stack. agent-identity.html answers the method-independent authentication question. did-method-profiles.html maps specific DID methods into that common protocol. did-wba.html contains the DID method itself. protocol.html becomes an index and preserves migration anchors. Finally, the Python test file checks structural integrity across the split. I will now use a short excerpt from each file to show that this responsibility separation exists in the actual text, not only in the pull request description.</a:t>
            </a:r>
          </a:p>
          <a:p xmlns:a="http://schemas.openxmlformats.org/drawingml/2006/main">
            <a:r>
              <a:t/>
            </a:r>
          </a:p>
          <a:p xmlns:a="http://schemas.openxmlformats.org/drawingml/2006/main">
            <a:r>
              <a:t>[Sources]</a:t>
            </a:r>
          </a:p>
          <a:p xmlns:a="http://schemas.openxmlformats.org/drawingml/2006/main">
            <a:r>
              <a:t>- https://github.com/w3c-cg/ai-agent-protocol/pull/45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abstract of agent-identity.html states the core contract. A client identifies a verification method with a complete DID URL, signs the HTTP request using HTTP Message Signatures, and binds request content with Digest Fields. The server resolves and validates the DID according to the applicable Binding Profile, checks that the key is authorized for authentication, verifies replay protection, and only then makes a separate authorization decision. Notice what this document does not define: it does not define the lifecycle of a DID method. That boundary is the foundation of the new architecture.</a:t>
            </a:r>
          </a:p>
          <a:p xmlns:a="http://schemas.openxmlformats.org/drawingml/2006/main">
            <a:r>
              <a:t/>
            </a:r>
          </a:p>
          <a:p xmlns:a="http://schemas.openxmlformats.org/drawingml/2006/main">
            <a:r>
              <a:t>[Sources]</a:t>
            </a:r>
          </a:p>
          <a:p xmlns:a="http://schemas.openxmlformats.org/drawingml/2006/main">
            <a:r>
              <a:t>- https://github.com/w3c-cg/ai-agent-protocol/blob/56405b38710785077c290aba3770f70079bf9c02/agent-identity.html</a:t>
            </a:r>
          </a:p>
          <a:p xmlns:a="http://schemas.openxmlformats.org/drawingml/2006/main">
            <a:r>
              <a:t>- https://www.rfc-editor.org/rfc/rfc9421</a:t>
            </a:r>
          </a:p>
          <a:p xmlns:a="http://schemas.openxmlformats.org/drawingml/2006/main">
            <a:r>
              <a:t>- https://www.rfc-editor.org/rfc/rfc9530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client signs an HTTP request using RFC 9421. The keyid parameter is a complete DID URL pointing to the exact verification method. The verifier extracts the primary DID and chooses a resolver and Binding Profile from the DID method name inside that identifier. It validates the DID Document, checks deactivation state, dereferences the key, and confirms that the key appears in the authentication relationship. It then verifies the signature, content digest, timestamps, and replay protections. Only after successful authentication does authorization run. In practical terms, 401 means the identity proof failed; 403 means the identity was authenticated but is not allowed to access the resource.</a:t>
            </a:r>
          </a:p>
          <a:p xmlns:a="http://schemas.openxmlformats.org/drawingml/2006/main">
            <a:r>
              <a:t/>
            </a:r>
          </a:p>
          <a:p xmlns:a="http://schemas.openxmlformats.org/drawingml/2006/main">
            <a:r>
              <a:t>[Sources]</a:t>
            </a:r>
          </a:p>
          <a:p xmlns:a="http://schemas.openxmlformats.org/drawingml/2006/main">
            <a:r>
              <a:t>- https://github.com/w3c-cg/ai-agent-protocol/blob/56405b38710785077c290aba3770f70079bf9c02/agent-identity.html</a:t>
            </a:r>
          </a:p>
          <a:p xmlns:a="http://schemas.openxmlformats.org/drawingml/2006/main">
            <a:r>
              <a:t>- https://www.rfc-editor.org/rfc/rfc9421</a:t>
            </a:r>
          </a:p>
          <a:p xmlns:a="http://schemas.openxmlformats.org/drawingml/2006/main">
            <a:r>
              <a:t>- https://www.rfc-editor.org/rfc/rfc9530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Binding Profiles document contains one especially important security rule: the DID method name encoded in the DID is authoritative. The verifier must select the resolver and profile from that method name, and it must not fall back to another method after resolution or validation fails. This prevents method confusion and downgrade behavior. A did:web identifier must be evaluated using did:web rules, not did:wba path fingerprints. A did:webvh identifier must have its verifiable history validated, rather than being treated as a static Web-hosted document. The common flow is shared, but the trust evidence is not interchangeable.</a:t>
            </a:r>
          </a:p>
          <a:p xmlns:a="http://schemas.openxmlformats.org/drawingml/2006/main">
            <a:r>
              <a:t/>
            </a:r>
          </a:p>
          <a:p xmlns:a="http://schemas.openxmlformats.org/drawingml/2006/main">
            <a:r>
              <a:t>[Sources]</a:t>
            </a:r>
          </a:p>
          <a:p xmlns:a="http://schemas.openxmlformats.org/drawingml/2006/main">
            <a:r>
              <a:t>- https://github.com/w3c-cg/ai-agent-protocol/blob/56405b38710785077c290aba3770f70079bf9c02/did-method-profiles.html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three current profiles share the same HTTP authentication sequence but rely on different trust foundations. did:wba uses ordinary Web resolution and, for the e1 path profile, adds a cryptographic path-to-key binding and a Data Integrity proof. Native did:web uses its own HTTPS resolution rules and must not be forced to satisfy did:wba-specific checks. did:webvh adds a self-certifying identifier and a verifiable, hash-linked update history, so a verifier must validate that history instead of accepting only the latest document. The Binding Profile is the adapter between the common protocol and each method’s specific security model.</a:t>
            </a:r>
          </a:p>
          <a:p xmlns:a="http://schemas.openxmlformats.org/drawingml/2006/main">
            <a:r>
              <a:t/>
            </a:r>
          </a:p>
          <a:p xmlns:a="http://schemas.openxmlformats.org/drawingml/2006/main">
            <a:r>
              <a:t>[Sources]</a:t>
            </a:r>
          </a:p>
          <a:p xmlns:a="http://schemas.openxmlformats.org/drawingml/2006/main">
            <a:r>
              <a:t>- https://github.com/w3c-cg/ai-agent-protocol/blob/56405b38710785077c290aba3770f70079bf9c02/did-method-profiles.html</a:t>
            </a:r>
          </a:p>
          <a:p xmlns:a="http://schemas.openxmlformats.org/drawingml/2006/main">
            <a:r>
              <a:t>- https://github.com/w3c-cg/ai-agent-protocol/blob/56405b38710785077c290aba3770f70079bf9c02/did-wba.html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did-wba is now expressed as its own DID method specification. It defines identifier syntax and lifecycle operations: creation, resolution, update, and deactivation. The default e1 path profile places an Ed25519 public-key thumbprint in the final DID path segment. A verifier recomputes the RFC 7638 thumbprint from the binding public key and compares it with the identifier. The DID Document must also contain the required Data Integrity proof. Because the binding key contributes to the identifier, changing that key changes the path-type DID. Stable human-readable naming, if needed, belongs in an upper layer rather than being silently added to the authentication protocol.</a:t>
            </a:r>
          </a:p>
          <a:p xmlns:a="http://schemas.openxmlformats.org/drawingml/2006/main">
            <a:r>
              <a:t/>
            </a:r>
          </a:p>
          <a:p xmlns:a="http://schemas.openxmlformats.org/drawingml/2006/main">
            <a:r>
              <a:t>[Sources]</a:t>
            </a:r>
          </a:p>
          <a:p xmlns:a="http://schemas.openxmlformats.org/drawingml/2006/main">
            <a:r>
              <a:t>- https://github.com/w3c-cg/ai-agent-protocol/blob/56405b38710785077c290aba3770f70079bf9c02/did-wba.html</a:t>
            </a:r>
          </a:p>
          <a:p xmlns:a="http://schemas.openxmlformats.org/drawingml/2006/main">
            <a:r>
              <a:t>- https://www.rfc-editor.org/rfc/rfc7638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protocol.html is not simply emptied. It remains the discoverable index for Agent Identity and points to the three companion specifications. The pull request also preserves earlier fragment identifiers as migration anchors. This matters for a living specification because external documents, issues, and implementations may already link into those fragments. The design therefore separates normative content while preserving navigation compatibility. Reviewers should still verify the rendered ReSpec pages and GitHub Pages behavior, because the current automated tests prove that anchors exist, but they do not prove the complete browser experience.</a:t>
            </a:r>
          </a:p>
          <a:p xmlns:a="http://schemas.openxmlformats.org/drawingml/2006/main">
            <a:r>
              <a:t/>
            </a:r>
          </a:p>
          <a:p xmlns:a="http://schemas.openxmlformats.org/drawingml/2006/main">
            <a:r>
              <a:t>[Sources]</a:t>
            </a:r>
          </a:p>
          <a:p xmlns:a="http://schemas.openxmlformats.org/drawingml/2006/main">
            <a:r>
              <a:t>- https://github.com/w3c-cg/ai-agent-protocol/blob/56405b38710785077c290aba3770f70079bf9c02/protocol.html</a:t>
            </a:r>
          </a:p>
          <a:p xmlns:a="http://schemas.openxmlformats.org/drawingml/2006/main">
            <a:r>
              <a:t>- https://github.com/w3c-cg/ai-agent-protocol/pull/45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fifth file adds five structural tests. They check balanced section tags, unique IDs, local links, migration anchors, and the presence of complete ReSpec document scaffolding. These are useful protections for the split, and the current test suite passes. But they are not interoperability tests. They do not verify RFC 9421 signature vectors, e1 thumbprints and proofs, successful and failing resolutions for all three methods, replay behavior, or method-confusion attacks. So the tests support merging an editorial architecture, but additional work is still needed before calling the protocol implementation-ready.</a:t>
            </a:r>
          </a:p>
          <a:p xmlns:a="http://schemas.openxmlformats.org/drawingml/2006/main">
            <a:r>
              <a:t/>
            </a:r>
          </a:p>
          <a:p xmlns:a="http://schemas.openxmlformats.org/drawingml/2006/main">
            <a:r>
              <a:t>[Sources]</a:t>
            </a:r>
          </a:p>
          <a:p xmlns:a="http://schemas.openxmlformats.org/drawingml/2006/main">
            <a:r>
              <a:t>- https://github.com/w3c-cg/ai-agent-protocol/blob/56405b38710785077c290aba3770f70079bf9c02/tests/test_identity_documents.py</a:t>
            </a:r>
          </a:p>
          <a:p xmlns:a="http://schemas.openxmlformats.org/drawingml/2006/main">
            <a:r>
              <a:t>- https://github.com/w3c-cg/ai-agent-protocol/pull/45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overall assessment is that the architectural direction is correct. I would support the split. For discussion, I suggest four focused questions. First, are the boundaries among the common protocol, Binding Profiles, and did:wba method clear? Second, is selection from the DID itself, with no cross-method fallback, explicit enough? Third, should this pull request define a minimum interoperable cryptographic set, rather than leaving algorithms entirely implicit? Fourth, does the replay model need a stronger mandatory uniqueness requirement? My recommended outcome is to accept the architecture while making these interoperability items explicit follow-up work—or resolving them before merge if the group wants to treat the text as implementation-ready immediately. Thank you. I welcome your questions.</a:t>
            </a:r>
          </a:p>
          <a:p xmlns:a="http://schemas.openxmlformats.org/drawingml/2006/main">
            <a:r>
              <a:t/>
            </a:r>
          </a:p>
          <a:p xmlns:a="http://schemas.openxmlformats.org/drawingml/2006/main">
            <a:r>
              <a:t>[Sources]</a:t>
            </a:r>
          </a:p>
          <a:p xmlns:a="http://schemas.openxmlformats.org/drawingml/2006/main">
            <a:r>
              <a:t>- https://github.com/w3c-cg/ai-agent-protocol/pull/45</a:t>
            </a:r>
          </a:p>
          <a:p xmlns:a="http://schemas.openxmlformats.org/drawingml/2006/main">
            <a:r>
              <a:t>- https://github.com/w3c-cg/ai-agent-protocol/blob/56405b38710785077c290aba3770f70079bf9c02/agent-identity.html</a:t>
            </a:r>
          </a:p>
          <a:p xmlns:a="http://schemas.openxmlformats.org/drawingml/2006/main">
            <a:r>
              <a:t>- https://github.com/w3c-cg/ai-agent-protocol/blob/56405b38710785077c290aba3770f70079bf9c02/did-method-profiles.html</a:t>
            </a:r>
          </a:p>
          <a:p xmlns:a="http://schemas.openxmlformats.org/drawingml/2006/main">
            <a:r>
              <a:t>- https://github.com/w3c-cg/ai-agent-protocol/blob/56405b38710785077c290aba3770f70079bf9c02/did-wba.html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following slides are an appendix for questions and answers. The answers are intentionally short enough to deliver first, followed by detail only if needed.</a:t>
            </a:r>
          </a:p>
          <a:p xmlns:a="http://schemas.openxmlformats.org/drawingml/2006/main">
            <a:r>
              <a:t/>
            </a:r>
          </a:p>
          <a:p xmlns:a="http://schemas.openxmlformats.org/drawingml/2006/main">
            <a:r>
              <a:t>[Sources]</a:t>
            </a:r>
          </a:p>
          <a:p xmlns:a="http://schemas.openxmlformats.org/drawingml/2006/main">
            <a:r>
              <a:t>- https://github.com/w3c-cg/ai-agent-protocol/pull/45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method questions, keep returning to the same distinction: one common authentication protocol, multiple method-specific trust models. did:wba does not replace did:web. A Binding Profile is necessary because the common verifier still needs method-specific instructions. And fallback is prohibited because a failure under one trust model must not be reinterpreted under another.</a:t>
            </a:r>
          </a:p>
          <a:p xmlns:a="http://schemas.openxmlformats.org/drawingml/2006/main">
            <a:r>
              <a:t/>
            </a:r>
          </a:p>
          <a:p xmlns:a="http://schemas.openxmlformats.org/drawingml/2006/main">
            <a:r>
              <a:t>[Sources]</a:t>
            </a:r>
          </a:p>
          <a:p xmlns:a="http://schemas.openxmlformats.org/drawingml/2006/main">
            <a:r>
              <a:t>- https://github.com/w3c-cg/ai-agent-protocol/blob/56405b38710785077c290aba3770f70079bf9c02/did-method-profiles.html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authorization questions, the strongest short answer is that authentication and authorization are separate. The optional access token is a performance and session optimization after successful authentication and authorization. OAuth is compatible as an upper layer or delegated authorization framework, but this pull request does not attempt to define that integration.</a:t>
            </a:r>
          </a:p>
          <a:p xmlns:a="http://schemas.openxmlformats.org/drawingml/2006/main">
            <a:r>
              <a:t/>
            </a:r>
          </a:p>
          <a:p xmlns:a="http://schemas.openxmlformats.org/drawingml/2006/main">
            <a:r>
              <a:t>[Sources]</a:t>
            </a:r>
          </a:p>
          <a:p xmlns:a="http://schemas.openxmlformats.org/drawingml/2006/main">
            <a:r>
              <a:t>- https://github.com/w3c-cg/ai-agent-protocol/blob/56405b38710785077c290aba3770f70079bf9c02/agent-identity.html</a:t>
            </a:r>
          </a:p>
          <a:p xmlns:a="http://schemas.openxmlformats.org/drawingml/2006/main">
            <a:r>
              <a:t>- https://www.rfc-editor.org/rfc/rfc9421</a:t>
            </a:r>
          </a:p>
          <a:p xmlns:a="http://schemas.openxmlformats.org/drawingml/2006/main">
            <a:r>
              <a:t>- https://www.rfc-editor.org/rfc/rfc9530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did:wba questions, explain the consequence of self-certifying path binding plainly: if the key fingerprint is inside the identifier, changing the binding key changes the identifier. The document mentions historical path DIDs without a fingerprint, but their exact conformance profile is not fully specified. Finally, distinguish architectural readiness from implementation readiness. The split is coherent, while executable test vectors and several cryptographic details remain appropriate topics for follow-up.</a:t>
            </a:r>
          </a:p>
          <a:p xmlns:a="http://schemas.openxmlformats.org/drawingml/2006/main">
            <a:r>
              <a:t/>
            </a:r>
          </a:p>
          <a:p xmlns:a="http://schemas.openxmlformats.org/drawingml/2006/main">
            <a:r>
              <a:t>[Sources]</a:t>
            </a:r>
          </a:p>
          <a:p xmlns:a="http://schemas.openxmlformats.org/drawingml/2006/main">
            <a:r>
              <a:t>- https://github.com/w3c-cg/ai-agent-protocol/blob/56405b38710785077c290aba3770f70079bf9c02/did-wba.html</a:t>
            </a:r>
          </a:p>
          <a:p xmlns:a="http://schemas.openxmlformats.org/drawingml/2006/main">
            <a:r>
              <a:t>- https://github.com/w3c-cg/ai-agent-protocol/blob/56405b38710785077c290aba3770f70079bf9c02/tests/test_identity_documents.py</a:t>
            </a:r>
          </a:p>
          <a:p xmlns:a="http://schemas.openxmlformats.org/drawingml/2006/main">
            <a:r>
              <a:t>- https://github.com/w3c-cg/ai-agent-protocol/pull/45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ce7a5e25337460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ae221602cbb411d" /><Relationship Type="http://schemas.openxmlformats.org/officeDocument/2006/relationships/slideLayout" Target="/ppt/slideLayouts/slideLayout1.xml" Id="Ra3f21ae9b05d4cf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3f21ae9b05d4cf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1430217287e4fe3" /><Relationship Type="http://schemas.openxmlformats.org/officeDocument/2006/relationships/notesSlide" Target="/ppt/notesSlides/notesSlide1.xml" Id="Rada7a015f6244f5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4bf644003514244" /><Relationship Type="http://schemas.openxmlformats.org/officeDocument/2006/relationships/notesSlide" Target="/ppt/notesSlides/notesSlide2.xml" Id="R0618bc0ca0b448e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76bfc558bf544be" /><Relationship Type="http://schemas.openxmlformats.org/officeDocument/2006/relationships/notesSlide" Target="/ppt/notesSlides/notesSlide3.xml" Id="Recfa666d9edd4ed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0ef23669d3f46ad" /><Relationship Type="http://schemas.openxmlformats.org/officeDocument/2006/relationships/notesSlide" Target="/ppt/notesSlides/notesSlide4.xml" Id="R2073cc2fc526484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fb5efcc14f6415b" /><Relationship Type="http://schemas.openxmlformats.org/officeDocument/2006/relationships/image" Target="/ppt/media/image.png" Id="Ra7120124c24b4971" /><Relationship Type="http://schemas.openxmlformats.org/officeDocument/2006/relationships/notesSlide" Target="/ppt/notesSlides/notesSlide5.xml" Id="R2355cb5842e54a3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15cb6af8109443f" /><Relationship Type="http://schemas.openxmlformats.org/officeDocument/2006/relationships/notesSlide" Target="/ppt/notesSlides/notesSlide6.xml" Id="R15617f40ecc54dd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88d0fff162548b9" /><Relationship Type="http://schemas.openxmlformats.org/officeDocument/2006/relationships/image" Target="/ppt/media/image2.png" Id="R0451fbd406ec4a11" /><Relationship Type="http://schemas.openxmlformats.org/officeDocument/2006/relationships/notesSlide" Target="/ppt/notesSlides/notesSlide7.xml" Id="Rb15fc8d10ee9493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baf42117f6b4e47" /><Relationship Type="http://schemas.openxmlformats.org/officeDocument/2006/relationships/notesSlide" Target="/ppt/notesSlides/notesSlide8.xml" Id="Re1b9ee6cd538456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2c8d06d6e444b2a" /><Relationship Type="http://schemas.openxmlformats.org/officeDocument/2006/relationships/image" Target="/ppt/media/image3.png" Id="R8cf51dbb14d8440b" /><Relationship Type="http://schemas.openxmlformats.org/officeDocument/2006/relationships/notesSlide" Target="/ppt/notesSlides/notesSlide9.xml" Id="R9865b2fa6e0b454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b9547c3ac1f477d" /><Relationship Type="http://schemas.openxmlformats.org/officeDocument/2006/relationships/image" Target="/ppt/media/image4.png" Id="Rfd2a4a42e1ed4efc" /><Relationship Type="http://schemas.openxmlformats.org/officeDocument/2006/relationships/notesSlide" Target="/ppt/notesSlides/notesSlide10.xml" Id="Rae0a1e020f8149f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b782660ef3a412e" /><Relationship Type="http://schemas.openxmlformats.org/officeDocument/2006/relationships/image" Target="/ppt/media/image5.png" Id="R2d21dace6ec3428b" /><Relationship Type="http://schemas.openxmlformats.org/officeDocument/2006/relationships/notesSlide" Target="/ppt/notesSlides/notesSlide11.xml" Id="R7864f2d007e2433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721ea1490534367" /><Relationship Type="http://schemas.openxmlformats.org/officeDocument/2006/relationships/notesSlide" Target="/ppt/notesSlides/notesSlide12.xml" Id="R2a7c9dc88e8e4de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0ca3617edc44c06" /><Relationship Type="http://schemas.openxmlformats.org/officeDocument/2006/relationships/notesSlide" Target="/ppt/notesSlides/notesSlide13.xml" Id="R793d9b0d469e48b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b91da4cbfdf4520" /><Relationship Type="http://schemas.openxmlformats.org/officeDocument/2006/relationships/notesSlide" Target="/ppt/notesSlides/notesSlide14.xml" Id="R1a5369c50552400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e6e427c108d49fa" /><Relationship Type="http://schemas.openxmlformats.org/officeDocument/2006/relationships/notesSlide" Target="/ppt/notesSlides/notesSlide15.xml" Id="Rd15010aad3cb4fe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c2409bdf256432e" /><Relationship Type="http://schemas.openxmlformats.org/officeDocument/2006/relationships/notesSlide" Target="/ppt/notesSlides/notesSlide16.xml" Id="Rde166859bb5a40c9"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FFD38190-03B2-48FB-BB43-C14B0F23E365}"/>
              </a:ext>
            </a:extLst>
          </p:cNvPr>
          <p:cNvSpPr>
            <a:spLocks xmlns:a="http://schemas.openxmlformats.org/drawingml/2006/main" noGrp="1"/>
          </p:cNvSpPr>
          <p:nvPr/>
        </p:nvSpPr>
        <p:spPr>
          <a:xfrm xmlns:a="http://schemas.openxmlformats.org/drawingml/2006/main">
            <a:off x="533400" y="4381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75" b="1">
                <a:solidFill>
                  <a:srgbClr val="3D8DFF"/>
                </a:solidFill>
                <a:latin typeface="Arial"/>
                <a:ea typeface="Arial"/>
                <a:cs typeface="Arial"/>
              </a:defRPr>
            </a:pPr>
            <a:r>
              <a:rPr sz="1275" b="1">
                <a:solidFill>
                  <a:srgbClr val="3D8DFF"/>
                </a:solidFill>
                <a:latin typeface="Arial"/>
                <a:ea typeface="Arial"/>
                <a:cs typeface="Arial"/>
              </a:rPr>
              <a:t>W3C Community Group · PR #45</a:t>
            </a:r>
          </a:p>
        </p:txBody>
      </p:sp>
      <p:sp>
        <p:nvSpPr>
          <p:cNvPr id="2" name="">
            <a:extLst xmlns:a="http://schemas.openxmlformats.org/drawingml/2006/main">
              <a:ext uri="{FF2B5EF4-FFF2-40B4-BE49-F238E27FC236}">
                <a16:creationId xmlns:a16="http://schemas.microsoft.com/office/drawing/2014/main" id="{6B50D3A9-2657-41DD-B562-28EAB6B43C04}"/>
              </a:ext>
            </a:extLst>
          </p:cNvPr>
          <p:cNvSpPr>
            <a:spLocks xmlns:a="http://schemas.openxmlformats.org/drawingml/2006/main" noGrp="1"/>
          </p:cNvSpPr>
          <p:nvPr/>
        </p:nvSpPr>
        <p:spPr>
          <a:xfrm xmlns:a="http://schemas.openxmlformats.org/drawingml/2006/main">
            <a:off x="533400" y="1047750"/>
            <a:ext cx="64770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2000"/>
              </a:lnSpc>
              <a:buNone/>
              <a:defRPr sz="4200" b="1">
                <a:solidFill>
                  <a:srgbClr val="0B0D10"/>
                </a:solidFill>
                <a:latin typeface="Arial"/>
                <a:ea typeface="Arial"/>
                <a:cs typeface="Arial"/>
              </a:defRPr>
            </a:pPr>
            <a:r>
              <a:rPr sz="4200" b="1">
                <a:solidFill>
                  <a:srgbClr val="0B0D10"/>
                </a:solidFill>
                <a:latin typeface="Arial"/>
                <a:ea typeface="Arial"/>
                <a:cs typeface="Arial"/>
              </a:rPr>
              <a:t>Separating Agent Identity</a:t>
            </a:r>
          </a:p>
          <a:p xmlns:a="http://schemas.openxmlformats.org/drawingml/2006/main">
            <a:pPr algn="l">
              <a:lnSpc>
                <a:spcPct val="92000"/>
              </a:lnSpc>
              <a:buNone/>
              <a:defRPr sz="4200" b="1">
                <a:solidFill>
                  <a:srgbClr val="0B0D10"/>
                </a:solidFill>
                <a:latin typeface="Arial"/>
                <a:ea typeface="Arial"/>
                <a:cs typeface="Arial"/>
              </a:defRPr>
            </a:pPr>
            <a:r>
              <a:rPr sz="4200" b="1">
                <a:solidFill>
                  <a:srgbClr val="0B0D10"/>
                </a:solidFill>
                <a:latin typeface="Arial"/>
                <a:ea typeface="Arial"/>
                <a:cs typeface="Arial"/>
              </a:rPr>
              <a:t>from DID Method</a:t>
            </a:r>
          </a:p>
          <a:p xmlns:a="http://schemas.openxmlformats.org/drawingml/2006/main">
            <a:pPr algn="l">
              <a:lnSpc>
                <a:spcPct val="92000"/>
              </a:lnSpc>
              <a:buNone/>
              <a:defRPr sz="4200" b="1">
                <a:solidFill>
                  <a:srgbClr val="0B0D10"/>
                </a:solidFill>
                <a:latin typeface="Arial"/>
                <a:ea typeface="Arial"/>
                <a:cs typeface="Arial"/>
              </a:defRPr>
            </a:pPr>
            <a:r>
              <a:rPr sz="4200" b="1">
                <a:solidFill>
                  <a:srgbClr val="0B0D10"/>
                </a:solidFill>
                <a:latin typeface="Arial"/>
                <a:ea typeface="Arial"/>
                <a:cs typeface="Arial"/>
              </a:rPr>
              <a:t>Trust Models</a:t>
            </a:r>
          </a:p>
        </p:txBody>
      </p:sp>
      <p:sp>
        <p:nvSpPr>
          <p:cNvPr id="3" name="">
            <a:extLst xmlns:a="http://schemas.openxmlformats.org/drawingml/2006/main">
              <a:ext uri="{FF2B5EF4-FFF2-40B4-BE49-F238E27FC236}">
                <a16:creationId xmlns:a16="http://schemas.microsoft.com/office/drawing/2014/main" id="{F89065B2-9B86-4243-AC12-93FB87211DB3}"/>
              </a:ext>
            </a:extLst>
          </p:cNvPr>
          <p:cNvSpPr>
            <a:spLocks xmlns:a="http://schemas.openxmlformats.org/drawingml/2006/main" noGrp="1"/>
          </p:cNvSpPr>
          <p:nvPr/>
        </p:nvSpPr>
        <p:spPr>
          <a:xfrm xmlns:a="http://schemas.openxmlformats.org/drawingml/2006/main">
            <a:off x="552450" y="3371850"/>
            <a:ext cx="561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75" b="0">
                <a:solidFill>
                  <a:srgbClr val="5B6470"/>
                </a:solidFill>
                <a:latin typeface="Arial"/>
                <a:ea typeface="Arial"/>
                <a:cs typeface="Arial"/>
              </a:defRPr>
            </a:pPr>
            <a:r>
              <a:rPr sz="1875" b="0">
                <a:solidFill>
                  <a:srgbClr val="5B6470"/>
                </a:solidFill>
                <a:latin typeface="Arial"/>
                <a:ea typeface="Arial"/>
                <a:cs typeface="Arial"/>
              </a:rPr>
              <a:t>A 10-minute introduction and discussion guide</a:t>
            </a:r>
          </a:p>
        </p:txBody>
      </p:sp>
      <p:sp>
        <p:nvSpPr>
          <p:cNvPr id="4" name="">
            <a:extLst xmlns:a="http://schemas.openxmlformats.org/drawingml/2006/main">
              <a:ext uri="{FF2B5EF4-FFF2-40B4-BE49-F238E27FC236}">
                <a16:creationId xmlns:a16="http://schemas.microsoft.com/office/drawing/2014/main" id="{3E2D1045-2EB2-40E9-BF48-EBFFEC636FC7}"/>
              </a:ext>
            </a:extLst>
          </p:cNvPr>
          <p:cNvSpPr>
            <a:spLocks xmlns:a="http://schemas.openxmlformats.org/drawingml/2006/main" noGrp="1"/>
          </p:cNvSpPr>
          <p:nvPr/>
        </p:nvSpPr>
        <p:spPr>
          <a:xfrm xmlns:a="http://schemas.openxmlformats.org/drawingml/2006/main">
            <a:off x="7524750" y="1047750"/>
            <a:ext cx="3676650" cy="1066800"/>
          </a:xfrm>
          <a:prstGeom xmlns:a="http://schemas.openxmlformats.org/drawingml/2006/main" prst="roundRect">
            <a:avLst>
              <a:gd name="adj" fmla="val 10714"/>
            </a:avLst>
          </a:prstGeom>
          <a:solidFill xmlns:a="http://schemas.openxmlformats.org/drawingml/2006/main">
            <a:srgbClr val="EAF5FB"/>
          </a:solidFill>
          <a:ln xmlns:a="http://schemas.openxmlformats.org/drawingml/2006/main" w="9525">
            <a:solidFill>
              <a:srgbClr val="3D8DFF"/>
            </a:solidFill>
            <a:prstDash val="solid"/>
          </a:ln>
        </p:spPr>
      </p:sp>
      <p:sp>
        <p:nvSpPr>
          <p:cNvPr id="5" name="">
            <a:extLst xmlns:a="http://schemas.openxmlformats.org/drawingml/2006/main">
              <a:ext uri="{FF2B5EF4-FFF2-40B4-BE49-F238E27FC236}">
                <a16:creationId xmlns:a16="http://schemas.microsoft.com/office/drawing/2014/main" id="{1DA0017D-4BF0-4D35-A737-C7AE6E1CEEF0}"/>
              </a:ext>
            </a:extLst>
          </p:cNvPr>
          <p:cNvSpPr>
            <a:spLocks xmlns:a="http://schemas.openxmlformats.org/drawingml/2006/main" noGrp="1"/>
          </p:cNvSpPr>
          <p:nvPr/>
        </p:nvSpPr>
        <p:spPr>
          <a:xfrm xmlns:a="http://schemas.openxmlformats.org/drawingml/2006/main">
            <a:off x="7524750" y="2495550"/>
            <a:ext cx="3676650" cy="876300"/>
          </a:xfrm>
          <a:prstGeom xmlns:a="http://schemas.openxmlformats.org/drawingml/2006/main" prst="roundRect">
            <a:avLst>
              <a:gd name="adj" fmla="val 13043"/>
            </a:avLst>
          </a:prstGeom>
          <a:solidFill xmlns:a="http://schemas.openxmlformats.org/drawingml/2006/main">
            <a:srgbClr val="F6F7F8"/>
          </a:solidFill>
          <a:ln xmlns:a="http://schemas.openxmlformats.org/drawingml/2006/main" w="9525">
            <a:solidFill>
              <a:srgbClr val="B8BCC4"/>
            </a:solidFill>
            <a:prstDash val="solid"/>
          </a:ln>
        </p:spPr>
      </p:sp>
      <p:sp>
        <p:nvSpPr>
          <p:cNvPr id="6" name="">
            <a:extLst xmlns:a="http://schemas.openxmlformats.org/drawingml/2006/main">
              <a:ext uri="{FF2B5EF4-FFF2-40B4-BE49-F238E27FC236}">
                <a16:creationId xmlns:a16="http://schemas.microsoft.com/office/drawing/2014/main" id="{049592F8-1781-45D2-8C34-E818193F312E}"/>
              </a:ext>
            </a:extLst>
          </p:cNvPr>
          <p:cNvSpPr>
            <a:spLocks xmlns:a="http://schemas.openxmlformats.org/drawingml/2006/main" noGrp="1"/>
          </p:cNvSpPr>
          <p:nvPr/>
        </p:nvSpPr>
        <p:spPr>
          <a:xfrm xmlns:a="http://schemas.openxmlformats.org/drawingml/2006/main">
            <a:off x="7524750" y="3905250"/>
            <a:ext cx="3676650" cy="876300"/>
          </a:xfrm>
          <a:prstGeom xmlns:a="http://schemas.openxmlformats.org/drawingml/2006/main" prst="roundRect">
            <a:avLst>
              <a:gd name="adj" fmla="val 13043"/>
            </a:avLst>
          </a:prstGeom>
          <a:solidFill xmlns:a="http://schemas.openxmlformats.org/drawingml/2006/main">
            <a:srgbClr val="F6F7F8"/>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DCBBC71A-3146-4E96-B83F-222CEF48B0CF}"/>
              </a:ext>
            </a:extLst>
          </p:cNvPr>
          <p:cNvSpPr>
            <a:spLocks xmlns:a="http://schemas.openxmlformats.org/drawingml/2006/main" noGrp="1"/>
          </p:cNvSpPr>
          <p:nvPr/>
        </p:nvSpPr>
        <p:spPr>
          <a:xfrm xmlns:a="http://schemas.openxmlformats.org/drawingml/2006/main">
            <a:off x="7772400" y="1238250"/>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050" b="1">
                <a:solidFill>
                  <a:srgbClr val="3D8DFF"/>
                </a:solidFill>
                <a:latin typeface="Arial"/>
                <a:ea typeface="Arial"/>
                <a:cs typeface="Arial"/>
              </a:defRPr>
            </a:pPr>
            <a:r>
              <a:rPr sz="1050" b="1">
                <a:solidFill>
                  <a:srgbClr val="3D8DFF"/>
                </a:solidFill>
                <a:latin typeface="Arial"/>
                <a:ea typeface="Arial"/>
                <a:cs typeface="Arial"/>
              </a:rPr>
              <a:t>COMMON PROTOCOL</a:t>
            </a:r>
          </a:p>
        </p:txBody>
      </p:sp>
      <p:sp>
        <p:nvSpPr>
          <p:cNvPr id="8" name="">
            <a:extLst xmlns:a="http://schemas.openxmlformats.org/drawingml/2006/main">
              <a:ext uri="{FF2B5EF4-FFF2-40B4-BE49-F238E27FC236}">
                <a16:creationId xmlns:a16="http://schemas.microsoft.com/office/drawing/2014/main" id="{A4CF1914-CE05-4B78-B39D-61C108491B68}"/>
              </a:ext>
            </a:extLst>
          </p:cNvPr>
          <p:cNvSpPr>
            <a:spLocks xmlns:a="http://schemas.openxmlformats.org/drawingml/2006/main" noGrp="1"/>
          </p:cNvSpPr>
          <p:nvPr/>
        </p:nvSpPr>
        <p:spPr>
          <a:xfrm xmlns:a="http://schemas.openxmlformats.org/drawingml/2006/main">
            <a:off x="7772400" y="1504950"/>
            <a:ext cx="3143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1650" b="1">
                <a:solidFill>
                  <a:srgbClr val="0B0D10"/>
                </a:solidFill>
                <a:latin typeface="Arial"/>
                <a:ea typeface="Arial"/>
                <a:cs typeface="Arial"/>
              </a:defRPr>
            </a:pPr>
            <a:r>
              <a:rPr sz="1650" b="1">
                <a:solidFill>
                  <a:srgbClr val="0B0D10"/>
                </a:solidFill>
                <a:latin typeface="Arial"/>
                <a:ea typeface="Arial"/>
                <a:cs typeface="Arial"/>
              </a:rPr>
              <a:t>Agent Identity + HTTP</a:t>
            </a:r>
          </a:p>
          <a:p xmlns:a="http://schemas.openxmlformats.org/drawingml/2006/main">
            <a:pPr algn="l">
              <a:lnSpc>
                <a:spcPct val="98000"/>
              </a:lnSpc>
              <a:buNone/>
              <a:defRPr sz="1650" b="1">
                <a:solidFill>
                  <a:srgbClr val="0B0D10"/>
                </a:solidFill>
                <a:latin typeface="Arial"/>
                <a:ea typeface="Arial"/>
                <a:cs typeface="Arial"/>
              </a:defRPr>
            </a:pPr>
            <a:r>
              <a:rPr sz="1650" b="1">
                <a:solidFill>
                  <a:srgbClr val="0B0D10"/>
                </a:solidFill>
                <a:latin typeface="Arial"/>
                <a:ea typeface="Arial"/>
                <a:cs typeface="Arial"/>
              </a:rPr>
              <a:t>Authentication</a:t>
            </a:r>
          </a:p>
        </p:txBody>
      </p:sp>
      <p:sp>
        <p:nvSpPr>
          <p:cNvPr id="9" name="">
            <a:extLst xmlns:a="http://schemas.openxmlformats.org/drawingml/2006/main">
              <a:ext uri="{FF2B5EF4-FFF2-40B4-BE49-F238E27FC236}">
                <a16:creationId xmlns:a16="http://schemas.microsoft.com/office/drawing/2014/main" id="{2B8887A1-2A27-4342-91DE-9DC71BF1528C}"/>
              </a:ext>
            </a:extLst>
          </p:cNvPr>
          <p:cNvSpPr>
            <a:spLocks xmlns:a="http://schemas.openxmlformats.org/drawingml/2006/main" noGrp="1"/>
          </p:cNvSpPr>
          <p:nvPr/>
        </p:nvSpPr>
        <p:spPr>
          <a:xfrm xmlns:a="http://schemas.openxmlformats.org/drawingml/2006/main">
            <a:off x="7772400" y="2667000"/>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050" b="1">
                <a:solidFill>
                  <a:srgbClr val="5B6470"/>
                </a:solidFill>
                <a:latin typeface="Arial"/>
                <a:ea typeface="Arial"/>
                <a:cs typeface="Arial"/>
              </a:defRPr>
            </a:pPr>
            <a:r>
              <a:rPr sz="1050" b="1">
                <a:solidFill>
                  <a:srgbClr val="5B6470"/>
                </a:solidFill>
                <a:latin typeface="Arial"/>
                <a:ea typeface="Arial"/>
                <a:cs typeface="Arial"/>
              </a:rPr>
              <a:t>BINDING LAYER</a:t>
            </a:r>
          </a:p>
        </p:txBody>
      </p:sp>
      <p:sp>
        <p:nvSpPr>
          <p:cNvPr id="10" name="">
            <a:extLst xmlns:a="http://schemas.openxmlformats.org/drawingml/2006/main">
              <a:ext uri="{FF2B5EF4-FFF2-40B4-BE49-F238E27FC236}">
                <a16:creationId xmlns:a16="http://schemas.microsoft.com/office/drawing/2014/main" id="{194C94C5-7128-4947-9CD5-26C40F3374D3}"/>
              </a:ext>
            </a:extLst>
          </p:cNvPr>
          <p:cNvSpPr>
            <a:spLocks xmlns:a="http://schemas.openxmlformats.org/drawingml/2006/main" noGrp="1"/>
          </p:cNvSpPr>
          <p:nvPr/>
        </p:nvSpPr>
        <p:spPr>
          <a:xfrm xmlns:a="http://schemas.openxmlformats.org/drawingml/2006/main">
            <a:off x="7772400" y="291465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00" b="1">
                <a:solidFill>
                  <a:srgbClr val="0B0D10"/>
                </a:solidFill>
                <a:latin typeface="Arial"/>
                <a:ea typeface="Arial"/>
                <a:cs typeface="Arial"/>
              </a:defRPr>
            </a:pPr>
            <a:r>
              <a:rPr sz="1800" b="1">
                <a:solidFill>
                  <a:srgbClr val="0B0D10"/>
                </a:solidFill>
                <a:latin typeface="Arial"/>
                <a:ea typeface="Arial"/>
                <a:cs typeface="Arial"/>
              </a:rPr>
              <a:t>DID Method Binding Profiles</a:t>
            </a:r>
          </a:p>
        </p:txBody>
      </p:sp>
      <p:sp>
        <p:nvSpPr>
          <p:cNvPr id="11" name="">
            <a:extLst xmlns:a="http://schemas.openxmlformats.org/drawingml/2006/main">
              <a:ext uri="{FF2B5EF4-FFF2-40B4-BE49-F238E27FC236}">
                <a16:creationId xmlns:a16="http://schemas.microsoft.com/office/drawing/2014/main" id="{01E98ADF-0D77-43DC-A2FC-E0E4731A97E3}"/>
              </a:ext>
            </a:extLst>
          </p:cNvPr>
          <p:cNvSpPr>
            <a:spLocks xmlns:a="http://schemas.openxmlformats.org/drawingml/2006/main" noGrp="1"/>
          </p:cNvSpPr>
          <p:nvPr/>
        </p:nvSpPr>
        <p:spPr>
          <a:xfrm xmlns:a="http://schemas.openxmlformats.org/drawingml/2006/main">
            <a:off x="7772400" y="4076700"/>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050" b="1">
                <a:solidFill>
                  <a:srgbClr val="5B6470"/>
                </a:solidFill>
                <a:latin typeface="Arial"/>
                <a:ea typeface="Arial"/>
                <a:cs typeface="Arial"/>
              </a:defRPr>
            </a:pPr>
            <a:r>
              <a:rPr sz="1050" b="1">
                <a:solidFill>
                  <a:srgbClr val="5B6470"/>
                </a:solidFill>
                <a:latin typeface="Arial"/>
                <a:ea typeface="Arial"/>
                <a:cs typeface="Arial"/>
              </a:rPr>
              <a:t>METHOD SPECIFICATION</a:t>
            </a:r>
          </a:p>
        </p:txBody>
      </p:sp>
      <p:sp>
        <p:nvSpPr>
          <p:cNvPr id="12" name="">
            <a:extLst xmlns:a="http://schemas.openxmlformats.org/drawingml/2006/main">
              <a:ext uri="{FF2B5EF4-FFF2-40B4-BE49-F238E27FC236}">
                <a16:creationId xmlns:a16="http://schemas.microsoft.com/office/drawing/2014/main" id="{E303D26F-9484-446F-AE7D-6931ACCBCA04}"/>
              </a:ext>
            </a:extLst>
          </p:cNvPr>
          <p:cNvSpPr>
            <a:spLocks xmlns:a="http://schemas.openxmlformats.org/drawingml/2006/main" noGrp="1"/>
          </p:cNvSpPr>
          <p:nvPr/>
        </p:nvSpPr>
        <p:spPr>
          <a:xfrm xmlns:a="http://schemas.openxmlformats.org/drawingml/2006/main">
            <a:off x="7772400" y="432435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00" b="1">
                <a:solidFill>
                  <a:srgbClr val="0B0D10"/>
                </a:solidFill>
                <a:latin typeface="Arial"/>
                <a:ea typeface="Arial"/>
                <a:cs typeface="Arial"/>
              </a:defRPr>
            </a:pPr>
            <a:r>
              <a:rPr sz="1800" b="1">
                <a:solidFill>
                  <a:srgbClr val="0B0D10"/>
                </a:solidFill>
                <a:latin typeface="Arial"/>
                <a:ea typeface="Arial"/>
                <a:cs typeface="Arial"/>
              </a:rPr>
              <a:t>did:wba</a:t>
            </a:r>
          </a:p>
        </p:txBody>
      </p:sp>
      <p:sp>
        <p:nvSpPr>
          <p:cNvPr id="13" name="">
            <a:extLst xmlns:a="http://schemas.openxmlformats.org/drawingml/2006/main">
              <a:ext uri="{FF2B5EF4-FFF2-40B4-BE49-F238E27FC236}">
                <a16:creationId xmlns:a16="http://schemas.microsoft.com/office/drawing/2014/main" id="{09611C90-FAED-43CE-9BE6-58A20533630D}"/>
              </a:ext>
            </a:extLst>
          </p:cNvPr>
          <p:cNvSpPr>
            <a:spLocks xmlns:a="http://schemas.openxmlformats.org/drawingml/2006/main" noGrp="1"/>
          </p:cNvSpPr>
          <p:nvPr/>
        </p:nvSpPr>
        <p:spPr>
          <a:xfrm xmlns:a="http://schemas.openxmlformats.org/drawingml/2006/main">
            <a:off x="533400" y="5905500"/>
            <a:ext cx="106680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14" name="">
            <a:extLst xmlns:a="http://schemas.openxmlformats.org/drawingml/2006/main">
              <a:ext uri="{FF2B5EF4-FFF2-40B4-BE49-F238E27FC236}">
                <a16:creationId xmlns:a16="http://schemas.microsoft.com/office/drawing/2014/main" id="{2D082433-9A9E-40C9-881C-3B68768268E6}"/>
              </a:ext>
            </a:extLst>
          </p:cNvPr>
          <p:cNvSpPr>
            <a:spLocks xmlns:a="http://schemas.openxmlformats.org/drawingml/2006/main" noGrp="1"/>
          </p:cNvSpPr>
          <p:nvPr/>
        </p:nvSpPr>
        <p:spPr>
          <a:xfrm xmlns:a="http://schemas.openxmlformats.org/drawingml/2006/main">
            <a:off x="533400" y="60960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00" b="0">
                <a:solidFill>
                  <a:srgbClr val="5B6470"/>
                </a:solidFill>
                <a:latin typeface="Arial"/>
                <a:ea typeface="Arial"/>
                <a:cs typeface="Arial"/>
              </a:defRPr>
            </a:pPr>
            <a:r>
              <a:rPr sz="1200" b="0">
                <a:solidFill>
                  <a:srgbClr val="5B6470"/>
                </a:solidFill>
                <a:latin typeface="Arial"/>
                <a:ea typeface="Arial"/>
                <a:cs typeface="Arial"/>
              </a:rPr>
              <a:t>Open PR · 26 August 2026</a:t>
            </a:r>
          </a:p>
        </p:txBody>
      </p:sp>
    </p:spTree>
    <p:extLst>
      <p:ext uri="{BB962C8B-B14F-4D97-AF65-F5344CB8AC3E}">
        <p14:creationId xmlns:p14="http://schemas.microsoft.com/office/powerpoint/2010/main" val="31874561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E322612F-89E0-4B22-BAE4-B2919958AF8D}"/>
              </a:ext>
            </a:extLst>
          </p:cNvPr>
          <p:cNvSpPr>
            <a:spLocks xmlns:a="http://schemas.openxmlformats.org/drawingml/2006/main" noGrp="1"/>
          </p:cNvSpPr>
          <p:nvPr/>
        </p:nvSpPr>
        <p:spPr>
          <a:xfrm xmlns:a="http://schemas.openxmlformats.org/drawingml/2006/main">
            <a:off x="514350" y="2667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125" b="1">
                <a:solidFill>
                  <a:srgbClr val="3D8DFF"/>
                </a:solidFill>
                <a:latin typeface="Arial"/>
                <a:ea typeface="Arial"/>
                <a:cs typeface="Arial"/>
              </a:defRPr>
            </a:pPr>
            <a:r>
              <a:rPr sz="1125" b="1">
                <a:solidFill>
                  <a:srgbClr val="3D8DFF"/>
                </a:solidFill>
                <a:latin typeface="Arial"/>
                <a:ea typeface="Arial"/>
                <a:cs typeface="Arial"/>
              </a:rPr>
              <a:t>THE THESIS</a:t>
            </a:r>
          </a:p>
        </p:txBody>
      </p:sp>
      <p:sp>
        <p:nvSpPr>
          <p:cNvPr id="2" name="">
            <a:extLst xmlns:a="http://schemas.openxmlformats.org/drawingml/2006/main">
              <a:ext uri="{FF2B5EF4-FFF2-40B4-BE49-F238E27FC236}">
                <a16:creationId xmlns:a16="http://schemas.microsoft.com/office/drawing/2014/main" id="{D1F2E992-2539-4613-B6B0-2849EF62CC69}"/>
              </a:ext>
            </a:extLst>
          </p:cNvPr>
          <p:cNvSpPr>
            <a:spLocks xmlns:a="http://schemas.openxmlformats.org/drawingml/2006/main" noGrp="1"/>
          </p:cNvSpPr>
          <p:nvPr/>
        </p:nvSpPr>
        <p:spPr>
          <a:xfrm xmlns:a="http://schemas.openxmlformats.org/drawingml/2006/main">
            <a:off x="514350" y="55245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3525" b="1">
                <a:solidFill>
                  <a:srgbClr val="0B0D10"/>
                </a:solidFill>
                <a:latin typeface="Arial"/>
                <a:ea typeface="Arial"/>
                <a:cs typeface="Arial"/>
              </a:defRPr>
            </a:pPr>
            <a:r>
              <a:rPr sz="3525" b="1">
                <a:solidFill>
                  <a:srgbClr val="0B0D10"/>
                </a:solidFill>
                <a:latin typeface="Arial"/>
                <a:ea typeface="Arial"/>
                <a:cs typeface="Arial"/>
              </a:rPr>
              <a:t>This is an architectural split—not formatting</a:t>
            </a:r>
          </a:p>
        </p:txBody>
      </p:sp>
      <p:sp>
        <p:nvSpPr>
          <p:cNvPr id="3" name="">
            <a:extLst xmlns:a="http://schemas.openxmlformats.org/drawingml/2006/main">
              <a:ext uri="{FF2B5EF4-FFF2-40B4-BE49-F238E27FC236}">
                <a16:creationId xmlns:a16="http://schemas.microsoft.com/office/drawing/2014/main" id="{80A8EF8E-812A-439F-9508-EE4E072D2518}"/>
              </a:ext>
            </a:extLst>
          </p:cNvPr>
          <p:cNvSpPr>
            <a:spLocks xmlns:a="http://schemas.openxmlformats.org/drawingml/2006/main" noGrp="1"/>
          </p:cNvSpPr>
          <p:nvPr/>
        </p:nvSpPr>
        <p:spPr>
          <a:xfrm xmlns:a="http://schemas.openxmlformats.org/drawingml/2006/main">
            <a:off x="514350" y="1352550"/>
            <a:ext cx="111633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953CD29B-5D35-46BC-8892-A11C822ACF38}"/>
              </a:ext>
            </a:extLst>
          </p:cNvPr>
          <p:cNvSpPr>
            <a:spLocks xmlns:a="http://schemas.openxmlformats.org/drawingml/2006/main" noGrp="1"/>
          </p:cNvSpPr>
          <p:nvPr/>
        </p:nvSpPr>
        <p:spPr>
          <a:xfrm xmlns:a="http://schemas.openxmlformats.org/drawingml/2006/main">
            <a:off x="11239500" y="6362700"/>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975" b="0">
                <a:solidFill>
                  <a:srgbClr val="5B6470"/>
                </a:solidFill>
                <a:latin typeface="Arial"/>
                <a:ea typeface="Arial"/>
                <a:cs typeface="Arial"/>
              </a:defRPr>
            </a:pPr>
            <a:r>
              <a:rPr sz="975" b="0">
                <a:solidFill>
                  <a:srgbClr val="5B6470"/>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8EA26EBE-EB12-4B98-95A1-2CD7A8D65CAA}"/>
              </a:ext>
            </a:extLst>
          </p:cNvPr>
          <p:cNvSpPr>
            <a:spLocks xmlns:a="http://schemas.openxmlformats.org/drawingml/2006/main" noGrp="1"/>
          </p:cNvSpPr>
          <p:nvPr/>
        </p:nvSpPr>
        <p:spPr>
          <a:xfrm xmlns:a="http://schemas.openxmlformats.org/drawingml/2006/main">
            <a:off x="533400" y="1676400"/>
            <a:ext cx="10572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550" b="1">
                <a:solidFill>
                  <a:srgbClr val="0B0D10"/>
                </a:solidFill>
                <a:latin typeface="Arial"/>
                <a:ea typeface="Arial"/>
                <a:cs typeface="Arial"/>
              </a:defRPr>
            </a:pPr>
            <a:r>
              <a:rPr sz="2550" b="1">
                <a:solidFill>
                  <a:srgbClr val="0B0D10"/>
                </a:solidFill>
                <a:latin typeface="Arial"/>
                <a:ea typeface="Arial"/>
                <a:cs typeface="Arial"/>
              </a:rPr>
              <a:t>Common authentication becomes reusable; every DID method keeps its own trust and lifecycle rules.</a:t>
            </a:r>
          </a:p>
        </p:txBody>
      </p:sp>
      <p:sp>
        <p:nvSpPr>
          <p:cNvPr id="6" name="">
            <a:extLst xmlns:a="http://schemas.openxmlformats.org/drawingml/2006/main">
              <a:ext uri="{FF2B5EF4-FFF2-40B4-BE49-F238E27FC236}">
                <a16:creationId xmlns:a16="http://schemas.microsoft.com/office/drawing/2014/main" id="{DF828443-6AA7-4FF5-8F93-B5D78B66158E}"/>
              </a:ext>
            </a:extLst>
          </p:cNvPr>
          <p:cNvSpPr>
            <a:spLocks xmlns:a="http://schemas.openxmlformats.org/drawingml/2006/main" noGrp="1"/>
          </p:cNvSpPr>
          <p:nvPr/>
        </p:nvSpPr>
        <p:spPr>
          <a:xfrm xmlns:a="http://schemas.openxmlformats.org/drawingml/2006/main">
            <a:off x="552450" y="3105150"/>
            <a:ext cx="2381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3750" b="1">
                <a:solidFill>
                  <a:srgbClr val="0B0D10"/>
                </a:solidFill>
                <a:latin typeface="Arial"/>
                <a:ea typeface="Arial"/>
                <a:cs typeface="Arial"/>
              </a:defRPr>
            </a:pPr>
            <a:r>
              <a:rPr sz="3750" b="1">
                <a:solidFill>
                  <a:srgbClr val="0B0D10"/>
                </a:solidFill>
                <a:latin typeface="Arial"/>
                <a:ea typeface="Arial"/>
                <a:cs typeface="Arial"/>
              </a:rPr>
              <a:t>5</a:t>
            </a:r>
          </a:p>
        </p:txBody>
      </p:sp>
      <p:sp>
        <p:nvSpPr>
          <p:cNvPr id="7" name="">
            <a:extLst xmlns:a="http://schemas.openxmlformats.org/drawingml/2006/main">
              <a:ext uri="{FF2B5EF4-FFF2-40B4-BE49-F238E27FC236}">
                <a16:creationId xmlns:a16="http://schemas.microsoft.com/office/drawing/2014/main" id="{55FF4231-4897-4140-9BC7-0FAC0485B69D}"/>
              </a:ext>
            </a:extLst>
          </p:cNvPr>
          <p:cNvSpPr>
            <a:spLocks xmlns:a="http://schemas.openxmlformats.org/drawingml/2006/main" noGrp="1"/>
          </p:cNvSpPr>
          <p:nvPr/>
        </p:nvSpPr>
        <p:spPr>
          <a:xfrm xmlns:a="http://schemas.openxmlformats.org/drawingml/2006/main">
            <a:off x="552450" y="38290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350" b="0">
                <a:solidFill>
                  <a:srgbClr val="5B6470"/>
                </a:solidFill>
                <a:latin typeface="Arial"/>
                <a:ea typeface="Arial"/>
                <a:cs typeface="Arial"/>
              </a:defRPr>
            </a:pPr>
            <a:r>
              <a:rPr sz="1350" b="0">
                <a:solidFill>
                  <a:srgbClr val="5B6470"/>
                </a:solidFill>
                <a:latin typeface="Arial"/>
                <a:ea typeface="Arial"/>
                <a:cs typeface="Arial"/>
              </a:rPr>
              <a:t>changed files</a:t>
            </a:r>
          </a:p>
        </p:txBody>
      </p:sp>
      <p:sp>
        <p:nvSpPr>
          <p:cNvPr id="8" name="">
            <a:extLst xmlns:a="http://schemas.openxmlformats.org/drawingml/2006/main">
              <a:ext uri="{FF2B5EF4-FFF2-40B4-BE49-F238E27FC236}">
                <a16:creationId xmlns:a16="http://schemas.microsoft.com/office/drawing/2014/main" id="{28244EAE-64A2-4BAC-B8D4-B5D8653FB41C}"/>
              </a:ext>
            </a:extLst>
          </p:cNvPr>
          <p:cNvSpPr>
            <a:spLocks xmlns:a="http://schemas.openxmlformats.org/drawingml/2006/main" noGrp="1"/>
          </p:cNvSpPr>
          <p:nvPr/>
        </p:nvSpPr>
        <p:spPr>
          <a:xfrm xmlns:a="http://schemas.openxmlformats.org/drawingml/2006/main">
            <a:off x="3105150" y="3238500"/>
            <a:ext cx="9525"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3C9F7953-8A70-4B07-9487-85DDA7BC2BBC}"/>
              </a:ext>
            </a:extLst>
          </p:cNvPr>
          <p:cNvSpPr>
            <a:spLocks xmlns:a="http://schemas.openxmlformats.org/drawingml/2006/main" noGrp="1"/>
          </p:cNvSpPr>
          <p:nvPr/>
        </p:nvSpPr>
        <p:spPr>
          <a:xfrm xmlns:a="http://schemas.openxmlformats.org/drawingml/2006/main">
            <a:off x="3333750" y="3105150"/>
            <a:ext cx="2381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3750" b="1">
                <a:solidFill>
                  <a:srgbClr val="0B0D10"/>
                </a:solidFill>
                <a:latin typeface="Arial"/>
                <a:ea typeface="Arial"/>
                <a:cs typeface="Arial"/>
              </a:defRPr>
            </a:pPr>
            <a:r>
              <a:rPr sz="3750" b="1">
                <a:solidFill>
                  <a:srgbClr val="0B0D10"/>
                </a:solidFill>
                <a:latin typeface="Arial"/>
                <a:ea typeface="Arial"/>
                <a:cs typeface="Arial"/>
              </a:rPr>
              <a:t>3</a:t>
            </a:r>
          </a:p>
        </p:txBody>
      </p:sp>
      <p:sp>
        <p:nvSpPr>
          <p:cNvPr id="10" name="">
            <a:extLst xmlns:a="http://schemas.openxmlformats.org/drawingml/2006/main">
              <a:ext uri="{FF2B5EF4-FFF2-40B4-BE49-F238E27FC236}">
                <a16:creationId xmlns:a16="http://schemas.microsoft.com/office/drawing/2014/main" id="{4C341644-5E4A-4CE0-B6F2-D605B81A5B0D}"/>
              </a:ext>
            </a:extLst>
          </p:cNvPr>
          <p:cNvSpPr>
            <a:spLocks xmlns:a="http://schemas.openxmlformats.org/drawingml/2006/main" noGrp="1"/>
          </p:cNvSpPr>
          <p:nvPr/>
        </p:nvSpPr>
        <p:spPr>
          <a:xfrm xmlns:a="http://schemas.openxmlformats.org/drawingml/2006/main">
            <a:off x="3333750" y="38290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350" b="0">
                <a:solidFill>
                  <a:srgbClr val="5B6470"/>
                </a:solidFill>
                <a:latin typeface="Arial"/>
                <a:ea typeface="Arial"/>
                <a:cs typeface="Arial"/>
              </a:defRPr>
            </a:pPr>
            <a:r>
              <a:rPr sz="1350" b="0">
                <a:solidFill>
                  <a:srgbClr val="5B6470"/>
                </a:solidFill>
                <a:latin typeface="Arial"/>
                <a:ea typeface="Arial"/>
                <a:cs typeface="Arial"/>
              </a:rPr>
              <a:t>companion specifications</a:t>
            </a:r>
          </a:p>
        </p:txBody>
      </p:sp>
      <p:sp>
        <p:nvSpPr>
          <p:cNvPr id="11" name="">
            <a:extLst xmlns:a="http://schemas.openxmlformats.org/drawingml/2006/main">
              <a:ext uri="{FF2B5EF4-FFF2-40B4-BE49-F238E27FC236}">
                <a16:creationId xmlns:a16="http://schemas.microsoft.com/office/drawing/2014/main" id="{983D9239-E458-41FC-B09B-74334532B915}"/>
              </a:ext>
            </a:extLst>
          </p:cNvPr>
          <p:cNvSpPr>
            <a:spLocks xmlns:a="http://schemas.openxmlformats.org/drawingml/2006/main" noGrp="1"/>
          </p:cNvSpPr>
          <p:nvPr/>
        </p:nvSpPr>
        <p:spPr>
          <a:xfrm xmlns:a="http://schemas.openxmlformats.org/drawingml/2006/main">
            <a:off x="5886450" y="3238500"/>
            <a:ext cx="9525"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12" name="">
            <a:extLst xmlns:a="http://schemas.openxmlformats.org/drawingml/2006/main">
              <a:ext uri="{FF2B5EF4-FFF2-40B4-BE49-F238E27FC236}">
                <a16:creationId xmlns:a16="http://schemas.microsoft.com/office/drawing/2014/main" id="{7B8E4D77-01E2-4EA5-95DA-35B35A0B0DCD}"/>
              </a:ext>
            </a:extLst>
          </p:cNvPr>
          <p:cNvSpPr>
            <a:spLocks xmlns:a="http://schemas.openxmlformats.org/drawingml/2006/main" noGrp="1"/>
          </p:cNvSpPr>
          <p:nvPr/>
        </p:nvSpPr>
        <p:spPr>
          <a:xfrm xmlns:a="http://schemas.openxmlformats.org/drawingml/2006/main">
            <a:off x="6115050" y="3105150"/>
            <a:ext cx="2381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3750" b="1">
                <a:solidFill>
                  <a:srgbClr val="0B0D10"/>
                </a:solidFill>
                <a:latin typeface="Arial"/>
                <a:ea typeface="Arial"/>
                <a:cs typeface="Arial"/>
              </a:defRPr>
            </a:pPr>
            <a:r>
              <a:rPr sz="3750" b="1">
                <a:solidFill>
                  <a:srgbClr val="0B0D10"/>
                </a:solidFill>
                <a:latin typeface="Arial"/>
                <a:ea typeface="Arial"/>
                <a:cs typeface="Arial"/>
              </a:rPr>
              <a:t>1,869</a:t>
            </a:r>
          </a:p>
        </p:txBody>
      </p:sp>
      <p:sp>
        <p:nvSpPr>
          <p:cNvPr id="13" name="">
            <a:extLst xmlns:a="http://schemas.openxmlformats.org/drawingml/2006/main">
              <a:ext uri="{FF2B5EF4-FFF2-40B4-BE49-F238E27FC236}">
                <a16:creationId xmlns:a16="http://schemas.microsoft.com/office/drawing/2014/main" id="{77D9A21D-75B2-4B9C-B248-3712288BA449}"/>
              </a:ext>
            </a:extLst>
          </p:cNvPr>
          <p:cNvSpPr>
            <a:spLocks xmlns:a="http://schemas.openxmlformats.org/drawingml/2006/main" noGrp="1"/>
          </p:cNvSpPr>
          <p:nvPr/>
        </p:nvSpPr>
        <p:spPr>
          <a:xfrm xmlns:a="http://schemas.openxmlformats.org/drawingml/2006/main">
            <a:off x="6115050" y="38290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350" b="0">
                <a:solidFill>
                  <a:srgbClr val="5B6470"/>
                </a:solidFill>
                <a:latin typeface="Arial"/>
                <a:ea typeface="Arial"/>
                <a:cs typeface="Arial"/>
              </a:defRPr>
            </a:pPr>
            <a:r>
              <a:rPr sz="1350" b="0">
                <a:solidFill>
                  <a:srgbClr val="5B6470"/>
                </a:solidFill>
                <a:latin typeface="Arial"/>
                <a:ea typeface="Arial"/>
                <a:cs typeface="Arial"/>
              </a:rPr>
              <a:t>lines added</a:t>
            </a:r>
          </a:p>
        </p:txBody>
      </p:sp>
      <p:sp>
        <p:nvSpPr>
          <p:cNvPr id="14" name="">
            <a:extLst xmlns:a="http://schemas.openxmlformats.org/drawingml/2006/main">
              <a:ext uri="{FF2B5EF4-FFF2-40B4-BE49-F238E27FC236}">
                <a16:creationId xmlns:a16="http://schemas.microsoft.com/office/drawing/2014/main" id="{F182591F-0A65-40F5-81B3-D0ADED622481}"/>
              </a:ext>
            </a:extLst>
          </p:cNvPr>
          <p:cNvSpPr>
            <a:spLocks xmlns:a="http://schemas.openxmlformats.org/drawingml/2006/main" noGrp="1"/>
          </p:cNvSpPr>
          <p:nvPr/>
        </p:nvSpPr>
        <p:spPr>
          <a:xfrm xmlns:a="http://schemas.openxmlformats.org/drawingml/2006/main">
            <a:off x="8667750" y="3238500"/>
            <a:ext cx="9525"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15" name="">
            <a:extLst xmlns:a="http://schemas.openxmlformats.org/drawingml/2006/main">
              <a:ext uri="{FF2B5EF4-FFF2-40B4-BE49-F238E27FC236}">
                <a16:creationId xmlns:a16="http://schemas.microsoft.com/office/drawing/2014/main" id="{2F1502C0-1A60-4542-9D08-AF9A547B8EAA}"/>
              </a:ext>
            </a:extLst>
          </p:cNvPr>
          <p:cNvSpPr>
            <a:spLocks xmlns:a="http://schemas.openxmlformats.org/drawingml/2006/main" noGrp="1"/>
          </p:cNvSpPr>
          <p:nvPr/>
        </p:nvSpPr>
        <p:spPr>
          <a:xfrm xmlns:a="http://schemas.openxmlformats.org/drawingml/2006/main">
            <a:off x="8896350" y="3105150"/>
            <a:ext cx="2381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3750" b="1">
                <a:solidFill>
                  <a:srgbClr val="2DA44E"/>
                </a:solidFill>
                <a:latin typeface="Arial"/>
                <a:ea typeface="Arial"/>
                <a:cs typeface="Arial"/>
              </a:defRPr>
            </a:pPr>
            <a:r>
              <a:rPr sz="3750" b="1">
                <a:solidFill>
                  <a:srgbClr val="2DA44E"/>
                </a:solidFill>
                <a:latin typeface="Arial"/>
                <a:ea typeface="Arial"/>
                <a:cs typeface="Arial"/>
              </a:rPr>
              <a:t>Open</a:t>
            </a:r>
          </a:p>
        </p:txBody>
      </p:sp>
      <p:sp>
        <p:nvSpPr>
          <p:cNvPr id="16" name="">
            <a:extLst xmlns:a="http://schemas.openxmlformats.org/drawingml/2006/main">
              <a:ext uri="{FF2B5EF4-FFF2-40B4-BE49-F238E27FC236}">
                <a16:creationId xmlns:a16="http://schemas.microsoft.com/office/drawing/2014/main" id="{33EAA61D-2022-4742-90F2-134EDC37A0B3}"/>
              </a:ext>
            </a:extLst>
          </p:cNvPr>
          <p:cNvSpPr>
            <a:spLocks xmlns:a="http://schemas.openxmlformats.org/drawingml/2006/main" noGrp="1"/>
          </p:cNvSpPr>
          <p:nvPr/>
        </p:nvSpPr>
        <p:spPr>
          <a:xfrm xmlns:a="http://schemas.openxmlformats.org/drawingml/2006/main">
            <a:off x="8896350" y="38290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350" b="0">
                <a:solidFill>
                  <a:srgbClr val="5B6470"/>
                </a:solidFill>
                <a:latin typeface="Arial"/>
                <a:ea typeface="Arial"/>
                <a:cs typeface="Arial"/>
              </a:defRPr>
            </a:pPr>
            <a:r>
              <a:rPr sz="1350" b="0">
                <a:solidFill>
                  <a:srgbClr val="5B6470"/>
                </a:solidFill>
                <a:latin typeface="Arial"/>
                <a:ea typeface="Arial"/>
                <a:cs typeface="Arial"/>
              </a:rPr>
              <a:t>review status</a:t>
            </a:r>
          </a:p>
        </p:txBody>
      </p:sp>
      <p:sp>
        <p:nvSpPr>
          <p:cNvPr id="17" name="">
            <a:extLst xmlns:a="http://schemas.openxmlformats.org/drawingml/2006/main">
              <a:ext uri="{FF2B5EF4-FFF2-40B4-BE49-F238E27FC236}">
                <a16:creationId xmlns:a16="http://schemas.microsoft.com/office/drawing/2014/main" id="{ADA4592F-F764-48C3-8E5C-6A4B06547F5E}"/>
              </a:ext>
            </a:extLst>
          </p:cNvPr>
          <p:cNvSpPr>
            <a:spLocks xmlns:a="http://schemas.openxmlformats.org/drawingml/2006/main" noGrp="1"/>
          </p:cNvSpPr>
          <p:nvPr/>
        </p:nvSpPr>
        <p:spPr>
          <a:xfrm xmlns:a="http://schemas.openxmlformats.org/drawingml/2006/main">
            <a:off x="533400" y="4762500"/>
            <a:ext cx="10629900" cy="1143000"/>
          </a:xfrm>
          <a:prstGeom xmlns:a="http://schemas.openxmlformats.org/drawingml/2006/main" prst="roundRect">
            <a:avLst>
              <a:gd name="adj" fmla="val 10000"/>
            </a:avLst>
          </a:prstGeom>
          <a:solidFill xmlns:a="http://schemas.openxmlformats.org/drawingml/2006/main">
            <a:srgbClr val="EAF5FB"/>
          </a:solidFill>
          <a:ln xmlns:a="http://schemas.openxmlformats.org/drawingml/2006/main" w="9525">
            <a:solidFill>
              <a:srgbClr val="D0EDFA"/>
            </a:solidFill>
            <a:prstDash val="solid"/>
          </a:ln>
        </p:spPr>
      </p:sp>
      <p:sp>
        <p:nvSpPr>
          <p:cNvPr id="18" name="">
            <a:extLst xmlns:a="http://schemas.openxmlformats.org/drawingml/2006/main">
              <a:ext uri="{FF2B5EF4-FFF2-40B4-BE49-F238E27FC236}">
                <a16:creationId xmlns:a16="http://schemas.microsoft.com/office/drawing/2014/main" id="{6BC84B0E-7A59-4726-9273-4CDEECD1B6B3}"/>
              </a:ext>
            </a:extLst>
          </p:cNvPr>
          <p:cNvSpPr>
            <a:spLocks xmlns:a="http://schemas.openxmlformats.org/drawingml/2006/main" noGrp="1"/>
          </p:cNvSpPr>
          <p:nvPr/>
        </p:nvSpPr>
        <p:spPr>
          <a:xfrm xmlns:a="http://schemas.openxmlformats.org/drawingml/2006/main">
            <a:off x="762000" y="4953000"/>
            <a:ext cx="2571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125" b="1">
                <a:solidFill>
                  <a:srgbClr val="3D8DFF"/>
                </a:solidFill>
                <a:latin typeface="Arial"/>
                <a:ea typeface="Arial"/>
                <a:cs typeface="Arial"/>
              </a:defRPr>
            </a:pPr>
            <a:r>
              <a:rPr sz="1125" b="1">
                <a:solidFill>
                  <a:srgbClr val="3D8DFF"/>
                </a:solidFill>
                <a:latin typeface="Arial"/>
                <a:ea typeface="Arial"/>
                <a:cs typeface="Arial"/>
              </a:rPr>
              <a:t>One sentence to remember</a:t>
            </a:r>
          </a:p>
        </p:txBody>
      </p:sp>
      <p:sp>
        <p:nvSpPr>
          <p:cNvPr id="19" name="">
            <a:extLst xmlns:a="http://schemas.openxmlformats.org/drawingml/2006/main">
              <a:ext uri="{FF2B5EF4-FFF2-40B4-BE49-F238E27FC236}">
                <a16:creationId xmlns:a16="http://schemas.microsoft.com/office/drawing/2014/main" id="{8674D24D-F335-46EA-A14A-86AF63F73F9B}"/>
              </a:ext>
            </a:extLst>
          </p:cNvPr>
          <p:cNvSpPr>
            <a:spLocks xmlns:a="http://schemas.openxmlformats.org/drawingml/2006/main" noGrp="1"/>
          </p:cNvSpPr>
          <p:nvPr/>
        </p:nvSpPr>
        <p:spPr>
          <a:xfrm xmlns:a="http://schemas.openxmlformats.org/drawingml/2006/main">
            <a:off x="762000" y="5257800"/>
            <a:ext cx="9810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00" b="1">
                <a:solidFill>
                  <a:srgbClr val="0B0D10"/>
                </a:solidFill>
                <a:latin typeface="Arial"/>
                <a:ea typeface="Arial"/>
                <a:cs typeface="Arial"/>
              </a:defRPr>
            </a:pPr>
            <a:r>
              <a:rPr sz="1800" b="1">
                <a:solidFill>
                  <a:srgbClr val="0B0D10"/>
                </a:solidFill>
                <a:latin typeface="Arial"/>
                <a:ea typeface="Arial"/>
                <a:cs typeface="Arial"/>
              </a:rPr>
              <a:t>PR #45 separates the common agent authentication mechanism from method-specific trust models.</a:t>
            </a:r>
          </a:p>
        </p:txBody>
      </p:sp>
      <p:sp>
        <p:nvSpPr>
          <p:cNvPr id="20" name="">
            <a:extLst xmlns:a="http://schemas.openxmlformats.org/drawingml/2006/main">
              <a:ext uri="{FF2B5EF4-FFF2-40B4-BE49-F238E27FC236}">
                <a16:creationId xmlns:a16="http://schemas.microsoft.com/office/drawing/2014/main" id="{FA9C02B8-6A99-4AB2-B1BD-446327BA4704}"/>
              </a:ext>
            </a:extLst>
          </p:cNvPr>
          <p:cNvSpPr>
            <a:spLocks xmlns:a="http://schemas.openxmlformats.org/drawingml/2006/main" noGrp="1"/>
          </p:cNvSpPr>
          <p:nvPr/>
        </p:nvSpPr>
        <p:spPr>
          <a:xfrm xmlns:a="http://schemas.openxmlformats.org/drawingml/2006/main">
            <a:off x="514350" y="6381750"/>
            <a:ext cx="9906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0">
                <a:solidFill>
                  <a:srgbClr val="5B6470"/>
                </a:solidFill>
                <a:latin typeface="Arial"/>
                <a:ea typeface="Arial"/>
                <a:cs typeface="Arial"/>
              </a:defRPr>
            </a:pPr>
            <a:r>
              <a:rPr sz="900" b="0">
                <a:solidFill>
                  <a:srgbClr val="5B6470"/>
                </a:solidFill>
                <a:latin typeface="Arial"/>
                <a:ea typeface="Arial"/>
                <a:cs typeface="Arial"/>
              </a:rPr>
              <a:t>Source: PR #45 metadata and summary</a:t>
            </a:r>
          </a:p>
        </p:txBody>
      </p:sp>
    </p:spTree>
    <p:extLst>
      <p:ext uri="{BB962C8B-B14F-4D97-AF65-F5344CB8AC3E}">
        <p14:creationId xmlns:p14="http://schemas.microsoft.com/office/powerpoint/2010/main" val="214140923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8D6B74C1-34CB-45A2-A30D-714473BA83E0}"/>
              </a:ext>
            </a:extLst>
          </p:cNvPr>
          <p:cNvSpPr>
            <a:spLocks xmlns:a="http://schemas.openxmlformats.org/drawingml/2006/main" noGrp="1"/>
          </p:cNvSpPr>
          <p:nvPr/>
        </p:nvSpPr>
        <p:spPr>
          <a:xfrm xmlns:a="http://schemas.openxmlformats.org/drawingml/2006/main">
            <a:off x="514350" y="2667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125" b="1">
                <a:solidFill>
                  <a:srgbClr val="3D8DFF"/>
                </a:solidFill>
                <a:latin typeface="Arial"/>
                <a:ea typeface="Arial"/>
                <a:cs typeface="Arial"/>
              </a:defRPr>
            </a:pPr>
            <a:r>
              <a:rPr sz="1125" b="1">
                <a:solidFill>
                  <a:srgbClr val="3D8DFF"/>
                </a:solidFill>
                <a:latin typeface="Arial"/>
                <a:ea typeface="Arial"/>
                <a:cs typeface="Arial"/>
              </a:rPr>
              <a:t>WHY SPLIT</a:t>
            </a:r>
          </a:p>
        </p:txBody>
      </p:sp>
      <p:sp>
        <p:nvSpPr>
          <p:cNvPr id="2" name="">
            <a:extLst xmlns:a="http://schemas.openxmlformats.org/drawingml/2006/main">
              <a:ext uri="{FF2B5EF4-FFF2-40B4-BE49-F238E27FC236}">
                <a16:creationId xmlns:a16="http://schemas.microsoft.com/office/drawing/2014/main" id="{DEB7AAAF-882F-4C07-8285-CB673DE5D487}"/>
              </a:ext>
            </a:extLst>
          </p:cNvPr>
          <p:cNvSpPr>
            <a:spLocks xmlns:a="http://schemas.openxmlformats.org/drawingml/2006/main" noGrp="1"/>
          </p:cNvSpPr>
          <p:nvPr/>
        </p:nvSpPr>
        <p:spPr>
          <a:xfrm xmlns:a="http://schemas.openxmlformats.org/drawingml/2006/main">
            <a:off x="514350" y="55245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3525" b="1">
                <a:solidFill>
                  <a:srgbClr val="0B0D10"/>
                </a:solidFill>
                <a:latin typeface="Arial"/>
                <a:ea typeface="Arial"/>
                <a:cs typeface="Arial"/>
              </a:defRPr>
            </a:pPr>
            <a:r>
              <a:rPr sz="3525" b="1">
                <a:solidFill>
                  <a:srgbClr val="0B0D10"/>
                </a:solidFill>
                <a:latin typeface="Arial"/>
                <a:ea typeface="Arial"/>
                <a:cs typeface="Arial"/>
              </a:rPr>
              <a:t>The new structure makes trust boundaries visible</a:t>
            </a:r>
          </a:p>
        </p:txBody>
      </p:sp>
      <p:sp>
        <p:nvSpPr>
          <p:cNvPr id="3" name="">
            <a:extLst xmlns:a="http://schemas.openxmlformats.org/drawingml/2006/main">
              <a:ext uri="{FF2B5EF4-FFF2-40B4-BE49-F238E27FC236}">
                <a16:creationId xmlns:a16="http://schemas.microsoft.com/office/drawing/2014/main" id="{C0A9775A-48B7-4EB7-BD28-744FE193430E}"/>
              </a:ext>
            </a:extLst>
          </p:cNvPr>
          <p:cNvSpPr>
            <a:spLocks xmlns:a="http://schemas.openxmlformats.org/drawingml/2006/main" noGrp="1"/>
          </p:cNvSpPr>
          <p:nvPr/>
        </p:nvSpPr>
        <p:spPr>
          <a:xfrm xmlns:a="http://schemas.openxmlformats.org/drawingml/2006/main">
            <a:off x="514350" y="1352550"/>
            <a:ext cx="111633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A9AE45C4-BB28-41DE-BD59-23759247A04A}"/>
              </a:ext>
            </a:extLst>
          </p:cNvPr>
          <p:cNvSpPr>
            <a:spLocks xmlns:a="http://schemas.openxmlformats.org/drawingml/2006/main" noGrp="1"/>
          </p:cNvSpPr>
          <p:nvPr/>
        </p:nvSpPr>
        <p:spPr>
          <a:xfrm xmlns:a="http://schemas.openxmlformats.org/drawingml/2006/main">
            <a:off x="11239500" y="6362700"/>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975" b="0">
                <a:solidFill>
                  <a:srgbClr val="5B6470"/>
                </a:solidFill>
                <a:latin typeface="Arial"/>
                <a:ea typeface="Arial"/>
                <a:cs typeface="Arial"/>
              </a:defRPr>
            </a:pPr>
            <a:r>
              <a:rPr sz="975" b="0">
                <a:solidFill>
                  <a:srgbClr val="5B6470"/>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34F7126C-C6BB-432E-A94E-2DC4A5BA83F3}"/>
              </a:ext>
            </a:extLst>
          </p:cNvPr>
          <p:cNvSpPr>
            <a:spLocks xmlns:a="http://schemas.openxmlformats.org/drawingml/2006/main" noGrp="1"/>
          </p:cNvSpPr>
          <p:nvPr/>
        </p:nvSpPr>
        <p:spPr>
          <a:xfrm xmlns:a="http://schemas.openxmlformats.org/drawingml/2006/main">
            <a:off x="552450" y="169545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050" b="1">
                <a:solidFill>
                  <a:srgbClr val="5B6470"/>
                </a:solidFill>
                <a:latin typeface="Arial"/>
                <a:ea typeface="Arial"/>
                <a:cs typeface="Arial"/>
              </a:defRPr>
            </a:pPr>
            <a:r>
              <a:rPr sz="1050" b="1">
                <a:solidFill>
                  <a:srgbClr val="5B6470"/>
                </a:solidFill>
                <a:latin typeface="Arial"/>
                <a:ea typeface="Arial"/>
                <a:cs typeface="Arial"/>
              </a:rPr>
              <a:t>BEFORE</a:t>
            </a:r>
          </a:p>
        </p:txBody>
      </p:sp>
      <p:sp>
        <p:nvSpPr>
          <p:cNvPr id="6" name="">
            <a:extLst xmlns:a="http://schemas.openxmlformats.org/drawingml/2006/main">
              <a:ext uri="{FF2B5EF4-FFF2-40B4-BE49-F238E27FC236}">
                <a16:creationId xmlns:a16="http://schemas.microsoft.com/office/drawing/2014/main" id="{E90BA1D3-34C0-4909-9307-1BE115EFC717}"/>
              </a:ext>
            </a:extLst>
          </p:cNvPr>
          <p:cNvSpPr>
            <a:spLocks xmlns:a="http://schemas.openxmlformats.org/drawingml/2006/main" noGrp="1"/>
          </p:cNvSpPr>
          <p:nvPr/>
        </p:nvSpPr>
        <p:spPr>
          <a:xfrm xmlns:a="http://schemas.openxmlformats.org/drawingml/2006/main">
            <a:off x="6572250" y="169545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050" b="1">
                <a:solidFill>
                  <a:srgbClr val="3D8DFF"/>
                </a:solidFill>
                <a:latin typeface="Arial"/>
                <a:ea typeface="Arial"/>
                <a:cs typeface="Arial"/>
              </a:defRPr>
            </a:pPr>
            <a:r>
              <a:rPr sz="1050" b="1">
                <a:solidFill>
                  <a:srgbClr val="3D8DFF"/>
                </a:solidFill>
                <a:latin typeface="Arial"/>
                <a:ea typeface="Arial"/>
                <a:cs typeface="Arial"/>
              </a:rPr>
              <a:t>AFTER</a:t>
            </a:r>
          </a:p>
        </p:txBody>
      </p:sp>
      <p:sp>
        <p:nvSpPr>
          <p:cNvPr id="7" name="">
            <a:extLst xmlns:a="http://schemas.openxmlformats.org/drawingml/2006/main">
              <a:ext uri="{FF2B5EF4-FFF2-40B4-BE49-F238E27FC236}">
                <a16:creationId xmlns:a16="http://schemas.microsoft.com/office/drawing/2014/main" id="{D3D5F2DA-AA29-457F-9251-D965DC795F9B}"/>
              </a:ext>
            </a:extLst>
          </p:cNvPr>
          <p:cNvSpPr>
            <a:spLocks xmlns:a="http://schemas.openxmlformats.org/drawingml/2006/main" noGrp="1"/>
          </p:cNvSpPr>
          <p:nvPr/>
        </p:nvSpPr>
        <p:spPr>
          <a:xfrm xmlns:a="http://schemas.openxmlformats.org/drawingml/2006/main">
            <a:off x="552450" y="2057400"/>
            <a:ext cx="4572000" cy="339090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sp>
      <p:sp>
        <p:nvSpPr>
          <p:cNvPr id="8" name="">
            <a:extLst xmlns:a="http://schemas.openxmlformats.org/drawingml/2006/main">
              <a:ext uri="{FF2B5EF4-FFF2-40B4-BE49-F238E27FC236}">
                <a16:creationId xmlns:a16="http://schemas.microsoft.com/office/drawing/2014/main" id="{B95F4E94-66C6-439A-80A2-9FD4112B897F}"/>
              </a:ext>
            </a:extLst>
          </p:cNvPr>
          <p:cNvSpPr>
            <a:spLocks xmlns:a="http://schemas.openxmlformats.org/drawingml/2006/main" noGrp="1"/>
          </p:cNvSpPr>
          <p:nvPr/>
        </p:nvSpPr>
        <p:spPr>
          <a:xfrm xmlns:a="http://schemas.openxmlformats.org/drawingml/2006/main">
            <a:off x="838200" y="2324100"/>
            <a:ext cx="4000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325" b="1">
                <a:solidFill>
                  <a:srgbClr val="0B0D10"/>
                </a:solidFill>
                <a:latin typeface="Arial"/>
                <a:ea typeface="Arial"/>
                <a:cs typeface="Arial"/>
              </a:defRPr>
            </a:pPr>
            <a:r>
              <a:rPr sz="2325" b="1">
                <a:solidFill>
                  <a:srgbClr val="0B0D10"/>
                </a:solidFill>
                <a:latin typeface="Arial"/>
                <a:ea typeface="Arial"/>
                <a:cs typeface="Arial"/>
              </a:rPr>
              <a:t>protocol.html</a:t>
            </a:r>
          </a:p>
        </p:txBody>
      </p:sp>
      <p:sp>
        <p:nvSpPr>
          <p:cNvPr id="9" name="">
            <a:extLst xmlns:a="http://schemas.openxmlformats.org/drawingml/2006/main">
              <a:ext uri="{FF2B5EF4-FFF2-40B4-BE49-F238E27FC236}">
                <a16:creationId xmlns:a16="http://schemas.microsoft.com/office/drawing/2014/main" id="{CA0BCC27-BA74-43D0-AAAB-95A4F33F499B}"/>
              </a:ext>
            </a:extLst>
          </p:cNvPr>
          <p:cNvSpPr>
            <a:spLocks xmlns:a="http://schemas.openxmlformats.org/drawingml/2006/main" noGrp="1"/>
          </p:cNvSpPr>
          <p:nvPr/>
        </p:nvSpPr>
        <p:spPr>
          <a:xfrm xmlns:a="http://schemas.openxmlformats.org/drawingml/2006/main">
            <a:off x="857250" y="2952750"/>
            <a:ext cx="3714750" cy="1943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35000"/>
              </a:lnSpc>
              <a:buNone/>
              <a:defRPr sz="1800" b="0">
                <a:solidFill>
                  <a:srgbClr val="0B0D10"/>
                </a:solidFill>
                <a:latin typeface="Arial"/>
                <a:ea typeface="Arial"/>
                <a:cs typeface="Arial"/>
              </a:defRPr>
            </a:pPr>
            <a:r>
              <a:rPr sz="1800" b="0">
                <a:solidFill>
                  <a:srgbClr val="0B0D10"/>
                </a:solidFill>
                <a:latin typeface="Arial"/>
                <a:ea typeface="Arial"/>
                <a:cs typeface="Arial"/>
              </a:rPr>
              <a:t>•  Agent identity model</a:t>
            </a:r>
          </a:p>
          <a:p xmlns:a="http://schemas.openxmlformats.org/drawingml/2006/main">
            <a:pPr algn="l">
              <a:lnSpc>
                <a:spcPct val="135000"/>
              </a:lnSpc>
              <a:buNone/>
              <a:defRPr sz="1800" b="0">
                <a:solidFill>
                  <a:srgbClr val="0B0D10"/>
                </a:solidFill>
                <a:latin typeface="Arial"/>
                <a:ea typeface="Arial"/>
                <a:cs typeface="Arial"/>
              </a:defRPr>
            </a:pPr>
            <a:r>
              <a:rPr sz="1800" b="0">
                <a:solidFill>
                  <a:srgbClr val="0B0D10"/>
                </a:solidFill>
                <a:latin typeface="Arial"/>
                <a:ea typeface="Arial"/>
                <a:cs typeface="Arial"/>
              </a:rPr>
              <a:t>•  HTTP authentication</a:t>
            </a:r>
          </a:p>
          <a:p xmlns:a="http://schemas.openxmlformats.org/drawingml/2006/main">
            <a:pPr algn="l">
              <a:lnSpc>
                <a:spcPct val="135000"/>
              </a:lnSpc>
              <a:buNone/>
              <a:defRPr sz="1800" b="0">
                <a:solidFill>
                  <a:srgbClr val="0B0D10"/>
                </a:solidFill>
                <a:latin typeface="Arial"/>
                <a:ea typeface="Arial"/>
                <a:cs typeface="Arial"/>
              </a:defRPr>
            </a:pPr>
            <a:r>
              <a:rPr sz="1800" b="0">
                <a:solidFill>
                  <a:srgbClr val="0B0D10"/>
                </a:solidFill>
                <a:latin typeface="Arial"/>
                <a:ea typeface="Arial"/>
                <a:cs typeface="Arial"/>
              </a:rPr>
              <a:t>•  did:wba lifecycle</a:t>
            </a:r>
          </a:p>
          <a:p xmlns:a="http://schemas.openxmlformats.org/drawingml/2006/main">
            <a:pPr algn="l">
              <a:lnSpc>
                <a:spcPct val="135000"/>
              </a:lnSpc>
              <a:buNone/>
              <a:defRPr sz="1800" b="0">
                <a:solidFill>
                  <a:srgbClr val="0B0D10"/>
                </a:solidFill>
                <a:latin typeface="Arial"/>
                <a:ea typeface="Arial"/>
                <a:cs typeface="Arial"/>
              </a:defRPr>
            </a:pPr>
            <a:r>
              <a:rPr sz="1800" b="0">
                <a:solidFill>
                  <a:srgbClr val="0B0D10"/>
                </a:solidFill>
                <a:latin typeface="Arial"/>
                <a:ea typeface="Arial"/>
                <a:cs typeface="Arial"/>
              </a:rPr>
              <a:t>•  did:web / did:webvh compatibility</a:t>
            </a:r>
          </a:p>
        </p:txBody>
      </p:sp>
      <p:sp>
        <p:nvSpPr>
          <p:cNvPr id="10" name="">
            <a:extLst xmlns:a="http://schemas.openxmlformats.org/drawingml/2006/main">
              <a:ext uri="{FF2B5EF4-FFF2-40B4-BE49-F238E27FC236}">
                <a16:creationId xmlns:a16="http://schemas.microsoft.com/office/drawing/2014/main" id="{81D42D4B-29AC-47F5-A8F6-7D81A217EB28}"/>
              </a:ext>
            </a:extLst>
          </p:cNvPr>
          <p:cNvSpPr>
            <a:spLocks xmlns:a="http://schemas.openxmlformats.org/drawingml/2006/main" noGrp="1"/>
          </p:cNvSpPr>
          <p:nvPr/>
        </p:nvSpPr>
        <p:spPr>
          <a:xfrm xmlns:a="http://schemas.openxmlformats.org/drawingml/2006/main">
            <a:off x="857250" y="4972050"/>
            <a:ext cx="371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75" b="0">
                <a:solidFill>
                  <a:srgbClr val="5B6470"/>
                </a:solidFill>
                <a:latin typeface="Arial"/>
                <a:ea typeface="Arial"/>
                <a:cs typeface="Arial"/>
              </a:defRPr>
            </a:pPr>
            <a:r>
              <a:rPr sz="1275" b="0">
                <a:solidFill>
                  <a:srgbClr val="5B6470"/>
                </a:solidFill>
                <a:latin typeface="Arial"/>
                <a:ea typeface="Arial"/>
                <a:cs typeface="Arial"/>
              </a:rPr>
              <a:t>One section mixed protocol, bindings, and method rules.</a:t>
            </a:r>
          </a:p>
        </p:txBody>
      </p:sp>
      <p:sp>
        <p:nvSpPr>
          <p:cNvPr id="11" name="">
            <a:extLst xmlns:a="http://schemas.openxmlformats.org/drawingml/2006/main">
              <a:ext uri="{FF2B5EF4-FFF2-40B4-BE49-F238E27FC236}">
                <a16:creationId xmlns:a16="http://schemas.microsoft.com/office/drawing/2014/main" id="{9F09CE1A-61E3-44A4-9CF1-4A08EE0944D6}"/>
              </a:ext>
            </a:extLst>
          </p:cNvPr>
          <p:cNvSpPr>
            <a:spLocks xmlns:a="http://schemas.openxmlformats.org/drawingml/2006/main" noGrp="1"/>
          </p:cNvSpPr>
          <p:nvPr/>
        </p:nvSpPr>
        <p:spPr>
          <a:xfrm xmlns:a="http://schemas.openxmlformats.org/drawingml/2006/main">
            <a:off x="6572250" y="2057400"/>
            <a:ext cx="4572000" cy="876300"/>
          </a:xfrm>
          <a:prstGeom xmlns:a="http://schemas.openxmlformats.org/drawingml/2006/main" prst="roundRect">
            <a:avLst>
              <a:gd name="adj" fmla="val 13043"/>
            </a:avLst>
          </a:prstGeom>
          <a:solidFill xmlns:a="http://schemas.openxmlformats.org/drawingml/2006/main">
            <a:srgbClr val="EAF5FB"/>
          </a:solidFill>
          <a:ln xmlns:a="http://schemas.openxmlformats.org/drawingml/2006/main" w="9525">
            <a:solidFill>
              <a:srgbClr val="3D8DFF"/>
            </a:solidFill>
            <a:prstDash val="solid"/>
          </a:ln>
        </p:spPr>
      </p:sp>
      <p:sp>
        <p:nvSpPr>
          <p:cNvPr id="12" name="">
            <a:extLst xmlns:a="http://schemas.openxmlformats.org/drawingml/2006/main">
              <a:ext uri="{FF2B5EF4-FFF2-40B4-BE49-F238E27FC236}">
                <a16:creationId xmlns:a16="http://schemas.microsoft.com/office/drawing/2014/main" id="{7AE660EF-0B58-43A1-AEFA-7C56F5690A35}"/>
              </a:ext>
            </a:extLst>
          </p:cNvPr>
          <p:cNvSpPr>
            <a:spLocks xmlns:a="http://schemas.openxmlformats.org/drawingml/2006/main" noGrp="1"/>
          </p:cNvSpPr>
          <p:nvPr/>
        </p:nvSpPr>
        <p:spPr>
          <a:xfrm xmlns:a="http://schemas.openxmlformats.org/drawingml/2006/main">
            <a:off x="6838950" y="2219325"/>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00" b="1">
                <a:solidFill>
                  <a:srgbClr val="3D8DFF"/>
                </a:solidFill>
                <a:latin typeface="Arial"/>
                <a:ea typeface="Arial"/>
                <a:cs typeface="Arial"/>
              </a:defRPr>
            </a:pPr>
            <a:r>
              <a:rPr sz="1800" b="1">
                <a:solidFill>
                  <a:srgbClr val="3D8DFF"/>
                </a:solidFill>
                <a:latin typeface="Arial"/>
                <a:ea typeface="Arial"/>
                <a:cs typeface="Arial"/>
              </a:rPr>
              <a:t>agent-identity.html</a:t>
            </a:r>
          </a:p>
        </p:txBody>
      </p:sp>
      <p:sp>
        <p:nvSpPr>
          <p:cNvPr id="13" name="">
            <a:extLst xmlns:a="http://schemas.openxmlformats.org/drawingml/2006/main">
              <a:ext uri="{FF2B5EF4-FFF2-40B4-BE49-F238E27FC236}">
                <a16:creationId xmlns:a16="http://schemas.microsoft.com/office/drawing/2014/main" id="{1253EC06-5F1C-4EDB-8AE9-2D6ADD80ACFB}"/>
              </a:ext>
            </a:extLst>
          </p:cNvPr>
          <p:cNvSpPr>
            <a:spLocks xmlns:a="http://schemas.openxmlformats.org/drawingml/2006/main" noGrp="1"/>
          </p:cNvSpPr>
          <p:nvPr/>
        </p:nvSpPr>
        <p:spPr>
          <a:xfrm xmlns:a="http://schemas.openxmlformats.org/drawingml/2006/main">
            <a:off x="6838950" y="255270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75" b="0">
                <a:solidFill>
                  <a:srgbClr val="5B6470"/>
                </a:solidFill>
                <a:latin typeface="Arial"/>
                <a:ea typeface="Arial"/>
                <a:cs typeface="Arial"/>
              </a:defRPr>
            </a:pPr>
            <a:r>
              <a:rPr sz="1275" b="0">
                <a:solidFill>
                  <a:srgbClr val="5B6470"/>
                </a:solidFill>
                <a:latin typeface="Arial"/>
                <a:ea typeface="Arial"/>
                <a:cs typeface="Arial"/>
              </a:rPr>
              <a:t>Common HTTP authentication</a:t>
            </a:r>
          </a:p>
        </p:txBody>
      </p:sp>
      <p:sp>
        <p:nvSpPr>
          <p:cNvPr id="14" name="">
            <a:extLst xmlns:a="http://schemas.openxmlformats.org/drawingml/2006/main">
              <a:ext uri="{FF2B5EF4-FFF2-40B4-BE49-F238E27FC236}">
                <a16:creationId xmlns:a16="http://schemas.microsoft.com/office/drawing/2014/main" id="{078AB7A0-882F-469B-80A2-895BEF4C6AEA}"/>
              </a:ext>
            </a:extLst>
          </p:cNvPr>
          <p:cNvSpPr>
            <a:spLocks xmlns:a="http://schemas.openxmlformats.org/drawingml/2006/main" noGrp="1"/>
          </p:cNvSpPr>
          <p:nvPr/>
        </p:nvSpPr>
        <p:spPr>
          <a:xfrm xmlns:a="http://schemas.openxmlformats.org/drawingml/2006/main">
            <a:off x="6572250" y="3200400"/>
            <a:ext cx="4572000" cy="876300"/>
          </a:xfrm>
          <a:prstGeom xmlns:a="http://schemas.openxmlformats.org/drawingml/2006/main" prst="roundRect">
            <a:avLst>
              <a:gd name="adj" fmla="val 13043"/>
            </a:avLst>
          </a:prstGeom>
          <a:solidFill xmlns:a="http://schemas.openxmlformats.org/drawingml/2006/main">
            <a:srgbClr val="FFFFFF"/>
          </a:solidFill>
          <a:ln xmlns:a="http://schemas.openxmlformats.org/drawingml/2006/main" w="9525">
            <a:solidFill>
              <a:srgbClr val="B8BCC4"/>
            </a:solidFill>
            <a:prstDash val="solid"/>
          </a:ln>
        </p:spPr>
      </p:sp>
      <p:sp>
        <p:nvSpPr>
          <p:cNvPr id="15" name="">
            <a:extLst xmlns:a="http://schemas.openxmlformats.org/drawingml/2006/main">
              <a:ext uri="{FF2B5EF4-FFF2-40B4-BE49-F238E27FC236}">
                <a16:creationId xmlns:a16="http://schemas.microsoft.com/office/drawing/2014/main" id="{B6A93508-5225-4DFC-B59B-57E2D7814D56}"/>
              </a:ext>
            </a:extLst>
          </p:cNvPr>
          <p:cNvSpPr>
            <a:spLocks xmlns:a="http://schemas.openxmlformats.org/drawingml/2006/main" noGrp="1"/>
          </p:cNvSpPr>
          <p:nvPr/>
        </p:nvSpPr>
        <p:spPr>
          <a:xfrm xmlns:a="http://schemas.openxmlformats.org/drawingml/2006/main">
            <a:off x="6838950" y="3362325"/>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00" b="1">
                <a:solidFill>
                  <a:srgbClr val="0B0D10"/>
                </a:solidFill>
                <a:latin typeface="Arial"/>
                <a:ea typeface="Arial"/>
                <a:cs typeface="Arial"/>
              </a:defRPr>
            </a:pPr>
            <a:r>
              <a:rPr sz="1800" b="1">
                <a:solidFill>
                  <a:srgbClr val="0B0D10"/>
                </a:solidFill>
                <a:latin typeface="Arial"/>
                <a:ea typeface="Arial"/>
                <a:cs typeface="Arial"/>
              </a:rPr>
              <a:t>did-method-profiles.html</a:t>
            </a:r>
          </a:p>
        </p:txBody>
      </p:sp>
      <p:sp>
        <p:nvSpPr>
          <p:cNvPr id="16" name="">
            <a:extLst xmlns:a="http://schemas.openxmlformats.org/drawingml/2006/main">
              <a:ext uri="{FF2B5EF4-FFF2-40B4-BE49-F238E27FC236}">
                <a16:creationId xmlns:a16="http://schemas.microsoft.com/office/drawing/2014/main" id="{CE70C54A-E5E4-4E84-890F-8244E1E4FBDD}"/>
              </a:ext>
            </a:extLst>
          </p:cNvPr>
          <p:cNvSpPr>
            <a:spLocks xmlns:a="http://schemas.openxmlformats.org/drawingml/2006/main" noGrp="1"/>
          </p:cNvSpPr>
          <p:nvPr/>
        </p:nvSpPr>
        <p:spPr>
          <a:xfrm xmlns:a="http://schemas.openxmlformats.org/drawingml/2006/main">
            <a:off x="6838950" y="369570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75" b="0">
                <a:solidFill>
                  <a:srgbClr val="5B6470"/>
                </a:solidFill>
                <a:latin typeface="Arial"/>
                <a:ea typeface="Arial"/>
                <a:cs typeface="Arial"/>
              </a:defRPr>
            </a:pPr>
            <a:r>
              <a:rPr sz="1275" b="0">
                <a:solidFill>
                  <a:srgbClr val="5B6470"/>
                </a:solidFill>
                <a:latin typeface="Arial"/>
                <a:ea typeface="Arial"/>
                <a:cs typeface="Arial"/>
              </a:rPr>
              <a:t>Method-specific validation</a:t>
            </a:r>
          </a:p>
        </p:txBody>
      </p:sp>
      <p:sp>
        <p:nvSpPr>
          <p:cNvPr id="17" name="">
            <a:extLst xmlns:a="http://schemas.openxmlformats.org/drawingml/2006/main">
              <a:ext uri="{FF2B5EF4-FFF2-40B4-BE49-F238E27FC236}">
                <a16:creationId xmlns:a16="http://schemas.microsoft.com/office/drawing/2014/main" id="{001F9495-0FD1-4164-9AB0-15D6F43C6F75}"/>
              </a:ext>
            </a:extLst>
          </p:cNvPr>
          <p:cNvSpPr>
            <a:spLocks xmlns:a="http://schemas.openxmlformats.org/drawingml/2006/main" noGrp="1"/>
          </p:cNvSpPr>
          <p:nvPr/>
        </p:nvSpPr>
        <p:spPr>
          <a:xfrm xmlns:a="http://schemas.openxmlformats.org/drawingml/2006/main">
            <a:off x="6572250" y="4343400"/>
            <a:ext cx="4572000" cy="876300"/>
          </a:xfrm>
          <a:prstGeom xmlns:a="http://schemas.openxmlformats.org/drawingml/2006/main" prst="roundRect">
            <a:avLst>
              <a:gd name="adj" fmla="val 13043"/>
            </a:avLst>
          </a:prstGeom>
          <a:solidFill xmlns:a="http://schemas.openxmlformats.org/drawingml/2006/main">
            <a:srgbClr val="FFFFFF"/>
          </a:solidFill>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0345544E-421F-408D-A0B4-BF2FBF81210B}"/>
              </a:ext>
            </a:extLst>
          </p:cNvPr>
          <p:cNvSpPr>
            <a:spLocks xmlns:a="http://schemas.openxmlformats.org/drawingml/2006/main" noGrp="1"/>
          </p:cNvSpPr>
          <p:nvPr/>
        </p:nvSpPr>
        <p:spPr>
          <a:xfrm xmlns:a="http://schemas.openxmlformats.org/drawingml/2006/main">
            <a:off x="6838950" y="4505325"/>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00" b="1">
                <a:solidFill>
                  <a:srgbClr val="0B0D10"/>
                </a:solidFill>
                <a:latin typeface="Arial"/>
                <a:ea typeface="Arial"/>
                <a:cs typeface="Arial"/>
              </a:defRPr>
            </a:pPr>
            <a:r>
              <a:rPr sz="1800" b="1">
                <a:solidFill>
                  <a:srgbClr val="0B0D10"/>
                </a:solidFill>
                <a:latin typeface="Arial"/>
                <a:ea typeface="Arial"/>
                <a:cs typeface="Arial"/>
              </a:rPr>
              <a:t>did-wba.html</a:t>
            </a:r>
          </a:p>
        </p:txBody>
      </p:sp>
      <p:sp>
        <p:nvSpPr>
          <p:cNvPr id="19" name="">
            <a:extLst xmlns:a="http://schemas.openxmlformats.org/drawingml/2006/main">
              <a:ext uri="{FF2B5EF4-FFF2-40B4-BE49-F238E27FC236}">
                <a16:creationId xmlns:a16="http://schemas.microsoft.com/office/drawing/2014/main" id="{8ED1BB59-D13B-4E6C-9B25-43D98D5FAADE}"/>
              </a:ext>
            </a:extLst>
          </p:cNvPr>
          <p:cNvSpPr>
            <a:spLocks xmlns:a="http://schemas.openxmlformats.org/drawingml/2006/main" noGrp="1"/>
          </p:cNvSpPr>
          <p:nvPr/>
        </p:nvSpPr>
        <p:spPr>
          <a:xfrm xmlns:a="http://schemas.openxmlformats.org/drawingml/2006/main">
            <a:off x="6838950" y="483870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75" b="0">
                <a:solidFill>
                  <a:srgbClr val="5B6470"/>
                </a:solidFill>
                <a:latin typeface="Arial"/>
                <a:ea typeface="Arial"/>
                <a:cs typeface="Arial"/>
              </a:defRPr>
            </a:pPr>
            <a:r>
              <a:rPr sz="1275" b="0">
                <a:solidFill>
                  <a:srgbClr val="5B6470"/>
                </a:solidFill>
                <a:latin typeface="Arial"/>
                <a:ea typeface="Arial"/>
                <a:cs typeface="Arial"/>
              </a:rPr>
              <a:t>Identifier and lifecycle rules</a:t>
            </a:r>
          </a:p>
        </p:txBody>
      </p:sp>
      <p:sp>
        <p:nvSpPr>
          <p:cNvPr id="20" name="">
            <a:extLst xmlns:a="http://schemas.openxmlformats.org/drawingml/2006/main">
              <a:ext uri="{FF2B5EF4-FFF2-40B4-BE49-F238E27FC236}">
                <a16:creationId xmlns:a16="http://schemas.microsoft.com/office/drawing/2014/main" id="{27C0C5F9-4A2D-4C41-9E5B-A07D719D8669}"/>
              </a:ext>
            </a:extLst>
          </p:cNvPr>
          <p:cNvSpPr>
            <a:spLocks xmlns:a="http://schemas.openxmlformats.org/drawingml/2006/main" noGrp="1"/>
          </p:cNvSpPr>
          <p:nvPr/>
        </p:nvSpPr>
        <p:spPr>
          <a:xfrm xmlns:a="http://schemas.openxmlformats.org/drawingml/2006/main">
            <a:off x="6572250" y="5505450"/>
            <a:ext cx="457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350" b="0">
                <a:solidFill>
                  <a:srgbClr val="5B6470"/>
                </a:solidFill>
                <a:latin typeface="Arial"/>
                <a:ea typeface="Arial"/>
                <a:cs typeface="Arial"/>
              </a:defRPr>
            </a:pPr>
            <a:r>
              <a:rPr sz="1350" b="0">
                <a:solidFill>
                  <a:srgbClr val="5B6470"/>
                </a:solidFill>
                <a:latin typeface="Arial"/>
                <a:ea typeface="Arial"/>
                <a:cs typeface="Arial"/>
              </a:rPr>
              <a:t>protocol.html remains the index and migration surface.</a:t>
            </a:r>
          </a:p>
        </p:txBody>
      </p:sp>
    </p:spTree>
    <p:extLst>
      <p:ext uri="{BB962C8B-B14F-4D97-AF65-F5344CB8AC3E}">
        <p14:creationId xmlns:p14="http://schemas.microsoft.com/office/powerpoint/2010/main" val="113235106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B8FFE80C-67C9-4312-B0E3-35C8482A2947}"/>
              </a:ext>
            </a:extLst>
          </p:cNvPr>
          <p:cNvSpPr>
            <a:spLocks xmlns:a="http://schemas.openxmlformats.org/drawingml/2006/main" noGrp="1"/>
          </p:cNvSpPr>
          <p:nvPr/>
        </p:nvSpPr>
        <p:spPr>
          <a:xfrm xmlns:a="http://schemas.openxmlformats.org/drawingml/2006/main">
            <a:off x="514350" y="2667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125" b="1">
                <a:solidFill>
                  <a:srgbClr val="3D8DFF"/>
                </a:solidFill>
                <a:latin typeface="Arial"/>
                <a:ea typeface="Arial"/>
                <a:cs typeface="Arial"/>
              </a:defRPr>
            </a:pPr>
            <a:r>
              <a:rPr sz="1125" b="1">
                <a:solidFill>
                  <a:srgbClr val="3D8DFF"/>
                </a:solidFill>
                <a:latin typeface="Arial"/>
                <a:ea typeface="Arial"/>
                <a:cs typeface="Arial"/>
              </a:rPr>
              <a:t>FIVE-FILE MAP</a:t>
            </a:r>
          </a:p>
        </p:txBody>
      </p:sp>
      <p:sp>
        <p:nvSpPr>
          <p:cNvPr id="2" name="">
            <a:extLst xmlns:a="http://schemas.openxmlformats.org/drawingml/2006/main">
              <a:ext uri="{FF2B5EF4-FFF2-40B4-BE49-F238E27FC236}">
                <a16:creationId xmlns:a16="http://schemas.microsoft.com/office/drawing/2014/main" id="{B61541B7-CA78-4B62-8BC9-445C9C18E535}"/>
              </a:ext>
            </a:extLst>
          </p:cNvPr>
          <p:cNvSpPr>
            <a:spLocks xmlns:a="http://schemas.openxmlformats.org/drawingml/2006/main" noGrp="1"/>
          </p:cNvSpPr>
          <p:nvPr/>
        </p:nvSpPr>
        <p:spPr>
          <a:xfrm xmlns:a="http://schemas.openxmlformats.org/drawingml/2006/main">
            <a:off x="514350" y="55245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3525" b="1">
                <a:solidFill>
                  <a:srgbClr val="0B0D10"/>
                </a:solidFill>
                <a:latin typeface="Arial"/>
                <a:ea typeface="Arial"/>
                <a:cs typeface="Arial"/>
              </a:defRPr>
            </a:pPr>
            <a:r>
              <a:rPr sz="3525" b="1">
                <a:solidFill>
                  <a:srgbClr val="0B0D10"/>
                </a:solidFill>
                <a:latin typeface="Arial"/>
                <a:ea typeface="Arial"/>
                <a:cs typeface="Arial"/>
              </a:rPr>
              <a:t>Each changed file now has one clear responsibility</a:t>
            </a:r>
          </a:p>
        </p:txBody>
      </p:sp>
      <p:sp>
        <p:nvSpPr>
          <p:cNvPr id="3" name="">
            <a:extLst xmlns:a="http://schemas.openxmlformats.org/drawingml/2006/main">
              <a:ext uri="{FF2B5EF4-FFF2-40B4-BE49-F238E27FC236}">
                <a16:creationId xmlns:a16="http://schemas.microsoft.com/office/drawing/2014/main" id="{2339EB29-096B-4DE0-A959-5DD2E2425FA7}"/>
              </a:ext>
            </a:extLst>
          </p:cNvPr>
          <p:cNvSpPr>
            <a:spLocks xmlns:a="http://schemas.openxmlformats.org/drawingml/2006/main" noGrp="1"/>
          </p:cNvSpPr>
          <p:nvPr/>
        </p:nvSpPr>
        <p:spPr>
          <a:xfrm xmlns:a="http://schemas.openxmlformats.org/drawingml/2006/main">
            <a:off x="514350" y="1352550"/>
            <a:ext cx="111633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CB2E6284-DC3C-4A26-B222-512C6EE3AEE7}"/>
              </a:ext>
            </a:extLst>
          </p:cNvPr>
          <p:cNvSpPr>
            <a:spLocks xmlns:a="http://schemas.openxmlformats.org/drawingml/2006/main" noGrp="1"/>
          </p:cNvSpPr>
          <p:nvPr/>
        </p:nvSpPr>
        <p:spPr>
          <a:xfrm xmlns:a="http://schemas.openxmlformats.org/drawingml/2006/main">
            <a:off x="11239500" y="6362700"/>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975" b="0">
                <a:solidFill>
                  <a:srgbClr val="5B6470"/>
                </a:solidFill>
                <a:latin typeface="Arial"/>
                <a:ea typeface="Arial"/>
                <a:cs typeface="Arial"/>
              </a:defRPr>
            </a:pPr>
            <a:r>
              <a:rPr sz="975" b="0">
                <a:solidFill>
                  <a:srgbClr val="5B6470"/>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95950DB5-287A-4A6F-8B74-EFCFBF89B9FC}"/>
              </a:ext>
            </a:extLst>
          </p:cNvPr>
          <p:cNvSpPr>
            <a:spLocks xmlns:a="http://schemas.openxmlformats.org/drawingml/2006/main" noGrp="1"/>
          </p:cNvSpPr>
          <p:nvPr/>
        </p:nvSpPr>
        <p:spPr>
          <a:xfrm xmlns:a="http://schemas.openxmlformats.org/drawingml/2006/main">
            <a:off x="571500" y="1695450"/>
            <a:ext cx="323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050" b="1">
                <a:solidFill>
                  <a:srgbClr val="5B6470"/>
                </a:solidFill>
                <a:latin typeface="Arial"/>
                <a:ea typeface="Arial"/>
                <a:cs typeface="Arial"/>
              </a:defRPr>
            </a:pPr>
            <a:r>
              <a:rPr sz="1050" b="1">
                <a:solidFill>
                  <a:srgbClr val="5B6470"/>
                </a:solidFill>
                <a:latin typeface="Arial"/>
                <a:ea typeface="Arial"/>
                <a:cs typeface="Arial"/>
              </a:rPr>
              <a:t>FILE</a:t>
            </a:r>
          </a:p>
        </p:txBody>
      </p:sp>
      <p:sp>
        <p:nvSpPr>
          <p:cNvPr id="6" name="">
            <a:extLst xmlns:a="http://schemas.openxmlformats.org/drawingml/2006/main">
              <a:ext uri="{FF2B5EF4-FFF2-40B4-BE49-F238E27FC236}">
                <a16:creationId xmlns:a16="http://schemas.microsoft.com/office/drawing/2014/main" id="{7FEE6F3D-73CD-49CA-BA45-AAAA5821AD69}"/>
              </a:ext>
            </a:extLst>
          </p:cNvPr>
          <p:cNvSpPr>
            <a:spLocks xmlns:a="http://schemas.openxmlformats.org/drawingml/2006/main" noGrp="1"/>
          </p:cNvSpPr>
          <p:nvPr/>
        </p:nvSpPr>
        <p:spPr>
          <a:xfrm xmlns:a="http://schemas.openxmlformats.org/drawingml/2006/main">
            <a:off x="4000500" y="169545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050" b="1">
                <a:solidFill>
                  <a:srgbClr val="5B6470"/>
                </a:solidFill>
                <a:latin typeface="Arial"/>
                <a:ea typeface="Arial"/>
                <a:cs typeface="Arial"/>
              </a:defRPr>
            </a:pPr>
            <a:r>
              <a:rPr sz="1050" b="1">
                <a:solidFill>
                  <a:srgbClr val="5B6470"/>
                </a:solidFill>
                <a:latin typeface="Arial"/>
                <a:ea typeface="Arial"/>
                <a:cs typeface="Arial"/>
              </a:rPr>
              <a:t>ROLE</a:t>
            </a:r>
          </a:p>
        </p:txBody>
      </p:sp>
      <p:sp>
        <p:nvSpPr>
          <p:cNvPr id="7" name="">
            <a:extLst xmlns:a="http://schemas.openxmlformats.org/drawingml/2006/main">
              <a:ext uri="{FF2B5EF4-FFF2-40B4-BE49-F238E27FC236}">
                <a16:creationId xmlns:a16="http://schemas.microsoft.com/office/drawing/2014/main" id="{B3617948-CDF5-4F4D-82E7-B6DF3030245D}"/>
              </a:ext>
            </a:extLst>
          </p:cNvPr>
          <p:cNvSpPr>
            <a:spLocks xmlns:a="http://schemas.openxmlformats.org/drawingml/2006/main" noGrp="1"/>
          </p:cNvSpPr>
          <p:nvPr/>
        </p:nvSpPr>
        <p:spPr>
          <a:xfrm xmlns:a="http://schemas.openxmlformats.org/drawingml/2006/main">
            <a:off x="6667500" y="169545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050" b="1">
                <a:solidFill>
                  <a:srgbClr val="5B6470"/>
                </a:solidFill>
                <a:latin typeface="Arial"/>
                <a:ea typeface="Arial"/>
                <a:cs typeface="Arial"/>
              </a:defRPr>
            </a:pPr>
            <a:r>
              <a:rPr sz="1050" b="1">
                <a:solidFill>
                  <a:srgbClr val="5B6470"/>
                </a:solidFill>
                <a:latin typeface="Arial"/>
                <a:ea typeface="Arial"/>
                <a:cs typeface="Arial"/>
              </a:rPr>
              <a:t>QUESTION ANSWERED</a:t>
            </a:r>
          </a:p>
        </p:txBody>
      </p:sp>
      <p:sp>
        <p:nvSpPr>
          <p:cNvPr id="8" name="">
            <a:extLst xmlns:a="http://schemas.openxmlformats.org/drawingml/2006/main">
              <a:ext uri="{FF2B5EF4-FFF2-40B4-BE49-F238E27FC236}">
                <a16:creationId xmlns:a16="http://schemas.microsoft.com/office/drawing/2014/main" id="{69C78B9B-31D5-466D-90A1-5653D9E73C2B}"/>
              </a:ext>
            </a:extLst>
          </p:cNvPr>
          <p:cNvSpPr>
            <a:spLocks xmlns:a="http://schemas.openxmlformats.org/drawingml/2006/main" noGrp="1"/>
          </p:cNvSpPr>
          <p:nvPr/>
        </p:nvSpPr>
        <p:spPr>
          <a:xfrm xmlns:a="http://schemas.openxmlformats.org/drawingml/2006/main">
            <a:off x="552450" y="1981200"/>
            <a:ext cx="10610850" cy="0"/>
          </a:xfrm>
          <a:prstGeom xmlns:a="http://schemas.openxmlformats.org/drawingml/2006/main" prst="line">
            <a:avLst/>
          </a:prstGeom>
          <a:noFill xmlns:a="http://schemas.openxmlformats.org/drawingml/2006/main"/>
          <a:ln xmlns:a="http://schemas.openxmlformats.org/drawingml/2006/main" w="19050">
            <a:solidFill>
              <a:srgbClr val="0B0D10"/>
            </a:solidFill>
            <a:prstDash val="solid"/>
          </a:ln>
        </p:spPr>
      </p:sp>
      <p:sp>
        <p:nvSpPr>
          <p:cNvPr id="9" name="">
            <a:extLst xmlns:a="http://schemas.openxmlformats.org/drawingml/2006/main">
              <a:ext uri="{FF2B5EF4-FFF2-40B4-BE49-F238E27FC236}">
                <a16:creationId xmlns:a16="http://schemas.microsoft.com/office/drawing/2014/main" id="{88F789DC-B275-4C7D-8977-6E1E7C48E687}"/>
              </a:ext>
            </a:extLst>
          </p:cNvPr>
          <p:cNvSpPr>
            <a:spLocks xmlns:a="http://schemas.openxmlformats.org/drawingml/2006/main" noGrp="1"/>
          </p:cNvSpPr>
          <p:nvPr/>
        </p:nvSpPr>
        <p:spPr>
          <a:xfrm xmlns:a="http://schemas.openxmlformats.org/drawingml/2006/main">
            <a:off x="571500" y="2114550"/>
            <a:ext cx="323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1">
                <a:solidFill>
                  <a:srgbClr val="0B0D10"/>
                </a:solidFill>
                <a:latin typeface="Courier New"/>
                <a:ea typeface="Courier New"/>
                <a:cs typeface="Courier New"/>
              </a:defRPr>
            </a:pPr>
            <a:r>
              <a:rPr sz="1575" b="1">
                <a:solidFill>
                  <a:srgbClr val="0B0D10"/>
                </a:solidFill>
                <a:latin typeface="Courier New"/>
                <a:ea typeface="Courier New"/>
                <a:cs typeface="Courier New"/>
              </a:rPr>
              <a:t>agent-identity.html</a:t>
            </a:r>
          </a:p>
        </p:txBody>
      </p:sp>
      <p:sp>
        <p:nvSpPr>
          <p:cNvPr id="10" name="">
            <a:extLst xmlns:a="http://schemas.openxmlformats.org/drawingml/2006/main">
              <a:ext uri="{FF2B5EF4-FFF2-40B4-BE49-F238E27FC236}">
                <a16:creationId xmlns:a16="http://schemas.microsoft.com/office/drawing/2014/main" id="{7960B525-D720-47E6-8898-D85AAE7D98D1}"/>
              </a:ext>
            </a:extLst>
          </p:cNvPr>
          <p:cNvSpPr>
            <a:spLocks xmlns:a="http://schemas.openxmlformats.org/drawingml/2006/main" noGrp="1"/>
          </p:cNvSpPr>
          <p:nvPr/>
        </p:nvSpPr>
        <p:spPr>
          <a:xfrm xmlns:a="http://schemas.openxmlformats.org/drawingml/2006/main">
            <a:off x="4000500" y="2114550"/>
            <a:ext cx="238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0">
                <a:solidFill>
                  <a:srgbClr val="3D8DFF"/>
                </a:solidFill>
                <a:latin typeface="Arial"/>
                <a:ea typeface="Arial"/>
                <a:cs typeface="Arial"/>
              </a:defRPr>
            </a:pPr>
            <a:r>
              <a:rPr sz="1500" b="0">
                <a:solidFill>
                  <a:srgbClr val="3D8DFF"/>
                </a:solidFill>
                <a:latin typeface="Arial"/>
                <a:ea typeface="Arial"/>
                <a:cs typeface="Arial"/>
              </a:rPr>
              <a:t>Common protocol</a:t>
            </a:r>
          </a:p>
        </p:txBody>
      </p:sp>
      <p:sp>
        <p:nvSpPr>
          <p:cNvPr id="11" name="">
            <a:extLst xmlns:a="http://schemas.openxmlformats.org/drawingml/2006/main">
              <a:ext uri="{FF2B5EF4-FFF2-40B4-BE49-F238E27FC236}">
                <a16:creationId xmlns:a16="http://schemas.microsoft.com/office/drawing/2014/main" id="{3292A40B-EAA4-4733-8C67-3F1130750351}"/>
              </a:ext>
            </a:extLst>
          </p:cNvPr>
          <p:cNvSpPr>
            <a:spLocks xmlns:a="http://schemas.openxmlformats.org/drawingml/2006/main" noGrp="1"/>
          </p:cNvSpPr>
          <p:nvPr/>
        </p:nvSpPr>
        <p:spPr>
          <a:xfrm xmlns:a="http://schemas.openxmlformats.org/drawingml/2006/main">
            <a:off x="6667500" y="2114550"/>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687"/>
          </a:bodyPr>
          <a:lstStyle xmlns:a="http://schemas.openxmlformats.org/drawingml/2006/main"/>
          <a:p xmlns:a="http://schemas.openxmlformats.org/drawingml/2006/main">
            <a:pPr algn="l">
              <a:lnSpc>
                <a:spcPct val="105000"/>
              </a:lnSpc>
              <a:buNone/>
              <a:defRPr sz="1500" b="0">
                <a:solidFill>
                  <a:srgbClr val="0B0D10"/>
                </a:solidFill>
                <a:latin typeface="Arial"/>
                <a:ea typeface="Arial"/>
                <a:cs typeface="Arial"/>
              </a:defRPr>
            </a:pPr>
            <a:r>
              <a:rPr sz="1500" b="0">
                <a:solidFill>
                  <a:srgbClr val="0B0D10"/>
                </a:solidFill>
                <a:latin typeface="Arial"/>
                <a:ea typeface="Arial"/>
                <a:cs typeface="Arial"/>
              </a:rPr>
              <a:t>How an agent proves control of a DID key over HTTP</a:t>
            </a:r>
          </a:p>
        </p:txBody>
      </p:sp>
      <p:sp>
        <p:nvSpPr>
          <p:cNvPr id="12" name="">
            <a:extLst xmlns:a="http://schemas.openxmlformats.org/drawingml/2006/main">
              <a:ext uri="{FF2B5EF4-FFF2-40B4-BE49-F238E27FC236}">
                <a16:creationId xmlns:a16="http://schemas.microsoft.com/office/drawing/2014/main" id="{8A86FF3B-E9DB-442E-9921-A9923266079F}"/>
              </a:ext>
            </a:extLst>
          </p:cNvPr>
          <p:cNvSpPr>
            <a:spLocks xmlns:a="http://schemas.openxmlformats.org/drawingml/2006/main" noGrp="1"/>
          </p:cNvSpPr>
          <p:nvPr/>
        </p:nvSpPr>
        <p:spPr>
          <a:xfrm xmlns:a="http://schemas.openxmlformats.org/drawingml/2006/main">
            <a:off x="552450" y="2724150"/>
            <a:ext cx="1061085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6C316AF4-55D7-4F7E-A2E7-0E7715445A9D}"/>
              </a:ext>
            </a:extLst>
          </p:cNvPr>
          <p:cNvSpPr>
            <a:spLocks xmlns:a="http://schemas.openxmlformats.org/drawingml/2006/main" noGrp="1"/>
          </p:cNvSpPr>
          <p:nvPr/>
        </p:nvSpPr>
        <p:spPr>
          <a:xfrm xmlns:a="http://schemas.openxmlformats.org/drawingml/2006/main">
            <a:off x="571500" y="2895600"/>
            <a:ext cx="323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1">
                <a:solidFill>
                  <a:srgbClr val="0B0D10"/>
                </a:solidFill>
                <a:latin typeface="Courier New"/>
                <a:ea typeface="Courier New"/>
                <a:cs typeface="Courier New"/>
              </a:defRPr>
            </a:pPr>
            <a:r>
              <a:rPr sz="1575" b="1">
                <a:solidFill>
                  <a:srgbClr val="0B0D10"/>
                </a:solidFill>
                <a:latin typeface="Courier New"/>
                <a:ea typeface="Courier New"/>
                <a:cs typeface="Courier New"/>
              </a:rPr>
              <a:t>did-method-profiles.html</a:t>
            </a:r>
          </a:p>
        </p:txBody>
      </p:sp>
      <p:sp>
        <p:nvSpPr>
          <p:cNvPr id="14" name="">
            <a:extLst xmlns:a="http://schemas.openxmlformats.org/drawingml/2006/main">
              <a:ext uri="{FF2B5EF4-FFF2-40B4-BE49-F238E27FC236}">
                <a16:creationId xmlns:a16="http://schemas.microsoft.com/office/drawing/2014/main" id="{8E293B40-B352-4269-A4C2-8ADD1BCA48EE}"/>
              </a:ext>
            </a:extLst>
          </p:cNvPr>
          <p:cNvSpPr>
            <a:spLocks xmlns:a="http://schemas.openxmlformats.org/drawingml/2006/main" noGrp="1"/>
          </p:cNvSpPr>
          <p:nvPr/>
        </p:nvSpPr>
        <p:spPr>
          <a:xfrm xmlns:a="http://schemas.openxmlformats.org/drawingml/2006/main">
            <a:off x="4000500" y="2895600"/>
            <a:ext cx="238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0">
                <a:solidFill>
                  <a:srgbClr val="3D8DFF"/>
                </a:solidFill>
                <a:latin typeface="Arial"/>
                <a:ea typeface="Arial"/>
                <a:cs typeface="Arial"/>
              </a:defRPr>
            </a:pPr>
            <a:r>
              <a:rPr sz="1500" b="0">
                <a:solidFill>
                  <a:srgbClr val="3D8DFF"/>
                </a:solidFill>
                <a:latin typeface="Arial"/>
                <a:ea typeface="Arial"/>
                <a:cs typeface="Arial"/>
              </a:rPr>
              <a:t>Binding layer</a:t>
            </a:r>
          </a:p>
        </p:txBody>
      </p:sp>
      <p:sp>
        <p:nvSpPr>
          <p:cNvPr id="15" name="">
            <a:extLst xmlns:a="http://schemas.openxmlformats.org/drawingml/2006/main">
              <a:ext uri="{FF2B5EF4-FFF2-40B4-BE49-F238E27FC236}">
                <a16:creationId xmlns:a16="http://schemas.microsoft.com/office/drawing/2014/main" id="{7F9AB089-D9F4-4A8E-8FA1-3329C5A9ACBE}"/>
              </a:ext>
            </a:extLst>
          </p:cNvPr>
          <p:cNvSpPr>
            <a:spLocks xmlns:a="http://schemas.openxmlformats.org/drawingml/2006/main" noGrp="1"/>
          </p:cNvSpPr>
          <p:nvPr/>
        </p:nvSpPr>
        <p:spPr>
          <a:xfrm xmlns:a="http://schemas.openxmlformats.org/drawingml/2006/main">
            <a:off x="6667500" y="2895600"/>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0">
                <a:solidFill>
                  <a:srgbClr val="0B0D10"/>
                </a:solidFill>
                <a:latin typeface="Arial"/>
                <a:ea typeface="Arial"/>
                <a:cs typeface="Arial"/>
              </a:defRPr>
            </a:pPr>
            <a:r>
              <a:rPr sz="1500" b="0">
                <a:solidFill>
                  <a:srgbClr val="0B0D10"/>
                </a:solidFill>
                <a:latin typeface="Arial"/>
                <a:ea typeface="Arial"/>
                <a:cs typeface="Arial"/>
              </a:rPr>
              <a:t>How each DID method is resolved and validated</a:t>
            </a:r>
          </a:p>
        </p:txBody>
      </p:sp>
      <p:sp>
        <p:nvSpPr>
          <p:cNvPr id="16" name="">
            <a:extLst xmlns:a="http://schemas.openxmlformats.org/drawingml/2006/main">
              <a:ext uri="{FF2B5EF4-FFF2-40B4-BE49-F238E27FC236}">
                <a16:creationId xmlns:a16="http://schemas.microsoft.com/office/drawing/2014/main" id="{97915D4E-1567-45E8-A3A5-F9C90BCF720A}"/>
              </a:ext>
            </a:extLst>
          </p:cNvPr>
          <p:cNvSpPr>
            <a:spLocks xmlns:a="http://schemas.openxmlformats.org/drawingml/2006/main" noGrp="1"/>
          </p:cNvSpPr>
          <p:nvPr/>
        </p:nvSpPr>
        <p:spPr>
          <a:xfrm xmlns:a="http://schemas.openxmlformats.org/drawingml/2006/main">
            <a:off x="552450" y="3505200"/>
            <a:ext cx="1061085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17" name="">
            <a:extLst xmlns:a="http://schemas.openxmlformats.org/drawingml/2006/main">
              <a:ext uri="{FF2B5EF4-FFF2-40B4-BE49-F238E27FC236}">
                <a16:creationId xmlns:a16="http://schemas.microsoft.com/office/drawing/2014/main" id="{4314FE90-5DE1-490E-B9AF-66B3D1ECCD21}"/>
              </a:ext>
            </a:extLst>
          </p:cNvPr>
          <p:cNvSpPr>
            <a:spLocks xmlns:a="http://schemas.openxmlformats.org/drawingml/2006/main" noGrp="1"/>
          </p:cNvSpPr>
          <p:nvPr/>
        </p:nvSpPr>
        <p:spPr>
          <a:xfrm xmlns:a="http://schemas.openxmlformats.org/drawingml/2006/main">
            <a:off x="571500" y="3676650"/>
            <a:ext cx="323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1">
                <a:solidFill>
                  <a:srgbClr val="0B0D10"/>
                </a:solidFill>
                <a:latin typeface="Courier New"/>
                <a:ea typeface="Courier New"/>
                <a:cs typeface="Courier New"/>
              </a:defRPr>
            </a:pPr>
            <a:r>
              <a:rPr sz="1575" b="1">
                <a:solidFill>
                  <a:srgbClr val="0B0D10"/>
                </a:solidFill>
                <a:latin typeface="Courier New"/>
                <a:ea typeface="Courier New"/>
                <a:cs typeface="Courier New"/>
              </a:rPr>
              <a:t>did-wba.html</a:t>
            </a:r>
          </a:p>
        </p:txBody>
      </p:sp>
      <p:sp>
        <p:nvSpPr>
          <p:cNvPr id="18" name="">
            <a:extLst xmlns:a="http://schemas.openxmlformats.org/drawingml/2006/main">
              <a:ext uri="{FF2B5EF4-FFF2-40B4-BE49-F238E27FC236}">
                <a16:creationId xmlns:a16="http://schemas.microsoft.com/office/drawing/2014/main" id="{3EDB396A-9E4E-4258-9968-44E3524F7DA0}"/>
              </a:ext>
            </a:extLst>
          </p:cNvPr>
          <p:cNvSpPr>
            <a:spLocks xmlns:a="http://schemas.openxmlformats.org/drawingml/2006/main" noGrp="1"/>
          </p:cNvSpPr>
          <p:nvPr/>
        </p:nvSpPr>
        <p:spPr>
          <a:xfrm xmlns:a="http://schemas.openxmlformats.org/drawingml/2006/main">
            <a:off x="4000500" y="3676650"/>
            <a:ext cx="238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0">
                <a:solidFill>
                  <a:srgbClr val="3D8DFF"/>
                </a:solidFill>
                <a:latin typeface="Arial"/>
                <a:ea typeface="Arial"/>
                <a:cs typeface="Arial"/>
              </a:defRPr>
            </a:pPr>
            <a:r>
              <a:rPr sz="1500" b="0">
                <a:solidFill>
                  <a:srgbClr val="3D8DFF"/>
                </a:solidFill>
                <a:latin typeface="Arial"/>
                <a:ea typeface="Arial"/>
                <a:cs typeface="Arial"/>
              </a:rPr>
              <a:t>Method specification</a:t>
            </a:r>
          </a:p>
        </p:txBody>
      </p:sp>
      <p:sp>
        <p:nvSpPr>
          <p:cNvPr id="19" name="">
            <a:extLst xmlns:a="http://schemas.openxmlformats.org/drawingml/2006/main">
              <a:ext uri="{FF2B5EF4-FFF2-40B4-BE49-F238E27FC236}">
                <a16:creationId xmlns:a16="http://schemas.microsoft.com/office/drawing/2014/main" id="{7ECBE2A8-775C-4284-AE98-610B751C07ED}"/>
              </a:ext>
            </a:extLst>
          </p:cNvPr>
          <p:cNvSpPr>
            <a:spLocks xmlns:a="http://schemas.openxmlformats.org/drawingml/2006/main" noGrp="1"/>
          </p:cNvSpPr>
          <p:nvPr/>
        </p:nvSpPr>
        <p:spPr>
          <a:xfrm xmlns:a="http://schemas.openxmlformats.org/drawingml/2006/main">
            <a:off x="6667500" y="3676650"/>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238"/>
          </a:bodyPr>
          <a:lstStyle xmlns:a="http://schemas.openxmlformats.org/drawingml/2006/main"/>
          <a:p xmlns:a="http://schemas.openxmlformats.org/drawingml/2006/main">
            <a:pPr algn="l">
              <a:lnSpc>
                <a:spcPct val="105000"/>
              </a:lnSpc>
              <a:buNone/>
              <a:defRPr sz="1500" b="0">
                <a:solidFill>
                  <a:srgbClr val="0B0D10"/>
                </a:solidFill>
                <a:latin typeface="Arial"/>
                <a:ea typeface="Arial"/>
                <a:cs typeface="Arial"/>
              </a:defRPr>
            </a:pPr>
            <a:r>
              <a:rPr sz="1500" b="0">
                <a:solidFill>
                  <a:srgbClr val="0B0D10"/>
                </a:solidFill>
                <a:latin typeface="Arial"/>
                <a:ea typeface="Arial"/>
                <a:cs typeface="Arial"/>
              </a:rPr>
              <a:t>How did:wba is created, resolved, updated, and deactivated</a:t>
            </a:r>
          </a:p>
        </p:txBody>
      </p:sp>
      <p:sp>
        <p:nvSpPr>
          <p:cNvPr id="20" name="">
            <a:extLst xmlns:a="http://schemas.openxmlformats.org/drawingml/2006/main">
              <a:ext uri="{FF2B5EF4-FFF2-40B4-BE49-F238E27FC236}">
                <a16:creationId xmlns:a16="http://schemas.microsoft.com/office/drawing/2014/main" id="{629F4444-07C9-4433-961B-0C41484CC45B}"/>
              </a:ext>
            </a:extLst>
          </p:cNvPr>
          <p:cNvSpPr>
            <a:spLocks xmlns:a="http://schemas.openxmlformats.org/drawingml/2006/main" noGrp="1"/>
          </p:cNvSpPr>
          <p:nvPr/>
        </p:nvSpPr>
        <p:spPr>
          <a:xfrm xmlns:a="http://schemas.openxmlformats.org/drawingml/2006/main">
            <a:off x="552450" y="4286250"/>
            <a:ext cx="1061085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21" name="">
            <a:extLst xmlns:a="http://schemas.openxmlformats.org/drawingml/2006/main">
              <a:ext uri="{FF2B5EF4-FFF2-40B4-BE49-F238E27FC236}">
                <a16:creationId xmlns:a16="http://schemas.microsoft.com/office/drawing/2014/main" id="{C1778A1A-6A02-4807-96BF-143F39165C4A}"/>
              </a:ext>
            </a:extLst>
          </p:cNvPr>
          <p:cNvSpPr>
            <a:spLocks xmlns:a="http://schemas.openxmlformats.org/drawingml/2006/main" noGrp="1"/>
          </p:cNvSpPr>
          <p:nvPr/>
        </p:nvSpPr>
        <p:spPr>
          <a:xfrm xmlns:a="http://schemas.openxmlformats.org/drawingml/2006/main">
            <a:off x="571500" y="4457700"/>
            <a:ext cx="323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1">
                <a:solidFill>
                  <a:srgbClr val="0B0D10"/>
                </a:solidFill>
                <a:latin typeface="Courier New"/>
                <a:ea typeface="Courier New"/>
                <a:cs typeface="Courier New"/>
              </a:defRPr>
            </a:pPr>
            <a:r>
              <a:rPr sz="1575" b="1">
                <a:solidFill>
                  <a:srgbClr val="0B0D10"/>
                </a:solidFill>
                <a:latin typeface="Courier New"/>
                <a:ea typeface="Courier New"/>
                <a:cs typeface="Courier New"/>
              </a:rPr>
              <a:t>protocol.html</a:t>
            </a:r>
          </a:p>
        </p:txBody>
      </p:sp>
      <p:sp>
        <p:nvSpPr>
          <p:cNvPr id="22" name="">
            <a:extLst xmlns:a="http://schemas.openxmlformats.org/drawingml/2006/main">
              <a:ext uri="{FF2B5EF4-FFF2-40B4-BE49-F238E27FC236}">
                <a16:creationId xmlns:a16="http://schemas.microsoft.com/office/drawing/2014/main" id="{3B1B4FB6-8A6A-41E9-A742-54A206A68E39}"/>
              </a:ext>
            </a:extLst>
          </p:cNvPr>
          <p:cNvSpPr>
            <a:spLocks xmlns:a="http://schemas.openxmlformats.org/drawingml/2006/main" noGrp="1"/>
          </p:cNvSpPr>
          <p:nvPr/>
        </p:nvSpPr>
        <p:spPr>
          <a:xfrm xmlns:a="http://schemas.openxmlformats.org/drawingml/2006/main">
            <a:off x="4000500" y="4457700"/>
            <a:ext cx="238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0">
                <a:solidFill>
                  <a:srgbClr val="0B0D10"/>
                </a:solidFill>
                <a:latin typeface="Arial"/>
                <a:ea typeface="Arial"/>
                <a:cs typeface="Arial"/>
              </a:defRPr>
            </a:pPr>
            <a:r>
              <a:rPr sz="1500" b="0">
                <a:solidFill>
                  <a:srgbClr val="0B0D10"/>
                </a:solidFill>
                <a:latin typeface="Arial"/>
                <a:ea typeface="Arial"/>
                <a:cs typeface="Arial"/>
              </a:rPr>
              <a:t>Index + migration</a:t>
            </a:r>
          </a:p>
        </p:txBody>
      </p:sp>
      <p:sp>
        <p:nvSpPr>
          <p:cNvPr id="23" name="">
            <a:extLst xmlns:a="http://schemas.openxmlformats.org/drawingml/2006/main">
              <a:ext uri="{FF2B5EF4-FFF2-40B4-BE49-F238E27FC236}">
                <a16:creationId xmlns:a16="http://schemas.microsoft.com/office/drawing/2014/main" id="{3B7F76EA-EB77-40E5-9E87-C12E75085431}"/>
              </a:ext>
            </a:extLst>
          </p:cNvPr>
          <p:cNvSpPr>
            <a:spLocks xmlns:a="http://schemas.openxmlformats.org/drawingml/2006/main" noGrp="1"/>
          </p:cNvSpPr>
          <p:nvPr/>
        </p:nvSpPr>
        <p:spPr>
          <a:xfrm xmlns:a="http://schemas.openxmlformats.org/drawingml/2006/main">
            <a:off x="6667500" y="4457700"/>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238"/>
          </a:bodyPr>
          <a:lstStyle xmlns:a="http://schemas.openxmlformats.org/drawingml/2006/main"/>
          <a:p xmlns:a="http://schemas.openxmlformats.org/drawingml/2006/main">
            <a:pPr algn="l">
              <a:lnSpc>
                <a:spcPct val="105000"/>
              </a:lnSpc>
              <a:buNone/>
              <a:defRPr sz="1500" b="0">
                <a:solidFill>
                  <a:srgbClr val="0B0D10"/>
                </a:solidFill>
                <a:latin typeface="Arial"/>
                <a:ea typeface="Arial"/>
                <a:cs typeface="Arial"/>
              </a:defRPr>
            </a:pPr>
            <a:r>
              <a:rPr sz="1500" b="0">
                <a:solidFill>
                  <a:srgbClr val="0B0D10"/>
                </a:solidFill>
                <a:latin typeface="Arial"/>
                <a:ea typeface="Arial"/>
                <a:cs typeface="Arial"/>
              </a:rPr>
              <a:t>Where existing readers and fragment links are redirected</a:t>
            </a:r>
          </a:p>
        </p:txBody>
      </p:sp>
      <p:sp>
        <p:nvSpPr>
          <p:cNvPr id="24" name="">
            <a:extLst xmlns:a="http://schemas.openxmlformats.org/drawingml/2006/main">
              <a:ext uri="{FF2B5EF4-FFF2-40B4-BE49-F238E27FC236}">
                <a16:creationId xmlns:a16="http://schemas.microsoft.com/office/drawing/2014/main" id="{76DEF968-C102-44D5-B4BB-A705EB948629}"/>
              </a:ext>
            </a:extLst>
          </p:cNvPr>
          <p:cNvSpPr>
            <a:spLocks xmlns:a="http://schemas.openxmlformats.org/drawingml/2006/main" noGrp="1"/>
          </p:cNvSpPr>
          <p:nvPr/>
        </p:nvSpPr>
        <p:spPr>
          <a:xfrm xmlns:a="http://schemas.openxmlformats.org/drawingml/2006/main">
            <a:off x="552450" y="5067300"/>
            <a:ext cx="1061085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25" name="">
            <a:extLst xmlns:a="http://schemas.openxmlformats.org/drawingml/2006/main">
              <a:ext uri="{FF2B5EF4-FFF2-40B4-BE49-F238E27FC236}">
                <a16:creationId xmlns:a16="http://schemas.microsoft.com/office/drawing/2014/main" id="{3FDECCE4-59C0-4699-86D0-168BEF6BAD49}"/>
              </a:ext>
            </a:extLst>
          </p:cNvPr>
          <p:cNvSpPr>
            <a:spLocks xmlns:a="http://schemas.openxmlformats.org/drawingml/2006/main" noGrp="1"/>
          </p:cNvSpPr>
          <p:nvPr/>
        </p:nvSpPr>
        <p:spPr>
          <a:xfrm xmlns:a="http://schemas.openxmlformats.org/drawingml/2006/main">
            <a:off x="571500" y="5238750"/>
            <a:ext cx="323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1">
                <a:solidFill>
                  <a:srgbClr val="0B0D10"/>
                </a:solidFill>
                <a:latin typeface="Courier New"/>
                <a:ea typeface="Courier New"/>
                <a:cs typeface="Courier New"/>
              </a:defRPr>
            </a:pPr>
            <a:r>
              <a:rPr sz="1575" b="1">
                <a:solidFill>
                  <a:srgbClr val="0B0D10"/>
                </a:solidFill>
                <a:latin typeface="Courier New"/>
                <a:ea typeface="Courier New"/>
                <a:cs typeface="Courier New"/>
              </a:rPr>
              <a:t>tests/test_identity_documents.py</a:t>
            </a:r>
          </a:p>
        </p:txBody>
      </p:sp>
      <p:sp>
        <p:nvSpPr>
          <p:cNvPr id="26" name="">
            <a:extLst xmlns:a="http://schemas.openxmlformats.org/drawingml/2006/main">
              <a:ext uri="{FF2B5EF4-FFF2-40B4-BE49-F238E27FC236}">
                <a16:creationId xmlns:a16="http://schemas.microsoft.com/office/drawing/2014/main" id="{4BB83182-BC42-4626-83ED-6ECDE776B1D8}"/>
              </a:ext>
            </a:extLst>
          </p:cNvPr>
          <p:cNvSpPr>
            <a:spLocks xmlns:a="http://schemas.openxmlformats.org/drawingml/2006/main" noGrp="1"/>
          </p:cNvSpPr>
          <p:nvPr/>
        </p:nvSpPr>
        <p:spPr>
          <a:xfrm xmlns:a="http://schemas.openxmlformats.org/drawingml/2006/main">
            <a:off x="4000500" y="5238750"/>
            <a:ext cx="238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0">
                <a:solidFill>
                  <a:srgbClr val="0B0D10"/>
                </a:solidFill>
                <a:latin typeface="Arial"/>
                <a:ea typeface="Arial"/>
                <a:cs typeface="Arial"/>
              </a:defRPr>
            </a:pPr>
            <a:r>
              <a:rPr sz="1500" b="0">
                <a:solidFill>
                  <a:srgbClr val="0B0D10"/>
                </a:solidFill>
                <a:latin typeface="Arial"/>
                <a:ea typeface="Arial"/>
                <a:cs typeface="Arial"/>
              </a:rPr>
              <a:t>Structural tests</a:t>
            </a:r>
          </a:p>
        </p:txBody>
      </p:sp>
      <p:sp>
        <p:nvSpPr>
          <p:cNvPr id="27" name="">
            <a:extLst xmlns:a="http://schemas.openxmlformats.org/drawingml/2006/main">
              <a:ext uri="{FF2B5EF4-FFF2-40B4-BE49-F238E27FC236}">
                <a16:creationId xmlns:a16="http://schemas.microsoft.com/office/drawing/2014/main" id="{BC36DDA0-B0CE-41B0-B01B-0EDAC2ABAA78}"/>
              </a:ext>
            </a:extLst>
          </p:cNvPr>
          <p:cNvSpPr>
            <a:spLocks xmlns:a="http://schemas.openxmlformats.org/drawingml/2006/main" noGrp="1"/>
          </p:cNvSpPr>
          <p:nvPr/>
        </p:nvSpPr>
        <p:spPr>
          <a:xfrm xmlns:a="http://schemas.openxmlformats.org/drawingml/2006/main">
            <a:off x="6667500" y="5238750"/>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238"/>
          </a:bodyPr>
          <a:lstStyle xmlns:a="http://schemas.openxmlformats.org/drawingml/2006/main"/>
          <a:p xmlns:a="http://schemas.openxmlformats.org/drawingml/2006/main">
            <a:pPr algn="l">
              <a:lnSpc>
                <a:spcPct val="105000"/>
              </a:lnSpc>
              <a:buNone/>
              <a:defRPr sz="1500" b="0">
                <a:solidFill>
                  <a:srgbClr val="0B0D10"/>
                </a:solidFill>
                <a:latin typeface="Arial"/>
                <a:ea typeface="Arial"/>
                <a:cs typeface="Arial"/>
              </a:defRPr>
            </a:pPr>
            <a:r>
              <a:rPr sz="1500" b="0">
                <a:solidFill>
                  <a:srgbClr val="0B0D10"/>
                </a:solidFill>
                <a:latin typeface="Arial"/>
                <a:ea typeface="Arial"/>
                <a:cs typeface="Arial"/>
              </a:rPr>
              <a:t>What document integrity and compatibility anchors are checked</a:t>
            </a:r>
          </a:p>
        </p:txBody>
      </p:sp>
      <p:sp>
        <p:nvSpPr>
          <p:cNvPr id="28" name="">
            <a:extLst xmlns:a="http://schemas.openxmlformats.org/drawingml/2006/main">
              <a:ext uri="{FF2B5EF4-FFF2-40B4-BE49-F238E27FC236}">
                <a16:creationId xmlns:a16="http://schemas.microsoft.com/office/drawing/2014/main" id="{0302FDE3-B0B1-4756-AB85-CB0AD912D6B0}"/>
              </a:ext>
            </a:extLst>
          </p:cNvPr>
          <p:cNvSpPr>
            <a:spLocks xmlns:a="http://schemas.openxmlformats.org/drawingml/2006/main" noGrp="1"/>
          </p:cNvSpPr>
          <p:nvPr/>
        </p:nvSpPr>
        <p:spPr>
          <a:xfrm xmlns:a="http://schemas.openxmlformats.org/drawingml/2006/main">
            <a:off x="552450" y="5848350"/>
            <a:ext cx="1061085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Tree>
    <p:extLst>
      <p:ext uri="{BB962C8B-B14F-4D97-AF65-F5344CB8AC3E}">
        <p14:creationId xmlns:p14="http://schemas.microsoft.com/office/powerpoint/2010/main" val="183778064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48480CC-24BE-4CEC-A454-0D21042CB82A}"/>
              </a:ext>
            </a:extLst>
          </p:cNvPr>
          <p:cNvSpPr>
            <a:spLocks xmlns:a="http://schemas.openxmlformats.org/drawingml/2006/main" noGrp="1"/>
          </p:cNvSpPr>
          <p:nvPr/>
        </p:nvSpPr>
        <p:spPr>
          <a:xfrm xmlns:a="http://schemas.openxmlformats.org/drawingml/2006/main">
            <a:off x="514350" y="2667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125" b="1">
                <a:solidFill>
                  <a:srgbClr val="3D8DFF"/>
                </a:solidFill>
                <a:latin typeface="Arial"/>
                <a:ea typeface="Arial"/>
                <a:cs typeface="Arial"/>
              </a:defRPr>
            </a:pPr>
            <a:r>
              <a:rPr sz="1125" b="1">
                <a:solidFill>
                  <a:srgbClr val="3D8DFF"/>
                </a:solidFill>
                <a:latin typeface="Arial"/>
                <a:ea typeface="Arial"/>
                <a:cs typeface="Arial"/>
              </a:rPr>
              <a:t>FILE 1 OF 5</a:t>
            </a:r>
          </a:p>
        </p:txBody>
      </p:sp>
      <p:sp>
        <p:nvSpPr>
          <p:cNvPr id="2" name="">
            <a:extLst xmlns:a="http://schemas.openxmlformats.org/drawingml/2006/main">
              <a:ext uri="{FF2B5EF4-FFF2-40B4-BE49-F238E27FC236}">
                <a16:creationId xmlns:a16="http://schemas.microsoft.com/office/drawing/2014/main" id="{180152F7-E139-45A5-A233-ACA531F2478B}"/>
              </a:ext>
            </a:extLst>
          </p:cNvPr>
          <p:cNvSpPr>
            <a:spLocks xmlns:a="http://schemas.openxmlformats.org/drawingml/2006/main" noGrp="1"/>
          </p:cNvSpPr>
          <p:nvPr/>
        </p:nvSpPr>
        <p:spPr>
          <a:xfrm xmlns:a="http://schemas.openxmlformats.org/drawingml/2006/main">
            <a:off x="514350" y="55245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3525" b="1">
                <a:solidFill>
                  <a:srgbClr val="0B0D10"/>
                </a:solidFill>
                <a:latin typeface="Arial"/>
                <a:ea typeface="Arial"/>
                <a:cs typeface="Arial"/>
              </a:defRPr>
            </a:pPr>
            <a:r>
              <a:rPr sz="3525" b="1">
                <a:solidFill>
                  <a:srgbClr val="0B0D10"/>
                </a:solidFill>
                <a:latin typeface="Arial"/>
                <a:ea typeface="Arial"/>
                <a:cs typeface="Arial"/>
              </a:rPr>
              <a:t>agent-identity.html defines the shared contract</a:t>
            </a:r>
          </a:p>
        </p:txBody>
      </p:sp>
      <p:sp>
        <p:nvSpPr>
          <p:cNvPr id="3" name="">
            <a:extLst xmlns:a="http://schemas.openxmlformats.org/drawingml/2006/main">
              <a:ext uri="{FF2B5EF4-FFF2-40B4-BE49-F238E27FC236}">
                <a16:creationId xmlns:a16="http://schemas.microsoft.com/office/drawing/2014/main" id="{351636B3-5FAC-4FCD-B39F-64DA9342BC47}"/>
              </a:ext>
            </a:extLst>
          </p:cNvPr>
          <p:cNvSpPr>
            <a:spLocks xmlns:a="http://schemas.openxmlformats.org/drawingml/2006/main" noGrp="1"/>
          </p:cNvSpPr>
          <p:nvPr/>
        </p:nvSpPr>
        <p:spPr>
          <a:xfrm xmlns:a="http://schemas.openxmlformats.org/drawingml/2006/main">
            <a:off x="514350" y="1352550"/>
            <a:ext cx="111633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3AB94487-FB74-4CDD-BE31-0BD4C42BF9D3}"/>
              </a:ext>
            </a:extLst>
          </p:cNvPr>
          <p:cNvSpPr>
            <a:spLocks xmlns:a="http://schemas.openxmlformats.org/drawingml/2006/main" noGrp="1"/>
          </p:cNvSpPr>
          <p:nvPr/>
        </p:nvSpPr>
        <p:spPr>
          <a:xfrm xmlns:a="http://schemas.openxmlformats.org/drawingml/2006/main">
            <a:off x="11239500" y="6362700"/>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975" b="0">
                <a:solidFill>
                  <a:srgbClr val="5B6470"/>
                </a:solidFill>
                <a:latin typeface="Arial"/>
                <a:ea typeface="Arial"/>
                <a:cs typeface="Arial"/>
              </a:defRPr>
            </a:pPr>
            <a:r>
              <a:rPr sz="975" b="0">
                <a:solidFill>
                  <a:srgbClr val="5B6470"/>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D834F3C8-CAC3-4BCF-A093-4EB5EBE37962}"/>
              </a:ext>
            </a:extLst>
          </p:cNvPr>
          <p:cNvSpPr>
            <a:spLocks xmlns:a="http://schemas.openxmlformats.org/drawingml/2006/main" noGrp="1"/>
          </p:cNvSpPr>
          <p:nvPr/>
        </p:nvSpPr>
        <p:spPr>
          <a:xfrm xmlns:a="http://schemas.openxmlformats.org/drawingml/2006/main">
            <a:off x="495300" y="1562100"/>
            <a:ext cx="7524750" cy="4514850"/>
          </a:xfrm>
          <a:prstGeom xmlns:a="http://schemas.openxmlformats.org/drawingml/2006/main" prst="roundRect">
            <a:avLst>
              <a:gd name="adj" fmla="val 2532"/>
            </a:avLst>
          </a:prstGeom>
          <a:solidFill xmlns:a="http://schemas.openxmlformats.org/drawingml/2006/main">
            <a:srgbClr val="0D1117"/>
          </a:solidFill>
          <a:ln xmlns:a="http://schemas.openxmlformats.org/drawingml/2006/main" w="9525">
            <a:solidFill>
              <a:srgbClr val="0D1117"/>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a7120124c24b4971"/>
          <a:stretch xmlns:a="http://schemas.openxmlformats.org/drawingml/2006/main"/>
        </p:blipFill>
        <p:spPr>
          <a:xfrm xmlns:a="http://schemas.openxmlformats.org/drawingml/2006/main">
            <a:off x="983877" y="1676400"/>
            <a:ext cx="6547595" cy="4286250"/>
          </a:xfrm>
          <a:prstGeom xmlns:a="http://schemas.openxmlformats.org/drawingml/2006/main" prst="roundRect">
            <a:avLst>
              <a:gd name="adj" fmla="val 2667"/>
            </a:avLst>
          </a:prstGeom>
        </p:spPr>
      </p:pic>
      <p:sp>
        <p:nvSpPr>
          <p:cNvPr id="7" name="">
            <a:extLst xmlns:a="http://schemas.openxmlformats.org/drawingml/2006/main">
              <a:ext uri="{FF2B5EF4-FFF2-40B4-BE49-F238E27FC236}">
                <a16:creationId xmlns:a16="http://schemas.microsoft.com/office/drawing/2014/main" id="{63A1D69A-B44F-44D0-91E9-B4F59FE38A8A}"/>
              </a:ext>
            </a:extLst>
          </p:cNvPr>
          <p:cNvSpPr>
            <a:spLocks xmlns:a="http://schemas.openxmlformats.org/drawingml/2006/main" noGrp="1"/>
          </p:cNvSpPr>
          <p:nvPr/>
        </p:nvSpPr>
        <p:spPr>
          <a:xfrm xmlns:a="http://schemas.openxmlformats.org/drawingml/2006/main">
            <a:off x="8420100" y="17526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050" b="1">
                <a:solidFill>
                  <a:srgbClr val="3D8DFF"/>
                </a:solidFill>
                <a:latin typeface="Arial"/>
                <a:ea typeface="Arial"/>
                <a:cs typeface="Arial"/>
              </a:defRPr>
            </a:pPr>
            <a:r>
              <a:rPr sz="1050" b="1">
                <a:solidFill>
                  <a:srgbClr val="3D8DFF"/>
                </a:solidFill>
                <a:latin typeface="Arial"/>
                <a:ea typeface="Arial"/>
                <a:cs typeface="Arial"/>
              </a:rPr>
              <a:t>WHAT THE EXCERPT PROVES</a:t>
            </a:r>
          </a:p>
        </p:txBody>
      </p:sp>
      <p:sp>
        <p:nvSpPr>
          <p:cNvPr id="8" name="">
            <a:extLst xmlns:a="http://schemas.openxmlformats.org/drawingml/2006/main">
              <a:ext uri="{FF2B5EF4-FFF2-40B4-BE49-F238E27FC236}">
                <a16:creationId xmlns:a16="http://schemas.microsoft.com/office/drawing/2014/main" id="{812CD449-432D-4930-8E3D-0266FC694691}"/>
              </a:ext>
            </a:extLst>
          </p:cNvPr>
          <p:cNvSpPr>
            <a:spLocks xmlns:a="http://schemas.openxmlformats.org/drawingml/2006/main" noGrp="1"/>
          </p:cNvSpPr>
          <p:nvPr/>
        </p:nvSpPr>
        <p:spPr>
          <a:xfrm xmlns:a="http://schemas.openxmlformats.org/drawingml/2006/main">
            <a:off x="8420100" y="2171700"/>
            <a:ext cx="30480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697"/>
          </a:bodyPr>
          <a:lstStyle xmlns:a="http://schemas.openxmlformats.org/drawingml/2006/main"/>
          <a:p xmlns:a="http://schemas.openxmlformats.org/drawingml/2006/main">
            <a:pPr algn="l">
              <a:lnSpc>
                <a:spcPct val="130000"/>
              </a:lnSpc>
              <a:buNone/>
              <a:defRPr sz="1650" b="0">
                <a:solidFill>
                  <a:srgbClr val="0B0D10"/>
                </a:solidFill>
                <a:latin typeface="Arial"/>
                <a:ea typeface="Arial"/>
                <a:cs typeface="Arial"/>
              </a:defRPr>
            </a:pPr>
            <a:r>
              <a:rPr sz="1650" b="0">
                <a:solidFill>
                  <a:srgbClr val="0B0D10"/>
                </a:solidFill>
                <a:latin typeface="Arial"/>
                <a:ea typeface="Arial"/>
                <a:cs typeface="Arial"/>
              </a:rPr>
              <a:t>•  Independent of any specific DID method</a:t>
            </a:r>
          </a:p>
          <a:p xmlns:a="http://schemas.openxmlformats.org/drawingml/2006/main">
            <a:pPr algn="l">
              <a:lnSpc>
                <a:spcPct val="130000"/>
              </a:lnSpc>
              <a:buNone/>
              <a:defRPr sz="1650" b="0">
                <a:solidFill>
                  <a:srgbClr val="0B0D10"/>
                </a:solidFill>
                <a:latin typeface="Arial"/>
                <a:ea typeface="Arial"/>
                <a:cs typeface="Arial"/>
              </a:defRPr>
            </a:pPr>
            <a:r>
              <a:rPr sz="1650" b="0">
                <a:solidFill>
                  <a:srgbClr val="0B0D10"/>
                </a:solidFill>
                <a:latin typeface="Arial"/>
                <a:ea typeface="Arial"/>
                <a:cs typeface="Arial"/>
              </a:rPr>
              <a:t>•  DID URL identifies the verification method</a:t>
            </a:r>
          </a:p>
          <a:p xmlns:a="http://schemas.openxmlformats.org/drawingml/2006/main">
            <a:pPr algn="l">
              <a:lnSpc>
                <a:spcPct val="130000"/>
              </a:lnSpc>
              <a:buNone/>
              <a:defRPr sz="1650" b="0">
                <a:solidFill>
                  <a:srgbClr val="0B0D10"/>
                </a:solidFill>
                <a:latin typeface="Arial"/>
                <a:ea typeface="Arial"/>
                <a:cs typeface="Arial"/>
              </a:defRPr>
            </a:pPr>
            <a:r>
              <a:rPr sz="1650" b="0">
                <a:solidFill>
                  <a:srgbClr val="0B0D10"/>
                </a:solidFill>
                <a:latin typeface="Arial"/>
                <a:ea typeface="Arial"/>
                <a:cs typeface="Arial"/>
              </a:rPr>
              <a:t>•  HTTP Message Signatures bind the request</a:t>
            </a:r>
          </a:p>
          <a:p xmlns:a="http://schemas.openxmlformats.org/drawingml/2006/main">
            <a:pPr algn="l">
              <a:lnSpc>
                <a:spcPct val="130000"/>
              </a:lnSpc>
              <a:buNone/>
              <a:defRPr sz="1650" b="0">
                <a:solidFill>
                  <a:srgbClr val="0B0D10"/>
                </a:solidFill>
                <a:latin typeface="Arial"/>
                <a:ea typeface="Arial"/>
                <a:cs typeface="Arial"/>
              </a:defRPr>
            </a:pPr>
            <a:r>
              <a:rPr sz="1650" b="0">
                <a:solidFill>
                  <a:srgbClr val="0B0D10"/>
                </a:solidFill>
                <a:latin typeface="Arial"/>
                <a:ea typeface="Arial"/>
                <a:cs typeface="Arial"/>
              </a:rPr>
              <a:t>•  Authorization remains a separate decision</a:t>
            </a:r>
          </a:p>
        </p:txBody>
      </p:sp>
      <p:sp>
        <p:nvSpPr>
          <p:cNvPr id="9" name="">
            <a:extLst xmlns:a="http://schemas.openxmlformats.org/drawingml/2006/main">
              <a:ext uri="{FF2B5EF4-FFF2-40B4-BE49-F238E27FC236}">
                <a16:creationId xmlns:a16="http://schemas.microsoft.com/office/drawing/2014/main" id="{D0167735-1F8C-439D-AF6E-4E6C3CAD5DEC}"/>
              </a:ext>
            </a:extLst>
          </p:cNvPr>
          <p:cNvSpPr>
            <a:spLocks xmlns:a="http://schemas.openxmlformats.org/drawingml/2006/main" noGrp="1"/>
          </p:cNvSpPr>
          <p:nvPr/>
        </p:nvSpPr>
        <p:spPr>
          <a:xfrm xmlns:a="http://schemas.openxmlformats.org/drawingml/2006/main">
            <a:off x="8420100" y="4895850"/>
            <a:ext cx="3009900" cy="857250"/>
          </a:xfrm>
          <a:prstGeom xmlns:a="http://schemas.openxmlformats.org/drawingml/2006/main" prst="roundRect">
            <a:avLst>
              <a:gd name="adj" fmla="val 13333"/>
            </a:avLst>
          </a:prstGeom>
          <a:solidFill xmlns:a="http://schemas.openxmlformats.org/drawingml/2006/main">
            <a:srgbClr val="EAF5FB"/>
          </a:solidFill>
          <a:ln xmlns:a="http://schemas.openxmlformats.org/drawingml/2006/main" w="9525">
            <a:solidFill>
              <a:srgbClr val="D0EDFA"/>
            </a:solidFill>
            <a:prstDash val="solid"/>
          </a:ln>
        </p:spPr>
      </p:sp>
      <p:sp>
        <p:nvSpPr>
          <p:cNvPr id="10" name="">
            <a:extLst xmlns:a="http://schemas.openxmlformats.org/drawingml/2006/main">
              <a:ext uri="{FF2B5EF4-FFF2-40B4-BE49-F238E27FC236}">
                <a16:creationId xmlns:a16="http://schemas.microsoft.com/office/drawing/2014/main" id="{73E02A5C-CD82-452A-A8A1-27935D83D514}"/>
              </a:ext>
            </a:extLst>
          </p:cNvPr>
          <p:cNvSpPr>
            <a:spLocks xmlns:a="http://schemas.openxmlformats.org/drawingml/2006/main" noGrp="1"/>
          </p:cNvSpPr>
          <p:nvPr/>
        </p:nvSpPr>
        <p:spPr>
          <a:xfrm xmlns:a="http://schemas.openxmlformats.org/drawingml/2006/main">
            <a:off x="8629650" y="5105400"/>
            <a:ext cx="2609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9984"/>
          </a:bodyPr>
          <a:lstStyle xmlns:a="http://schemas.openxmlformats.org/drawingml/2006/main"/>
          <a:p xmlns:a="http://schemas.openxmlformats.org/drawingml/2006/main">
            <a:pPr algn="l">
              <a:lnSpc>
                <a:spcPct val="105000"/>
              </a:lnSpc>
              <a:buNone/>
              <a:defRPr sz="1650" b="1">
                <a:solidFill>
                  <a:srgbClr val="0B0D10"/>
                </a:solidFill>
                <a:latin typeface="Arial"/>
                <a:ea typeface="Arial"/>
                <a:cs typeface="Arial"/>
              </a:defRPr>
            </a:pPr>
            <a:r>
              <a:rPr sz="1650" b="1">
                <a:solidFill>
                  <a:srgbClr val="0B0D10"/>
                </a:solidFill>
                <a:latin typeface="Arial"/>
                <a:ea typeface="Arial"/>
                <a:cs typeface="Arial"/>
              </a:rPr>
              <a:t>Identity proof is common.</a:t>
            </a:r>
          </a:p>
          <a:p xmlns:a="http://schemas.openxmlformats.org/drawingml/2006/main">
            <a:pPr algn="l">
              <a:lnSpc>
                <a:spcPct val="105000"/>
              </a:lnSpc>
              <a:buNone/>
              <a:defRPr sz="1650" b="1">
                <a:solidFill>
                  <a:srgbClr val="0B0D10"/>
                </a:solidFill>
                <a:latin typeface="Arial"/>
                <a:ea typeface="Arial"/>
                <a:cs typeface="Arial"/>
              </a:defRPr>
            </a:pPr>
            <a:r>
              <a:rPr sz="1650" b="1">
                <a:solidFill>
                  <a:srgbClr val="0B0D10"/>
                </a:solidFill>
                <a:latin typeface="Arial"/>
                <a:ea typeface="Arial"/>
                <a:cs typeface="Arial"/>
              </a:rPr>
              <a:t>Trust validation is pluggable.</a:t>
            </a:r>
          </a:p>
        </p:txBody>
      </p:sp>
      <p:sp>
        <p:nvSpPr>
          <p:cNvPr id="11" name="">
            <a:extLst xmlns:a="http://schemas.openxmlformats.org/drawingml/2006/main">
              <a:ext uri="{FF2B5EF4-FFF2-40B4-BE49-F238E27FC236}">
                <a16:creationId xmlns:a16="http://schemas.microsoft.com/office/drawing/2014/main" id="{145F6570-502B-40FD-ADC8-2D87C82D0615}"/>
              </a:ext>
            </a:extLst>
          </p:cNvPr>
          <p:cNvSpPr>
            <a:spLocks xmlns:a="http://schemas.openxmlformats.org/drawingml/2006/main" noGrp="1"/>
          </p:cNvSpPr>
          <p:nvPr/>
        </p:nvSpPr>
        <p:spPr>
          <a:xfrm xmlns:a="http://schemas.openxmlformats.org/drawingml/2006/main">
            <a:off x="514350" y="6381750"/>
            <a:ext cx="9906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0">
                <a:solidFill>
                  <a:srgbClr val="5B6470"/>
                </a:solidFill>
                <a:latin typeface="Arial"/>
                <a:ea typeface="Arial"/>
                <a:cs typeface="Arial"/>
              </a:defRPr>
            </a:pPr>
            <a:r>
              <a:rPr sz="900" b="0">
                <a:solidFill>
                  <a:srgbClr val="5B6470"/>
                </a:solidFill>
                <a:latin typeface="Arial"/>
                <a:ea typeface="Arial"/>
                <a:cs typeface="Arial"/>
              </a:rPr>
              <a:t>Source: agent-identity.html at PR head commit</a:t>
            </a:r>
          </a:p>
        </p:txBody>
      </p:sp>
    </p:spTree>
    <p:extLst>
      <p:ext uri="{BB962C8B-B14F-4D97-AF65-F5344CB8AC3E}">
        <p14:creationId xmlns:p14="http://schemas.microsoft.com/office/powerpoint/2010/main" val="126015585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40ACEE29-69AD-4D2E-93A1-782A4DA7D948}"/>
              </a:ext>
            </a:extLst>
          </p:cNvPr>
          <p:cNvSpPr>
            <a:spLocks xmlns:a="http://schemas.openxmlformats.org/drawingml/2006/main" noGrp="1"/>
          </p:cNvSpPr>
          <p:nvPr/>
        </p:nvSpPr>
        <p:spPr>
          <a:xfrm xmlns:a="http://schemas.openxmlformats.org/drawingml/2006/main">
            <a:off x="514350" y="2667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125" b="1">
                <a:solidFill>
                  <a:srgbClr val="3D8DFF"/>
                </a:solidFill>
                <a:latin typeface="Arial"/>
                <a:ea typeface="Arial"/>
                <a:cs typeface="Arial"/>
              </a:defRPr>
            </a:pPr>
            <a:r>
              <a:rPr sz="1125" b="1">
                <a:solidFill>
                  <a:srgbClr val="3D8DFF"/>
                </a:solidFill>
                <a:latin typeface="Arial"/>
                <a:ea typeface="Arial"/>
                <a:cs typeface="Arial"/>
              </a:rPr>
              <a:t>COMMON FLOW</a:t>
            </a:r>
          </a:p>
        </p:txBody>
      </p:sp>
      <p:sp>
        <p:nvSpPr>
          <p:cNvPr id="2" name="">
            <a:extLst xmlns:a="http://schemas.openxmlformats.org/drawingml/2006/main">
              <a:ext uri="{FF2B5EF4-FFF2-40B4-BE49-F238E27FC236}">
                <a16:creationId xmlns:a16="http://schemas.microsoft.com/office/drawing/2014/main" id="{906A154A-7806-4A87-ABA0-E6CFF61DAF0F}"/>
              </a:ext>
            </a:extLst>
          </p:cNvPr>
          <p:cNvSpPr>
            <a:spLocks xmlns:a="http://schemas.openxmlformats.org/drawingml/2006/main" noGrp="1"/>
          </p:cNvSpPr>
          <p:nvPr/>
        </p:nvSpPr>
        <p:spPr>
          <a:xfrm xmlns:a="http://schemas.openxmlformats.org/drawingml/2006/main">
            <a:off x="514350" y="55245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3525" b="1">
                <a:solidFill>
                  <a:srgbClr val="0B0D10"/>
                </a:solidFill>
                <a:latin typeface="Arial"/>
                <a:ea typeface="Arial"/>
                <a:cs typeface="Arial"/>
              </a:defRPr>
            </a:pPr>
            <a:r>
              <a:rPr sz="3525" b="1">
                <a:solidFill>
                  <a:srgbClr val="0B0D10"/>
                </a:solidFill>
                <a:latin typeface="Arial"/>
                <a:ea typeface="Arial"/>
                <a:cs typeface="Arial"/>
              </a:rPr>
              <a:t>The server selects trust rules from the DID itself</a:t>
            </a:r>
          </a:p>
        </p:txBody>
      </p:sp>
      <p:sp>
        <p:nvSpPr>
          <p:cNvPr id="3" name="">
            <a:extLst xmlns:a="http://schemas.openxmlformats.org/drawingml/2006/main">
              <a:ext uri="{FF2B5EF4-FFF2-40B4-BE49-F238E27FC236}">
                <a16:creationId xmlns:a16="http://schemas.microsoft.com/office/drawing/2014/main" id="{BB09B33F-3AA4-4331-B196-0B6A462CFF30}"/>
              </a:ext>
            </a:extLst>
          </p:cNvPr>
          <p:cNvSpPr>
            <a:spLocks xmlns:a="http://schemas.openxmlformats.org/drawingml/2006/main" noGrp="1"/>
          </p:cNvSpPr>
          <p:nvPr/>
        </p:nvSpPr>
        <p:spPr>
          <a:xfrm xmlns:a="http://schemas.openxmlformats.org/drawingml/2006/main">
            <a:off x="514350" y="1352550"/>
            <a:ext cx="111633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099F1757-F724-4449-9CE4-F58567BEBFDD}"/>
              </a:ext>
            </a:extLst>
          </p:cNvPr>
          <p:cNvSpPr>
            <a:spLocks xmlns:a="http://schemas.openxmlformats.org/drawingml/2006/main" noGrp="1"/>
          </p:cNvSpPr>
          <p:nvPr/>
        </p:nvSpPr>
        <p:spPr>
          <a:xfrm xmlns:a="http://schemas.openxmlformats.org/drawingml/2006/main">
            <a:off x="11239500" y="6362700"/>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975" b="0">
                <a:solidFill>
                  <a:srgbClr val="5B6470"/>
                </a:solidFill>
                <a:latin typeface="Arial"/>
                <a:ea typeface="Arial"/>
                <a:cs typeface="Arial"/>
              </a:defRPr>
            </a:pPr>
            <a:r>
              <a:rPr sz="975" b="0">
                <a:solidFill>
                  <a:srgbClr val="5B6470"/>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9C092FC4-F1DA-4CF2-88EC-8E34F7E89011}"/>
              </a:ext>
            </a:extLst>
          </p:cNvPr>
          <p:cNvSpPr>
            <a:spLocks xmlns:a="http://schemas.openxmlformats.org/drawingml/2006/main" noGrp="1"/>
          </p:cNvSpPr>
          <p:nvPr/>
        </p:nvSpPr>
        <p:spPr>
          <a:xfrm xmlns:a="http://schemas.openxmlformats.org/drawingml/2006/main">
            <a:off x="819150" y="2457450"/>
            <a:ext cx="2381250" cy="1352550"/>
          </a:xfrm>
          <a:prstGeom xmlns:a="http://schemas.openxmlformats.org/drawingml/2006/main" prst="roundRect">
            <a:avLst>
              <a:gd name="adj" fmla="val 8451"/>
            </a:avLst>
          </a:prstGeom>
          <a:solidFill xmlns:a="http://schemas.openxmlformats.org/drawingml/2006/main">
            <a:srgbClr val="EAF5FB"/>
          </a:solidFill>
          <a:ln xmlns:a="http://schemas.openxmlformats.org/drawingml/2006/main" w="9525">
            <a:solidFill>
              <a:srgbClr val="3D8DFF"/>
            </a:solidFill>
            <a:prstDash val="solid"/>
          </a:ln>
        </p:spPr>
      </p:sp>
      <p:sp>
        <p:nvSpPr>
          <p:cNvPr id="6" name="">
            <a:extLst xmlns:a="http://schemas.openxmlformats.org/drawingml/2006/main">
              <a:ext uri="{FF2B5EF4-FFF2-40B4-BE49-F238E27FC236}">
                <a16:creationId xmlns:a16="http://schemas.microsoft.com/office/drawing/2014/main" id="{D144251E-0C80-48B4-BCD5-EA4D59907735}"/>
              </a:ext>
            </a:extLst>
          </p:cNvPr>
          <p:cNvSpPr>
            <a:spLocks xmlns:a="http://schemas.openxmlformats.org/drawingml/2006/main" noGrp="1"/>
          </p:cNvSpPr>
          <p:nvPr/>
        </p:nvSpPr>
        <p:spPr>
          <a:xfrm xmlns:a="http://schemas.openxmlformats.org/drawingml/2006/main">
            <a:off x="4876800" y="2457450"/>
            <a:ext cx="2381250" cy="1352550"/>
          </a:xfrm>
          <a:prstGeom xmlns:a="http://schemas.openxmlformats.org/drawingml/2006/main" prst="roundRect">
            <a:avLst>
              <a:gd name="adj" fmla="val 8451"/>
            </a:avLst>
          </a:prstGeom>
          <a:solidFill xmlns:a="http://schemas.openxmlformats.org/drawingml/2006/main">
            <a:srgbClr val="FFFFFF"/>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5443997B-E7D4-4A6B-B7AE-2AD01E8BAE2D}"/>
              </a:ext>
            </a:extLst>
          </p:cNvPr>
          <p:cNvSpPr>
            <a:spLocks xmlns:a="http://schemas.openxmlformats.org/drawingml/2006/main" noGrp="1"/>
          </p:cNvSpPr>
          <p:nvPr/>
        </p:nvSpPr>
        <p:spPr>
          <a:xfrm xmlns:a="http://schemas.openxmlformats.org/drawingml/2006/main">
            <a:off x="8934450" y="2457450"/>
            <a:ext cx="2381250" cy="1352550"/>
          </a:xfrm>
          <a:prstGeom xmlns:a="http://schemas.openxmlformats.org/drawingml/2006/main" prst="roundRect">
            <a:avLst>
              <a:gd name="adj" fmla="val 8451"/>
            </a:avLst>
          </a:prstGeom>
          <a:solidFill xmlns:a="http://schemas.openxmlformats.org/drawingml/2006/main">
            <a:srgbClr val="F6F7F8"/>
          </a:solidFill>
          <a:ln xmlns:a="http://schemas.openxmlformats.org/drawingml/2006/main" w="9525">
            <a:solidFill>
              <a:srgbClr val="B8BCC4"/>
            </a:solidFill>
            <a:prstDash val="solid"/>
          </a:ln>
        </p:spPr>
      </p:sp>
      <p:cxnSp>
        <p:nvCxnSpPr>
          <p:cNvPr id="30" name=""/>
          <p:cNvCxnSpPr>
            <a:stCxn xmlns:a="http://schemas.openxmlformats.org/drawingml/2006/main" id="6" idx="1"/>
            <a:endCxn xmlns:a="http://schemas.openxmlformats.org/drawingml/2006/main" id="5" idx="3"/>
          </p:cNvCxnSpPr>
          <p:nvPr/>
        </p:nvCxnSpPr>
        <p:spPr>
          <a:xfrm xmlns:a="http://schemas.openxmlformats.org/drawingml/2006/main" flipH="1">
            <a:off x="3200400" y="3133725"/>
            <a:ext cx="1676400" cy="0"/>
          </a:xfrm>
          <a:prstGeom xmlns:a="http://schemas.openxmlformats.org/drawingml/2006/main" prst="straightConnector1">
            <a:avLst/>
          </a:prstGeom>
          <a:ln xmlns:a="http://schemas.openxmlformats.org/drawingml/2006/main" w="28575">
            <a:solidFill>
              <a:srgbClr val="3D8DFF"/>
            </a:solidFill>
            <a:prstDash val="solid"/>
            <a:headEnd type="triangle" w="sm" len="sm"/>
          </a:ln>
        </p:spPr>
      </p:cxnSp>
      <p:cxnSp>
        <p:nvCxnSpPr>
          <p:cNvPr id="31" name=""/>
          <p:cNvCxnSpPr>
            <a:stCxn xmlns:a="http://schemas.openxmlformats.org/drawingml/2006/main" id="7" idx="1"/>
            <a:endCxn xmlns:a="http://schemas.openxmlformats.org/drawingml/2006/main" id="6" idx="3"/>
          </p:cNvCxnSpPr>
          <p:nvPr/>
        </p:nvCxnSpPr>
        <p:spPr>
          <a:xfrm xmlns:a="http://schemas.openxmlformats.org/drawingml/2006/main" flipH="1">
            <a:off x="7258050" y="3133725"/>
            <a:ext cx="1676400" cy="0"/>
          </a:xfrm>
          <a:prstGeom xmlns:a="http://schemas.openxmlformats.org/drawingml/2006/main" prst="straightConnector1">
            <a:avLst/>
          </a:prstGeom>
          <a:ln xmlns:a="http://schemas.openxmlformats.org/drawingml/2006/main" w="28575">
            <a:solidFill>
              <a:srgbClr val="3D8DFF"/>
            </a:solidFill>
            <a:prstDash val="solid"/>
            <a:headEnd type="triangle" w="sm" len="sm"/>
          </a:ln>
        </p:spPr>
      </p:cxnSp>
      <p:sp>
        <p:nvSpPr>
          <p:cNvPr id="10" name="">
            <a:extLst xmlns:a="http://schemas.openxmlformats.org/drawingml/2006/main">
              <a:ext uri="{FF2B5EF4-FFF2-40B4-BE49-F238E27FC236}">
                <a16:creationId xmlns:a16="http://schemas.microsoft.com/office/drawing/2014/main" id="{48057344-A387-4CF5-8443-51FD9C1B635F}"/>
              </a:ext>
            </a:extLst>
          </p:cNvPr>
          <p:cNvSpPr>
            <a:spLocks xmlns:a="http://schemas.openxmlformats.org/drawingml/2006/main" noGrp="1"/>
          </p:cNvSpPr>
          <p:nvPr/>
        </p:nvSpPr>
        <p:spPr>
          <a:xfrm xmlns:a="http://schemas.openxmlformats.org/drawingml/2006/main">
            <a:off x="1028700" y="2628900"/>
            <a:ext cx="38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00" b="1">
                <a:solidFill>
                  <a:srgbClr val="3D8DFF"/>
                </a:solidFill>
                <a:latin typeface="Arial"/>
                <a:ea typeface="Arial"/>
                <a:cs typeface="Arial"/>
              </a:defRPr>
            </a:pPr>
            <a:r>
              <a:rPr sz="1800" b="1">
                <a:solidFill>
                  <a:srgbClr val="3D8DFF"/>
                </a:solidFill>
                <a:latin typeface="Arial"/>
                <a:ea typeface="Arial"/>
                <a:cs typeface="Arial"/>
              </a:rPr>
              <a:t>1</a:t>
            </a:r>
          </a:p>
        </p:txBody>
      </p:sp>
      <p:sp>
        <p:nvSpPr>
          <p:cNvPr id="11" name="">
            <a:extLst xmlns:a="http://schemas.openxmlformats.org/drawingml/2006/main">
              <a:ext uri="{FF2B5EF4-FFF2-40B4-BE49-F238E27FC236}">
                <a16:creationId xmlns:a16="http://schemas.microsoft.com/office/drawing/2014/main" id="{959B0266-A37B-40A0-A797-C9B981B1CA7D}"/>
              </a:ext>
            </a:extLst>
          </p:cNvPr>
          <p:cNvSpPr>
            <a:spLocks xmlns:a="http://schemas.openxmlformats.org/drawingml/2006/main" noGrp="1"/>
          </p:cNvSpPr>
          <p:nvPr/>
        </p:nvSpPr>
        <p:spPr>
          <a:xfrm xmlns:a="http://schemas.openxmlformats.org/drawingml/2006/main">
            <a:off x="1028700" y="30289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025" b="1">
                <a:solidFill>
                  <a:srgbClr val="0B0D10"/>
                </a:solidFill>
                <a:latin typeface="Arial"/>
                <a:ea typeface="Arial"/>
                <a:cs typeface="Arial"/>
              </a:defRPr>
            </a:pPr>
            <a:r>
              <a:rPr sz="2025" b="1">
                <a:solidFill>
                  <a:srgbClr val="0B0D10"/>
                </a:solidFill>
                <a:latin typeface="Arial"/>
                <a:ea typeface="Arial"/>
                <a:cs typeface="Arial"/>
              </a:rPr>
              <a:t>Agent client</a:t>
            </a:r>
          </a:p>
        </p:txBody>
      </p:sp>
      <p:sp>
        <p:nvSpPr>
          <p:cNvPr id="12" name="">
            <a:extLst xmlns:a="http://schemas.openxmlformats.org/drawingml/2006/main">
              <a:ext uri="{FF2B5EF4-FFF2-40B4-BE49-F238E27FC236}">
                <a16:creationId xmlns:a16="http://schemas.microsoft.com/office/drawing/2014/main" id="{BFD91588-3EBA-4EDA-8E6E-A13D7A15BED0}"/>
              </a:ext>
            </a:extLst>
          </p:cNvPr>
          <p:cNvSpPr>
            <a:spLocks xmlns:a="http://schemas.openxmlformats.org/drawingml/2006/main" noGrp="1"/>
          </p:cNvSpPr>
          <p:nvPr/>
        </p:nvSpPr>
        <p:spPr>
          <a:xfrm xmlns:a="http://schemas.openxmlformats.org/drawingml/2006/main">
            <a:off x="1028700" y="3371850"/>
            <a:ext cx="190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9365"/>
          </a:bodyPr>
          <a:lstStyle xmlns:a="http://schemas.openxmlformats.org/drawingml/2006/main"/>
          <a:p xmlns:a="http://schemas.openxmlformats.org/drawingml/2006/main">
            <a:pPr algn="l">
              <a:lnSpc>
                <a:spcPct val="105000"/>
              </a:lnSpc>
              <a:buNone/>
              <a:defRPr sz="1200" b="0">
                <a:solidFill>
                  <a:srgbClr val="5B6470"/>
                </a:solidFill>
                <a:latin typeface="Arial"/>
                <a:ea typeface="Arial"/>
                <a:cs typeface="Arial"/>
              </a:defRPr>
            </a:pPr>
            <a:r>
              <a:rPr sz="1200" b="0">
                <a:solidFill>
                  <a:srgbClr val="5B6470"/>
                </a:solidFill>
                <a:latin typeface="Arial"/>
                <a:ea typeface="Arial"/>
                <a:cs typeface="Arial"/>
              </a:rPr>
              <a:t>Signs method, URI, digest, time, nonce</a:t>
            </a:r>
          </a:p>
        </p:txBody>
      </p:sp>
      <p:sp>
        <p:nvSpPr>
          <p:cNvPr id="13" name="">
            <a:extLst xmlns:a="http://schemas.openxmlformats.org/drawingml/2006/main">
              <a:ext uri="{FF2B5EF4-FFF2-40B4-BE49-F238E27FC236}">
                <a16:creationId xmlns:a16="http://schemas.microsoft.com/office/drawing/2014/main" id="{D43A09B7-881F-46E7-B1A4-2967767A39D7}"/>
              </a:ext>
            </a:extLst>
          </p:cNvPr>
          <p:cNvSpPr>
            <a:spLocks xmlns:a="http://schemas.openxmlformats.org/drawingml/2006/main" noGrp="1"/>
          </p:cNvSpPr>
          <p:nvPr/>
        </p:nvSpPr>
        <p:spPr>
          <a:xfrm xmlns:a="http://schemas.openxmlformats.org/drawingml/2006/main">
            <a:off x="5086350" y="2628900"/>
            <a:ext cx="38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00" b="1">
                <a:solidFill>
                  <a:srgbClr val="3D8DFF"/>
                </a:solidFill>
                <a:latin typeface="Arial"/>
                <a:ea typeface="Arial"/>
                <a:cs typeface="Arial"/>
              </a:defRPr>
            </a:pPr>
            <a:r>
              <a:rPr sz="1800" b="1">
                <a:solidFill>
                  <a:srgbClr val="3D8DFF"/>
                </a:solidFill>
                <a:latin typeface="Arial"/>
                <a:ea typeface="Arial"/>
                <a:cs typeface="Arial"/>
              </a:rPr>
              <a:t>2</a:t>
            </a:r>
          </a:p>
        </p:txBody>
      </p:sp>
      <p:sp>
        <p:nvSpPr>
          <p:cNvPr id="14" name="">
            <a:extLst xmlns:a="http://schemas.openxmlformats.org/drawingml/2006/main">
              <a:ext uri="{FF2B5EF4-FFF2-40B4-BE49-F238E27FC236}">
                <a16:creationId xmlns:a16="http://schemas.microsoft.com/office/drawing/2014/main" id="{2990167B-C9BC-4CE4-9DE2-0BD4B8A82E4F}"/>
              </a:ext>
            </a:extLst>
          </p:cNvPr>
          <p:cNvSpPr>
            <a:spLocks xmlns:a="http://schemas.openxmlformats.org/drawingml/2006/main" noGrp="1"/>
          </p:cNvSpPr>
          <p:nvPr/>
        </p:nvSpPr>
        <p:spPr>
          <a:xfrm xmlns:a="http://schemas.openxmlformats.org/drawingml/2006/main">
            <a:off x="5086350" y="30289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025" b="1">
                <a:solidFill>
                  <a:srgbClr val="0B0D10"/>
                </a:solidFill>
                <a:latin typeface="Arial"/>
                <a:ea typeface="Arial"/>
                <a:cs typeface="Arial"/>
              </a:defRPr>
            </a:pPr>
            <a:r>
              <a:rPr sz="2025" b="1">
                <a:solidFill>
                  <a:srgbClr val="0B0D10"/>
                </a:solidFill>
                <a:latin typeface="Arial"/>
                <a:ea typeface="Arial"/>
                <a:cs typeface="Arial"/>
              </a:rPr>
              <a:t>Verifier</a:t>
            </a:r>
          </a:p>
        </p:txBody>
      </p:sp>
      <p:sp>
        <p:nvSpPr>
          <p:cNvPr id="15" name="">
            <a:extLst xmlns:a="http://schemas.openxmlformats.org/drawingml/2006/main">
              <a:ext uri="{FF2B5EF4-FFF2-40B4-BE49-F238E27FC236}">
                <a16:creationId xmlns:a16="http://schemas.microsoft.com/office/drawing/2014/main" id="{DF7DE5DE-EA44-4B8E-9EA8-6398686F9070}"/>
              </a:ext>
            </a:extLst>
          </p:cNvPr>
          <p:cNvSpPr>
            <a:spLocks xmlns:a="http://schemas.openxmlformats.org/drawingml/2006/main" noGrp="1"/>
          </p:cNvSpPr>
          <p:nvPr/>
        </p:nvSpPr>
        <p:spPr>
          <a:xfrm xmlns:a="http://schemas.openxmlformats.org/drawingml/2006/main">
            <a:off x="5086350" y="3371850"/>
            <a:ext cx="190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9365"/>
          </a:bodyPr>
          <a:lstStyle xmlns:a="http://schemas.openxmlformats.org/drawingml/2006/main"/>
          <a:p xmlns:a="http://schemas.openxmlformats.org/drawingml/2006/main">
            <a:pPr algn="l">
              <a:lnSpc>
                <a:spcPct val="105000"/>
              </a:lnSpc>
              <a:buNone/>
              <a:defRPr sz="1200" b="0">
                <a:solidFill>
                  <a:srgbClr val="5B6470"/>
                </a:solidFill>
                <a:latin typeface="Arial"/>
                <a:ea typeface="Arial"/>
                <a:cs typeface="Arial"/>
              </a:defRPr>
            </a:pPr>
            <a:r>
              <a:rPr sz="1200" b="0">
                <a:solidFill>
                  <a:srgbClr val="5B6470"/>
                </a:solidFill>
                <a:latin typeface="Arial"/>
                <a:ea typeface="Arial"/>
                <a:cs typeface="Arial"/>
              </a:rPr>
              <a:t>Reads keyid and selects one Binding Profile</a:t>
            </a:r>
          </a:p>
        </p:txBody>
      </p:sp>
      <p:sp>
        <p:nvSpPr>
          <p:cNvPr id="16" name="">
            <a:extLst xmlns:a="http://schemas.openxmlformats.org/drawingml/2006/main">
              <a:ext uri="{FF2B5EF4-FFF2-40B4-BE49-F238E27FC236}">
                <a16:creationId xmlns:a16="http://schemas.microsoft.com/office/drawing/2014/main" id="{C2BF46B0-EE9C-4F01-8348-D989BCAE83F2}"/>
              </a:ext>
            </a:extLst>
          </p:cNvPr>
          <p:cNvSpPr>
            <a:spLocks xmlns:a="http://schemas.openxmlformats.org/drawingml/2006/main" noGrp="1"/>
          </p:cNvSpPr>
          <p:nvPr/>
        </p:nvSpPr>
        <p:spPr>
          <a:xfrm xmlns:a="http://schemas.openxmlformats.org/drawingml/2006/main">
            <a:off x="9144000" y="2628900"/>
            <a:ext cx="38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00" b="1">
                <a:solidFill>
                  <a:srgbClr val="3D8DFF"/>
                </a:solidFill>
                <a:latin typeface="Arial"/>
                <a:ea typeface="Arial"/>
                <a:cs typeface="Arial"/>
              </a:defRPr>
            </a:pPr>
            <a:r>
              <a:rPr sz="1800" b="1">
                <a:solidFill>
                  <a:srgbClr val="3D8DFF"/>
                </a:solidFill>
                <a:latin typeface="Arial"/>
                <a:ea typeface="Arial"/>
                <a:cs typeface="Arial"/>
              </a:rPr>
              <a:t>3</a:t>
            </a:r>
          </a:p>
        </p:txBody>
      </p:sp>
      <p:sp>
        <p:nvSpPr>
          <p:cNvPr id="17" name="">
            <a:extLst xmlns:a="http://schemas.openxmlformats.org/drawingml/2006/main">
              <a:ext uri="{FF2B5EF4-FFF2-40B4-BE49-F238E27FC236}">
                <a16:creationId xmlns:a16="http://schemas.microsoft.com/office/drawing/2014/main" id="{5291D5A4-0F55-4699-A7A6-4578DDA1A667}"/>
              </a:ext>
            </a:extLst>
          </p:cNvPr>
          <p:cNvSpPr>
            <a:spLocks xmlns:a="http://schemas.openxmlformats.org/drawingml/2006/main" noGrp="1"/>
          </p:cNvSpPr>
          <p:nvPr/>
        </p:nvSpPr>
        <p:spPr>
          <a:xfrm xmlns:a="http://schemas.openxmlformats.org/drawingml/2006/main">
            <a:off x="9144000" y="30289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025" b="1">
                <a:solidFill>
                  <a:srgbClr val="0B0D10"/>
                </a:solidFill>
                <a:latin typeface="Arial"/>
                <a:ea typeface="Arial"/>
                <a:cs typeface="Arial"/>
              </a:defRPr>
            </a:pPr>
            <a:r>
              <a:rPr sz="2025" b="1">
                <a:solidFill>
                  <a:srgbClr val="0B0D10"/>
                </a:solidFill>
                <a:latin typeface="Arial"/>
                <a:ea typeface="Arial"/>
                <a:cs typeface="Arial"/>
              </a:rPr>
              <a:t>Resolver</a:t>
            </a:r>
          </a:p>
        </p:txBody>
      </p:sp>
      <p:sp>
        <p:nvSpPr>
          <p:cNvPr id="18" name="">
            <a:extLst xmlns:a="http://schemas.openxmlformats.org/drawingml/2006/main">
              <a:ext uri="{FF2B5EF4-FFF2-40B4-BE49-F238E27FC236}">
                <a16:creationId xmlns:a16="http://schemas.microsoft.com/office/drawing/2014/main" id="{B6CB3471-B1F6-4463-A910-5A0EC2174AF3}"/>
              </a:ext>
            </a:extLst>
          </p:cNvPr>
          <p:cNvSpPr>
            <a:spLocks xmlns:a="http://schemas.openxmlformats.org/drawingml/2006/main" noGrp="1"/>
          </p:cNvSpPr>
          <p:nvPr/>
        </p:nvSpPr>
        <p:spPr>
          <a:xfrm xmlns:a="http://schemas.openxmlformats.org/drawingml/2006/main">
            <a:off x="9144000" y="3371850"/>
            <a:ext cx="190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9365"/>
          </a:bodyPr>
          <a:lstStyle xmlns:a="http://schemas.openxmlformats.org/drawingml/2006/main"/>
          <a:p xmlns:a="http://schemas.openxmlformats.org/drawingml/2006/main">
            <a:pPr algn="l">
              <a:lnSpc>
                <a:spcPct val="105000"/>
              </a:lnSpc>
              <a:buNone/>
              <a:defRPr sz="1200" b="0">
                <a:solidFill>
                  <a:srgbClr val="5B6470"/>
                </a:solidFill>
                <a:latin typeface="Arial"/>
                <a:ea typeface="Arial"/>
                <a:cs typeface="Arial"/>
              </a:defRPr>
            </a:pPr>
            <a:r>
              <a:rPr sz="1200" b="0">
                <a:solidFill>
                  <a:srgbClr val="5B6470"/>
                </a:solidFill>
                <a:latin typeface="Arial"/>
                <a:ea typeface="Arial"/>
                <a:cs typeface="Arial"/>
              </a:rPr>
              <a:t>Returns a validated DID Document or failure</a:t>
            </a:r>
          </a:p>
        </p:txBody>
      </p:sp>
      <p:sp>
        <p:nvSpPr>
          <p:cNvPr id="19" name="">
            <a:extLst xmlns:a="http://schemas.openxmlformats.org/drawingml/2006/main">
              <a:ext uri="{FF2B5EF4-FFF2-40B4-BE49-F238E27FC236}">
                <a16:creationId xmlns:a16="http://schemas.microsoft.com/office/drawing/2014/main" id="{EF9824C6-8539-45D6-AF20-EA1689D81550}"/>
              </a:ext>
            </a:extLst>
          </p:cNvPr>
          <p:cNvSpPr>
            <a:spLocks xmlns:a="http://schemas.openxmlformats.org/drawingml/2006/main" noGrp="1"/>
          </p:cNvSpPr>
          <p:nvPr/>
        </p:nvSpPr>
        <p:spPr>
          <a:xfrm xmlns:a="http://schemas.openxmlformats.org/drawingml/2006/main">
            <a:off x="819150" y="4533900"/>
            <a:ext cx="10496550" cy="87630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sp>
      <p:sp>
        <p:nvSpPr>
          <p:cNvPr id="20" name="">
            <a:extLst xmlns:a="http://schemas.openxmlformats.org/drawingml/2006/main">
              <a:ext uri="{FF2B5EF4-FFF2-40B4-BE49-F238E27FC236}">
                <a16:creationId xmlns:a16="http://schemas.microsoft.com/office/drawing/2014/main" id="{A81B4A23-CAB7-43EF-8925-9ADD1758FAAD}"/>
              </a:ext>
            </a:extLst>
          </p:cNvPr>
          <p:cNvSpPr>
            <a:spLocks xmlns:a="http://schemas.openxmlformats.org/drawingml/2006/main" noGrp="1"/>
          </p:cNvSpPr>
          <p:nvPr/>
        </p:nvSpPr>
        <p:spPr>
          <a:xfrm xmlns:a="http://schemas.openxmlformats.org/drawingml/2006/main">
            <a:off x="1047750" y="476250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125" b="1">
                <a:solidFill>
                  <a:srgbClr val="5B6470"/>
                </a:solidFill>
                <a:latin typeface="Arial"/>
                <a:ea typeface="Arial"/>
                <a:cs typeface="Arial"/>
              </a:defRPr>
            </a:pPr>
            <a:r>
              <a:rPr sz="1125" b="1">
                <a:solidFill>
                  <a:srgbClr val="5B6470"/>
                </a:solidFill>
                <a:latin typeface="Arial"/>
                <a:ea typeface="Arial"/>
                <a:cs typeface="Arial"/>
              </a:rPr>
              <a:t>Then verify</a:t>
            </a:r>
          </a:p>
        </p:txBody>
      </p:sp>
      <p:sp>
        <p:nvSpPr>
          <p:cNvPr id="21" name="">
            <a:extLst xmlns:a="http://schemas.openxmlformats.org/drawingml/2006/main">
              <a:ext uri="{FF2B5EF4-FFF2-40B4-BE49-F238E27FC236}">
                <a16:creationId xmlns:a16="http://schemas.microsoft.com/office/drawing/2014/main" id="{BD96D702-77F8-4A91-99D3-30FE2B3D4DDF}"/>
              </a:ext>
            </a:extLst>
          </p:cNvPr>
          <p:cNvSpPr>
            <a:spLocks xmlns:a="http://schemas.openxmlformats.org/drawingml/2006/main" noGrp="1"/>
          </p:cNvSpPr>
          <p:nvPr/>
        </p:nvSpPr>
        <p:spPr>
          <a:xfrm xmlns:a="http://schemas.openxmlformats.org/drawingml/2006/main">
            <a:off x="2476500" y="476250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00" b="1">
                <a:solidFill>
                  <a:srgbClr val="0B0D10"/>
                </a:solidFill>
                <a:latin typeface="Arial"/>
                <a:ea typeface="Arial"/>
                <a:cs typeface="Arial"/>
              </a:defRPr>
            </a:pPr>
            <a:r>
              <a:rPr sz="1500" b="1">
                <a:solidFill>
                  <a:srgbClr val="0B0D10"/>
                </a:solidFill>
                <a:latin typeface="Arial"/>
                <a:ea typeface="Arial"/>
                <a:cs typeface="Arial"/>
              </a:rPr>
              <a:t>DID key relation  →  signature  →  digest  →  replay window  →  authorization</a:t>
            </a:r>
          </a:p>
        </p:txBody>
      </p:sp>
      <p:sp>
        <p:nvSpPr>
          <p:cNvPr id="22" name="">
            <a:extLst xmlns:a="http://schemas.openxmlformats.org/drawingml/2006/main">
              <a:ext uri="{FF2B5EF4-FFF2-40B4-BE49-F238E27FC236}">
                <a16:creationId xmlns:a16="http://schemas.microsoft.com/office/drawing/2014/main" id="{E6D74096-5A18-493F-8C53-E300E269C4D3}"/>
              </a:ext>
            </a:extLst>
          </p:cNvPr>
          <p:cNvSpPr>
            <a:spLocks xmlns:a="http://schemas.openxmlformats.org/drawingml/2006/main" noGrp="1"/>
          </p:cNvSpPr>
          <p:nvPr/>
        </p:nvSpPr>
        <p:spPr>
          <a:xfrm xmlns:a="http://schemas.openxmlformats.org/drawingml/2006/main">
            <a:off x="2476500" y="5124450"/>
            <a:ext cx="800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75" b="0">
                <a:solidFill>
                  <a:srgbClr val="5B6470"/>
                </a:solidFill>
                <a:latin typeface="Arial"/>
                <a:ea typeface="Arial"/>
                <a:cs typeface="Arial"/>
              </a:defRPr>
            </a:pPr>
            <a:r>
              <a:rPr sz="1275" b="0">
                <a:solidFill>
                  <a:srgbClr val="5B6470"/>
                </a:solidFill>
                <a:latin typeface="Arial"/>
                <a:ea typeface="Arial"/>
                <a:cs typeface="Arial"/>
              </a:rPr>
              <a:t>401 = authentication failure     ·     403 = authenticated, but not permitted</a:t>
            </a:r>
          </a:p>
        </p:txBody>
      </p:sp>
    </p:spTree>
    <p:extLst>
      <p:ext uri="{BB962C8B-B14F-4D97-AF65-F5344CB8AC3E}">
        <p14:creationId xmlns:p14="http://schemas.microsoft.com/office/powerpoint/2010/main" val="44035928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C38A254-D8ED-49B6-8995-B1A89FFB3D10}"/>
              </a:ext>
            </a:extLst>
          </p:cNvPr>
          <p:cNvSpPr>
            <a:spLocks xmlns:a="http://schemas.openxmlformats.org/drawingml/2006/main" noGrp="1"/>
          </p:cNvSpPr>
          <p:nvPr/>
        </p:nvSpPr>
        <p:spPr>
          <a:xfrm xmlns:a="http://schemas.openxmlformats.org/drawingml/2006/main">
            <a:off x="514350" y="2667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125" b="1">
                <a:solidFill>
                  <a:srgbClr val="3D8DFF"/>
                </a:solidFill>
                <a:latin typeface="Arial"/>
                <a:ea typeface="Arial"/>
                <a:cs typeface="Arial"/>
              </a:defRPr>
            </a:pPr>
            <a:r>
              <a:rPr sz="1125" b="1">
                <a:solidFill>
                  <a:srgbClr val="3D8DFF"/>
                </a:solidFill>
                <a:latin typeface="Arial"/>
                <a:ea typeface="Arial"/>
                <a:cs typeface="Arial"/>
              </a:rPr>
              <a:t>FILE 2 OF 5</a:t>
            </a:r>
          </a:p>
        </p:txBody>
      </p:sp>
      <p:sp>
        <p:nvSpPr>
          <p:cNvPr id="2" name="">
            <a:extLst xmlns:a="http://schemas.openxmlformats.org/drawingml/2006/main">
              <a:ext uri="{FF2B5EF4-FFF2-40B4-BE49-F238E27FC236}">
                <a16:creationId xmlns:a16="http://schemas.microsoft.com/office/drawing/2014/main" id="{826C3FED-9115-4986-BAE2-1580A1822AB9}"/>
              </a:ext>
            </a:extLst>
          </p:cNvPr>
          <p:cNvSpPr>
            <a:spLocks xmlns:a="http://schemas.openxmlformats.org/drawingml/2006/main" noGrp="1"/>
          </p:cNvSpPr>
          <p:nvPr/>
        </p:nvSpPr>
        <p:spPr>
          <a:xfrm xmlns:a="http://schemas.openxmlformats.org/drawingml/2006/main">
            <a:off x="514350" y="55245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3525" b="1">
                <a:solidFill>
                  <a:srgbClr val="0B0D10"/>
                </a:solidFill>
                <a:latin typeface="Arial"/>
                <a:ea typeface="Arial"/>
                <a:cs typeface="Arial"/>
              </a:defRPr>
            </a:pPr>
            <a:r>
              <a:rPr sz="3525" b="1">
                <a:solidFill>
                  <a:srgbClr val="0B0D10"/>
                </a:solidFill>
                <a:latin typeface="Arial"/>
                <a:ea typeface="Arial"/>
                <a:cs typeface="Arial"/>
              </a:rPr>
              <a:t>Binding Profiles prevent method confusion</a:t>
            </a:r>
          </a:p>
        </p:txBody>
      </p:sp>
      <p:sp>
        <p:nvSpPr>
          <p:cNvPr id="3" name="">
            <a:extLst xmlns:a="http://schemas.openxmlformats.org/drawingml/2006/main">
              <a:ext uri="{FF2B5EF4-FFF2-40B4-BE49-F238E27FC236}">
                <a16:creationId xmlns:a16="http://schemas.microsoft.com/office/drawing/2014/main" id="{02099B50-7781-441C-A7D7-652BC34BEDDA}"/>
              </a:ext>
            </a:extLst>
          </p:cNvPr>
          <p:cNvSpPr>
            <a:spLocks xmlns:a="http://schemas.openxmlformats.org/drawingml/2006/main" noGrp="1"/>
          </p:cNvSpPr>
          <p:nvPr/>
        </p:nvSpPr>
        <p:spPr>
          <a:xfrm xmlns:a="http://schemas.openxmlformats.org/drawingml/2006/main">
            <a:off x="514350" y="1352550"/>
            <a:ext cx="111633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5C0FD35B-BD09-4C56-9E9E-6A4D47F06C3C}"/>
              </a:ext>
            </a:extLst>
          </p:cNvPr>
          <p:cNvSpPr>
            <a:spLocks xmlns:a="http://schemas.openxmlformats.org/drawingml/2006/main" noGrp="1"/>
          </p:cNvSpPr>
          <p:nvPr/>
        </p:nvSpPr>
        <p:spPr>
          <a:xfrm xmlns:a="http://schemas.openxmlformats.org/drawingml/2006/main">
            <a:off x="11239500" y="6362700"/>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975" b="0">
                <a:solidFill>
                  <a:srgbClr val="5B6470"/>
                </a:solidFill>
                <a:latin typeface="Arial"/>
                <a:ea typeface="Arial"/>
                <a:cs typeface="Arial"/>
              </a:defRPr>
            </a:pPr>
            <a:r>
              <a:rPr sz="975" b="0">
                <a:solidFill>
                  <a:srgbClr val="5B6470"/>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1AF613BC-5CD5-495D-86BD-A75AB46FDB10}"/>
              </a:ext>
            </a:extLst>
          </p:cNvPr>
          <p:cNvSpPr>
            <a:spLocks xmlns:a="http://schemas.openxmlformats.org/drawingml/2006/main" noGrp="1"/>
          </p:cNvSpPr>
          <p:nvPr/>
        </p:nvSpPr>
        <p:spPr>
          <a:xfrm xmlns:a="http://schemas.openxmlformats.org/drawingml/2006/main">
            <a:off x="495300" y="1562100"/>
            <a:ext cx="7810500" cy="4514850"/>
          </a:xfrm>
          <a:prstGeom xmlns:a="http://schemas.openxmlformats.org/drawingml/2006/main" prst="roundRect">
            <a:avLst>
              <a:gd name="adj" fmla="val 2532"/>
            </a:avLst>
          </a:prstGeom>
          <a:solidFill xmlns:a="http://schemas.openxmlformats.org/drawingml/2006/main">
            <a:srgbClr val="0D1117"/>
          </a:solidFill>
          <a:ln xmlns:a="http://schemas.openxmlformats.org/drawingml/2006/main" w="9525">
            <a:solidFill>
              <a:srgbClr val="0D1117"/>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0451fbd406ec4a11"/>
          <a:stretch xmlns:a="http://schemas.openxmlformats.org/drawingml/2006/main"/>
        </p:blipFill>
        <p:spPr>
          <a:xfrm xmlns:a="http://schemas.openxmlformats.org/drawingml/2006/main">
            <a:off x="1335098" y="1676400"/>
            <a:ext cx="6130903" cy="4286250"/>
          </a:xfrm>
          <a:prstGeom xmlns:a="http://schemas.openxmlformats.org/drawingml/2006/main" prst="roundRect">
            <a:avLst>
              <a:gd name="adj" fmla="val 2667"/>
            </a:avLst>
          </a:prstGeom>
        </p:spPr>
      </p:pic>
      <p:sp>
        <p:nvSpPr>
          <p:cNvPr id="7" name="">
            <a:extLst xmlns:a="http://schemas.openxmlformats.org/drawingml/2006/main">
              <a:ext uri="{FF2B5EF4-FFF2-40B4-BE49-F238E27FC236}">
                <a16:creationId xmlns:a16="http://schemas.microsoft.com/office/drawing/2014/main" id="{286D524D-2ED7-468D-9F13-9D8A381CFF7E}"/>
              </a:ext>
            </a:extLst>
          </p:cNvPr>
          <p:cNvSpPr>
            <a:spLocks xmlns:a="http://schemas.openxmlformats.org/drawingml/2006/main" noGrp="1"/>
          </p:cNvSpPr>
          <p:nvPr/>
        </p:nvSpPr>
        <p:spPr>
          <a:xfrm xmlns:a="http://schemas.openxmlformats.org/drawingml/2006/main">
            <a:off x="8667750" y="175260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050" b="1">
                <a:solidFill>
                  <a:srgbClr val="3D8DFF"/>
                </a:solidFill>
                <a:latin typeface="Arial"/>
                <a:ea typeface="Arial"/>
                <a:cs typeface="Arial"/>
              </a:defRPr>
            </a:pPr>
            <a:r>
              <a:rPr sz="1050" b="1">
                <a:solidFill>
                  <a:srgbClr val="3D8DFF"/>
                </a:solidFill>
                <a:latin typeface="Arial"/>
                <a:ea typeface="Arial"/>
                <a:cs typeface="Arial"/>
              </a:rPr>
              <a:t>NORMATIVE RULE</a:t>
            </a:r>
          </a:p>
        </p:txBody>
      </p:sp>
      <p:sp>
        <p:nvSpPr>
          <p:cNvPr id="8" name="">
            <a:extLst xmlns:a="http://schemas.openxmlformats.org/drawingml/2006/main">
              <a:ext uri="{FF2B5EF4-FFF2-40B4-BE49-F238E27FC236}">
                <a16:creationId xmlns:a16="http://schemas.microsoft.com/office/drawing/2014/main" id="{40A26C08-316B-4E64-92BC-68FC6E7B5AB3}"/>
              </a:ext>
            </a:extLst>
          </p:cNvPr>
          <p:cNvSpPr>
            <a:spLocks xmlns:a="http://schemas.openxmlformats.org/drawingml/2006/main" noGrp="1"/>
          </p:cNvSpPr>
          <p:nvPr/>
        </p:nvSpPr>
        <p:spPr>
          <a:xfrm xmlns:a="http://schemas.openxmlformats.org/drawingml/2006/main">
            <a:off x="8667750" y="2133600"/>
            <a:ext cx="2762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025" b="1">
                <a:solidFill>
                  <a:srgbClr val="0B0D10"/>
                </a:solidFill>
                <a:latin typeface="Arial"/>
                <a:ea typeface="Arial"/>
                <a:cs typeface="Arial"/>
              </a:defRPr>
            </a:pPr>
            <a:r>
              <a:rPr sz="2025" b="1">
                <a:solidFill>
                  <a:srgbClr val="0B0D10"/>
                </a:solidFill>
                <a:latin typeface="Arial"/>
                <a:ea typeface="Arial"/>
                <a:cs typeface="Arial"/>
              </a:rPr>
              <a:t>The DID method name is authoritative.</a:t>
            </a:r>
          </a:p>
        </p:txBody>
      </p:sp>
      <p:sp>
        <p:nvSpPr>
          <p:cNvPr id="9" name="">
            <a:extLst xmlns:a="http://schemas.openxmlformats.org/drawingml/2006/main">
              <a:ext uri="{FF2B5EF4-FFF2-40B4-BE49-F238E27FC236}">
                <a16:creationId xmlns:a16="http://schemas.microsoft.com/office/drawing/2014/main" id="{BD3D6E77-55C2-4916-A521-7CBC73E93E90}"/>
              </a:ext>
            </a:extLst>
          </p:cNvPr>
          <p:cNvSpPr>
            <a:spLocks xmlns:a="http://schemas.openxmlformats.org/drawingml/2006/main" noGrp="1"/>
          </p:cNvSpPr>
          <p:nvPr/>
        </p:nvSpPr>
        <p:spPr>
          <a:xfrm xmlns:a="http://schemas.openxmlformats.org/drawingml/2006/main">
            <a:off x="8667750" y="3009900"/>
            <a:ext cx="272415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7858319F-08FE-482B-8C76-D23471E2A3A8}"/>
              </a:ext>
            </a:extLst>
          </p:cNvPr>
          <p:cNvSpPr>
            <a:spLocks xmlns:a="http://schemas.openxmlformats.org/drawingml/2006/main" noGrp="1"/>
          </p:cNvSpPr>
          <p:nvPr/>
        </p:nvSpPr>
        <p:spPr>
          <a:xfrm xmlns:a="http://schemas.openxmlformats.org/drawingml/2006/main">
            <a:off x="8667750" y="3276600"/>
            <a:ext cx="2724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725" b="1">
                <a:solidFill>
                  <a:srgbClr val="0B0D10"/>
                </a:solidFill>
                <a:latin typeface="Arial"/>
                <a:ea typeface="Arial"/>
                <a:cs typeface="Arial"/>
              </a:defRPr>
            </a:pPr>
            <a:r>
              <a:rPr sz="1725" b="1">
                <a:solidFill>
                  <a:srgbClr val="0B0D10"/>
                </a:solidFill>
                <a:latin typeface="Arial"/>
                <a:ea typeface="Arial"/>
                <a:cs typeface="Arial"/>
              </a:rPr>
              <a:t>No fallback</a:t>
            </a:r>
          </a:p>
        </p:txBody>
      </p:sp>
      <p:sp>
        <p:nvSpPr>
          <p:cNvPr id="11" name="">
            <a:extLst xmlns:a="http://schemas.openxmlformats.org/drawingml/2006/main">
              <a:ext uri="{FF2B5EF4-FFF2-40B4-BE49-F238E27FC236}">
                <a16:creationId xmlns:a16="http://schemas.microsoft.com/office/drawing/2014/main" id="{E145118B-F951-452C-94F1-76B181BF26A7}"/>
              </a:ext>
            </a:extLst>
          </p:cNvPr>
          <p:cNvSpPr>
            <a:spLocks xmlns:a="http://schemas.openxmlformats.org/drawingml/2006/main" noGrp="1"/>
          </p:cNvSpPr>
          <p:nvPr/>
        </p:nvSpPr>
        <p:spPr>
          <a:xfrm xmlns:a="http://schemas.openxmlformats.org/drawingml/2006/main">
            <a:off x="8667750" y="3657600"/>
            <a:ext cx="27241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500" b="0">
                <a:solidFill>
                  <a:srgbClr val="5B6470"/>
                </a:solidFill>
                <a:latin typeface="Arial"/>
                <a:ea typeface="Arial"/>
                <a:cs typeface="Arial"/>
              </a:defRPr>
            </a:pPr>
            <a:r>
              <a:rPr sz="1500" b="0">
                <a:solidFill>
                  <a:srgbClr val="5B6470"/>
                </a:solidFill>
                <a:latin typeface="Arial"/>
                <a:ea typeface="Arial"/>
                <a:cs typeface="Arial"/>
              </a:rPr>
              <a:t>A failed did:web resolution cannot be retried as did:wba or did:webvh.</a:t>
            </a:r>
          </a:p>
        </p:txBody>
      </p:sp>
      <p:sp>
        <p:nvSpPr>
          <p:cNvPr id="12" name="">
            <a:extLst xmlns:a="http://schemas.openxmlformats.org/drawingml/2006/main">
              <a:ext uri="{FF2B5EF4-FFF2-40B4-BE49-F238E27FC236}">
                <a16:creationId xmlns:a16="http://schemas.microsoft.com/office/drawing/2014/main" id="{8F9021A6-6896-4F08-9841-3190148C8C98}"/>
              </a:ext>
            </a:extLst>
          </p:cNvPr>
          <p:cNvSpPr>
            <a:spLocks xmlns:a="http://schemas.openxmlformats.org/drawingml/2006/main" noGrp="1"/>
          </p:cNvSpPr>
          <p:nvPr/>
        </p:nvSpPr>
        <p:spPr>
          <a:xfrm xmlns:a="http://schemas.openxmlformats.org/drawingml/2006/main">
            <a:off x="8667750" y="4895850"/>
            <a:ext cx="2724150" cy="857250"/>
          </a:xfrm>
          <a:prstGeom xmlns:a="http://schemas.openxmlformats.org/drawingml/2006/main" prst="roundRect">
            <a:avLst>
              <a:gd name="adj" fmla="val 13333"/>
            </a:avLst>
          </a:prstGeom>
          <a:solidFill xmlns:a="http://schemas.openxmlformats.org/drawingml/2006/main">
            <a:srgbClr val="EAF5FB"/>
          </a:solidFill>
          <a:ln xmlns:a="http://schemas.openxmlformats.org/drawingml/2006/main" w="9525">
            <a:solidFill>
              <a:srgbClr val="D0EDFA"/>
            </a:solidFill>
            <a:prstDash val="solid"/>
          </a:ln>
        </p:spPr>
      </p:sp>
      <p:sp>
        <p:nvSpPr>
          <p:cNvPr id="13" name="">
            <a:extLst xmlns:a="http://schemas.openxmlformats.org/drawingml/2006/main">
              <a:ext uri="{FF2B5EF4-FFF2-40B4-BE49-F238E27FC236}">
                <a16:creationId xmlns:a16="http://schemas.microsoft.com/office/drawing/2014/main" id="{A325980A-803F-44DD-91CA-EC61E8FF8266}"/>
              </a:ext>
            </a:extLst>
          </p:cNvPr>
          <p:cNvSpPr>
            <a:spLocks xmlns:a="http://schemas.openxmlformats.org/drawingml/2006/main" noGrp="1"/>
          </p:cNvSpPr>
          <p:nvPr/>
        </p:nvSpPr>
        <p:spPr>
          <a:xfrm xmlns:a="http://schemas.openxmlformats.org/drawingml/2006/main">
            <a:off x="8858250" y="5048250"/>
            <a:ext cx="2343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050" b="1">
                <a:solidFill>
                  <a:srgbClr val="3D8DFF"/>
                </a:solidFill>
                <a:latin typeface="Arial"/>
                <a:ea typeface="Arial"/>
                <a:cs typeface="Arial"/>
              </a:defRPr>
            </a:pPr>
            <a:r>
              <a:rPr sz="1050" b="1">
                <a:solidFill>
                  <a:srgbClr val="3D8DFF"/>
                </a:solidFill>
                <a:latin typeface="Arial"/>
                <a:ea typeface="Arial"/>
                <a:cs typeface="Arial"/>
              </a:rPr>
              <a:t>Why it matters</a:t>
            </a:r>
          </a:p>
        </p:txBody>
      </p:sp>
      <p:sp>
        <p:nvSpPr>
          <p:cNvPr id="14" name="">
            <a:extLst xmlns:a="http://schemas.openxmlformats.org/drawingml/2006/main">
              <a:ext uri="{FF2B5EF4-FFF2-40B4-BE49-F238E27FC236}">
                <a16:creationId xmlns:a16="http://schemas.microsoft.com/office/drawing/2014/main" id="{AB1F81FC-F477-414A-9334-773152462578}"/>
              </a:ext>
            </a:extLst>
          </p:cNvPr>
          <p:cNvSpPr>
            <a:spLocks xmlns:a="http://schemas.openxmlformats.org/drawingml/2006/main" noGrp="1"/>
          </p:cNvSpPr>
          <p:nvPr/>
        </p:nvSpPr>
        <p:spPr>
          <a:xfrm xmlns:a="http://schemas.openxmlformats.org/drawingml/2006/main">
            <a:off x="8858250" y="5334000"/>
            <a:ext cx="2343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00" b="1">
                <a:solidFill>
                  <a:srgbClr val="0B0D10"/>
                </a:solidFill>
                <a:latin typeface="Arial"/>
                <a:ea typeface="Arial"/>
                <a:cs typeface="Arial"/>
              </a:defRPr>
            </a:pPr>
            <a:r>
              <a:rPr sz="1500" b="1">
                <a:solidFill>
                  <a:srgbClr val="0B0D10"/>
                </a:solidFill>
                <a:latin typeface="Arial"/>
                <a:ea typeface="Arial"/>
                <a:cs typeface="Arial"/>
              </a:rPr>
              <a:t>No downgrade to a weaker trust model.</a:t>
            </a:r>
          </a:p>
        </p:txBody>
      </p:sp>
      <p:sp>
        <p:nvSpPr>
          <p:cNvPr id="15" name="">
            <a:extLst xmlns:a="http://schemas.openxmlformats.org/drawingml/2006/main">
              <a:ext uri="{FF2B5EF4-FFF2-40B4-BE49-F238E27FC236}">
                <a16:creationId xmlns:a16="http://schemas.microsoft.com/office/drawing/2014/main" id="{6D6BDF1D-811B-46A3-8E21-253452641694}"/>
              </a:ext>
            </a:extLst>
          </p:cNvPr>
          <p:cNvSpPr>
            <a:spLocks xmlns:a="http://schemas.openxmlformats.org/drawingml/2006/main" noGrp="1"/>
          </p:cNvSpPr>
          <p:nvPr/>
        </p:nvSpPr>
        <p:spPr>
          <a:xfrm xmlns:a="http://schemas.openxmlformats.org/drawingml/2006/main">
            <a:off x="514350" y="6381750"/>
            <a:ext cx="9906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0">
                <a:solidFill>
                  <a:srgbClr val="5B6470"/>
                </a:solidFill>
                <a:latin typeface="Arial"/>
                <a:ea typeface="Arial"/>
                <a:cs typeface="Arial"/>
              </a:defRPr>
            </a:pPr>
            <a:r>
              <a:rPr sz="900" b="0">
                <a:solidFill>
                  <a:srgbClr val="5B6470"/>
                </a:solidFill>
                <a:latin typeface="Arial"/>
                <a:ea typeface="Arial"/>
                <a:cs typeface="Arial"/>
              </a:rPr>
              <a:t>Source: did-method-profiles.html at PR head commit</a:t>
            </a:r>
          </a:p>
        </p:txBody>
      </p:sp>
    </p:spTree>
    <p:extLst>
      <p:ext uri="{BB962C8B-B14F-4D97-AF65-F5344CB8AC3E}">
        <p14:creationId xmlns:p14="http://schemas.microsoft.com/office/powerpoint/2010/main" val="179905009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949CD0AA-0360-4331-97AD-0F6537DAAE93}"/>
              </a:ext>
            </a:extLst>
          </p:cNvPr>
          <p:cNvSpPr>
            <a:spLocks xmlns:a="http://schemas.openxmlformats.org/drawingml/2006/main" noGrp="1"/>
          </p:cNvSpPr>
          <p:nvPr/>
        </p:nvSpPr>
        <p:spPr>
          <a:xfrm xmlns:a="http://schemas.openxmlformats.org/drawingml/2006/main">
            <a:off x="514350" y="2667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125" b="1">
                <a:solidFill>
                  <a:srgbClr val="3D8DFF"/>
                </a:solidFill>
                <a:latin typeface="Arial"/>
                <a:ea typeface="Arial"/>
                <a:cs typeface="Arial"/>
              </a:defRPr>
            </a:pPr>
            <a:r>
              <a:rPr sz="1125" b="1">
                <a:solidFill>
                  <a:srgbClr val="3D8DFF"/>
                </a:solidFill>
                <a:latin typeface="Arial"/>
                <a:ea typeface="Arial"/>
                <a:cs typeface="Arial"/>
              </a:rPr>
              <a:t>BINDING PROFILES</a:t>
            </a:r>
          </a:p>
        </p:txBody>
      </p:sp>
      <p:sp>
        <p:nvSpPr>
          <p:cNvPr id="2" name="">
            <a:extLst xmlns:a="http://schemas.openxmlformats.org/drawingml/2006/main">
              <a:ext uri="{FF2B5EF4-FFF2-40B4-BE49-F238E27FC236}">
                <a16:creationId xmlns:a16="http://schemas.microsoft.com/office/drawing/2014/main" id="{4C572EA9-7EA2-4729-A9A7-1DD1D4B3E713}"/>
              </a:ext>
            </a:extLst>
          </p:cNvPr>
          <p:cNvSpPr>
            <a:spLocks xmlns:a="http://schemas.openxmlformats.org/drawingml/2006/main" noGrp="1"/>
          </p:cNvSpPr>
          <p:nvPr/>
        </p:nvSpPr>
        <p:spPr>
          <a:xfrm xmlns:a="http://schemas.openxmlformats.org/drawingml/2006/main">
            <a:off x="514350" y="55245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3525" b="1">
                <a:solidFill>
                  <a:srgbClr val="0B0D10"/>
                </a:solidFill>
                <a:latin typeface="Arial"/>
                <a:ea typeface="Arial"/>
                <a:cs typeface="Arial"/>
              </a:defRPr>
            </a:pPr>
            <a:r>
              <a:rPr sz="3525" b="1">
                <a:solidFill>
                  <a:srgbClr val="0B0D10"/>
                </a:solidFill>
                <a:latin typeface="Arial"/>
                <a:ea typeface="Arial"/>
                <a:cs typeface="Arial"/>
              </a:rPr>
              <a:t>One authentication flow supports three distinct trust models</a:t>
            </a:r>
          </a:p>
        </p:txBody>
      </p:sp>
      <p:sp>
        <p:nvSpPr>
          <p:cNvPr id="3" name="">
            <a:extLst xmlns:a="http://schemas.openxmlformats.org/drawingml/2006/main">
              <a:ext uri="{FF2B5EF4-FFF2-40B4-BE49-F238E27FC236}">
                <a16:creationId xmlns:a16="http://schemas.microsoft.com/office/drawing/2014/main" id="{7EE600E9-C7D2-4107-AE16-6FB32FFC7960}"/>
              </a:ext>
            </a:extLst>
          </p:cNvPr>
          <p:cNvSpPr>
            <a:spLocks xmlns:a="http://schemas.openxmlformats.org/drawingml/2006/main" noGrp="1"/>
          </p:cNvSpPr>
          <p:nvPr/>
        </p:nvSpPr>
        <p:spPr>
          <a:xfrm xmlns:a="http://schemas.openxmlformats.org/drawingml/2006/main">
            <a:off x="514350" y="1352550"/>
            <a:ext cx="111633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2F9D15C3-68D4-49AB-99C9-406F5C493DA1}"/>
              </a:ext>
            </a:extLst>
          </p:cNvPr>
          <p:cNvSpPr>
            <a:spLocks xmlns:a="http://schemas.openxmlformats.org/drawingml/2006/main" noGrp="1"/>
          </p:cNvSpPr>
          <p:nvPr/>
        </p:nvSpPr>
        <p:spPr>
          <a:xfrm xmlns:a="http://schemas.openxmlformats.org/drawingml/2006/main">
            <a:off x="11239500" y="6362700"/>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975" b="0">
                <a:solidFill>
                  <a:srgbClr val="5B6470"/>
                </a:solidFill>
                <a:latin typeface="Arial"/>
                <a:ea typeface="Arial"/>
                <a:cs typeface="Arial"/>
              </a:defRPr>
            </a:pPr>
            <a:r>
              <a:rPr sz="975" b="0">
                <a:solidFill>
                  <a:srgbClr val="5B6470"/>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E3155A9A-BDAE-453A-BC10-79DC87A7FFBD}"/>
              </a:ext>
            </a:extLst>
          </p:cNvPr>
          <p:cNvSpPr>
            <a:spLocks xmlns:a="http://schemas.openxmlformats.org/drawingml/2006/main" noGrp="1"/>
          </p:cNvSpPr>
          <p:nvPr/>
        </p:nvSpPr>
        <p:spPr>
          <a:xfrm xmlns:a="http://schemas.openxmlformats.org/drawingml/2006/main">
            <a:off x="552450" y="16764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050" b="1">
                <a:solidFill>
                  <a:srgbClr val="5B6470"/>
                </a:solidFill>
                <a:latin typeface="Arial"/>
                <a:ea typeface="Arial"/>
                <a:cs typeface="Arial"/>
              </a:defRPr>
            </a:pPr>
            <a:r>
              <a:rPr sz="1050" b="1">
                <a:solidFill>
                  <a:srgbClr val="5B6470"/>
                </a:solidFill>
                <a:latin typeface="Arial"/>
                <a:ea typeface="Arial"/>
                <a:cs typeface="Arial"/>
              </a:rPr>
              <a:t>METHOD</a:t>
            </a:r>
          </a:p>
        </p:txBody>
      </p:sp>
      <p:sp>
        <p:nvSpPr>
          <p:cNvPr id="6" name="">
            <a:extLst xmlns:a="http://schemas.openxmlformats.org/drawingml/2006/main">
              <a:ext uri="{FF2B5EF4-FFF2-40B4-BE49-F238E27FC236}">
                <a16:creationId xmlns:a16="http://schemas.microsoft.com/office/drawing/2014/main" id="{A47D4D16-D1CA-4226-8EDA-A607311F9CB8}"/>
              </a:ext>
            </a:extLst>
          </p:cNvPr>
          <p:cNvSpPr>
            <a:spLocks xmlns:a="http://schemas.openxmlformats.org/drawingml/2006/main" noGrp="1"/>
          </p:cNvSpPr>
          <p:nvPr/>
        </p:nvSpPr>
        <p:spPr>
          <a:xfrm xmlns:a="http://schemas.openxmlformats.org/drawingml/2006/main">
            <a:off x="3857625" y="1676400"/>
            <a:ext cx="2762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050" b="1">
                <a:solidFill>
                  <a:srgbClr val="5B6470"/>
                </a:solidFill>
                <a:latin typeface="Arial"/>
                <a:ea typeface="Arial"/>
                <a:cs typeface="Arial"/>
              </a:defRPr>
            </a:pPr>
            <a:r>
              <a:rPr sz="1050" b="1">
                <a:solidFill>
                  <a:srgbClr val="5B6470"/>
                </a:solidFill>
                <a:latin typeface="Arial"/>
                <a:ea typeface="Arial"/>
                <a:cs typeface="Arial"/>
              </a:rPr>
              <a:t>TRUST BASIS</a:t>
            </a:r>
          </a:p>
        </p:txBody>
      </p:sp>
      <p:sp>
        <p:nvSpPr>
          <p:cNvPr id="7" name="">
            <a:extLst xmlns:a="http://schemas.openxmlformats.org/drawingml/2006/main">
              <a:ext uri="{FF2B5EF4-FFF2-40B4-BE49-F238E27FC236}">
                <a16:creationId xmlns:a16="http://schemas.microsoft.com/office/drawing/2014/main" id="{DE0EBE3B-FFD9-4A71-A6CA-1D35A616CA71}"/>
              </a:ext>
            </a:extLst>
          </p:cNvPr>
          <p:cNvSpPr>
            <a:spLocks xmlns:a="http://schemas.openxmlformats.org/drawingml/2006/main" noGrp="1"/>
          </p:cNvSpPr>
          <p:nvPr/>
        </p:nvSpPr>
        <p:spPr>
          <a:xfrm xmlns:a="http://schemas.openxmlformats.org/drawingml/2006/main">
            <a:off x="7162800" y="167640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050" b="1">
                <a:solidFill>
                  <a:srgbClr val="5B6470"/>
                </a:solidFill>
                <a:latin typeface="Arial"/>
                <a:ea typeface="Arial"/>
                <a:cs typeface="Arial"/>
              </a:defRPr>
            </a:pPr>
            <a:r>
              <a:rPr sz="1050" b="1">
                <a:solidFill>
                  <a:srgbClr val="5B6470"/>
                </a:solidFill>
                <a:latin typeface="Arial"/>
                <a:ea typeface="Arial"/>
                <a:cs typeface="Arial"/>
              </a:rPr>
              <a:t>PROFILE MUST VALIDATE</a:t>
            </a:r>
          </a:p>
        </p:txBody>
      </p:sp>
      <p:sp>
        <p:nvSpPr>
          <p:cNvPr id="8" name="">
            <a:extLst xmlns:a="http://schemas.openxmlformats.org/drawingml/2006/main">
              <a:ext uri="{FF2B5EF4-FFF2-40B4-BE49-F238E27FC236}">
                <a16:creationId xmlns:a16="http://schemas.microsoft.com/office/drawing/2014/main" id="{81EAE865-5DD7-4138-9320-02C62C491ACD}"/>
              </a:ext>
            </a:extLst>
          </p:cNvPr>
          <p:cNvSpPr>
            <a:spLocks xmlns:a="http://schemas.openxmlformats.org/drawingml/2006/main" noGrp="1"/>
          </p:cNvSpPr>
          <p:nvPr/>
        </p:nvSpPr>
        <p:spPr>
          <a:xfrm xmlns:a="http://schemas.openxmlformats.org/drawingml/2006/main">
            <a:off x="552450" y="1981200"/>
            <a:ext cx="10668000" cy="0"/>
          </a:xfrm>
          <a:prstGeom xmlns:a="http://schemas.openxmlformats.org/drawingml/2006/main" prst="line">
            <a:avLst/>
          </a:prstGeom>
          <a:noFill xmlns:a="http://schemas.openxmlformats.org/drawingml/2006/main"/>
          <a:ln xmlns:a="http://schemas.openxmlformats.org/drawingml/2006/main" w="19050">
            <a:solidFill>
              <a:srgbClr val="0B0D10"/>
            </a:solidFill>
            <a:prstDash val="solid"/>
          </a:ln>
        </p:spPr>
      </p:sp>
      <p:sp>
        <p:nvSpPr>
          <p:cNvPr id="9" name="">
            <a:extLst xmlns:a="http://schemas.openxmlformats.org/drawingml/2006/main">
              <a:ext uri="{FF2B5EF4-FFF2-40B4-BE49-F238E27FC236}">
                <a16:creationId xmlns:a16="http://schemas.microsoft.com/office/drawing/2014/main" id="{8BC8436E-D0D4-49A6-938D-B302CB36A93D}"/>
              </a:ext>
            </a:extLst>
          </p:cNvPr>
          <p:cNvSpPr>
            <a:spLocks xmlns:a="http://schemas.openxmlformats.org/drawingml/2006/main" noGrp="1"/>
          </p:cNvSpPr>
          <p:nvPr/>
        </p:nvSpPr>
        <p:spPr>
          <a:xfrm xmlns:a="http://schemas.openxmlformats.org/drawingml/2006/main">
            <a:off x="552450" y="22098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175" b="1">
                <a:solidFill>
                  <a:srgbClr val="3D8DFF"/>
                </a:solidFill>
                <a:latin typeface="Courier New"/>
                <a:ea typeface="Courier New"/>
                <a:cs typeface="Courier New"/>
              </a:defRPr>
            </a:pPr>
            <a:r>
              <a:rPr sz="2175" b="1">
                <a:solidFill>
                  <a:srgbClr val="3D8DFF"/>
                </a:solidFill>
                <a:latin typeface="Courier New"/>
                <a:ea typeface="Courier New"/>
                <a:cs typeface="Courier New"/>
              </a:rPr>
              <a:t>did:wba</a:t>
            </a:r>
          </a:p>
        </p:txBody>
      </p:sp>
      <p:sp>
        <p:nvSpPr>
          <p:cNvPr id="10" name="">
            <a:extLst xmlns:a="http://schemas.openxmlformats.org/drawingml/2006/main">
              <a:ext uri="{FF2B5EF4-FFF2-40B4-BE49-F238E27FC236}">
                <a16:creationId xmlns:a16="http://schemas.microsoft.com/office/drawing/2014/main" id="{1D43E5E7-2512-404D-9287-E0B61DAA54F8}"/>
              </a:ext>
            </a:extLst>
          </p:cNvPr>
          <p:cNvSpPr>
            <a:spLocks xmlns:a="http://schemas.openxmlformats.org/drawingml/2006/main" noGrp="1"/>
          </p:cNvSpPr>
          <p:nvPr/>
        </p:nvSpPr>
        <p:spPr>
          <a:xfrm xmlns:a="http://schemas.openxmlformats.org/drawingml/2006/main">
            <a:off x="3857625" y="2209800"/>
            <a:ext cx="276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1">
                <a:solidFill>
                  <a:srgbClr val="0B0D10"/>
                </a:solidFill>
                <a:latin typeface="Arial"/>
                <a:ea typeface="Arial"/>
                <a:cs typeface="Arial"/>
              </a:defRPr>
            </a:pPr>
            <a:r>
              <a:rPr sz="1650" b="1">
                <a:solidFill>
                  <a:srgbClr val="0B0D10"/>
                </a:solidFill>
                <a:latin typeface="Arial"/>
                <a:ea typeface="Arial"/>
                <a:cs typeface="Arial"/>
              </a:rPr>
              <a:t>DNS + HTTPS + Web PKI</a:t>
            </a:r>
          </a:p>
        </p:txBody>
      </p:sp>
      <p:sp>
        <p:nvSpPr>
          <p:cNvPr id="11" name="">
            <a:extLst xmlns:a="http://schemas.openxmlformats.org/drawingml/2006/main">
              <a:ext uri="{FF2B5EF4-FFF2-40B4-BE49-F238E27FC236}">
                <a16:creationId xmlns:a16="http://schemas.microsoft.com/office/drawing/2014/main" id="{B4B2B206-87D6-48FF-B296-51BD4987D39E}"/>
              </a:ext>
            </a:extLst>
          </p:cNvPr>
          <p:cNvSpPr>
            <a:spLocks xmlns:a="http://schemas.openxmlformats.org/drawingml/2006/main" noGrp="1"/>
          </p:cNvSpPr>
          <p:nvPr/>
        </p:nvSpPr>
        <p:spPr>
          <a:xfrm xmlns:a="http://schemas.openxmlformats.org/drawingml/2006/main">
            <a:off x="7162800" y="2209800"/>
            <a:ext cx="40576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0">
                <a:solidFill>
                  <a:srgbClr val="0B0D10"/>
                </a:solidFill>
                <a:latin typeface="Arial"/>
                <a:ea typeface="Arial"/>
                <a:cs typeface="Arial"/>
              </a:defRPr>
            </a:pPr>
            <a:r>
              <a:rPr sz="1575" b="0">
                <a:solidFill>
                  <a:srgbClr val="0B0D10"/>
                </a:solidFill>
                <a:latin typeface="Arial"/>
                <a:ea typeface="Arial"/>
                <a:cs typeface="Arial"/>
              </a:rPr>
              <a:t>HTTPS resolution; e1_ thumbprint and Data Integrity proof when applicable</a:t>
            </a:r>
          </a:p>
        </p:txBody>
      </p:sp>
      <p:sp>
        <p:nvSpPr>
          <p:cNvPr id="12" name="">
            <a:extLst xmlns:a="http://schemas.openxmlformats.org/drawingml/2006/main">
              <a:ext uri="{FF2B5EF4-FFF2-40B4-BE49-F238E27FC236}">
                <a16:creationId xmlns:a16="http://schemas.microsoft.com/office/drawing/2014/main" id="{002AEEDD-9602-4C15-AA5C-762B0BB9B9E8}"/>
              </a:ext>
            </a:extLst>
          </p:cNvPr>
          <p:cNvSpPr>
            <a:spLocks xmlns:a="http://schemas.openxmlformats.org/drawingml/2006/main" noGrp="1"/>
          </p:cNvSpPr>
          <p:nvPr/>
        </p:nvSpPr>
        <p:spPr>
          <a:xfrm xmlns:a="http://schemas.openxmlformats.org/drawingml/2006/main">
            <a:off x="552450" y="3162300"/>
            <a:ext cx="106680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7DA8DBD4-4C9F-43BA-8678-043B4AC47754}"/>
              </a:ext>
            </a:extLst>
          </p:cNvPr>
          <p:cNvSpPr>
            <a:spLocks xmlns:a="http://schemas.openxmlformats.org/drawingml/2006/main" noGrp="1"/>
          </p:cNvSpPr>
          <p:nvPr/>
        </p:nvSpPr>
        <p:spPr>
          <a:xfrm xmlns:a="http://schemas.openxmlformats.org/drawingml/2006/main">
            <a:off x="552450" y="34290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175" b="1">
                <a:solidFill>
                  <a:srgbClr val="0B0D10"/>
                </a:solidFill>
                <a:latin typeface="Courier New"/>
                <a:ea typeface="Courier New"/>
                <a:cs typeface="Courier New"/>
              </a:defRPr>
            </a:pPr>
            <a:r>
              <a:rPr sz="2175" b="1">
                <a:solidFill>
                  <a:srgbClr val="0B0D10"/>
                </a:solidFill>
                <a:latin typeface="Courier New"/>
                <a:ea typeface="Courier New"/>
                <a:cs typeface="Courier New"/>
              </a:rPr>
              <a:t>did:web</a:t>
            </a:r>
          </a:p>
        </p:txBody>
      </p:sp>
      <p:sp>
        <p:nvSpPr>
          <p:cNvPr id="14" name="">
            <a:extLst xmlns:a="http://schemas.openxmlformats.org/drawingml/2006/main">
              <a:ext uri="{FF2B5EF4-FFF2-40B4-BE49-F238E27FC236}">
                <a16:creationId xmlns:a16="http://schemas.microsoft.com/office/drawing/2014/main" id="{4BDFA142-1165-4DF0-8E6E-49D6E16350F4}"/>
              </a:ext>
            </a:extLst>
          </p:cNvPr>
          <p:cNvSpPr>
            <a:spLocks xmlns:a="http://schemas.openxmlformats.org/drawingml/2006/main" noGrp="1"/>
          </p:cNvSpPr>
          <p:nvPr/>
        </p:nvSpPr>
        <p:spPr>
          <a:xfrm xmlns:a="http://schemas.openxmlformats.org/drawingml/2006/main">
            <a:off x="3857625" y="3429000"/>
            <a:ext cx="276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1">
                <a:solidFill>
                  <a:srgbClr val="0B0D10"/>
                </a:solidFill>
                <a:latin typeface="Arial"/>
                <a:ea typeface="Arial"/>
                <a:cs typeface="Arial"/>
              </a:defRPr>
            </a:pPr>
            <a:r>
              <a:rPr sz="1650" b="1">
                <a:solidFill>
                  <a:srgbClr val="0B0D10"/>
                </a:solidFill>
                <a:latin typeface="Arial"/>
                <a:ea typeface="Arial"/>
                <a:cs typeface="Arial"/>
              </a:rPr>
              <a:t>DNS + HTTPS + Web PKI</a:t>
            </a:r>
          </a:p>
        </p:txBody>
      </p:sp>
      <p:sp>
        <p:nvSpPr>
          <p:cNvPr id="15" name="">
            <a:extLst xmlns:a="http://schemas.openxmlformats.org/drawingml/2006/main">
              <a:ext uri="{FF2B5EF4-FFF2-40B4-BE49-F238E27FC236}">
                <a16:creationId xmlns:a16="http://schemas.microsoft.com/office/drawing/2014/main" id="{37354A00-2B61-4847-8037-E90AABABD74E}"/>
              </a:ext>
            </a:extLst>
          </p:cNvPr>
          <p:cNvSpPr>
            <a:spLocks xmlns:a="http://schemas.openxmlformats.org/drawingml/2006/main" noGrp="1"/>
          </p:cNvSpPr>
          <p:nvPr/>
        </p:nvSpPr>
        <p:spPr>
          <a:xfrm xmlns:a="http://schemas.openxmlformats.org/drawingml/2006/main">
            <a:off x="7162800" y="3429000"/>
            <a:ext cx="40576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0">
                <a:solidFill>
                  <a:srgbClr val="0B0D10"/>
                </a:solidFill>
                <a:latin typeface="Arial"/>
                <a:ea typeface="Arial"/>
                <a:cs typeface="Arial"/>
              </a:defRPr>
            </a:pPr>
            <a:r>
              <a:rPr sz="1575" b="0">
                <a:solidFill>
                  <a:srgbClr val="0B0D10"/>
                </a:solidFill>
                <a:latin typeface="Arial"/>
                <a:ea typeface="Arial"/>
                <a:cs typeface="Arial"/>
              </a:rPr>
              <a:t>Native did:web resolution; no did:wba-specific fingerprint or proof</a:t>
            </a:r>
          </a:p>
        </p:txBody>
      </p:sp>
      <p:sp>
        <p:nvSpPr>
          <p:cNvPr id="16" name="">
            <a:extLst xmlns:a="http://schemas.openxmlformats.org/drawingml/2006/main">
              <a:ext uri="{FF2B5EF4-FFF2-40B4-BE49-F238E27FC236}">
                <a16:creationId xmlns:a16="http://schemas.microsoft.com/office/drawing/2014/main" id="{9555D4CE-CF41-4053-8336-67124E685132}"/>
              </a:ext>
            </a:extLst>
          </p:cNvPr>
          <p:cNvSpPr>
            <a:spLocks xmlns:a="http://schemas.openxmlformats.org/drawingml/2006/main" noGrp="1"/>
          </p:cNvSpPr>
          <p:nvPr/>
        </p:nvSpPr>
        <p:spPr>
          <a:xfrm xmlns:a="http://schemas.openxmlformats.org/drawingml/2006/main">
            <a:off x="552450" y="4381500"/>
            <a:ext cx="106680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17" name="">
            <a:extLst xmlns:a="http://schemas.openxmlformats.org/drawingml/2006/main">
              <a:ext uri="{FF2B5EF4-FFF2-40B4-BE49-F238E27FC236}">
                <a16:creationId xmlns:a16="http://schemas.microsoft.com/office/drawing/2014/main" id="{D14D173A-A300-47DF-BBAD-11330F681E31}"/>
              </a:ext>
            </a:extLst>
          </p:cNvPr>
          <p:cNvSpPr>
            <a:spLocks xmlns:a="http://schemas.openxmlformats.org/drawingml/2006/main" noGrp="1"/>
          </p:cNvSpPr>
          <p:nvPr/>
        </p:nvSpPr>
        <p:spPr>
          <a:xfrm xmlns:a="http://schemas.openxmlformats.org/drawingml/2006/main">
            <a:off x="552450" y="46482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175" b="1">
                <a:solidFill>
                  <a:srgbClr val="0B0D10"/>
                </a:solidFill>
                <a:latin typeface="Courier New"/>
                <a:ea typeface="Courier New"/>
                <a:cs typeface="Courier New"/>
              </a:defRPr>
            </a:pPr>
            <a:r>
              <a:rPr sz="2175" b="1">
                <a:solidFill>
                  <a:srgbClr val="0B0D10"/>
                </a:solidFill>
                <a:latin typeface="Courier New"/>
                <a:ea typeface="Courier New"/>
                <a:cs typeface="Courier New"/>
              </a:rPr>
              <a:t>did:webvh</a:t>
            </a:r>
          </a:p>
        </p:txBody>
      </p:sp>
      <p:sp>
        <p:nvSpPr>
          <p:cNvPr id="18" name="">
            <a:extLst xmlns:a="http://schemas.openxmlformats.org/drawingml/2006/main">
              <a:ext uri="{FF2B5EF4-FFF2-40B4-BE49-F238E27FC236}">
                <a16:creationId xmlns:a16="http://schemas.microsoft.com/office/drawing/2014/main" id="{563E1072-D74D-45AC-9AFA-E6F75A58460B}"/>
              </a:ext>
            </a:extLst>
          </p:cNvPr>
          <p:cNvSpPr>
            <a:spLocks xmlns:a="http://schemas.openxmlformats.org/drawingml/2006/main" noGrp="1"/>
          </p:cNvSpPr>
          <p:nvPr/>
        </p:nvSpPr>
        <p:spPr>
          <a:xfrm xmlns:a="http://schemas.openxmlformats.org/drawingml/2006/main">
            <a:off x="3857625" y="4648200"/>
            <a:ext cx="276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1">
                <a:solidFill>
                  <a:srgbClr val="0B0D10"/>
                </a:solidFill>
                <a:latin typeface="Arial"/>
                <a:ea typeface="Arial"/>
                <a:cs typeface="Arial"/>
              </a:defRPr>
            </a:pPr>
            <a:r>
              <a:rPr sz="1650" b="1">
                <a:solidFill>
                  <a:srgbClr val="0B0D10"/>
                </a:solidFill>
                <a:latin typeface="Arial"/>
                <a:ea typeface="Arial"/>
                <a:cs typeface="Arial"/>
              </a:rPr>
              <a:t>SCID + verifiable history</a:t>
            </a:r>
          </a:p>
        </p:txBody>
      </p:sp>
      <p:sp>
        <p:nvSpPr>
          <p:cNvPr id="19" name="">
            <a:extLst xmlns:a="http://schemas.openxmlformats.org/drawingml/2006/main">
              <a:ext uri="{FF2B5EF4-FFF2-40B4-BE49-F238E27FC236}">
                <a16:creationId xmlns:a16="http://schemas.microsoft.com/office/drawing/2014/main" id="{2C0ACA89-1164-4660-BA8F-04D920AFF130}"/>
              </a:ext>
            </a:extLst>
          </p:cNvPr>
          <p:cNvSpPr>
            <a:spLocks xmlns:a="http://schemas.openxmlformats.org/drawingml/2006/main" noGrp="1"/>
          </p:cNvSpPr>
          <p:nvPr/>
        </p:nvSpPr>
        <p:spPr>
          <a:xfrm xmlns:a="http://schemas.openxmlformats.org/drawingml/2006/main">
            <a:off x="7162800" y="4648200"/>
            <a:ext cx="40576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0">
                <a:solidFill>
                  <a:srgbClr val="0B0D10"/>
                </a:solidFill>
                <a:latin typeface="Arial"/>
                <a:ea typeface="Arial"/>
                <a:cs typeface="Arial"/>
              </a:defRPr>
            </a:pPr>
            <a:r>
              <a:rPr sz="1575" b="0">
                <a:solidFill>
                  <a:srgbClr val="0B0D10"/>
                </a:solidFill>
                <a:latin typeface="Arial"/>
                <a:ea typeface="Arial"/>
                <a:cs typeface="Arial"/>
              </a:rPr>
              <a:t>Hash-linked update log, authorization, version, and deactivation state</a:t>
            </a:r>
          </a:p>
        </p:txBody>
      </p:sp>
      <p:sp>
        <p:nvSpPr>
          <p:cNvPr id="20" name="">
            <a:extLst xmlns:a="http://schemas.openxmlformats.org/drawingml/2006/main">
              <a:ext uri="{FF2B5EF4-FFF2-40B4-BE49-F238E27FC236}">
                <a16:creationId xmlns:a16="http://schemas.microsoft.com/office/drawing/2014/main" id="{BBCA51D9-D14C-4883-A71F-B9D0CF2EFCD2}"/>
              </a:ext>
            </a:extLst>
          </p:cNvPr>
          <p:cNvSpPr>
            <a:spLocks xmlns:a="http://schemas.openxmlformats.org/drawingml/2006/main" noGrp="1"/>
          </p:cNvSpPr>
          <p:nvPr/>
        </p:nvSpPr>
        <p:spPr>
          <a:xfrm xmlns:a="http://schemas.openxmlformats.org/drawingml/2006/main">
            <a:off x="552450" y="5600700"/>
            <a:ext cx="106680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21" name="">
            <a:extLst xmlns:a="http://schemas.openxmlformats.org/drawingml/2006/main">
              <a:ext uri="{FF2B5EF4-FFF2-40B4-BE49-F238E27FC236}">
                <a16:creationId xmlns:a16="http://schemas.microsoft.com/office/drawing/2014/main" id="{B67863A3-56F3-42FE-B6AD-E59777F8302A}"/>
              </a:ext>
            </a:extLst>
          </p:cNvPr>
          <p:cNvSpPr>
            <a:spLocks xmlns:a="http://schemas.openxmlformats.org/drawingml/2006/main" noGrp="1"/>
          </p:cNvSpPr>
          <p:nvPr/>
        </p:nvSpPr>
        <p:spPr>
          <a:xfrm xmlns:a="http://schemas.openxmlformats.org/drawingml/2006/main">
            <a:off x="552450" y="5810250"/>
            <a:ext cx="10668000" cy="419100"/>
          </a:xfrm>
          <a:prstGeom xmlns:a="http://schemas.openxmlformats.org/drawingml/2006/main" prst="rect">
            <a:avLst/>
          </a:prstGeom>
          <a:solidFill xmlns:a="http://schemas.openxmlformats.org/drawingml/2006/main">
            <a:srgbClr val="EAF5FB"/>
          </a:solidFill>
          <a:ln xmlns:a="http://schemas.openxmlformats.org/drawingml/2006/main" w="9525">
            <a:solidFill>
              <a:srgbClr val="D0EDFA"/>
            </a:solidFill>
            <a:prstDash val="solid"/>
          </a:ln>
        </p:spPr>
      </p:sp>
      <p:sp>
        <p:nvSpPr>
          <p:cNvPr id="22" name="">
            <a:extLst xmlns:a="http://schemas.openxmlformats.org/drawingml/2006/main">
              <a:ext uri="{FF2B5EF4-FFF2-40B4-BE49-F238E27FC236}">
                <a16:creationId xmlns:a16="http://schemas.microsoft.com/office/drawing/2014/main" id="{E6A748BA-37D0-4674-ADA0-03BC49207B48}"/>
              </a:ext>
            </a:extLst>
          </p:cNvPr>
          <p:cNvSpPr>
            <a:spLocks xmlns:a="http://schemas.openxmlformats.org/drawingml/2006/main" noGrp="1"/>
          </p:cNvSpPr>
          <p:nvPr/>
        </p:nvSpPr>
        <p:spPr>
          <a:xfrm xmlns:a="http://schemas.openxmlformats.org/drawingml/2006/main">
            <a:off x="762000" y="5915025"/>
            <a:ext cx="1009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575" b="1">
                <a:solidFill>
                  <a:srgbClr val="3D8DFF"/>
                </a:solidFill>
                <a:latin typeface="Arial"/>
                <a:ea typeface="Arial"/>
                <a:cs typeface="Arial"/>
              </a:defRPr>
            </a:pPr>
            <a:r>
              <a:rPr sz="1575" b="1">
                <a:solidFill>
                  <a:srgbClr val="3D8DFF"/>
                </a:solidFill>
                <a:latin typeface="Arial"/>
                <a:ea typeface="Arial"/>
                <a:cs typeface="Arial"/>
              </a:rPr>
              <a:t>Shared protocol does not mean shared security assumptions.</a:t>
            </a:r>
          </a:p>
        </p:txBody>
      </p:sp>
    </p:spTree>
    <p:extLst>
      <p:ext uri="{BB962C8B-B14F-4D97-AF65-F5344CB8AC3E}">
        <p14:creationId xmlns:p14="http://schemas.microsoft.com/office/powerpoint/2010/main" val="90649281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A96B0F3-43D1-45BF-85FD-BA61B8382876}"/>
              </a:ext>
            </a:extLst>
          </p:cNvPr>
          <p:cNvSpPr>
            <a:spLocks xmlns:a="http://schemas.openxmlformats.org/drawingml/2006/main" noGrp="1"/>
          </p:cNvSpPr>
          <p:nvPr/>
        </p:nvSpPr>
        <p:spPr>
          <a:xfrm xmlns:a="http://schemas.openxmlformats.org/drawingml/2006/main">
            <a:off x="514350" y="2667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125" b="1">
                <a:solidFill>
                  <a:srgbClr val="3D8DFF"/>
                </a:solidFill>
                <a:latin typeface="Arial"/>
                <a:ea typeface="Arial"/>
                <a:cs typeface="Arial"/>
              </a:defRPr>
            </a:pPr>
            <a:r>
              <a:rPr sz="1125" b="1">
                <a:solidFill>
                  <a:srgbClr val="3D8DFF"/>
                </a:solidFill>
                <a:latin typeface="Arial"/>
                <a:ea typeface="Arial"/>
                <a:cs typeface="Arial"/>
              </a:rPr>
              <a:t>FILE 3 OF 5</a:t>
            </a:r>
          </a:p>
        </p:txBody>
      </p:sp>
      <p:sp>
        <p:nvSpPr>
          <p:cNvPr id="2" name="">
            <a:extLst xmlns:a="http://schemas.openxmlformats.org/drawingml/2006/main">
              <a:ext uri="{FF2B5EF4-FFF2-40B4-BE49-F238E27FC236}">
                <a16:creationId xmlns:a16="http://schemas.microsoft.com/office/drawing/2014/main" id="{EBBACF2A-AA2A-4518-BA84-2474F1FE292D}"/>
              </a:ext>
            </a:extLst>
          </p:cNvPr>
          <p:cNvSpPr>
            <a:spLocks xmlns:a="http://schemas.openxmlformats.org/drawingml/2006/main" noGrp="1"/>
          </p:cNvSpPr>
          <p:nvPr/>
        </p:nvSpPr>
        <p:spPr>
          <a:xfrm xmlns:a="http://schemas.openxmlformats.org/drawingml/2006/main">
            <a:off x="514350" y="55245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3525" b="1">
                <a:solidFill>
                  <a:srgbClr val="0B0D10"/>
                </a:solidFill>
                <a:latin typeface="Arial"/>
                <a:ea typeface="Arial"/>
                <a:cs typeface="Arial"/>
              </a:defRPr>
            </a:pPr>
            <a:r>
              <a:rPr sz="3525" b="1">
                <a:solidFill>
                  <a:srgbClr val="0B0D10"/>
                </a:solidFill>
                <a:latin typeface="Arial"/>
                <a:ea typeface="Arial"/>
                <a:cs typeface="Arial"/>
              </a:rPr>
              <a:t>did:wba is now a standalone DID method</a:t>
            </a:r>
          </a:p>
        </p:txBody>
      </p:sp>
      <p:sp>
        <p:nvSpPr>
          <p:cNvPr id="3" name="">
            <a:extLst xmlns:a="http://schemas.openxmlformats.org/drawingml/2006/main">
              <a:ext uri="{FF2B5EF4-FFF2-40B4-BE49-F238E27FC236}">
                <a16:creationId xmlns:a16="http://schemas.microsoft.com/office/drawing/2014/main" id="{B100F8A6-5ADA-4D8A-9544-731BBC02ACA8}"/>
              </a:ext>
            </a:extLst>
          </p:cNvPr>
          <p:cNvSpPr>
            <a:spLocks xmlns:a="http://schemas.openxmlformats.org/drawingml/2006/main" noGrp="1"/>
          </p:cNvSpPr>
          <p:nvPr/>
        </p:nvSpPr>
        <p:spPr>
          <a:xfrm xmlns:a="http://schemas.openxmlformats.org/drawingml/2006/main">
            <a:off x="514350" y="1352550"/>
            <a:ext cx="111633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B132BABF-CB03-4686-BF42-A69DC39409E1}"/>
              </a:ext>
            </a:extLst>
          </p:cNvPr>
          <p:cNvSpPr>
            <a:spLocks xmlns:a="http://schemas.openxmlformats.org/drawingml/2006/main" noGrp="1"/>
          </p:cNvSpPr>
          <p:nvPr/>
        </p:nvSpPr>
        <p:spPr>
          <a:xfrm xmlns:a="http://schemas.openxmlformats.org/drawingml/2006/main">
            <a:off x="11239500" y="6362700"/>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975" b="0">
                <a:solidFill>
                  <a:srgbClr val="5B6470"/>
                </a:solidFill>
                <a:latin typeface="Arial"/>
                <a:ea typeface="Arial"/>
                <a:cs typeface="Arial"/>
              </a:defRPr>
            </a:pPr>
            <a:r>
              <a:rPr sz="975" b="0">
                <a:solidFill>
                  <a:srgbClr val="5B6470"/>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37708846-C876-4D82-9FD0-25442512CA15}"/>
              </a:ext>
            </a:extLst>
          </p:cNvPr>
          <p:cNvSpPr>
            <a:spLocks xmlns:a="http://schemas.openxmlformats.org/drawingml/2006/main" noGrp="1"/>
          </p:cNvSpPr>
          <p:nvPr/>
        </p:nvSpPr>
        <p:spPr>
          <a:xfrm xmlns:a="http://schemas.openxmlformats.org/drawingml/2006/main">
            <a:off x="495300" y="1562100"/>
            <a:ext cx="7429500" cy="4514850"/>
          </a:xfrm>
          <a:prstGeom xmlns:a="http://schemas.openxmlformats.org/drawingml/2006/main" prst="roundRect">
            <a:avLst>
              <a:gd name="adj" fmla="val 2532"/>
            </a:avLst>
          </a:prstGeom>
          <a:solidFill xmlns:a="http://schemas.openxmlformats.org/drawingml/2006/main">
            <a:srgbClr val="0D1117"/>
          </a:solidFill>
          <a:ln xmlns:a="http://schemas.openxmlformats.org/drawingml/2006/main" w="9525">
            <a:solidFill>
              <a:srgbClr val="0D1117"/>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8cf51dbb14d8440b"/>
          <a:stretch xmlns:a="http://schemas.openxmlformats.org/drawingml/2006/main"/>
        </p:blipFill>
        <p:spPr>
          <a:xfrm xmlns:a="http://schemas.openxmlformats.org/drawingml/2006/main">
            <a:off x="1636297" y="1676400"/>
            <a:ext cx="5147506" cy="4286250"/>
          </a:xfrm>
          <a:prstGeom xmlns:a="http://schemas.openxmlformats.org/drawingml/2006/main" prst="roundRect">
            <a:avLst>
              <a:gd name="adj" fmla="val 2667"/>
            </a:avLst>
          </a:prstGeom>
        </p:spPr>
      </p:pic>
      <p:sp>
        <p:nvSpPr>
          <p:cNvPr id="7" name="">
            <a:extLst xmlns:a="http://schemas.openxmlformats.org/drawingml/2006/main">
              <a:ext uri="{FF2B5EF4-FFF2-40B4-BE49-F238E27FC236}">
                <a16:creationId xmlns:a16="http://schemas.microsoft.com/office/drawing/2014/main" id="{A7AC78E0-F07E-45DF-A832-0E1B1097D166}"/>
              </a:ext>
            </a:extLst>
          </p:cNvPr>
          <p:cNvSpPr>
            <a:spLocks xmlns:a="http://schemas.openxmlformats.org/drawingml/2006/main" noGrp="1"/>
          </p:cNvSpPr>
          <p:nvPr/>
        </p:nvSpPr>
        <p:spPr>
          <a:xfrm xmlns:a="http://schemas.openxmlformats.org/drawingml/2006/main">
            <a:off x="8286750" y="175260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050" b="1">
                <a:solidFill>
                  <a:srgbClr val="3D8DFF"/>
                </a:solidFill>
                <a:latin typeface="Arial"/>
                <a:ea typeface="Arial"/>
                <a:cs typeface="Arial"/>
              </a:defRPr>
            </a:pPr>
            <a:r>
              <a:rPr sz="1050" b="1">
                <a:solidFill>
                  <a:srgbClr val="3D8DFF"/>
                </a:solidFill>
                <a:latin typeface="Arial"/>
                <a:ea typeface="Arial"/>
                <a:cs typeface="Arial"/>
              </a:rPr>
              <a:t>THE E1_ PROFILE</a:t>
            </a:r>
          </a:p>
        </p:txBody>
      </p:sp>
      <p:sp>
        <p:nvSpPr>
          <p:cNvPr id="8" name="">
            <a:extLst xmlns:a="http://schemas.openxmlformats.org/drawingml/2006/main">
              <a:ext uri="{FF2B5EF4-FFF2-40B4-BE49-F238E27FC236}">
                <a16:creationId xmlns:a16="http://schemas.microsoft.com/office/drawing/2014/main" id="{FAEB5ED3-AC56-421D-B8EC-4E72FE119DF1}"/>
              </a:ext>
            </a:extLst>
          </p:cNvPr>
          <p:cNvSpPr>
            <a:spLocks xmlns:a="http://schemas.openxmlformats.org/drawingml/2006/main" noGrp="1"/>
          </p:cNvSpPr>
          <p:nvPr/>
        </p:nvSpPr>
        <p:spPr>
          <a:xfrm xmlns:a="http://schemas.openxmlformats.org/drawingml/2006/main">
            <a:off x="8286750" y="2152650"/>
            <a:ext cx="31051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875" b="1">
                <a:solidFill>
                  <a:srgbClr val="0B0D10"/>
                </a:solidFill>
                <a:latin typeface="Arial"/>
                <a:ea typeface="Arial"/>
                <a:cs typeface="Arial"/>
              </a:defRPr>
            </a:pPr>
            <a:r>
              <a:rPr sz="1875" b="1">
                <a:solidFill>
                  <a:srgbClr val="0B0D10"/>
                </a:solidFill>
                <a:latin typeface="Arial"/>
                <a:ea typeface="Arial"/>
                <a:cs typeface="Arial"/>
              </a:rPr>
              <a:t>Path contains an Ed25519 key thumbprint</a:t>
            </a:r>
          </a:p>
        </p:txBody>
      </p:sp>
      <p:sp>
        <p:nvSpPr>
          <p:cNvPr id="9" name="">
            <a:extLst xmlns:a="http://schemas.openxmlformats.org/drawingml/2006/main">
              <a:ext uri="{FF2B5EF4-FFF2-40B4-BE49-F238E27FC236}">
                <a16:creationId xmlns:a16="http://schemas.microsoft.com/office/drawing/2014/main" id="{61525BE5-B727-442E-B82F-4A5332C2A274}"/>
              </a:ext>
            </a:extLst>
          </p:cNvPr>
          <p:cNvSpPr>
            <a:spLocks xmlns:a="http://schemas.openxmlformats.org/drawingml/2006/main" noGrp="1"/>
          </p:cNvSpPr>
          <p:nvPr/>
        </p:nvSpPr>
        <p:spPr>
          <a:xfrm xmlns:a="http://schemas.openxmlformats.org/drawingml/2006/main">
            <a:off x="9525000" y="283845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2100" b="1">
                <a:solidFill>
                  <a:srgbClr val="3D8DFF"/>
                </a:solidFill>
                <a:latin typeface="Arial"/>
                <a:ea typeface="Arial"/>
                <a:cs typeface="Arial"/>
              </a:defRPr>
            </a:pPr>
            <a:r>
              <a:rPr sz="2100" b="1">
                <a:solidFill>
                  <a:srgbClr val="3D8DFF"/>
                </a:solidFill>
                <a:latin typeface="Arial"/>
                <a:ea typeface="Arial"/>
                <a:cs typeface="Arial"/>
              </a:rPr>
              <a:t>↓</a:t>
            </a:r>
          </a:p>
        </p:txBody>
      </p:sp>
      <p:sp>
        <p:nvSpPr>
          <p:cNvPr id="10" name="">
            <a:extLst xmlns:a="http://schemas.openxmlformats.org/drawingml/2006/main">
              <a:ext uri="{FF2B5EF4-FFF2-40B4-BE49-F238E27FC236}">
                <a16:creationId xmlns:a16="http://schemas.microsoft.com/office/drawing/2014/main" id="{A74FF2B4-B1F0-4961-965C-070557DB2AB2}"/>
              </a:ext>
            </a:extLst>
          </p:cNvPr>
          <p:cNvSpPr>
            <a:spLocks xmlns:a="http://schemas.openxmlformats.org/drawingml/2006/main" noGrp="1"/>
          </p:cNvSpPr>
          <p:nvPr/>
        </p:nvSpPr>
        <p:spPr>
          <a:xfrm xmlns:a="http://schemas.openxmlformats.org/drawingml/2006/main">
            <a:off x="8286750" y="3257550"/>
            <a:ext cx="31051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725" b="1">
                <a:solidFill>
                  <a:srgbClr val="0B0D10"/>
                </a:solidFill>
                <a:latin typeface="Arial"/>
                <a:ea typeface="Arial"/>
                <a:cs typeface="Arial"/>
              </a:defRPr>
            </a:pPr>
            <a:r>
              <a:rPr sz="1725" b="1">
                <a:solidFill>
                  <a:srgbClr val="0B0D10"/>
                </a:solidFill>
                <a:latin typeface="Arial"/>
                <a:ea typeface="Arial"/>
                <a:cs typeface="Arial"/>
              </a:rPr>
              <a:t>Verifier recomputes the RFC 7638 thumbprint</a:t>
            </a:r>
          </a:p>
        </p:txBody>
      </p:sp>
      <p:sp>
        <p:nvSpPr>
          <p:cNvPr id="11" name="">
            <a:extLst xmlns:a="http://schemas.openxmlformats.org/drawingml/2006/main">
              <a:ext uri="{FF2B5EF4-FFF2-40B4-BE49-F238E27FC236}">
                <a16:creationId xmlns:a16="http://schemas.microsoft.com/office/drawing/2014/main" id="{DC68BDAF-58CF-42A0-A37C-F2C7C97ED1D1}"/>
              </a:ext>
            </a:extLst>
          </p:cNvPr>
          <p:cNvSpPr>
            <a:spLocks xmlns:a="http://schemas.openxmlformats.org/drawingml/2006/main" noGrp="1"/>
          </p:cNvSpPr>
          <p:nvPr/>
        </p:nvSpPr>
        <p:spPr>
          <a:xfrm xmlns:a="http://schemas.openxmlformats.org/drawingml/2006/main">
            <a:off x="9525000" y="394335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2100" b="1">
                <a:solidFill>
                  <a:srgbClr val="3D8DFF"/>
                </a:solidFill>
                <a:latin typeface="Arial"/>
                <a:ea typeface="Arial"/>
                <a:cs typeface="Arial"/>
              </a:defRPr>
            </a:pPr>
            <a:r>
              <a:rPr sz="2100" b="1">
                <a:solidFill>
                  <a:srgbClr val="3D8DFF"/>
                </a:solidFill>
                <a:latin typeface="Arial"/>
                <a:ea typeface="Arial"/>
                <a:cs typeface="Arial"/>
              </a:rPr>
              <a:t>↓</a:t>
            </a:r>
          </a:p>
        </p:txBody>
      </p:sp>
      <p:sp>
        <p:nvSpPr>
          <p:cNvPr id="12" name="">
            <a:extLst xmlns:a="http://schemas.openxmlformats.org/drawingml/2006/main">
              <a:ext uri="{FF2B5EF4-FFF2-40B4-BE49-F238E27FC236}">
                <a16:creationId xmlns:a16="http://schemas.microsoft.com/office/drawing/2014/main" id="{E55D9BAB-0D04-4C0F-B290-E756AFC2E608}"/>
              </a:ext>
            </a:extLst>
          </p:cNvPr>
          <p:cNvSpPr>
            <a:spLocks xmlns:a="http://schemas.openxmlformats.org/drawingml/2006/main" noGrp="1"/>
          </p:cNvSpPr>
          <p:nvPr/>
        </p:nvSpPr>
        <p:spPr>
          <a:xfrm xmlns:a="http://schemas.openxmlformats.org/drawingml/2006/main">
            <a:off x="8286750" y="4362450"/>
            <a:ext cx="31051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725" b="1">
                <a:solidFill>
                  <a:srgbClr val="0B0D10"/>
                </a:solidFill>
                <a:latin typeface="Arial"/>
                <a:ea typeface="Arial"/>
                <a:cs typeface="Arial"/>
              </a:defRPr>
            </a:pPr>
            <a:r>
              <a:rPr sz="1725" b="1">
                <a:solidFill>
                  <a:srgbClr val="0B0D10"/>
                </a:solidFill>
                <a:latin typeface="Arial"/>
                <a:ea typeface="Arial"/>
                <a:cs typeface="Arial"/>
              </a:rPr>
              <a:t>DID Document proof binds the document to the key</a:t>
            </a:r>
          </a:p>
        </p:txBody>
      </p:sp>
      <p:sp>
        <p:nvSpPr>
          <p:cNvPr id="13" name="">
            <a:extLst xmlns:a="http://schemas.openxmlformats.org/drawingml/2006/main">
              <a:ext uri="{FF2B5EF4-FFF2-40B4-BE49-F238E27FC236}">
                <a16:creationId xmlns:a16="http://schemas.microsoft.com/office/drawing/2014/main" id="{381F7F90-7C23-49AE-A82F-2D5017882F3A}"/>
              </a:ext>
            </a:extLst>
          </p:cNvPr>
          <p:cNvSpPr>
            <a:spLocks xmlns:a="http://schemas.openxmlformats.org/drawingml/2006/main" noGrp="1"/>
          </p:cNvSpPr>
          <p:nvPr/>
        </p:nvSpPr>
        <p:spPr>
          <a:xfrm xmlns:a="http://schemas.openxmlformats.org/drawingml/2006/main">
            <a:off x="8286750" y="5143500"/>
            <a:ext cx="3105150" cy="6667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sp>
      <p:sp>
        <p:nvSpPr>
          <p:cNvPr id="14" name="">
            <a:extLst xmlns:a="http://schemas.openxmlformats.org/drawingml/2006/main">
              <a:ext uri="{FF2B5EF4-FFF2-40B4-BE49-F238E27FC236}">
                <a16:creationId xmlns:a16="http://schemas.microsoft.com/office/drawing/2014/main" id="{E406B02F-C856-4E74-A945-F0425298D2D9}"/>
              </a:ext>
            </a:extLst>
          </p:cNvPr>
          <p:cNvSpPr>
            <a:spLocks xmlns:a="http://schemas.openxmlformats.org/drawingml/2006/main" noGrp="1"/>
          </p:cNvSpPr>
          <p:nvPr/>
        </p:nvSpPr>
        <p:spPr>
          <a:xfrm xmlns:a="http://schemas.openxmlformats.org/drawingml/2006/main">
            <a:off x="8458200" y="5276850"/>
            <a:ext cx="2762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75" b="0">
                <a:solidFill>
                  <a:srgbClr val="5B6470"/>
                </a:solidFill>
                <a:latin typeface="Arial"/>
                <a:ea typeface="Arial"/>
                <a:cs typeface="Arial"/>
              </a:defRPr>
            </a:pPr>
            <a:r>
              <a:rPr sz="1275" b="0">
                <a:solidFill>
                  <a:srgbClr val="5B6470"/>
                </a:solidFill>
                <a:latin typeface="Arial"/>
                <a:ea typeface="Arial"/>
                <a:cs typeface="Arial"/>
              </a:rPr>
              <a:t>Binding-key rotation changes the path DID.</a:t>
            </a:r>
          </a:p>
        </p:txBody>
      </p:sp>
      <p:sp>
        <p:nvSpPr>
          <p:cNvPr id="15" name="">
            <a:extLst xmlns:a="http://schemas.openxmlformats.org/drawingml/2006/main">
              <a:ext uri="{FF2B5EF4-FFF2-40B4-BE49-F238E27FC236}">
                <a16:creationId xmlns:a16="http://schemas.microsoft.com/office/drawing/2014/main" id="{C62F715E-B49F-4C4B-AC2F-B4F8119008E6}"/>
              </a:ext>
            </a:extLst>
          </p:cNvPr>
          <p:cNvSpPr>
            <a:spLocks xmlns:a="http://schemas.openxmlformats.org/drawingml/2006/main" noGrp="1"/>
          </p:cNvSpPr>
          <p:nvPr/>
        </p:nvSpPr>
        <p:spPr>
          <a:xfrm xmlns:a="http://schemas.openxmlformats.org/drawingml/2006/main">
            <a:off x="514350" y="6381750"/>
            <a:ext cx="9906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0">
                <a:solidFill>
                  <a:srgbClr val="5B6470"/>
                </a:solidFill>
                <a:latin typeface="Arial"/>
                <a:ea typeface="Arial"/>
                <a:cs typeface="Arial"/>
              </a:defRPr>
            </a:pPr>
            <a:r>
              <a:rPr sz="900" b="0">
                <a:solidFill>
                  <a:srgbClr val="5B6470"/>
                </a:solidFill>
                <a:latin typeface="Arial"/>
                <a:ea typeface="Arial"/>
                <a:cs typeface="Arial"/>
              </a:rPr>
              <a:t>Source: did-wba.html at PR head commit</a:t>
            </a:r>
          </a:p>
        </p:txBody>
      </p:sp>
    </p:spTree>
    <p:extLst>
      <p:ext uri="{BB962C8B-B14F-4D97-AF65-F5344CB8AC3E}">
        <p14:creationId xmlns:p14="http://schemas.microsoft.com/office/powerpoint/2010/main" val="125189201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1784C95-13D5-48ED-B4DB-1D9A10B89E15}"/>
              </a:ext>
            </a:extLst>
          </p:cNvPr>
          <p:cNvSpPr>
            <a:spLocks xmlns:a="http://schemas.openxmlformats.org/drawingml/2006/main" noGrp="1"/>
          </p:cNvSpPr>
          <p:nvPr/>
        </p:nvSpPr>
        <p:spPr>
          <a:xfrm xmlns:a="http://schemas.openxmlformats.org/drawingml/2006/main">
            <a:off x="514350" y="2667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125" b="1">
                <a:solidFill>
                  <a:srgbClr val="3D8DFF"/>
                </a:solidFill>
                <a:latin typeface="Arial"/>
                <a:ea typeface="Arial"/>
                <a:cs typeface="Arial"/>
              </a:defRPr>
            </a:pPr>
            <a:r>
              <a:rPr sz="1125" b="1">
                <a:solidFill>
                  <a:srgbClr val="3D8DFF"/>
                </a:solidFill>
                <a:latin typeface="Arial"/>
                <a:ea typeface="Arial"/>
                <a:cs typeface="Arial"/>
              </a:rPr>
              <a:t>FILE 4 OF 5</a:t>
            </a:r>
          </a:p>
        </p:txBody>
      </p:sp>
      <p:sp>
        <p:nvSpPr>
          <p:cNvPr id="2" name="">
            <a:extLst xmlns:a="http://schemas.openxmlformats.org/drawingml/2006/main">
              <a:ext uri="{FF2B5EF4-FFF2-40B4-BE49-F238E27FC236}">
                <a16:creationId xmlns:a16="http://schemas.microsoft.com/office/drawing/2014/main" id="{CAE234BA-FB76-44B6-84DC-C170788B3678}"/>
              </a:ext>
            </a:extLst>
          </p:cNvPr>
          <p:cNvSpPr>
            <a:spLocks xmlns:a="http://schemas.openxmlformats.org/drawingml/2006/main" noGrp="1"/>
          </p:cNvSpPr>
          <p:nvPr/>
        </p:nvSpPr>
        <p:spPr>
          <a:xfrm xmlns:a="http://schemas.openxmlformats.org/drawingml/2006/main">
            <a:off x="514350" y="55245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3525" b="1">
                <a:solidFill>
                  <a:srgbClr val="0B0D10"/>
                </a:solidFill>
                <a:latin typeface="Arial"/>
                <a:ea typeface="Arial"/>
                <a:cs typeface="Arial"/>
              </a:defRPr>
            </a:pPr>
            <a:r>
              <a:rPr sz="3525" b="1">
                <a:solidFill>
                  <a:srgbClr val="0B0D10"/>
                </a:solidFill>
                <a:latin typeface="Arial"/>
                <a:ea typeface="Arial"/>
                <a:cs typeface="Arial"/>
              </a:rPr>
              <a:t>protocol.html preserves entry points and old links</a:t>
            </a:r>
          </a:p>
        </p:txBody>
      </p:sp>
      <p:sp>
        <p:nvSpPr>
          <p:cNvPr id="3" name="">
            <a:extLst xmlns:a="http://schemas.openxmlformats.org/drawingml/2006/main">
              <a:ext uri="{FF2B5EF4-FFF2-40B4-BE49-F238E27FC236}">
                <a16:creationId xmlns:a16="http://schemas.microsoft.com/office/drawing/2014/main" id="{61B73A25-ED6E-4577-BD54-8206EEEAEB66}"/>
              </a:ext>
            </a:extLst>
          </p:cNvPr>
          <p:cNvSpPr>
            <a:spLocks xmlns:a="http://schemas.openxmlformats.org/drawingml/2006/main" noGrp="1"/>
          </p:cNvSpPr>
          <p:nvPr/>
        </p:nvSpPr>
        <p:spPr>
          <a:xfrm xmlns:a="http://schemas.openxmlformats.org/drawingml/2006/main">
            <a:off x="514350" y="1352550"/>
            <a:ext cx="111633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CDCC2507-193B-409D-996D-F11B1A8EDB82}"/>
              </a:ext>
            </a:extLst>
          </p:cNvPr>
          <p:cNvSpPr>
            <a:spLocks xmlns:a="http://schemas.openxmlformats.org/drawingml/2006/main" noGrp="1"/>
          </p:cNvSpPr>
          <p:nvPr/>
        </p:nvSpPr>
        <p:spPr>
          <a:xfrm xmlns:a="http://schemas.openxmlformats.org/drawingml/2006/main">
            <a:off x="11239500" y="6362700"/>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975" b="0">
                <a:solidFill>
                  <a:srgbClr val="5B6470"/>
                </a:solidFill>
                <a:latin typeface="Arial"/>
                <a:ea typeface="Arial"/>
                <a:cs typeface="Arial"/>
              </a:defRPr>
            </a:pPr>
            <a:r>
              <a:rPr sz="975" b="0">
                <a:solidFill>
                  <a:srgbClr val="5B6470"/>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BBF0F1BD-F505-41FA-AFEC-99421A9E42CD}"/>
              </a:ext>
            </a:extLst>
          </p:cNvPr>
          <p:cNvSpPr>
            <a:spLocks xmlns:a="http://schemas.openxmlformats.org/drawingml/2006/main" noGrp="1"/>
          </p:cNvSpPr>
          <p:nvPr/>
        </p:nvSpPr>
        <p:spPr>
          <a:xfrm xmlns:a="http://schemas.openxmlformats.org/drawingml/2006/main">
            <a:off x="495300" y="1562100"/>
            <a:ext cx="7905750" cy="4514850"/>
          </a:xfrm>
          <a:prstGeom xmlns:a="http://schemas.openxmlformats.org/drawingml/2006/main" prst="roundRect">
            <a:avLst>
              <a:gd name="adj" fmla="val 2532"/>
            </a:avLst>
          </a:prstGeom>
          <a:solidFill xmlns:a="http://schemas.openxmlformats.org/drawingml/2006/main">
            <a:srgbClr val="0D1117"/>
          </a:solidFill>
          <a:ln xmlns:a="http://schemas.openxmlformats.org/drawingml/2006/main" w="9525">
            <a:solidFill>
              <a:srgbClr val="0D1117"/>
            </a:solidFill>
            <a:prstDash val="solid"/>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fd2a4a42e1ed4efc"/>
          <a:stretch xmlns:a="http://schemas.openxmlformats.org/drawingml/2006/main"/>
        </p:blipFill>
        <p:spPr>
          <a:xfrm xmlns:a="http://schemas.openxmlformats.org/drawingml/2006/main">
            <a:off x="1207852" y="1676400"/>
            <a:ext cx="6480646" cy="4286250"/>
          </a:xfrm>
          <a:prstGeom xmlns:a="http://schemas.openxmlformats.org/drawingml/2006/main" prst="roundRect">
            <a:avLst>
              <a:gd name="adj" fmla="val 2667"/>
            </a:avLst>
          </a:prstGeom>
        </p:spPr>
      </p:pic>
      <p:sp>
        <p:nvSpPr>
          <p:cNvPr id="7" name="">
            <a:extLst xmlns:a="http://schemas.openxmlformats.org/drawingml/2006/main">
              <a:ext uri="{FF2B5EF4-FFF2-40B4-BE49-F238E27FC236}">
                <a16:creationId xmlns:a16="http://schemas.microsoft.com/office/drawing/2014/main" id="{90B8ACF3-BB24-49A5-8AA9-76E378BD318C}"/>
              </a:ext>
            </a:extLst>
          </p:cNvPr>
          <p:cNvSpPr>
            <a:spLocks xmlns:a="http://schemas.openxmlformats.org/drawingml/2006/main" noGrp="1"/>
          </p:cNvSpPr>
          <p:nvPr/>
        </p:nvSpPr>
        <p:spPr>
          <a:xfrm xmlns:a="http://schemas.openxmlformats.org/drawingml/2006/main">
            <a:off x="8763000" y="1752600"/>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050" b="1">
                <a:solidFill>
                  <a:srgbClr val="3D8DFF"/>
                </a:solidFill>
                <a:latin typeface="Arial"/>
                <a:ea typeface="Arial"/>
                <a:cs typeface="Arial"/>
              </a:defRPr>
            </a:pPr>
            <a:r>
              <a:rPr sz="1050" b="1">
                <a:solidFill>
                  <a:srgbClr val="3D8DFF"/>
                </a:solidFill>
                <a:latin typeface="Arial"/>
                <a:ea typeface="Arial"/>
                <a:cs typeface="Arial"/>
              </a:rPr>
              <a:t>COMPATIBILITY STRATEGY</a:t>
            </a:r>
          </a:p>
        </p:txBody>
      </p:sp>
      <p:sp>
        <p:nvSpPr>
          <p:cNvPr id="8" name="">
            <a:extLst xmlns:a="http://schemas.openxmlformats.org/drawingml/2006/main">
              <a:ext uri="{FF2B5EF4-FFF2-40B4-BE49-F238E27FC236}">
                <a16:creationId xmlns:a16="http://schemas.microsoft.com/office/drawing/2014/main" id="{8F2F2652-1132-4049-8265-2169234D1628}"/>
              </a:ext>
            </a:extLst>
          </p:cNvPr>
          <p:cNvSpPr>
            <a:spLocks xmlns:a="http://schemas.openxmlformats.org/drawingml/2006/main" noGrp="1"/>
          </p:cNvSpPr>
          <p:nvPr/>
        </p:nvSpPr>
        <p:spPr>
          <a:xfrm xmlns:a="http://schemas.openxmlformats.org/drawingml/2006/main">
            <a:off x="8763000" y="2152650"/>
            <a:ext cx="26289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777"/>
          </a:bodyPr>
          <a:lstStyle xmlns:a="http://schemas.openxmlformats.org/drawingml/2006/main"/>
          <a:p xmlns:a="http://schemas.openxmlformats.org/drawingml/2006/main">
            <a:pPr algn="l">
              <a:lnSpc>
                <a:spcPct val="102000"/>
              </a:lnSpc>
              <a:buNone/>
              <a:defRPr sz="2025" b="1">
                <a:solidFill>
                  <a:srgbClr val="0B0D10"/>
                </a:solidFill>
                <a:latin typeface="Arial"/>
                <a:ea typeface="Arial"/>
                <a:cs typeface="Arial"/>
              </a:defRPr>
            </a:pPr>
            <a:r>
              <a:rPr sz="2025" b="1">
                <a:solidFill>
                  <a:srgbClr val="0B0D10"/>
                </a:solidFill>
                <a:latin typeface="Arial"/>
                <a:ea typeface="Arial"/>
                <a:cs typeface="Arial"/>
              </a:rPr>
              <a:t>Keep the old address; move the normative content.</a:t>
            </a:r>
          </a:p>
        </p:txBody>
      </p:sp>
      <p:sp>
        <p:nvSpPr>
          <p:cNvPr id="9" name="">
            <a:extLst xmlns:a="http://schemas.openxmlformats.org/drawingml/2006/main">
              <a:ext uri="{FF2B5EF4-FFF2-40B4-BE49-F238E27FC236}">
                <a16:creationId xmlns:a16="http://schemas.microsoft.com/office/drawing/2014/main" id="{6FABA0D4-C0E8-4EAC-8FB1-637E932E8786}"/>
              </a:ext>
            </a:extLst>
          </p:cNvPr>
          <p:cNvSpPr>
            <a:spLocks xmlns:a="http://schemas.openxmlformats.org/drawingml/2006/main" noGrp="1"/>
          </p:cNvSpPr>
          <p:nvPr/>
        </p:nvSpPr>
        <p:spPr>
          <a:xfrm xmlns:a="http://schemas.openxmlformats.org/drawingml/2006/main">
            <a:off x="8763000" y="3314700"/>
            <a:ext cx="25717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30000"/>
              </a:lnSpc>
              <a:buNone/>
              <a:defRPr sz="1500" b="0">
                <a:solidFill>
                  <a:srgbClr val="0B0D10"/>
                </a:solidFill>
                <a:latin typeface="Arial"/>
                <a:ea typeface="Arial"/>
                <a:cs typeface="Arial"/>
              </a:defRPr>
            </a:pPr>
            <a:r>
              <a:rPr sz="1500" b="0">
                <a:solidFill>
                  <a:srgbClr val="0B0D10"/>
                </a:solidFill>
                <a:latin typeface="Arial"/>
                <a:ea typeface="Arial"/>
                <a:cs typeface="Arial"/>
              </a:rPr>
              <a:t>•  #agent-identity remains</a:t>
            </a:r>
          </a:p>
          <a:p xmlns:a="http://schemas.openxmlformats.org/drawingml/2006/main">
            <a:pPr algn="l">
              <a:lnSpc>
                <a:spcPct val="130000"/>
              </a:lnSpc>
              <a:buNone/>
              <a:defRPr sz="1500" b="0">
                <a:solidFill>
                  <a:srgbClr val="0B0D10"/>
                </a:solidFill>
                <a:latin typeface="Arial"/>
                <a:ea typeface="Arial"/>
                <a:cs typeface="Arial"/>
              </a:defRPr>
            </a:pPr>
            <a:r>
              <a:rPr sz="1500" b="0">
                <a:solidFill>
                  <a:srgbClr val="0B0D10"/>
                </a:solidFill>
                <a:latin typeface="Arial"/>
                <a:ea typeface="Arial"/>
                <a:cs typeface="Arial"/>
              </a:rPr>
              <a:t>•  Legacy anchors still resolve</a:t>
            </a:r>
          </a:p>
          <a:p xmlns:a="http://schemas.openxmlformats.org/drawingml/2006/main">
            <a:pPr algn="l">
              <a:lnSpc>
                <a:spcPct val="130000"/>
              </a:lnSpc>
              <a:buNone/>
              <a:defRPr sz="1500" b="0">
                <a:solidFill>
                  <a:srgbClr val="0B0D10"/>
                </a:solidFill>
                <a:latin typeface="Arial"/>
                <a:ea typeface="Arial"/>
                <a:cs typeface="Arial"/>
              </a:defRPr>
            </a:pPr>
            <a:r>
              <a:rPr sz="1500" b="0">
                <a:solidFill>
                  <a:srgbClr val="0B0D10"/>
                </a:solidFill>
                <a:latin typeface="Arial"/>
                <a:ea typeface="Arial"/>
                <a:cs typeface="Arial"/>
              </a:rPr>
              <a:t>•  Readers land on migration notes</a:t>
            </a:r>
          </a:p>
          <a:p xmlns:a="http://schemas.openxmlformats.org/drawingml/2006/main">
            <a:pPr algn="l">
              <a:lnSpc>
                <a:spcPct val="130000"/>
              </a:lnSpc>
              <a:buNone/>
              <a:defRPr sz="1500" b="0">
                <a:solidFill>
                  <a:srgbClr val="0B0D10"/>
                </a:solidFill>
                <a:latin typeface="Arial"/>
                <a:ea typeface="Arial"/>
                <a:cs typeface="Arial"/>
              </a:defRPr>
            </a:pPr>
            <a:r>
              <a:rPr sz="1500" b="0">
                <a:solidFill>
                  <a:srgbClr val="0B0D10"/>
                </a:solidFill>
                <a:latin typeface="Arial"/>
                <a:ea typeface="Arial"/>
                <a:cs typeface="Arial"/>
              </a:rPr>
              <a:t>•  No silent link breakage</a:t>
            </a:r>
          </a:p>
        </p:txBody>
      </p:sp>
      <p:sp>
        <p:nvSpPr>
          <p:cNvPr id="10" name="">
            <a:extLst xmlns:a="http://schemas.openxmlformats.org/drawingml/2006/main">
              <a:ext uri="{FF2B5EF4-FFF2-40B4-BE49-F238E27FC236}">
                <a16:creationId xmlns:a16="http://schemas.microsoft.com/office/drawing/2014/main" id="{062C078C-7F6E-4404-A9C4-BEB74E0BC8CB}"/>
              </a:ext>
            </a:extLst>
          </p:cNvPr>
          <p:cNvSpPr>
            <a:spLocks xmlns:a="http://schemas.openxmlformats.org/drawingml/2006/main" noGrp="1"/>
          </p:cNvSpPr>
          <p:nvPr/>
        </p:nvSpPr>
        <p:spPr>
          <a:xfrm xmlns:a="http://schemas.openxmlformats.org/drawingml/2006/main">
            <a:off x="514350" y="6381750"/>
            <a:ext cx="9906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0">
                <a:solidFill>
                  <a:srgbClr val="5B6470"/>
                </a:solidFill>
                <a:latin typeface="Arial"/>
                <a:ea typeface="Arial"/>
                <a:cs typeface="Arial"/>
              </a:defRPr>
            </a:pPr>
            <a:r>
              <a:rPr sz="900" b="0">
                <a:solidFill>
                  <a:srgbClr val="5B6470"/>
                </a:solidFill>
                <a:latin typeface="Arial"/>
                <a:ea typeface="Arial"/>
                <a:cs typeface="Arial"/>
              </a:rPr>
              <a:t>Source: protocol.html at PR head commit</a:t>
            </a:r>
          </a:p>
        </p:txBody>
      </p:sp>
    </p:spTree>
    <p:extLst>
      <p:ext uri="{BB962C8B-B14F-4D97-AF65-F5344CB8AC3E}">
        <p14:creationId xmlns:p14="http://schemas.microsoft.com/office/powerpoint/2010/main" val="204902350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0BA3A80-BA88-4133-921B-43FBB163A63C}"/>
              </a:ext>
            </a:extLst>
          </p:cNvPr>
          <p:cNvSpPr>
            <a:spLocks xmlns:a="http://schemas.openxmlformats.org/drawingml/2006/main" noGrp="1"/>
          </p:cNvSpPr>
          <p:nvPr/>
        </p:nvSpPr>
        <p:spPr>
          <a:xfrm xmlns:a="http://schemas.openxmlformats.org/drawingml/2006/main">
            <a:off x="514350" y="2667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125" b="1">
                <a:solidFill>
                  <a:srgbClr val="3D8DFF"/>
                </a:solidFill>
                <a:latin typeface="Arial"/>
                <a:ea typeface="Arial"/>
                <a:cs typeface="Arial"/>
              </a:defRPr>
            </a:pPr>
            <a:r>
              <a:rPr sz="1125" b="1">
                <a:solidFill>
                  <a:srgbClr val="3D8DFF"/>
                </a:solidFill>
                <a:latin typeface="Arial"/>
                <a:ea typeface="Arial"/>
                <a:cs typeface="Arial"/>
              </a:rPr>
              <a:t>FILE 5 OF 5</a:t>
            </a:r>
          </a:p>
        </p:txBody>
      </p:sp>
      <p:sp>
        <p:nvSpPr>
          <p:cNvPr id="2" name="">
            <a:extLst xmlns:a="http://schemas.openxmlformats.org/drawingml/2006/main">
              <a:ext uri="{FF2B5EF4-FFF2-40B4-BE49-F238E27FC236}">
                <a16:creationId xmlns:a16="http://schemas.microsoft.com/office/drawing/2014/main" id="{8A7D4CA8-55AA-43AD-B815-68FE97F62C1E}"/>
              </a:ext>
            </a:extLst>
          </p:cNvPr>
          <p:cNvSpPr>
            <a:spLocks xmlns:a="http://schemas.openxmlformats.org/drawingml/2006/main" noGrp="1"/>
          </p:cNvSpPr>
          <p:nvPr/>
        </p:nvSpPr>
        <p:spPr>
          <a:xfrm xmlns:a="http://schemas.openxmlformats.org/drawingml/2006/main">
            <a:off x="514350" y="55245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3525" b="1">
                <a:solidFill>
                  <a:srgbClr val="0B0D10"/>
                </a:solidFill>
                <a:latin typeface="Arial"/>
                <a:ea typeface="Arial"/>
                <a:cs typeface="Arial"/>
              </a:defRPr>
            </a:pPr>
            <a:r>
              <a:rPr sz="3525" b="1">
                <a:solidFill>
                  <a:srgbClr val="0B0D10"/>
                </a:solidFill>
                <a:latin typeface="Arial"/>
                <a:ea typeface="Arial"/>
                <a:cs typeface="Arial"/>
              </a:rPr>
              <a:t>Tests protect structure—not protocol behavior</a:t>
            </a:r>
          </a:p>
        </p:txBody>
      </p:sp>
      <p:sp>
        <p:nvSpPr>
          <p:cNvPr id="3" name="">
            <a:extLst xmlns:a="http://schemas.openxmlformats.org/drawingml/2006/main">
              <a:ext uri="{FF2B5EF4-FFF2-40B4-BE49-F238E27FC236}">
                <a16:creationId xmlns:a16="http://schemas.microsoft.com/office/drawing/2014/main" id="{94621051-9387-4604-A5CC-798F946A50D8}"/>
              </a:ext>
            </a:extLst>
          </p:cNvPr>
          <p:cNvSpPr>
            <a:spLocks xmlns:a="http://schemas.openxmlformats.org/drawingml/2006/main" noGrp="1"/>
          </p:cNvSpPr>
          <p:nvPr/>
        </p:nvSpPr>
        <p:spPr>
          <a:xfrm xmlns:a="http://schemas.openxmlformats.org/drawingml/2006/main">
            <a:off x="514350" y="1352550"/>
            <a:ext cx="111633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A64B96BC-5EAB-4E16-907A-0A65885FD497}"/>
              </a:ext>
            </a:extLst>
          </p:cNvPr>
          <p:cNvSpPr>
            <a:spLocks xmlns:a="http://schemas.openxmlformats.org/drawingml/2006/main" noGrp="1"/>
          </p:cNvSpPr>
          <p:nvPr/>
        </p:nvSpPr>
        <p:spPr>
          <a:xfrm xmlns:a="http://schemas.openxmlformats.org/drawingml/2006/main">
            <a:off x="11239500" y="6362700"/>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975" b="0">
                <a:solidFill>
                  <a:srgbClr val="5B6470"/>
                </a:solidFill>
                <a:latin typeface="Arial"/>
                <a:ea typeface="Arial"/>
                <a:cs typeface="Arial"/>
              </a:defRPr>
            </a:pPr>
            <a:r>
              <a:rPr sz="975" b="0">
                <a:solidFill>
                  <a:srgbClr val="5B6470"/>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1F2BEDC6-5AAD-4FF2-B793-704F5077395E}"/>
              </a:ext>
            </a:extLst>
          </p:cNvPr>
          <p:cNvSpPr>
            <a:spLocks xmlns:a="http://schemas.openxmlformats.org/drawingml/2006/main" noGrp="1"/>
          </p:cNvSpPr>
          <p:nvPr/>
        </p:nvSpPr>
        <p:spPr>
          <a:xfrm xmlns:a="http://schemas.openxmlformats.org/drawingml/2006/main">
            <a:off x="495300" y="1562100"/>
            <a:ext cx="7143750" cy="4514850"/>
          </a:xfrm>
          <a:prstGeom xmlns:a="http://schemas.openxmlformats.org/drawingml/2006/main" prst="roundRect">
            <a:avLst>
              <a:gd name="adj" fmla="val 2532"/>
            </a:avLst>
          </a:prstGeom>
          <a:solidFill xmlns:a="http://schemas.openxmlformats.org/drawingml/2006/main">
            <a:srgbClr val="0D1117"/>
          </a:solidFill>
          <a:ln xmlns:a="http://schemas.openxmlformats.org/drawingml/2006/main" w="9525">
            <a:solidFill>
              <a:srgbClr val="0D1117"/>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2d21dace6ec3428b"/>
          <a:stretch xmlns:a="http://schemas.openxmlformats.org/drawingml/2006/main"/>
        </p:blipFill>
        <p:spPr>
          <a:xfrm xmlns:a="http://schemas.openxmlformats.org/drawingml/2006/main">
            <a:off x="1621026" y="1676400"/>
            <a:ext cx="4892298" cy="4286250"/>
          </a:xfrm>
          <a:prstGeom xmlns:a="http://schemas.openxmlformats.org/drawingml/2006/main" prst="roundRect">
            <a:avLst>
              <a:gd name="adj" fmla="val 2667"/>
            </a:avLst>
          </a:prstGeom>
        </p:spPr>
      </p:pic>
      <p:sp>
        <p:nvSpPr>
          <p:cNvPr id="7" name="">
            <a:extLst xmlns:a="http://schemas.openxmlformats.org/drawingml/2006/main">
              <a:ext uri="{FF2B5EF4-FFF2-40B4-BE49-F238E27FC236}">
                <a16:creationId xmlns:a16="http://schemas.microsoft.com/office/drawing/2014/main" id="{D93BFD35-9C37-497F-B208-9A03AEBF91DB}"/>
              </a:ext>
            </a:extLst>
          </p:cNvPr>
          <p:cNvSpPr>
            <a:spLocks xmlns:a="http://schemas.openxmlformats.org/drawingml/2006/main" noGrp="1"/>
          </p:cNvSpPr>
          <p:nvPr/>
        </p:nvSpPr>
        <p:spPr>
          <a:xfrm xmlns:a="http://schemas.openxmlformats.org/drawingml/2006/main">
            <a:off x="8020050" y="17526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050" b="1">
                <a:solidFill>
                  <a:srgbClr val="2DA44E"/>
                </a:solidFill>
                <a:latin typeface="Arial"/>
                <a:ea typeface="Arial"/>
                <a:cs typeface="Arial"/>
              </a:defRPr>
            </a:pPr>
            <a:r>
              <a:rPr sz="1050" b="1">
                <a:solidFill>
                  <a:srgbClr val="2DA44E"/>
                </a:solidFill>
                <a:latin typeface="Arial"/>
                <a:ea typeface="Arial"/>
                <a:cs typeface="Arial"/>
              </a:rPr>
              <a:t>COVERED</a:t>
            </a:r>
          </a:p>
        </p:txBody>
      </p:sp>
      <p:sp>
        <p:nvSpPr>
          <p:cNvPr id="8" name="">
            <a:extLst xmlns:a="http://schemas.openxmlformats.org/drawingml/2006/main">
              <a:ext uri="{FF2B5EF4-FFF2-40B4-BE49-F238E27FC236}">
                <a16:creationId xmlns:a16="http://schemas.microsoft.com/office/drawing/2014/main" id="{6DD5D289-A5D4-47F4-82D0-7C20D7564E67}"/>
              </a:ext>
            </a:extLst>
          </p:cNvPr>
          <p:cNvSpPr>
            <a:spLocks xmlns:a="http://schemas.openxmlformats.org/drawingml/2006/main" noGrp="1"/>
          </p:cNvSpPr>
          <p:nvPr/>
        </p:nvSpPr>
        <p:spPr>
          <a:xfrm xmlns:a="http://schemas.openxmlformats.org/drawingml/2006/main">
            <a:off x="8020050" y="2095500"/>
            <a:ext cx="3143250" cy="1962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500" b="0">
                <a:solidFill>
                  <a:srgbClr val="0B0D10"/>
                </a:solidFill>
                <a:latin typeface="Arial"/>
                <a:ea typeface="Arial"/>
                <a:cs typeface="Arial"/>
              </a:defRPr>
            </a:pPr>
            <a:r>
              <a:rPr sz="1500" b="0">
                <a:solidFill>
                  <a:srgbClr val="0B0D10"/>
                </a:solidFill>
                <a:latin typeface="Arial"/>
                <a:ea typeface="Arial"/>
                <a:cs typeface="Arial"/>
              </a:rPr>
              <a:t>•  Balanced section tags</a:t>
            </a:r>
          </a:p>
          <a:p xmlns:a="http://schemas.openxmlformats.org/drawingml/2006/main">
            <a:pPr algn="l">
              <a:lnSpc>
                <a:spcPct val="125000"/>
              </a:lnSpc>
              <a:buNone/>
              <a:defRPr sz="1500" b="0">
                <a:solidFill>
                  <a:srgbClr val="0B0D10"/>
                </a:solidFill>
                <a:latin typeface="Arial"/>
                <a:ea typeface="Arial"/>
                <a:cs typeface="Arial"/>
              </a:defRPr>
            </a:pPr>
            <a:r>
              <a:rPr sz="1500" b="0">
                <a:solidFill>
                  <a:srgbClr val="0B0D10"/>
                </a:solidFill>
                <a:latin typeface="Arial"/>
                <a:ea typeface="Arial"/>
                <a:cs typeface="Arial"/>
              </a:rPr>
              <a:t>•  Unique HTML IDs</a:t>
            </a:r>
          </a:p>
          <a:p xmlns:a="http://schemas.openxmlformats.org/drawingml/2006/main">
            <a:pPr algn="l">
              <a:lnSpc>
                <a:spcPct val="125000"/>
              </a:lnSpc>
              <a:buNone/>
              <a:defRPr sz="1500" b="0">
                <a:solidFill>
                  <a:srgbClr val="0B0D10"/>
                </a:solidFill>
                <a:latin typeface="Arial"/>
                <a:ea typeface="Arial"/>
                <a:cs typeface="Arial"/>
              </a:defRPr>
            </a:pPr>
            <a:r>
              <a:rPr sz="1500" b="0">
                <a:solidFill>
                  <a:srgbClr val="0B0D10"/>
                </a:solidFill>
                <a:latin typeface="Arial"/>
                <a:ea typeface="Arial"/>
                <a:cs typeface="Arial"/>
              </a:rPr>
              <a:t>•  Resolvable local links</a:t>
            </a:r>
          </a:p>
          <a:p xmlns:a="http://schemas.openxmlformats.org/drawingml/2006/main">
            <a:pPr algn="l">
              <a:lnSpc>
                <a:spcPct val="125000"/>
              </a:lnSpc>
              <a:buNone/>
              <a:defRPr sz="1500" b="0">
                <a:solidFill>
                  <a:srgbClr val="0B0D10"/>
                </a:solidFill>
                <a:latin typeface="Arial"/>
                <a:ea typeface="Arial"/>
                <a:cs typeface="Arial"/>
              </a:defRPr>
            </a:pPr>
            <a:r>
              <a:rPr sz="1500" b="0">
                <a:solidFill>
                  <a:srgbClr val="0B0D10"/>
                </a:solidFill>
                <a:latin typeface="Arial"/>
                <a:ea typeface="Arial"/>
                <a:cs typeface="Arial"/>
              </a:rPr>
              <a:t>•  Migration anchors</a:t>
            </a:r>
          </a:p>
          <a:p xmlns:a="http://schemas.openxmlformats.org/drawingml/2006/main">
            <a:pPr algn="l">
              <a:lnSpc>
                <a:spcPct val="125000"/>
              </a:lnSpc>
              <a:buNone/>
              <a:defRPr sz="1500" b="0">
                <a:solidFill>
                  <a:srgbClr val="0B0D10"/>
                </a:solidFill>
                <a:latin typeface="Arial"/>
                <a:ea typeface="Arial"/>
                <a:cs typeface="Arial"/>
              </a:defRPr>
            </a:pPr>
            <a:r>
              <a:rPr sz="1500" b="0">
                <a:solidFill>
                  <a:srgbClr val="0B0D10"/>
                </a:solidFill>
                <a:latin typeface="Arial"/>
                <a:ea typeface="Arial"/>
                <a:cs typeface="Arial"/>
              </a:rPr>
              <a:t>•  Complete ReSpec documents</a:t>
            </a:r>
          </a:p>
        </p:txBody>
      </p:sp>
      <p:sp>
        <p:nvSpPr>
          <p:cNvPr id="9" name="">
            <a:extLst xmlns:a="http://schemas.openxmlformats.org/drawingml/2006/main">
              <a:ext uri="{FF2B5EF4-FFF2-40B4-BE49-F238E27FC236}">
                <a16:creationId xmlns:a16="http://schemas.microsoft.com/office/drawing/2014/main" id="{89632E04-3928-457D-93E0-147646225C81}"/>
              </a:ext>
            </a:extLst>
          </p:cNvPr>
          <p:cNvSpPr>
            <a:spLocks xmlns:a="http://schemas.openxmlformats.org/drawingml/2006/main" noGrp="1"/>
          </p:cNvSpPr>
          <p:nvPr/>
        </p:nvSpPr>
        <p:spPr>
          <a:xfrm xmlns:a="http://schemas.openxmlformats.org/drawingml/2006/main">
            <a:off x="8020050" y="43053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050" b="1">
                <a:solidFill>
                  <a:srgbClr val="B76E00"/>
                </a:solidFill>
                <a:latin typeface="Arial"/>
                <a:ea typeface="Arial"/>
                <a:cs typeface="Arial"/>
              </a:defRPr>
            </a:pPr>
            <a:r>
              <a:rPr sz="1050" b="1">
                <a:solidFill>
                  <a:srgbClr val="B76E00"/>
                </a:solidFill>
                <a:latin typeface="Arial"/>
                <a:ea typeface="Arial"/>
                <a:cs typeface="Arial"/>
              </a:rPr>
              <a:t>STILL NEEDED</a:t>
            </a:r>
          </a:p>
        </p:txBody>
      </p:sp>
      <p:sp>
        <p:nvSpPr>
          <p:cNvPr id="10" name="">
            <a:extLst xmlns:a="http://schemas.openxmlformats.org/drawingml/2006/main">
              <a:ext uri="{FF2B5EF4-FFF2-40B4-BE49-F238E27FC236}">
                <a16:creationId xmlns:a16="http://schemas.microsoft.com/office/drawing/2014/main" id="{4D2DD77B-616C-486D-AF75-6BA4FD75ACC0}"/>
              </a:ext>
            </a:extLst>
          </p:cNvPr>
          <p:cNvSpPr>
            <a:spLocks xmlns:a="http://schemas.openxmlformats.org/drawingml/2006/main" noGrp="1"/>
          </p:cNvSpPr>
          <p:nvPr/>
        </p:nvSpPr>
        <p:spPr>
          <a:xfrm xmlns:a="http://schemas.openxmlformats.org/drawingml/2006/main">
            <a:off x="8020050" y="4648200"/>
            <a:ext cx="3333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1425" b="0">
                <a:solidFill>
                  <a:srgbClr val="0B0D10"/>
                </a:solidFill>
                <a:latin typeface="Arial"/>
                <a:ea typeface="Arial"/>
                <a:cs typeface="Arial"/>
              </a:defRPr>
            </a:pPr>
            <a:r>
              <a:rPr sz="1425" b="0">
                <a:solidFill>
                  <a:srgbClr val="0B0D10"/>
                </a:solidFill>
                <a:latin typeface="Arial"/>
                <a:ea typeface="Arial"/>
                <a:cs typeface="Arial"/>
              </a:rPr>
              <a:t>•  ReSpec browser rendering</a:t>
            </a:r>
          </a:p>
          <a:p xmlns:a="http://schemas.openxmlformats.org/drawingml/2006/main">
            <a:pPr algn="l">
              <a:lnSpc>
                <a:spcPct val="118000"/>
              </a:lnSpc>
              <a:buNone/>
              <a:defRPr sz="1425" b="0">
                <a:solidFill>
                  <a:srgbClr val="0B0D10"/>
                </a:solidFill>
                <a:latin typeface="Arial"/>
                <a:ea typeface="Arial"/>
                <a:cs typeface="Arial"/>
              </a:defRPr>
            </a:pPr>
            <a:r>
              <a:rPr sz="1425" b="0">
                <a:solidFill>
                  <a:srgbClr val="0B0D10"/>
                </a:solidFill>
                <a:latin typeface="Arial"/>
                <a:ea typeface="Arial"/>
                <a:cs typeface="Arial"/>
              </a:rPr>
              <a:t>•  HTTP signature test vectors</a:t>
            </a:r>
          </a:p>
          <a:p xmlns:a="http://schemas.openxmlformats.org/drawingml/2006/main">
            <a:pPr algn="l">
              <a:lnSpc>
                <a:spcPct val="118000"/>
              </a:lnSpc>
              <a:buNone/>
              <a:defRPr sz="1425" b="0">
                <a:solidFill>
                  <a:srgbClr val="0B0D10"/>
                </a:solidFill>
                <a:latin typeface="Arial"/>
                <a:ea typeface="Arial"/>
                <a:cs typeface="Arial"/>
              </a:defRPr>
            </a:pPr>
            <a:r>
              <a:rPr sz="1425" b="0">
                <a:solidFill>
                  <a:srgbClr val="0B0D10"/>
                </a:solidFill>
                <a:latin typeface="Arial"/>
                <a:ea typeface="Arial"/>
                <a:cs typeface="Arial"/>
              </a:rPr>
              <a:t>•  Profile success / failure cases</a:t>
            </a:r>
          </a:p>
          <a:p xmlns:a="http://schemas.openxmlformats.org/drawingml/2006/main">
            <a:pPr algn="l">
              <a:lnSpc>
                <a:spcPct val="118000"/>
              </a:lnSpc>
              <a:buNone/>
              <a:defRPr sz="1425" b="0">
                <a:solidFill>
                  <a:srgbClr val="0B0D10"/>
                </a:solidFill>
                <a:latin typeface="Arial"/>
                <a:ea typeface="Arial"/>
                <a:cs typeface="Arial"/>
              </a:defRPr>
            </a:pPr>
            <a:r>
              <a:rPr sz="1425" b="0">
                <a:solidFill>
                  <a:srgbClr val="0B0D10"/>
                </a:solidFill>
                <a:latin typeface="Arial"/>
                <a:ea typeface="Arial"/>
                <a:cs typeface="Arial"/>
              </a:rPr>
              <a:t>•  Replay and method-confusion tests</a:t>
            </a:r>
          </a:p>
        </p:txBody>
      </p:sp>
      <p:sp>
        <p:nvSpPr>
          <p:cNvPr id="11" name="">
            <a:extLst xmlns:a="http://schemas.openxmlformats.org/drawingml/2006/main">
              <a:ext uri="{FF2B5EF4-FFF2-40B4-BE49-F238E27FC236}">
                <a16:creationId xmlns:a16="http://schemas.microsoft.com/office/drawing/2014/main" id="{3FCA21BC-D404-435F-90B8-63806C669D3A}"/>
              </a:ext>
            </a:extLst>
          </p:cNvPr>
          <p:cNvSpPr>
            <a:spLocks xmlns:a="http://schemas.openxmlformats.org/drawingml/2006/main" noGrp="1"/>
          </p:cNvSpPr>
          <p:nvPr/>
        </p:nvSpPr>
        <p:spPr>
          <a:xfrm xmlns:a="http://schemas.openxmlformats.org/drawingml/2006/main">
            <a:off x="514350" y="6381750"/>
            <a:ext cx="9906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0">
                <a:solidFill>
                  <a:srgbClr val="5B6470"/>
                </a:solidFill>
                <a:latin typeface="Arial"/>
                <a:ea typeface="Arial"/>
                <a:cs typeface="Arial"/>
              </a:defRPr>
            </a:pPr>
            <a:r>
              <a:rPr sz="900" b="0">
                <a:solidFill>
                  <a:srgbClr val="5B6470"/>
                </a:solidFill>
                <a:latin typeface="Arial"/>
                <a:ea typeface="Arial"/>
                <a:cs typeface="Arial"/>
              </a:rPr>
              <a:t>Source: tests/test_identity_documents.py at PR head commit</a:t>
            </a:r>
          </a:p>
        </p:txBody>
      </p:sp>
    </p:spTree>
    <p:extLst>
      <p:ext uri="{BB962C8B-B14F-4D97-AF65-F5344CB8AC3E}">
        <p14:creationId xmlns:p14="http://schemas.microsoft.com/office/powerpoint/2010/main" val="137321158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D0ADA724-85FE-44E9-9878-9ADFA2ABADFB}"/>
              </a:ext>
            </a:extLst>
          </p:cNvPr>
          <p:cNvSpPr>
            <a:spLocks xmlns:a="http://schemas.openxmlformats.org/drawingml/2006/main" noGrp="1"/>
          </p:cNvSpPr>
          <p:nvPr/>
        </p:nvSpPr>
        <p:spPr>
          <a:xfrm xmlns:a="http://schemas.openxmlformats.org/drawingml/2006/main">
            <a:off x="514350" y="2667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125" b="1">
                <a:solidFill>
                  <a:srgbClr val="3D8DFF"/>
                </a:solidFill>
                <a:latin typeface="Arial"/>
                <a:ea typeface="Arial"/>
                <a:cs typeface="Arial"/>
              </a:defRPr>
            </a:pPr>
            <a:r>
              <a:rPr sz="1125" b="1">
                <a:solidFill>
                  <a:srgbClr val="3D8DFF"/>
                </a:solidFill>
                <a:latin typeface="Arial"/>
                <a:ea typeface="Arial"/>
                <a:cs typeface="Arial"/>
              </a:rPr>
              <a:t>DISCUSSION</a:t>
            </a:r>
          </a:p>
        </p:txBody>
      </p:sp>
      <p:sp>
        <p:nvSpPr>
          <p:cNvPr id="2" name="">
            <a:extLst xmlns:a="http://schemas.openxmlformats.org/drawingml/2006/main">
              <a:ext uri="{FF2B5EF4-FFF2-40B4-BE49-F238E27FC236}">
                <a16:creationId xmlns:a16="http://schemas.microsoft.com/office/drawing/2014/main" id="{5CA940C7-3523-4980-8032-E0F7181DF5D4}"/>
              </a:ext>
            </a:extLst>
          </p:cNvPr>
          <p:cNvSpPr>
            <a:spLocks xmlns:a="http://schemas.openxmlformats.org/drawingml/2006/main" noGrp="1"/>
          </p:cNvSpPr>
          <p:nvPr/>
        </p:nvSpPr>
        <p:spPr>
          <a:xfrm xmlns:a="http://schemas.openxmlformats.org/drawingml/2006/main">
            <a:off x="514350" y="55245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3525" b="1">
                <a:solidFill>
                  <a:srgbClr val="0B0D10"/>
                </a:solidFill>
                <a:latin typeface="Arial"/>
                <a:ea typeface="Arial"/>
                <a:cs typeface="Arial"/>
              </a:defRPr>
            </a:pPr>
            <a:r>
              <a:rPr sz="3525" b="1">
                <a:solidFill>
                  <a:srgbClr val="0B0D10"/>
                </a:solidFill>
                <a:latin typeface="Arial"/>
                <a:ea typeface="Arial"/>
                <a:cs typeface="Arial"/>
              </a:rPr>
              <a:t>Interoperability details remain</a:t>
            </a:r>
          </a:p>
        </p:txBody>
      </p:sp>
      <p:sp>
        <p:nvSpPr>
          <p:cNvPr id="3" name="">
            <a:extLst xmlns:a="http://schemas.openxmlformats.org/drawingml/2006/main">
              <a:ext uri="{FF2B5EF4-FFF2-40B4-BE49-F238E27FC236}">
                <a16:creationId xmlns:a16="http://schemas.microsoft.com/office/drawing/2014/main" id="{83C1EE16-1853-411D-86A8-20226180E53C}"/>
              </a:ext>
            </a:extLst>
          </p:cNvPr>
          <p:cNvSpPr>
            <a:spLocks xmlns:a="http://schemas.openxmlformats.org/drawingml/2006/main" noGrp="1"/>
          </p:cNvSpPr>
          <p:nvPr/>
        </p:nvSpPr>
        <p:spPr>
          <a:xfrm xmlns:a="http://schemas.openxmlformats.org/drawingml/2006/main">
            <a:off x="514350" y="1352550"/>
            <a:ext cx="111633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B0FB4D2F-D9FB-4FC5-BC8C-4768C637666B}"/>
              </a:ext>
            </a:extLst>
          </p:cNvPr>
          <p:cNvSpPr>
            <a:spLocks xmlns:a="http://schemas.openxmlformats.org/drawingml/2006/main" noGrp="1"/>
          </p:cNvSpPr>
          <p:nvPr/>
        </p:nvSpPr>
        <p:spPr>
          <a:xfrm xmlns:a="http://schemas.openxmlformats.org/drawingml/2006/main">
            <a:off x="11239500" y="6362700"/>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975" b="0">
                <a:solidFill>
                  <a:srgbClr val="5B6470"/>
                </a:solidFill>
                <a:latin typeface="Arial"/>
                <a:ea typeface="Arial"/>
                <a:cs typeface="Arial"/>
              </a:defRPr>
            </a:pPr>
            <a:r>
              <a:rPr sz="975" b="0">
                <a:solidFill>
                  <a:srgbClr val="5B6470"/>
                </a:solidFill>
                <a:latin typeface="Arial"/>
                <a:ea typeface="Arial"/>
                <a:cs typeface="Arial"/>
              </a:rPr>
              <a:t>12</a:t>
            </a:r>
          </a:p>
        </p:txBody>
      </p:sp>
      <p:sp>
        <p:nvSpPr>
          <p:cNvPr id="5" name="">
            <a:extLst xmlns:a="http://schemas.openxmlformats.org/drawingml/2006/main">
              <a:ext uri="{FF2B5EF4-FFF2-40B4-BE49-F238E27FC236}">
                <a16:creationId xmlns:a16="http://schemas.microsoft.com/office/drawing/2014/main" id="{AFE4747A-077B-4F93-9517-2085349AEE68}"/>
              </a:ext>
            </a:extLst>
          </p:cNvPr>
          <p:cNvSpPr>
            <a:spLocks xmlns:a="http://schemas.openxmlformats.org/drawingml/2006/main" noGrp="1"/>
          </p:cNvSpPr>
          <p:nvPr/>
        </p:nvSpPr>
        <p:spPr>
          <a:xfrm xmlns:a="http://schemas.openxmlformats.org/drawingml/2006/main">
            <a:off x="590550" y="1657350"/>
            <a:ext cx="476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2625" b="1">
                <a:solidFill>
                  <a:srgbClr val="3D8DFF"/>
                </a:solidFill>
                <a:latin typeface="Arial"/>
                <a:ea typeface="Arial"/>
                <a:cs typeface="Arial"/>
              </a:defRPr>
            </a:pPr>
            <a:r>
              <a:rPr sz="2625" b="1">
                <a:solidFill>
                  <a:srgbClr val="3D8DFF"/>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7B120FFE-6311-4B9D-A859-9FB1C08936BD}"/>
              </a:ext>
            </a:extLst>
          </p:cNvPr>
          <p:cNvSpPr>
            <a:spLocks xmlns:a="http://schemas.openxmlformats.org/drawingml/2006/main" noGrp="1"/>
          </p:cNvSpPr>
          <p:nvPr/>
        </p:nvSpPr>
        <p:spPr>
          <a:xfrm xmlns:a="http://schemas.openxmlformats.org/drawingml/2006/main">
            <a:off x="1314450" y="1657350"/>
            <a:ext cx="685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950" b="1">
                <a:solidFill>
                  <a:srgbClr val="0B0D10"/>
                </a:solidFill>
                <a:latin typeface="Arial"/>
                <a:ea typeface="Arial"/>
                <a:cs typeface="Arial"/>
              </a:defRPr>
            </a:pPr>
            <a:r>
              <a:rPr sz="1950" b="1">
                <a:solidFill>
                  <a:srgbClr val="0B0D10"/>
                </a:solidFill>
                <a:latin typeface="Arial"/>
                <a:ea typeface="Arial"/>
                <a:cs typeface="Arial"/>
              </a:rPr>
              <a:t>Are the three specification boundaries clear?</a:t>
            </a:r>
          </a:p>
        </p:txBody>
      </p:sp>
      <p:sp>
        <p:nvSpPr>
          <p:cNvPr id="7" name="">
            <a:extLst xmlns:a="http://schemas.openxmlformats.org/drawingml/2006/main">
              <a:ext uri="{FF2B5EF4-FFF2-40B4-BE49-F238E27FC236}">
                <a16:creationId xmlns:a16="http://schemas.microsoft.com/office/drawing/2014/main" id="{8275E968-C675-4716-8C2D-26D4EF3787F2}"/>
              </a:ext>
            </a:extLst>
          </p:cNvPr>
          <p:cNvSpPr>
            <a:spLocks xmlns:a="http://schemas.openxmlformats.org/drawingml/2006/main" noGrp="1"/>
          </p:cNvSpPr>
          <p:nvPr/>
        </p:nvSpPr>
        <p:spPr>
          <a:xfrm xmlns:a="http://schemas.openxmlformats.org/drawingml/2006/main">
            <a:off x="1314450" y="2076450"/>
            <a:ext cx="685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350" b="0">
                <a:solidFill>
                  <a:srgbClr val="5B6470"/>
                </a:solidFill>
                <a:latin typeface="Arial"/>
                <a:ea typeface="Arial"/>
                <a:cs typeface="Arial"/>
              </a:defRPr>
            </a:pPr>
            <a:r>
              <a:rPr sz="1350" b="0">
                <a:solidFill>
                  <a:srgbClr val="5B6470"/>
                </a:solidFill>
                <a:latin typeface="Arial"/>
                <a:ea typeface="Arial"/>
                <a:cs typeface="Arial"/>
              </a:rPr>
              <a:t>Common protocol · binding profiles · did:wba method</a:t>
            </a:r>
          </a:p>
        </p:txBody>
      </p:sp>
      <p:sp>
        <p:nvSpPr>
          <p:cNvPr id="8" name="">
            <a:extLst xmlns:a="http://schemas.openxmlformats.org/drawingml/2006/main">
              <a:ext uri="{FF2B5EF4-FFF2-40B4-BE49-F238E27FC236}">
                <a16:creationId xmlns:a16="http://schemas.microsoft.com/office/drawing/2014/main" id="{9DBD0212-D7D5-4296-BD4E-07713391ABCF}"/>
              </a:ext>
            </a:extLst>
          </p:cNvPr>
          <p:cNvSpPr>
            <a:spLocks xmlns:a="http://schemas.openxmlformats.org/drawingml/2006/main" noGrp="1"/>
          </p:cNvSpPr>
          <p:nvPr/>
        </p:nvSpPr>
        <p:spPr>
          <a:xfrm xmlns:a="http://schemas.openxmlformats.org/drawingml/2006/main">
            <a:off x="590550" y="2476500"/>
            <a:ext cx="76200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54521D28-15C5-4A5B-97E4-0002C1EB1B61}"/>
              </a:ext>
            </a:extLst>
          </p:cNvPr>
          <p:cNvSpPr>
            <a:spLocks xmlns:a="http://schemas.openxmlformats.org/drawingml/2006/main" noGrp="1"/>
          </p:cNvSpPr>
          <p:nvPr/>
        </p:nvSpPr>
        <p:spPr>
          <a:xfrm xmlns:a="http://schemas.openxmlformats.org/drawingml/2006/main">
            <a:off x="590550" y="2647950"/>
            <a:ext cx="476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2625" b="1">
                <a:solidFill>
                  <a:srgbClr val="3D8DFF"/>
                </a:solidFill>
                <a:latin typeface="Arial"/>
                <a:ea typeface="Arial"/>
                <a:cs typeface="Arial"/>
              </a:defRPr>
            </a:pPr>
            <a:r>
              <a:rPr sz="2625" b="1">
                <a:solidFill>
                  <a:srgbClr val="3D8DFF"/>
                </a:solidFill>
                <a:latin typeface="Arial"/>
                <a:ea typeface="Arial"/>
                <a:cs typeface="Arial"/>
              </a:rPr>
              <a:t>2</a:t>
            </a:r>
          </a:p>
        </p:txBody>
      </p:sp>
      <p:sp>
        <p:nvSpPr>
          <p:cNvPr id="10" name="">
            <a:extLst xmlns:a="http://schemas.openxmlformats.org/drawingml/2006/main">
              <a:ext uri="{FF2B5EF4-FFF2-40B4-BE49-F238E27FC236}">
                <a16:creationId xmlns:a16="http://schemas.microsoft.com/office/drawing/2014/main" id="{BB3EE799-8E9E-49E4-BC74-712DC761565B}"/>
              </a:ext>
            </a:extLst>
          </p:cNvPr>
          <p:cNvSpPr>
            <a:spLocks xmlns:a="http://schemas.openxmlformats.org/drawingml/2006/main" noGrp="1"/>
          </p:cNvSpPr>
          <p:nvPr/>
        </p:nvSpPr>
        <p:spPr>
          <a:xfrm xmlns:a="http://schemas.openxmlformats.org/drawingml/2006/main">
            <a:off x="1314450" y="2647950"/>
            <a:ext cx="685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950" b="1">
                <a:solidFill>
                  <a:srgbClr val="0B0D10"/>
                </a:solidFill>
                <a:latin typeface="Arial"/>
                <a:ea typeface="Arial"/>
                <a:cs typeface="Arial"/>
              </a:defRPr>
            </a:pPr>
            <a:r>
              <a:rPr sz="1950" b="1">
                <a:solidFill>
                  <a:srgbClr val="0B0D10"/>
                </a:solidFill>
                <a:latin typeface="Arial"/>
                <a:ea typeface="Arial"/>
                <a:cs typeface="Arial"/>
              </a:rPr>
              <a:t>Is method selection and no-fallback sufficiently explicit?</a:t>
            </a:r>
          </a:p>
        </p:txBody>
      </p:sp>
      <p:sp>
        <p:nvSpPr>
          <p:cNvPr id="11" name="">
            <a:extLst xmlns:a="http://schemas.openxmlformats.org/drawingml/2006/main">
              <a:ext uri="{FF2B5EF4-FFF2-40B4-BE49-F238E27FC236}">
                <a16:creationId xmlns:a16="http://schemas.microsoft.com/office/drawing/2014/main" id="{2DE1F444-B729-4958-8A1E-F8A03771DA00}"/>
              </a:ext>
            </a:extLst>
          </p:cNvPr>
          <p:cNvSpPr>
            <a:spLocks xmlns:a="http://schemas.openxmlformats.org/drawingml/2006/main" noGrp="1"/>
          </p:cNvSpPr>
          <p:nvPr/>
        </p:nvSpPr>
        <p:spPr>
          <a:xfrm xmlns:a="http://schemas.openxmlformats.org/drawingml/2006/main">
            <a:off x="1314450" y="3067050"/>
            <a:ext cx="685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350" b="0">
                <a:solidFill>
                  <a:srgbClr val="5B6470"/>
                </a:solidFill>
                <a:latin typeface="Arial"/>
                <a:ea typeface="Arial"/>
                <a:cs typeface="Arial"/>
              </a:defRPr>
            </a:pPr>
            <a:r>
              <a:rPr sz="1350" b="0">
                <a:solidFill>
                  <a:srgbClr val="5B6470"/>
                </a:solidFill>
                <a:latin typeface="Arial"/>
                <a:ea typeface="Arial"/>
                <a:cs typeface="Arial"/>
              </a:rPr>
              <a:t>The DID string must be authoritative</a:t>
            </a:r>
          </a:p>
        </p:txBody>
      </p:sp>
      <p:sp>
        <p:nvSpPr>
          <p:cNvPr id="12" name="">
            <a:extLst xmlns:a="http://schemas.openxmlformats.org/drawingml/2006/main">
              <a:ext uri="{FF2B5EF4-FFF2-40B4-BE49-F238E27FC236}">
                <a16:creationId xmlns:a16="http://schemas.microsoft.com/office/drawing/2014/main" id="{CC0FF1A3-9B18-411C-B3E6-E93F49E0858D}"/>
              </a:ext>
            </a:extLst>
          </p:cNvPr>
          <p:cNvSpPr>
            <a:spLocks xmlns:a="http://schemas.openxmlformats.org/drawingml/2006/main" noGrp="1"/>
          </p:cNvSpPr>
          <p:nvPr/>
        </p:nvSpPr>
        <p:spPr>
          <a:xfrm xmlns:a="http://schemas.openxmlformats.org/drawingml/2006/main">
            <a:off x="590550" y="3467100"/>
            <a:ext cx="76200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73813CCD-953F-4C7A-A192-182188166196}"/>
              </a:ext>
            </a:extLst>
          </p:cNvPr>
          <p:cNvSpPr>
            <a:spLocks xmlns:a="http://schemas.openxmlformats.org/drawingml/2006/main" noGrp="1"/>
          </p:cNvSpPr>
          <p:nvPr/>
        </p:nvSpPr>
        <p:spPr>
          <a:xfrm xmlns:a="http://schemas.openxmlformats.org/drawingml/2006/main">
            <a:off x="590550" y="3638550"/>
            <a:ext cx="476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2625" b="1">
                <a:solidFill>
                  <a:srgbClr val="3D8DFF"/>
                </a:solidFill>
                <a:latin typeface="Arial"/>
                <a:ea typeface="Arial"/>
                <a:cs typeface="Arial"/>
              </a:defRPr>
            </a:pPr>
            <a:r>
              <a:rPr sz="2625" b="1">
                <a:solidFill>
                  <a:srgbClr val="3D8DFF"/>
                </a:solidFill>
                <a:latin typeface="Arial"/>
                <a:ea typeface="Arial"/>
                <a:cs typeface="Arial"/>
              </a:rPr>
              <a:t>3</a:t>
            </a:r>
          </a:p>
        </p:txBody>
      </p:sp>
      <p:sp>
        <p:nvSpPr>
          <p:cNvPr id="14" name="">
            <a:extLst xmlns:a="http://schemas.openxmlformats.org/drawingml/2006/main">
              <a:ext uri="{FF2B5EF4-FFF2-40B4-BE49-F238E27FC236}">
                <a16:creationId xmlns:a16="http://schemas.microsoft.com/office/drawing/2014/main" id="{DF1AF290-A78A-467D-984C-E2A838E109B8}"/>
              </a:ext>
            </a:extLst>
          </p:cNvPr>
          <p:cNvSpPr>
            <a:spLocks xmlns:a="http://schemas.openxmlformats.org/drawingml/2006/main" noGrp="1"/>
          </p:cNvSpPr>
          <p:nvPr/>
        </p:nvSpPr>
        <p:spPr>
          <a:xfrm xmlns:a="http://schemas.openxmlformats.org/drawingml/2006/main">
            <a:off x="1314450" y="3638550"/>
            <a:ext cx="685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950" b="1">
                <a:solidFill>
                  <a:srgbClr val="0B0D10"/>
                </a:solidFill>
                <a:latin typeface="Arial"/>
                <a:ea typeface="Arial"/>
                <a:cs typeface="Arial"/>
              </a:defRPr>
            </a:pPr>
            <a:r>
              <a:rPr sz="1950" b="1">
                <a:solidFill>
                  <a:srgbClr val="0B0D10"/>
                </a:solidFill>
                <a:latin typeface="Arial"/>
                <a:ea typeface="Arial"/>
                <a:cs typeface="Arial"/>
              </a:rPr>
              <a:t>What is the minimum interoperable crypto set?</a:t>
            </a:r>
          </a:p>
        </p:txBody>
      </p:sp>
      <p:sp>
        <p:nvSpPr>
          <p:cNvPr id="15" name="">
            <a:extLst xmlns:a="http://schemas.openxmlformats.org/drawingml/2006/main">
              <a:ext uri="{FF2B5EF4-FFF2-40B4-BE49-F238E27FC236}">
                <a16:creationId xmlns:a16="http://schemas.microsoft.com/office/drawing/2014/main" id="{77BEE7D5-D248-46D3-AD81-94A97A0D89C0}"/>
              </a:ext>
            </a:extLst>
          </p:cNvPr>
          <p:cNvSpPr>
            <a:spLocks xmlns:a="http://schemas.openxmlformats.org/drawingml/2006/main" noGrp="1"/>
          </p:cNvSpPr>
          <p:nvPr/>
        </p:nvSpPr>
        <p:spPr>
          <a:xfrm xmlns:a="http://schemas.openxmlformats.org/drawingml/2006/main">
            <a:off x="1314450" y="4057650"/>
            <a:ext cx="685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350" b="0">
                <a:solidFill>
                  <a:srgbClr val="5B6470"/>
                </a:solidFill>
                <a:latin typeface="Arial"/>
                <a:ea typeface="Arial"/>
                <a:cs typeface="Arial"/>
              </a:defRPr>
            </a:pPr>
            <a:r>
              <a:rPr sz="1350" b="0">
                <a:solidFill>
                  <a:srgbClr val="5B6470"/>
                </a:solidFill>
                <a:latin typeface="Arial"/>
                <a:ea typeface="Arial"/>
                <a:cs typeface="Arial"/>
              </a:rPr>
              <a:t>Algorithms, digest requirements, and test vectors</a:t>
            </a:r>
          </a:p>
        </p:txBody>
      </p:sp>
      <p:sp>
        <p:nvSpPr>
          <p:cNvPr id="16" name="">
            <a:extLst xmlns:a="http://schemas.openxmlformats.org/drawingml/2006/main">
              <a:ext uri="{FF2B5EF4-FFF2-40B4-BE49-F238E27FC236}">
                <a16:creationId xmlns:a16="http://schemas.microsoft.com/office/drawing/2014/main" id="{F3B73954-06D3-46F1-BA4B-FE6337FBC296}"/>
              </a:ext>
            </a:extLst>
          </p:cNvPr>
          <p:cNvSpPr>
            <a:spLocks xmlns:a="http://schemas.openxmlformats.org/drawingml/2006/main" noGrp="1"/>
          </p:cNvSpPr>
          <p:nvPr/>
        </p:nvSpPr>
        <p:spPr>
          <a:xfrm xmlns:a="http://schemas.openxmlformats.org/drawingml/2006/main">
            <a:off x="590550" y="4457700"/>
            <a:ext cx="76200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17" name="">
            <a:extLst xmlns:a="http://schemas.openxmlformats.org/drawingml/2006/main">
              <a:ext uri="{FF2B5EF4-FFF2-40B4-BE49-F238E27FC236}">
                <a16:creationId xmlns:a16="http://schemas.microsoft.com/office/drawing/2014/main" id="{0BA40C8C-460F-4251-B648-653620DC3170}"/>
              </a:ext>
            </a:extLst>
          </p:cNvPr>
          <p:cNvSpPr>
            <a:spLocks xmlns:a="http://schemas.openxmlformats.org/drawingml/2006/main" noGrp="1"/>
          </p:cNvSpPr>
          <p:nvPr/>
        </p:nvSpPr>
        <p:spPr>
          <a:xfrm xmlns:a="http://schemas.openxmlformats.org/drawingml/2006/main">
            <a:off x="590550" y="4629150"/>
            <a:ext cx="476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2625" b="1">
                <a:solidFill>
                  <a:srgbClr val="3D8DFF"/>
                </a:solidFill>
                <a:latin typeface="Arial"/>
                <a:ea typeface="Arial"/>
                <a:cs typeface="Arial"/>
              </a:defRPr>
            </a:pPr>
            <a:r>
              <a:rPr sz="2625" b="1">
                <a:solidFill>
                  <a:srgbClr val="3D8DFF"/>
                </a:solidFill>
                <a:latin typeface="Arial"/>
                <a:ea typeface="Arial"/>
                <a:cs typeface="Arial"/>
              </a:rPr>
              <a:t>4</a:t>
            </a:r>
          </a:p>
        </p:txBody>
      </p:sp>
      <p:sp>
        <p:nvSpPr>
          <p:cNvPr id="18" name="">
            <a:extLst xmlns:a="http://schemas.openxmlformats.org/drawingml/2006/main">
              <a:ext uri="{FF2B5EF4-FFF2-40B4-BE49-F238E27FC236}">
                <a16:creationId xmlns:a16="http://schemas.microsoft.com/office/drawing/2014/main" id="{D907B667-AA6F-4E26-AF31-5A0E0A790F93}"/>
              </a:ext>
            </a:extLst>
          </p:cNvPr>
          <p:cNvSpPr>
            <a:spLocks xmlns:a="http://schemas.openxmlformats.org/drawingml/2006/main" noGrp="1"/>
          </p:cNvSpPr>
          <p:nvPr/>
        </p:nvSpPr>
        <p:spPr>
          <a:xfrm xmlns:a="http://schemas.openxmlformats.org/drawingml/2006/main">
            <a:off x="1314450" y="4629150"/>
            <a:ext cx="685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950" b="1">
                <a:solidFill>
                  <a:srgbClr val="0B0D10"/>
                </a:solidFill>
                <a:latin typeface="Arial"/>
                <a:ea typeface="Arial"/>
                <a:cs typeface="Arial"/>
              </a:defRPr>
            </a:pPr>
            <a:r>
              <a:rPr sz="1950" b="1">
                <a:solidFill>
                  <a:srgbClr val="0B0D10"/>
                </a:solidFill>
                <a:latin typeface="Arial"/>
                <a:ea typeface="Arial"/>
                <a:cs typeface="Arial"/>
              </a:rPr>
              <a:t>Is replay protection fully closed?</a:t>
            </a:r>
          </a:p>
        </p:txBody>
      </p:sp>
      <p:sp>
        <p:nvSpPr>
          <p:cNvPr id="19" name="">
            <a:extLst xmlns:a="http://schemas.openxmlformats.org/drawingml/2006/main">
              <a:ext uri="{FF2B5EF4-FFF2-40B4-BE49-F238E27FC236}">
                <a16:creationId xmlns:a16="http://schemas.microsoft.com/office/drawing/2014/main" id="{846103A9-15B7-43CD-ADAC-216A27F3643F}"/>
              </a:ext>
            </a:extLst>
          </p:cNvPr>
          <p:cNvSpPr>
            <a:spLocks xmlns:a="http://schemas.openxmlformats.org/drawingml/2006/main" noGrp="1"/>
          </p:cNvSpPr>
          <p:nvPr/>
        </p:nvSpPr>
        <p:spPr>
          <a:xfrm xmlns:a="http://schemas.openxmlformats.org/drawingml/2006/main">
            <a:off x="1314450" y="5048250"/>
            <a:ext cx="685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350" b="0">
                <a:solidFill>
                  <a:srgbClr val="5B6470"/>
                </a:solidFill>
                <a:latin typeface="Arial"/>
                <a:ea typeface="Arial"/>
                <a:cs typeface="Arial"/>
              </a:defRPr>
            </a:pPr>
            <a:r>
              <a:rPr sz="1350" b="0">
                <a:solidFill>
                  <a:srgbClr val="5B6470"/>
                </a:solidFill>
                <a:latin typeface="Arial"/>
                <a:ea typeface="Arial"/>
                <a:cs typeface="Arial"/>
              </a:rPr>
              <a:t>Nonce requirements, unique request identifiers, and cache behavior</a:t>
            </a:r>
          </a:p>
        </p:txBody>
      </p:sp>
      <p:sp>
        <p:nvSpPr>
          <p:cNvPr id="20" name="">
            <a:extLst xmlns:a="http://schemas.openxmlformats.org/drawingml/2006/main">
              <a:ext uri="{FF2B5EF4-FFF2-40B4-BE49-F238E27FC236}">
                <a16:creationId xmlns:a16="http://schemas.microsoft.com/office/drawing/2014/main" id="{966C48D8-50D3-4CA9-8D08-BADA71606B73}"/>
              </a:ext>
            </a:extLst>
          </p:cNvPr>
          <p:cNvSpPr>
            <a:spLocks xmlns:a="http://schemas.openxmlformats.org/drawingml/2006/main" noGrp="1"/>
          </p:cNvSpPr>
          <p:nvPr/>
        </p:nvSpPr>
        <p:spPr>
          <a:xfrm xmlns:a="http://schemas.openxmlformats.org/drawingml/2006/main">
            <a:off x="590550" y="5448300"/>
            <a:ext cx="76200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21" name="">
            <a:extLst xmlns:a="http://schemas.openxmlformats.org/drawingml/2006/main">
              <a:ext uri="{FF2B5EF4-FFF2-40B4-BE49-F238E27FC236}">
                <a16:creationId xmlns:a16="http://schemas.microsoft.com/office/drawing/2014/main" id="{E5CEA115-101F-462D-9442-0D28337116EF}"/>
              </a:ext>
            </a:extLst>
          </p:cNvPr>
          <p:cNvSpPr>
            <a:spLocks xmlns:a="http://schemas.openxmlformats.org/drawingml/2006/main" noGrp="1"/>
          </p:cNvSpPr>
          <p:nvPr/>
        </p:nvSpPr>
        <p:spPr>
          <a:xfrm xmlns:a="http://schemas.openxmlformats.org/drawingml/2006/main">
            <a:off x="8648700" y="1657350"/>
            <a:ext cx="2762250" cy="3790950"/>
          </a:xfrm>
          <a:prstGeom xmlns:a="http://schemas.openxmlformats.org/drawingml/2006/main" prst="roundRect">
            <a:avLst>
              <a:gd name="adj" fmla="val 4138"/>
            </a:avLst>
          </a:prstGeom>
          <a:solidFill xmlns:a="http://schemas.openxmlformats.org/drawingml/2006/main">
            <a:srgbClr val="EAF5FB"/>
          </a:solidFill>
          <a:ln xmlns:a="http://schemas.openxmlformats.org/drawingml/2006/main" w="9525">
            <a:solidFill>
              <a:srgbClr val="D0EDFA"/>
            </a:solidFill>
            <a:prstDash val="solid"/>
          </a:ln>
        </p:spPr>
      </p:sp>
      <p:sp>
        <p:nvSpPr>
          <p:cNvPr id="22" name="">
            <a:extLst xmlns:a="http://schemas.openxmlformats.org/drawingml/2006/main">
              <a:ext uri="{FF2B5EF4-FFF2-40B4-BE49-F238E27FC236}">
                <a16:creationId xmlns:a16="http://schemas.microsoft.com/office/drawing/2014/main" id="{B263AD27-5BF1-4604-A909-9BFD65FB064B}"/>
              </a:ext>
            </a:extLst>
          </p:cNvPr>
          <p:cNvSpPr>
            <a:spLocks xmlns:a="http://schemas.openxmlformats.org/drawingml/2006/main" noGrp="1"/>
          </p:cNvSpPr>
          <p:nvPr/>
        </p:nvSpPr>
        <p:spPr>
          <a:xfrm xmlns:a="http://schemas.openxmlformats.org/drawingml/2006/main">
            <a:off x="8896350" y="1905000"/>
            <a:ext cx="2266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125" b="1">
                <a:solidFill>
                  <a:srgbClr val="3D8DFF"/>
                </a:solidFill>
                <a:latin typeface="Arial"/>
                <a:ea typeface="Arial"/>
                <a:cs typeface="Arial"/>
              </a:defRPr>
            </a:pPr>
            <a:r>
              <a:rPr sz="1125" b="1">
                <a:solidFill>
                  <a:srgbClr val="3D8DFF"/>
                </a:solidFill>
                <a:latin typeface="Arial"/>
                <a:ea typeface="Arial"/>
                <a:cs typeface="Arial"/>
              </a:rPr>
              <a:t>Recommended outcome</a:t>
            </a:r>
          </a:p>
        </p:txBody>
      </p:sp>
      <p:sp>
        <p:nvSpPr>
          <p:cNvPr id="23" name="">
            <a:extLst xmlns:a="http://schemas.openxmlformats.org/drawingml/2006/main">
              <a:ext uri="{FF2B5EF4-FFF2-40B4-BE49-F238E27FC236}">
                <a16:creationId xmlns:a16="http://schemas.microsoft.com/office/drawing/2014/main" id="{B8CBBD58-69A8-4888-880B-A29D6B75CD91}"/>
              </a:ext>
            </a:extLst>
          </p:cNvPr>
          <p:cNvSpPr>
            <a:spLocks xmlns:a="http://schemas.openxmlformats.org/drawingml/2006/main" noGrp="1"/>
          </p:cNvSpPr>
          <p:nvPr/>
        </p:nvSpPr>
        <p:spPr>
          <a:xfrm xmlns:a="http://schemas.openxmlformats.org/drawingml/2006/main">
            <a:off x="8896350" y="2381250"/>
            <a:ext cx="22669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5253"/>
          </a:bodyPr>
          <a:lstStyle xmlns:a="http://schemas.openxmlformats.org/drawingml/2006/main"/>
          <a:p xmlns:a="http://schemas.openxmlformats.org/drawingml/2006/main">
            <a:pPr algn="l">
              <a:lnSpc>
                <a:spcPct val="100000"/>
              </a:lnSpc>
              <a:buNone/>
              <a:defRPr sz="2325" b="1">
                <a:solidFill>
                  <a:srgbClr val="0B0D10"/>
                </a:solidFill>
                <a:latin typeface="Arial"/>
                <a:ea typeface="Arial"/>
                <a:cs typeface="Arial"/>
              </a:defRPr>
            </a:pPr>
            <a:r>
              <a:rPr sz="2325" b="1">
                <a:solidFill>
                  <a:srgbClr val="0B0D10"/>
                </a:solidFill>
                <a:latin typeface="Arial"/>
                <a:ea typeface="Arial"/>
                <a:cs typeface="Arial"/>
              </a:rPr>
              <a:t>Accept the document architecture.</a:t>
            </a:r>
          </a:p>
        </p:txBody>
      </p:sp>
      <p:sp>
        <p:nvSpPr>
          <p:cNvPr id="24" name="">
            <a:extLst xmlns:a="http://schemas.openxmlformats.org/drawingml/2006/main">
              <a:ext uri="{FF2B5EF4-FFF2-40B4-BE49-F238E27FC236}">
                <a16:creationId xmlns:a16="http://schemas.microsoft.com/office/drawing/2014/main" id="{14E57124-4B51-4CAB-9F33-BB83D80058A0}"/>
              </a:ext>
            </a:extLst>
          </p:cNvPr>
          <p:cNvSpPr>
            <a:spLocks xmlns:a="http://schemas.openxmlformats.org/drawingml/2006/main" noGrp="1"/>
          </p:cNvSpPr>
          <p:nvPr/>
        </p:nvSpPr>
        <p:spPr>
          <a:xfrm xmlns:a="http://schemas.openxmlformats.org/drawingml/2006/main">
            <a:off x="8896350" y="3371850"/>
            <a:ext cx="2266950" cy="0"/>
          </a:xfrm>
          <a:prstGeom xmlns:a="http://schemas.openxmlformats.org/drawingml/2006/main" prst="line">
            <a:avLst/>
          </a:prstGeom>
          <a:noFill xmlns:a="http://schemas.openxmlformats.org/drawingml/2006/main"/>
          <a:ln xmlns:a="http://schemas.openxmlformats.org/drawingml/2006/main" w="19050">
            <a:solidFill>
              <a:srgbClr val="D0EDFA"/>
            </a:solidFill>
            <a:prstDash val="solid"/>
          </a:ln>
        </p:spPr>
      </p:sp>
      <p:sp>
        <p:nvSpPr>
          <p:cNvPr id="25" name="">
            <a:extLst xmlns:a="http://schemas.openxmlformats.org/drawingml/2006/main">
              <a:ext uri="{FF2B5EF4-FFF2-40B4-BE49-F238E27FC236}">
                <a16:creationId xmlns:a16="http://schemas.microsoft.com/office/drawing/2014/main" id="{74C747CE-4C8C-4947-9C00-92386930BCF9}"/>
              </a:ext>
            </a:extLst>
          </p:cNvPr>
          <p:cNvSpPr>
            <a:spLocks xmlns:a="http://schemas.openxmlformats.org/drawingml/2006/main" noGrp="1"/>
          </p:cNvSpPr>
          <p:nvPr/>
        </p:nvSpPr>
        <p:spPr>
          <a:xfrm xmlns:a="http://schemas.openxmlformats.org/drawingml/2006/main">
            <a:off x="8896350" y="3638550"/>
            <a:ext cx="2266950"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792"/>
          </a:bodyPr>
          <a:lstStyle xmlns:a="http://schemas.openxmlformats.org/drawingml/2006/main"/>
          <a:p xmlns:a="http://schemas.openxmlformats.org/drawingml/2006/main">
            <a:pPr algn="l">
              <a:lnSpc>
                <a:spcPct val="112000"/>
              </a:lnSpc>
              <a:buNone/>
              <a:defRPr sz="1425" b="0">
                <a:solidFill>
                  <a:srgbClr val="0B0D10"/>
                </a:solidFill>
                <a:latin typeface="Arial"/>
                <a:ea typeface="Arial"/>
                <a:cs typeface="Arial"/>
              </a:defRPr>
            </a:pPr>
            <a:r>
              <a:rPr sz="1425" b="0">
                <a:solidFill>
                  <a:srgbClr val="0B0D10"/>
                </a:solidFill>
                <a:latin typeface="Arial"/>
                <a:ea typeface="Arial"/>
                <a:cs typeface="Arial"/>
              </a:rPr>
              <a:t>Track crypto minimums, replay closure, and executable test vectors as explicit follow-up work—or resolve them before merge if the group expects implementation readiness now.</a:t>
            </a:r>
          </a:p>
        </p:txBody>
      </p:sp>
    </p:spTree>
    <p:extLst>
      <p:ext uri="{BB962C8B-B14F-4D97-AF65-F5344CB8AC3E}">
        <p14:creationId xmlns:p14="http://schemas.microsoft.com/office/powerpoint/2010/main" val="1418235646"/>
      </p:ext>
    </p:extLst>
  </p:cSld>
</p:sld>
</file>

<file path=ppt/slides/slide13.xml><?xml version="1.0" encoding="utf-8"?>
<p:sld xmlns:p="http://schemas.openxmlformats.org/presentationml/2006/main">
  <p:cSld>
    <p:bg>
      <p:bgPr>
        <a:solidFill xmlns:a="http://schemas.openxmlformats.org/drawingml/2006/main">
          <a:srgbClr val="0B0D1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542BEDB-6E8B-4210-8AA0-47D684278FB8}"/>
              </a:ext>
            </a:extLst>
          </p:cNvPr>
          <p:cNvSpPr>
            <a:spLocks xmlns:a="http://schemas.openxmlformats.org/drawingml/2006/main" noGrp="1"/>
          </p:cNvSpPr>
          <p:nvPr/>
        </p:nvSpPr>
        <p:spPr>
          <a:xfrm xmlns:a="http://schemas.openxmlformats.org/drawingml/2006/main">
            <a:off x="552450" y="876300"/>
            <a:ext cx="2857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5400" b="1">
                <a:solidFill>
                  <a:srgbClr val="FFFFFF"/>
                </a:solidFill>
                <a:latin typeface="Arial"/>
                <a:ea typeface="Arial"/>
                <a:cs typeface="Arial"/>
              </a:defRPr>
            </a:pPr>
            <a:r>
              <a:rPr sz="5400" b="1">
                <a:solidFill>
                  <a:srgbClr val="FFFFFF"/>
                </a:solidFill>
                <a:latin typeface="Arial"/>
                <a:ea typeface="Arial"/>
                <a:cs typeface="Arial"/>
              </a:rPr>
              <a:t>FAQ</a:t>
            </a:r>
          </a:p>
        </p:txBody>
      </p:sp>
      <p:sp>
        <p:nvSpPr>
          <p:cNvPr id="2" name="">
            <a:extLst xmlns:a="http://schemas.openxmlformats.org/drawingml/2006/main">
              <a:ext uri="{FF2B5EF4-FFF2-40B4-BE49-F238E27FC236}">
                <a16:creationId xmlns:a16="http://schemas.microsoft.com/office/drawing/2014/main" id="{51F1D264-A7C1-4C16-9FF7-ECD73B9C0836}"/>
              </a:ext>
            </a:extLst>
          </p:cNvPr>
          <p:cNvSpPr>
            <a:spLocks xmlns:a="http://schemas.openxmlformats.org/drawingml/2006/main" noGrp="1"/>
          </p:cNvSpPr>
          <p:nvPr/>
        </p:nvSpPr>
        <p:spPr>
          <a:xfrm xmlns:a="http://schemas.openxmlformats.org/drawingml/2006/main">
            <a:off x="571500" y="1981200"/>
            <a:ext cx="723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250" b="0">
                <a:solidFill>
                  <a:srgbClr val="D0EDFA"/>
                </a:solidFill>
                <a:latin typeface="Arial"/>
                <a:ea typeface="Arial"/>
                <a:cs typeface="Arial"/>
              </a:defRPr>
            </a:pPr>
            <a:r>
              <a:rPr sz="2250" b="0">
                <a:solidFill>
                  <a:srgbClr val="D0EDFA"/>
                </a:solidFill>
                <a:latin typeface="Arial"/>
                <a:ea typeface="Arial"/>
                <a:cs typeface="Arial"/>
              </a:rPr>
              <a:t>Short answers for likely W3C discussion questions</a:t>
            </a:r>
          </a:p>
        </p:txBody>
      </p:sp>
      <p:sp>
        <p:nvSpPr>
          <p:cNvPr id="3" name="">
            <a:extLst xmlns:a="http://schemas.openxmlformats.org/drawingml/2006/main">
              <a:ext uri="{FF2B5EF4-FFF2-40B4-BE49-F238E27FC236}">
                <a16:creationId xmlns:a16="http://schemas.microsoft.com/office/drawing/2014/main" id="{9022EA03-CF23-489A-B270-D4E79CA91DD4}"/>
              </a:ext>
            </a:extLst>
          </p:cNvPr>
          <p:cNvSpPr>
            <a:spLocks xmlns:a="http://schemas.openxmlformats.org/drawingml/2006/main" noGrp="1"/>
          </p:cNvSpPr>
          <p:nvPr/>
        </p:nvSpPr>
        <p:spPr>
          <a:xfrm xmlns:a="http://schemas.openxmlformats.org/drawingml/2006/main">
            <a:off x="571500" y="2876550"/>
            <a:ext cx="10668000" cy="0"/>
          </a:xfrm>
          <a:prstGeom xmlns:a="http://schemas.openxmlformats.org/drawingml/2006/main" prst="line">
            <a:avLst/>
          </a:prstGeom>
          <a:noFill xmlns:a="http://schemas.openxmlformats.org/drawingml/2006/main"/>
          <a:ln xmlns:a="http://schemas.openxmlformats.org/drawingml/2006/main" w="9525">
            <a:solidFill>
              <a:srgbClr val="39414B"/>
            </a:solidFill>
            <a:prstDash val="solid"/>
          </a:ln>
        </p:spPr>
      </p:sp>
      <p:sp>
        <p:nvSpPr>
          <p:cNvPr id="4" name="">
            <a:extLst xmlns:a="http://schemas.openxmlformats.org/drawingml/2006/main">
              <a:ext uri="{FF2B5EF4-FFF2-40B4-BE49-F238E27FC236}">
                <a16:creationId xmlns:a16="http://schemas.microsoft.com/office/drawing/2014/main" id="{7755E71D-62DE-4B65-8AA6-E4D2454F4C35}"/>
              </a:ext>
            </a:extLst>
          </p:cNvPr>
          <p:cNvSpPr>
            <a:spLocks xmlns:a="http://schemas.openxmlformats.org/drawingml/2006/main" noGrp="1"/>
          </p:cNvSpPr>
          <p:nvPr/>
        </p:nvSpPr>
        <p:spPr>
          <a:xfrm xmlns:a="http://schemas.openxmlformats.org/drawingml/2006/main">
            <a:off x="571500" y="33337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00" b="1">
                <a:solidFill>
                  <a:srgbClr val="FFFFFF"/>
                </a:solidFill>
                <a:latin typeface="Arial"/>
                <a:ea typeface="Arial"/>
                <a:cs typeface="Arial"/>
              </a:defRPr>
            </a:pPr>
            <a:r>
              <a:rPr sz="1800" b="1">
                <a:solidFill>
                  <a:srgbClr val="FFFFFF"/>
                </a:solidFill>
                <a:latin typeface="Arial"/>
                <a:ea typeface="Arial"/>
                <a:cs typeface="Arial"/>
              </a:rPr>
              <a:t>Identity methods</a:t>
            </a:r>
          </a:p>
        </p:txBody>
      </p:sp>
      <p:sp>
        <p:nvSpPr>
          <p:cNvPr id="5" name="">
            <a:extLst xmlns:a="http://schemas.openxmlformats.org/drawingml/2006/main">
              <a:ext uri="{FF2B5EF4-FFF2-40B4-BE49-F238E27FC236}">
                <a16:creationId xmlns:a16="http://schemas.microsoft.com/office/drawing/2014/main" id="{C962DD1B-8978-43EC-95D0-6A8942EACADD}"/>
              </a:ext>
            </a:extLst>
          </p:cNvPr>
          <p:cNvSpPr>
            <a:spLocks xmlns:a="http://schemas.openxmlformats.org/drawingml/2006/main" noGrp="1"/>
          </p:cNvSpPr>
          <p:nvPr/>
        </p:nvSpPr>
        <p:spPr>
          <a:xfrm xmlns:a="http://schemas.openxmlformats.org/drawingml/2006/main">
            <a:off x="3981450" y="3333750"/>
            <a:ext cx="3524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00" b="1">
                <a:solidFill>
                  <a:srgbClr val="FFFFFF"/>
                </a:solidFill>
                <a:latin typeface="Arial"/>
                <a:ea typeface="Arial"/>
                <a:cs typeface="Arial"/>
              </a:defRPr>
            </a:pPr>
            <a:r>
              <a:rPr sz="1800" b="1">
                <a:solidFill>
                  <a:srgbClr val="FFFFFF"/>
                </a:solidFill>
                <a:latin typeface="Arial"/>
                <a:ea typeface="Arial"/>
                <a:cs typeface="Arial"/>
              </a:rPr>
              <a:t>Authentication vs authorization</a:t>
            </a:r>
          </a:p>
        </p:txBody>
      </p:sp>
      <p:sp>
        <p:nvSpPr>
          <p:cNvPr id="6" name="">
            <a:extLst xmlns:a="http://schemas.openxmlformats.org/drawingml/2006/main">
              <a:ext uri="{FF2B5EF4-FFF2-40B4-BE49-F238E27FC236}">
                <a16:creationId xmlns:a16="http://schemas.microsoft.com/office/drawing/2014/main" id="{4FDBECE5-CA9D-459B-B0BE-CCE5DF846128}"/>
              </a:ext>
            </a:extLst>
          </p:cNvPr>
          <p:cNvSpPr>
            <a:spLocks xmlns:a="http://schemas.openxmlformats.org/drawingml/2006/main" noGrp="1"/>
          </p:cNvSpPr>
          <p:nvPr/>
        </p:nvSpPr>
        <p:spPr>
          <a:xfrm xmlns:a="http://schemas.openxmlformats.org/drawingml/2006/main">
            <a:off x="8058150" y="33337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00" b="1">
                <a:solidFill>
                  <a:srgbClr val="FFFFFF"/>
                </a:solidFill>
                <a:latin typeface="Arial"/>
                <a:ea typeface="Arial"/>
                <a:cs typeface="Arial"/>
              </a:defRPr>
            </a:pPr>
            <a:r>
              <a:rPr sz="1800" b="1">
                <a:solidFill>
                  <a:srgbClr val="FFFFFF"/>
                </a:solidFill>
                <a:latin typeface="Arial"/>
                <a:ea typeface="Arial"/>
                <a:cs typeface="Arial"/>
              </a:rPr>
              <a:t>did:wba lifecycle</a:t>
            </a:r>
          </a:p>
        </p:txBody>
      </p:sp>
      <p:sp>
        <p:nvSpPr>
          <p:cNvPr id="7" name="">
            <a:extLst xmlns:a="http://schemas.openxmlformats.org/drawingml/2006/main">
              <a:ext uri="{FF2B5EF4-FFF2-40B4-BE49-F238E27FC236}">
                <a16:creationId xmlns:a16="http://schemas.microsoft.com/office/drawing/2014/main" id="{DB0E85EF-1EB7-4EE3-AE2F-6F648CB690FD}"/>
              </a:ext>
            </a:extLst>
          </p:cNvPr>
          <p:cNvSpPr>
            <a:spLocks xmlns:a="http://schemas.openxmlformats.org/drawingml/2006/main" noGrp="1"/>
          </p:cNvSpPr>
          <p:nvPr/>
        </p:nvSpPr>
        <p:spPr>
          <a:xfrm xmlns:a="http://schemas.openxmlformats.org/drawingml/2006/main">
            <a:off x="571500" y="5715000"/>
            <a:ext cx="904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00" b="0">
                <a:solidFill>
                  <a:srgbClr val="AAB2BD"/>
                </a:solidFill>
                <a:latin typeface="Arial"/>
                <a:ea typeface="Arial"/>
                <a:cs typeface="Arial"/>
              </a:defRPr>
            </a:pPr>
            <a:r>
              <a:rPr sz="1500" b="0">
                <a:solidFill>
                  <a:srgbClr val="AAB2BD"/>
                </a:solidFill>
                <a:latin typeface="Arial"/>
                <a:ea typeface="Arial"/>
                <a:cs typeface="Arial"/>
              </a:rPr>
              <a:t>Use these as concise first answers; expand only when the chair asks for detail.</a:t>
            </a:r>
          </a:p>
        </p:txBody>
      </p:sp>
    </p:spTree>
    <p:extLst>
      <p:ext uri="{BB962C8B-B14F-4D97-AF65-F5344CB8AC3E}">
        <p14:creationId xmlns:p14="http://schemas.microsoft.com/office/powerpoint/2010/main" val="66540704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492738D-F52E-47D0-A5D3-3AE287451010}"/>
              </a:ext>
            </a:extLst>
          </p:cNvPr>
          <p:cNvSpPr>
            <a:spLocks xmlns:a="http://schemas.openxmlformats.org/drawingml/2006/main" noGrp="1"/>
          </p:cNvSpPr>
          <p:nvPr/>
        </p:nvSpPr>
        <p:spPr>
          <a:xfrm xmlns:a="http://schemas.openxmlformats.org/drawingml/2006/main">
            <a:off x="514350" y="2667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125" b="1">
                <a:solidFill>
                  <a:srgbClr val="3D8DFF"/>
                </a:solidFill>
                <a:latin typeface="Arial"/>
                <a:ea typeface="Arial"/>
                <a:cs typeface="Arial"/>
              </a:defRPr>
            </a:pPr>
            <a:r>
              <a:rPr sz="1125" b="1">
                <a:solidFill>
                  <a:srgbClr val="3D8DFF"/>
                </a:solidFill>
                <a:latin typeface="Arial"/>
                <a:ea typeface="Arial"/>
                <a:cs typeface="Arial"/>
              </a:rPr>
              <a:t>APPENDIX</a:t>
            </a:r>
          </a:p>
        </p:txBody>
      </p:sp>
      <p:sp>
        <p:nvSpPr>
          <p:cNvPr id="2" name="">
            <a:extLst xmlns:a="http://schemas.openxmlformats.org/drawingml/2006/main">
              <a:ext uri="{FF2B5EF4-FFF2-40B4-BE49-F238E27FC236}">
                <a16:creationId xmlns:a16="http://schemas.microsoft.com/office/drawing/2014/main" id="{C70325AC-BB9E-4D77-9A15-736BC518FDBD}"/>
              </a:ext>
            </a:extLst>
          </p:cNvPr>
          <p:cNvSpPr>
            <a:spLocks xmlns:a="http://schemas.openxmlformats.org/drawingml/2006/main" noGrp="1"/>
          </p:cNvSpPr>
          <p:nvPr/>
        </p:nvSpPr>
        <p:spPr>
          <a:xfrm xmlns:a="http://schemas.openxmlformats.org/drawingml/2006/main">
            <a:off x="514350" y="55245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3525" b="1">
                <a:solidFill>
                  <a:srgbClr val="0B0D10"/>
                </a:solidFill>
                <a:latin typeface="Arial"/>
                <a:ea typeface="Arial"/>
                <a:cs typeface="Arial"/>
              </a:defRPr>
            </a:pPr>
            <a:r>
              <a:rPr sz="3525" b="1">
                <a:solidFill>
                  <a:srgbClr val="0B0D10"/>
                </a:solidFill>
                <a:latin typeface="Arial"/>
                <a:ea typeface="Arial"/>
                <a:cs typeface="Arial"/>
              </a:rPr>
              <a:t>FAQ · DID methods and Binding Profiles</a:t>
            </a:r>
          </a:p>
        </p:txBody>
      </p:sp>
      <p:sp>
        <p:nvSpPr>
          <p:cNvPr id="3" name="">
            <a:extLst xmlns:a="http://schemas.openxmlformats.org/drawingml/2006/main">
              <a:ext uri="{FF2B5EF4-FFF2-40B4-BE49-F238E27FC236}">
                <a16:creationId xmlns:a16="http://schemas.microsoft.com/office/drawing/2014/main" id="{ACFE0F17-3D80-448C-B251-37844F280D95}"/>
              </a:ext>
            </a:extLst>
          </p:cNvPr>
          <p:cNvSpPr>
            <a:spLocks xmlns:a="http://schemas.openxmlformats.org/drawingml/2006/main" noGrp="1"/>
          </p:cNvSpPr>
          <p:nvPr/>
        </p:nvSpPr>
        <p:spPr>
          <a:xfrm xmlns:a="http://schemas.openxmlformats.org/drawingml/2006/main">
            <a:off x="514350" y="1352550"/>
            <a:ext cx="111633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36ED20D3-7E83-4642-9A10-B43D621F533D}"/>
              </a:ext>
            </a:extLst>
          </p:cNvPr>
          <p:cNvSpPr>
            <a:spLocks xmlns:a="http://schemas.openxmlformats.org/drawingml/2006/main" noGrp="1"/>
          </p:cNvSpPr>
          <p:nvPr/>
        </p:nvSpPr>
        <p:spPr>
          <a:xfrm xmlns:a="http://schemas.openxmlformats.org/drawingml/2006/main">
            <a:off x="11239500" y="6362700"/>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975" b="0">
                <a:solidFill>
                  <a:srgbClr val="5B6470"/>
                </a:solidFill>
                <a:latin typeface="Arial"/>
                <a:ea typeface="Arial"/>
                <a:cs typeface="Arial"/>
              </a:defRPr>
            </a:pPr>
            <a:r>
              <a:rPr sz="975" b="0">
                <a:solidFill>
                  <a:srgbClr val="5B6470"/>
                </a:solidFill>
                <a:latin typeface="Arial"/>
                <a:ea typeface="Arial"/>
                <a:cs typeface="Arial"/>
              </a:rPr>
              <a:t>14</a:t>
            </a:r>
          </a:p>
        </p:txBody>
      </p:sp>
      <p:sp>
        <p:nvSpPr>
          <p:cNvPr id="5" name="">
            <a:extLst xmlns:a="http://schemas.openxmlformats.org/drawingml/2006/main">
              <a:ext uri="{FF2B5EF4-FFF2-40B4-BE49-F238E27FC236}">
                <a16:creationId xmlns:a16="http://schemas.microsoft.com/office/drawing/2014/main" id="{30C10C33-DFA4-484A-9EB0-CE767A36011B}"/>
              </a:ext>
            </a:extLst>
          </p:cNvPr>
          <p:cNvSpPr>
            <a:spLocks xmlns:a="http://schemas.openxmlformats.org/drawingml/2006/main" noGrp="1"/>
          </p:cNvSpPr>
          <p:nvPr/>
        </p:nvSpPr>
        <p:spPr>
          <a:xfrm xmlns:a="http://schemas.openxmlformats.org/drawingml/2006/main">
            <a:off x="590550" y="1657350"/>
            <a:ext cx="514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00" b="1">
                <a:solidFill>
                  <a:srgbClr val="3D8DFF"/>
                </a:solidFill>
                <a:latin typeface="Arial"/>
                <a:ea typeface="Arial"/>
                <a:cs typeface="Arial"/>
              </a:defRPr>
            </a:pPr>
            <a:r>
              <a:rPr sz="1800" b="1">
                <a:solidFill>
                  <a:srgbClr val="3D8DFF"/>
                </a:solidFill>
                <a:latin typeface="Arial"/>
                <a:ea typeface="Arial"/>
                <a:cs typeface="Arial"/>
              </a:rPr>
              <a:t>Q1</a:t>
            </a:r>
          </a:p>
        </p:txBody>
      </p:sp>
      <p:sp>
        <p:nvSpPr>
          <p:cNvPr id="6" name="">
            <a:extLst xmlns:a="http://schemas.openxmlformats.org/drawingml/2006/main">
              <a:ext uri="{FF2B5EF4-FFF2-40B4-BE49-F238E27FC236}">
                <a16:creationId xmlns:a16="http://schemas.microsoft.com/office/drawing/2014/main" id="{E069311A-A4CA-43C9-8121-E18963CE9E41}"/>
              </a:ext>
            </a:extLst>
          </p:cNvPr>
          <p:cNvSpPr>
            <a:spLocks xmlns:a="http://schemas.openxmlformats.org/drawingml/2006/main" noGrp="1"/>
          </p:cNvSpPr>
          <p:nvPr/>
        </p:nvSpPr>
        <p:spPr>
          <a:xfrm xmlns:a="http://schemas.openxmlformats.org/drawingml/2006/main">
            <a:off x="1314450" y="1657350"/>
            <a:ext cx="9810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950" b="1">
                <a:solidFill>
                  <a:srgbClr val="0B0D10"/>
                </a:solidFill>
                <a:latin typeface="Arial"/>
                <a:ea typeface="Arial"/>
                <a:cs typeface="Arial"/>
              </a:defRPr>
            </a:pPr>
            <a:r>
              <a:rPr sz="1950" b="1">
                <a:solidFill>
                  <a:srgbClr val="0B0D10"/>
                </a:solidFill>
                <a:latin typeface="Arial"/>
                <a:ea typeface="Arial"/>
                <a:cs typeface="Arial"/>
              </a:rPr>
              <a:t>Is did:wba intended to replace did:web?</a:t>
            </a:r>
          </a:p>
        </p:txBody>
      </p:sp>
      <p:sp>
        <p:nvSpPr>
          <p:cNvPr id="7" name="">
            <a:extLst xmlns:a="http://schemas.openxmlformats.org/drawingml/2006/main">
              <a:ext uri="{FF2B5EF4-FFF2-40B4-BE49-F238E27FC236}">
                <a16:creationId xmlns:a16="http://schemas.microsoft.com/office/drawing/2014/main" id="{8E07E08E-EC15-46D8-9E24-1960514EF3EC}"/>
              </a:ext>
            </a:extLst>
          </p:cNvPr>
          <p:cNvSpPr>
            <a:spLocks xmlns:a="http://schemas.openxmlformats.org/drawingml/2006/main" noGrp="1"/>
          </p:cNvSpPr>
          <p:nvPr/>
        </p:nvSpPr>
        <p:spPr>
          <a:xfrm xmlns:a="http://schemas.openxmlformats.org/drawingml/2006/main">
            <a:off x="1314450" y="215265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0">
                <a:solidFill>
                  <a:srgbClr val="5B6470"/>
                </a:solidFill>
                <a:latin typeface="Arial"/>
                <a:ea typeface="Arial"/>
                <a:cs typeface="Arial"/>
              </a:defRPr>
            </a:pPr>
            <a:r>
              <a:rPr sz="1575" b="0">
                <a:solidFill>
                  <a:srgbClr val="5B6470"/>
                </a:solidFill>
                <a:latin typeface="Arial"/>
                <a:ea typeface="Arial"/>
                <a:cs typeface="Arial"/>
              </a:rPr>
              <a:t>No. They are separate DID methods with separate Binding Profiles. Native did:web participates without migration.</a:t>
            </a:r>
          </a:p>
        </p:txBody>
      </p:sp>
      <p:sp>
        <p:nvSpPr>
          <p:cNvPr id="8" name="">
            <a:extLst xmlns:a="http://schemas.openxmlformats.org/drawingml/2006/main">
              <a:ext uri="{FF2B5EF4-FFF2-40B4-BE49-F238E27FC236}">
                <a16:creationId xmlns:a16="http://schemas.microsoft.com/office/drawing/2014/main" id="{F6EF7382-0AA1-4125-9FA5-06F5013B244C}"/>
              </a:ext>
            </a:extLst>
          </p:cNvPr>
          <p:cNvSpPr>
            <a:spLocks xmlns:a="http://schemas.openxmlformats.org/drawingml/2006/main" noGrp="1"/>
          </p:cNvSpPr>
          <p:nvPr/>
        </p:nvSpPr>
        <p:spPr>
          <a:xfrm xmlns:a="http://schemas.openxmlformats.org/drawingml/2006/main">
            <a:off x="590550" y="2895600"/>
            <a:ext cx="105537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5A9A1F17-5EC9-4CE2-BEBB-69A4B823DB9F}"/>
              </a:ext>
            </a:extLst>
          </p:cNvPr>
          <p:cNvSpPr>
            <a:spLocks xmlns:a="http://schemas.openxmlformats.org/drawingml/2006/main" noGrp="1"/>
          </p:cNvSpPr>
          <p:nvPr/>
        </p:nvSpPr>
        <p:spPr>
          <a:xfrm xmlns:a="http://schemas.openxmlformats.org/drawingml/2006/main">
            <a:off x="590550" y="3086100"/>
            <a:ext cx="514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00" b="1">
                <a:solidFill>
                  <a:srgbClr val="3D8DFF"/>
                </a:solidFill>
                <a:latin typeface="Arial"/>
                <a:ea typeface="Arial"/>
                <a:cs typeface="Arial"/>
              </a:defRPr>
            </a:pPr>
            <a:r>
              <a:rPr sz="1800" b="1">
                <a:solidFill>
                  <a:srgbClr val="3D8DFF"/>
                </a:solidFill>
                <a:latin typeface="Arial"/>
                <a:ea typeface="Arial"/>
                <a:cs typeface="Arial"/>
              </a:rPr>
              <a:t>Q2</a:t>
            </a:r>
          </a:p>
        </p:txBody>
      </p:sp>
      <p:sp>
        <p:nvSpPr>
          <p:cNvPr id="10" name="">
            <a:extLst xmlns:a="http://schemas.openxmlformats.org/drawingml/2006/main">
              <a:ext uri="{FF2B5EF4-FFF2-40B4-BE49-F238E27FC236}">
                <a16:creationId xmlns:a16="http://schemas.microsoft.com/office/drawing/2014/main" id="{39CF6CB6-BF98-4A8B-86F5-3DA4506CB86B}"/>
              </a:ext>
            </a:extLst>
          </p:cNvPr>
          <p:cNvSpPr>
            <a:spLocks xmlns:a="http://schemas.openxmlformats.org/drawingml/2006/main" noGrp="1"/>
          </p:cNvSpPr>
          <p:nvPr/>
        </p:nvSpPr>
        <p:spPr>
          <a:xfrm xmlns:a="http://schemas.openxmlformats.org/drawingml/2006/main">
            <a:off x="1314450" y="3086100"/>
            <a:ext cx="9810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950" b="1">
                <a:solidFill>
                  <a:srgbClr val="0B0D10"/>
                </a:solidFill>
                <a:latin typeface="Arial"/>
                <a:ea typeface="Arial"/>
                <a:cs typeface="Arial"/>
              </a:defRPr>
            </a:pPr>
            <a:r>
              <a:rPr sz="1950" b="1">
                <a:solidFill>
                  <a:srgbClr val="0B0D10"/>
                </a:solidFill>
                <a:latin typeface="Arial"/>
                <a:ea typeface="Arial"/>
                <a:cs typeface="Arial"/>
              </a:rPr>
              <a:t>Why do we need a Binding Profile?</a:t>
            </a:r>
          </a:p>
        </p:txBody>
      </p:sp>
      <p:sp>
        <p:nvSpPr>
          <p:cNvPr id="11" name="">
            <a:extLst xmlns:a="http://schemas.openxmlformats.org/drawingml/2006/main">
              <a:ext uri="{FF2B5EF4-FFF2-40B4-BE49-F238E27FC236}">
                <a16:creationId xmlns:a16="http://schemas.microsoft.com/office/drawing/2014/main" id="{4D61E01C-E52E-4EF6-BA68-4771942E32D2}"/>
              </a:ext>
            </a:extLst>
          </p:cNvPr>
          <p:cNvSpPr>
            <a:spLocks xmlns:a="http://schemas.openxmlformats.org/drawingml/2006/main" noGrp="1"/>
          </p:cNvSpPr>
          <p:nvPr/>
        </p:nvSpPr>
        <p:spPr>
          <a:xfrm xmlns:a="http://schemas.openxmlformats.org/drawingml/2006/main">
            <a:off x="1314450" y="358140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0">
                <a:solidFill>
                  <a:srgbClr val="5B6470"/>
                </a:solidFill>
                <a:latin typeface="Arial"/>
                <a:ea typeface="Arial"/>
                <a:cs typeface="Arial"/>
              </a:defRPr>
            </a:pPr>
            <a:r>
              <a:rPr sz="1575" b="0">
                <a:solidFill>
                  <a:srgbClr val="5B6470"/>
                </a:solidFill>
                <a:latin typeface="Arial"/>
                <a:ea typeface="Arial"/>
                <a:cs typeface="Arial"/>
              </a:rPr>
              <a:t>The HTTP authentication flow is common, but resolution, key binding, updates, deactivation, and trust evidence are method-specific.</a:t>
            </a:r>
          </a:p>
        </p:txBody>
      </p:sp>
      <p:sp>
        <p:nvSpPr>
          <p:cNvPr id="12" name="">
            <a:extLst xmlns:a="http://schemas.openxmlformats.org/drawingml/2006/main">
              <a:ext uri="{FF2B5EF4-FFF2-40B4-BE49-F238E27FC236}">
                <a16:creationId xmlns:a16="http://schemas.microsoft.com/office/drawing/2014/main" id="{BDB199B8-95F3-4FE0-8B40-1304DD046E52}"/>
              </a:ext>
            </a:extLst>
          </p:cNvPr>
          <p:cNvSpPr>
            <a:spLocks xmlns:a="http://schemas.openxmlformats.org/drawingml/2006/main" noGrp="1"/>
          </p:cNvSpPr>
          <p:nvPr/>
        </p:nvSpPr>
        <p:spPr>
          <a:xfrm xmlns:a="http://schemas.openxmlformats.org/drawingml/2006/main">
            <a:off x="590550" y="4324350"/>
            <a:ext cx="105537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C1E20195-CE1A-4A7C-92D6-DFCA1762B0A7}"/>
              </a:ext>
            </a:extLst>
          </p:cNvPr>
          <p:cNvSpPr>
            <a:spLocks xmlns:a="http://schemas.openxmlformats.org/drawingml/2006/main" noGrp="1"/>
          </p:cNvSpPr>
          <p:nvPr/>
        </p:nvSpPr>
        <p:spPr>
          <a:xfrm xmlns:a="http://schemas.openxmlformats.org/drawingml/2006/main">
            <a:off x="590550" y="4514850"/>
            <a:ext cx="514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00" b="1">
                <a:solidFill>
                  <a:srgbClr val="3D8DFF"/>
                </a:solidFill>
                <a:latin typeface="Arial"/>
                <a:ea typeface="Arial"/>
                <a:cs typeface="Arial"/>
              </a:defRPr>
            </a:pPr>
            <a:r>
              <a:rPr sz="1800" b="1">
                <a:solidFill>
                  <a:srgbClr val="3D8DFF"/>
                </a:solidFill>
                <a:latin typeface="Arial"/>
                <a:ea typeface="Arial"/>
                <a:cs typeface="Arial"/>
              </a:rPr>
              <a:t>Q3</a:t>
            </a:r>
          </a:p>
        </p:txBody>
      </p:sp>
      <p:sp>
        <p:nvSpPr>
          <p:cNvPr id="14" name="">
            <a:extLst xmlns:a="http://schemas.openxmlformats.org/drawingml/2006/main">
              <a:ext uri="{FF2B5EF4-FFF2-40B4-BE49-F238E27FC236}">
                <a16:creationId xmlns:a16="http://schemas.microsoft.com/office/drawing/2014/main" id="{08FA58A2-E307-4CA5-A4B2-16D0DFBE8FC2}"/>
              </a:ext>
            </a:extLst>
          </p:cNvPr>
          <p:cNvSpPr>
            <a:spLocks xmlns:a="http://schemas.openxmlformats.org/drawingml/2006/main" noGrp="1"/>
          </p:cNvSpPr>
          <p:nvPr/>
        </p:nvSpPr>
        <p:spPr>
          <a:xfrm xmlns:a="http://schemas.openxmlformats.org/drawingml/2006/main">
            <a:off x="1314450" y="4514850"/>
            <a:ext cx="9810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950" b="1">
                <a:solidFill>
                  <a:srgbClr val="0B0D10"/>
                </a:solidFill>
                <a:latin typeface="Arial"/>
                <a:ea typeface="Arial"/>
                <a:cs typeface="Arial"/>
              </a:defRPr>
            </a:pPr>
            <a:r>
              <a:rPr sz="1950" b="1">
                <a:solidFill>
                  <a:srgbClr val="0B0D10"/>
                </a:solidFill>
                <a:latin typeface="Arial"/>
                <a:ea typeface="Arial"/>
                <a:cs typeface="Arial"/>
              </a:rPr>
              <a:t>Why is method fallback prohibited?</a:t>
            </a:r>
          </a:p>
        </p:txBody>
      </p:sp>
      <p:sp>
        <p:nvSpPr>
          <p:cNvPr id="15" name="">
            <a:extLst xmlns:a="http://schemas.openxmlformats.org/drawingml/2006/main">
              <a:ext uri="{FF2B5EF4-FFF2-40B4-BE49-F238E27FC236}">
                <a16:creationId xmlns:a16="http://schemas.microsoft.com/office/drawing/2014/main" id="{3B9DC5A2-3C3C-4B71-8E44-0B7FA27D0E98}"/>
              </a:ext>
            </a:extLst>
          </p:cNvPr>
          <p:cNvSpPr>
            <a:spLocks xmlns:a="http://schemas.openxmlformats.org/drawingml/2006/main" noGrp="1"/>
          </p:cNvSpPr>
          <p:nvPr/>
        </p:nvSpPr>
        <p:spPr>
          <a:xfrm xmlns:a="http://schemas.openxmlformats.org/drawingml/2006/main">
            <a:off x="1314450" y="501015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0">
                <a:solidFill>
                  <a:srgbClr val="5B6470"/>
                </a:solidFill>
                <a:latin typeface="Arial"/>
                <a:ea typeface="Arial"/>
                <a:cs typeface="Arial"/>
              </a:defRPr>
            </a:pPr>
            <a:r>
              <a:rPr sz="1575" b="0">
                <a:solidFill>
                  <a:srgbClr val="5B6470"/>
                </a:solidFill>
                <a:latin typeface="Arial"/>
                <a:ea typeface="Arial"/>
                <a:cs typeface="Arial"/>
              </a:rPr>
              <a:t>Fallback can apply the wrong trust assumptions and create method-confusion or downgrade vulnerabilities.</a:t>
            </a:r>
          </a:p>
        </p:txBody>
      </p:sp>
      <p:sp>
        <p:nvSpPr>
          <p:cNvPr id="16" name="">
            <a:extLst xmlns:a="http://schemas.openxmlformats.org/drawingml/2006/main">
              <a:ext uri="{FF2B5EF4-FFF2-40B4-BE49-F238E27FC236}">
                <a16:creationId xmlns:a16="http://schemas.microsoft.com/office/drawing/2014/main" id="{4877E5C6-F66B-4B66-953C-63C63F6E105B}"/>
              </a:ext>
            </a:extLst>
          </p:cNvPr>
          <p:cNvSpPr>
            <a:spLocks xmlns:a="http://schemas.openxmlformats.org/drawingml/2006/main" noGrp="1"/>
          </p:cNvSpPr>
          <p:nvPr/>
        </p:nvSpPr>
        <p:spPr>
          <a:xfrm xmlns:a="http://schemas.openxmlformats.org/drawingml/2006/main">
            <a:off x="590550" y="5753100"/>
            <a:ext cx="105537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Tree>
    <p:extLst>
      <p:ext uri="{BB962C8B-B14F-4D97-AF65-F5344CB8AC3E}">
        <p14:creationId xmlns:p14="http://schemas.microsoft.com/office/powerpoint/2010/main" val="121211275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507D0BB9-F249-4619-9151-54C83778226E}"/>
              </a:ext>
            </a:extLst>
          </p:cNvPr>
          <p:cNvSpPr>
            <a:spLocks xmlns:a="http://schemas.openxmlformats.org/drawingml/2006/main" noGrp="1"/>
          </p:cNvSpPr>
          <p:nvPr/>
        </p:nvSpPr>
        <p:spPr>
          <a:xfrm xmlns:a="http://schemas.openxmlformats.org/drawingml/2006/main">
            <a:off x="514350" y="2667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125" b="1">
                <a:solidFill>
                  <a:srgbClr val="3D8DFF"/>
                </a:solidFill>
                <a:latin typeface="Arial"/>
                <a:ea typeface="Arial"/>
                <a:cs typeface="Arial"/>
              </a:defRPr>
            </a:pPr>
            <a:r>
              <a:rPr sz="1125" b="1">
                <a:solidFill>
                  <a:srgbClr val="3D8DFF"/>
                </a:solidFill>
                <a:latin typeface="Arial"/>
                <a:ea typeface="Arial"/>
                <a:cs typeface="Arial"/>
              </a:rPr>
              <a:t>APPENDIX</a:t>
            </a:r>
          </a:p>
        </p:txBody>
      </p:sp>
      <p:sp>
        <p:nvSpPr>
          <p:cNvPr id="2" name="">
            <a:extLst xmlns:a="http://schemas.openxmlformats.org/drawingml/2006/main">
              <a:ext uri="{FF2B5EF4-FFF2-40B4-BE49-F238E27FC236}">
                <a16:creationId xmlns:a16="http://schemas.microsoft.com/office/drawing/2014/main" id="{8B51A2B1-CDF9-4EC2-8D7F-D3753156DC22}"/>
              </a:ext>
            </a:extLst>
          </p:cNvPr>
          <p:cNvSpPr>
            <a:spLocks xmlns:a="http://schemas.openxmlformats.org/drawingml/2006/main" noGrp="1"/>
          </p:cNvSpPr>
          <p:nvPr/>
        </p:nvSpPr>
        <p:spPr>
          <a:xfrm xmlns:a="http://schemas.openxmlformats.org/drawingml/2006/main">
            <a:off x="514350" y="55245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3525" b="1">
                <a:solidFill>
                  <a:srgbClr val="0B0D10"/>
                </a:solidFill>
                <a:latin typeface="Arial"/>
                <a:ea typeface="Arial"/>
                <a:cs typeface="Arial"/>
              </a:defRPr>
            </a:pPr>
            <a:r>
              <a:rPr sz="3525" b="1">
                <a:solidFill>
                  <a:srgbClr val="0B0D10"/>
                </a:solidFill>
                <a:latin typeface="Arial"/>
                <a:ea typeface="Arial"/>
                <a:cs typeface="Arial"/>
              </a:rPr>
              <a:t>FAQ · Authentication, authorization, and tokens</a:t>
            </a:r>
          </a:p>
        </p:txBody>
      </p:sp>
      <p:sp>
        <p:nvSpPr>
          <p:cNvPr id="3" name="">
            <a:extLst xmlns:a="http://schemas.openxmlformats.org/drawingml/2006/main">
              <a:ext uri="{FF2B5EF4-FFF2-40B4-BE49-F238E27FC236}">
                <a16:creationId xmlns:a16="http://schemas.microsoft.com/office/drawing/2014/main" id="{4B445086-8469-4002-9746-A2EA5BB053F2}"/>
              </a:ext>
            </a:extLst>
          </p:cNvPr>
          <p:cNvSpPr>
            <a:spLocks xmlns:a="http://schemas.openxmlformats.org/drawingml/2006/main" noGrp="1"/>
          </p:cNvSpPr>
          <p:nvPr/>
        </p:nvSpPr>
        <p:spPr>
          <a:xfrm xmlns:a="http://schemas.openxmlformats.org/drawingml/2006/main">
            <a:off x="514350" y="1352550"/>
            <a:ext cx="111633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B4A06954-3576-46D1-B5A8-02DE3A8032F1}"/>
              </a:ext>
            </a:extLst>
          </p:cNvPr>
          <p:cNvSpPr>
            <a:spLocks xmlns:a="http://schemas.openxmlformats.org/drawingml/2006/main" noGrp="1"/>
          </p:cNvSpPr>
          <p:nvPr/>
        </p:nvSpPr>
        <p:spPr>
          <a:xfrm xmlns:a="http://schemas.openxmlformats.org/drawingml/2006/main">
            <a:off x="11239500" y="6362700"/>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975" b="0">
                <a:solidFill>
                  <a:srgbClr val="5B6470"/>
                </a:solidFill>
                <a:latin typeface="Arial"/>
                <a:ea typeface="Arial"/>
                <a:cs typeface="Arial"/>
              </a:defRPr>
            </a:pPr>
            <a:r>
              <a:rPr sz="975" b="0">
                <a:solidFill>
                  <a:srgbClr val="5B6470"/>
                </a:solidFill>
                <a:latin typeface="Arial"/>
                <a:ea typeface="Arial"/>
                <a:cs typeface="Arial"/>
              </a:rPr>
              <a:t>15</a:t>
            </a:r>
          </a:p>
        </p:txBody>
      </p:sp>
      <p:sp>
        <p:nvSpPr>
          <p:cNvPr id="5" name="">
            <a:extLst xmlns:a="http://schemas.openxmlformats.org/drawingml/2006/main">
              <a:ext uri="{FF2B5EF4-FFF2-40B4-BE49-F238E27FC236}">
                <a16:creationId xmlns:a16="http://schemas.microsoft.com/office/drawing/2014/main" id="{3ED1A0B1-F1BB-45B3-9C21-A72BA818A6DB}"/>
              </a:ext>
            </a:extLst>
          </p:cNvPr>
          <p:cNvSpPr>
            <a:spLocks xmlns:a="http://schemas.openxmlformats.org/drawingml/2006/main" noGrp="1"/>
          </p:cNvSpPr>
          <p:nvPr/>
        </p:nvSpPr>
        <p:spPr>
          <a:xfrm xmlns:a="http://schemas.openxmlformats.org/drawingml/2006/main">
            <a:off x="590550" y="1657350"/>
            <a:ext cx="514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00" b="1">
                <a:solidFill>
                  <a:srgbClr val="3D8DFF"/>
                </a:solidFill>
                <a:latin typeface="Arial"/>
                <a:ea typeface="Arial"/>
                <a:cs typeface="Arial"/>
              </a:defRPr>
            </a:pPr>
            <a:r>
              <a:rPr sz="1800" b="1">
                <a:solidFill>
                  <a:srgbClr val="3D8DFF"/>
                </a:solidFill>
                <a:latin typeface="Arial"/>
                <a:ea typeface="Arial"/>
                <a:cs typeface="Arial"/>
              </a:rPr>
              <a:t>Q4</a:t>
            </a:r>
          </a:p>
        </p:txBody>
      </p:sp>
      <p:sp>
        <p:nvSpPr>
          <p:cNvPr id="6" name="">
            <a:extLst xmlns:a="http://schemas.openxmlformats.org/drawingml/2006/main">
              <a:ext uri="{FF2B5EF4-FFF2-40B4-BE49-F238E27FC236}">
                <a16:creationId xmlns:a16="http://schemas.microsoft.com/office/drawing/2014/main" id="{4971EA84-2424-4F35-BAEC-2DADB307C7B1}"/>
              </a:ext>
            </a:extLst>
          </p:cNvPr>
          <p:cNvSpPr>
            <a:spLocks xmlns:a="http://schemas.openxmlformats.org/drawingml/2006/main" noGrp="1"/>
          </p:cNvSpPr>
          <p:nvPr/>
        </p:nvSpPr>
        <p:spPr>
          <a:xfrm xmlns:a="http://schemas.openxmlformats.org/drawingml/2006/main">
            <a:off x="1314450" y="1657350"/>
            <a:ext cx="9810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950" b="1">
                <a:solidFill>
                  <a:srgbClr val="0B0D10"/>
                </a:solidFill>
                <a:latin typeface="Arial"/>
                <a:ea typeface="Arial"/>
                <a:cs typeface="Arial"/>
              </a:defRPr>
            </a:pPr>
            <a:r>
              <a:rPr sz="1950" b="1">
                <a:solidFill>
                  <a:srgbClr val="0B0D10"/>
                </a:solidFill>
                <a:latin typeface="Arial"/>
                <a:ea typeface="Arial"/>
                <a:cs typeface="Arial"/>
              </a:rPr>
              <a:t>Does an authenticated DID automatically get access?</a:t>
            </a:r>
          </a:p>
        </p:txBody>
      </p:sp>
      <p:sp>
        <p:nvSpPr>
          <p:cNvPr id="7" name="">
            <a:extLst xmlns:a="http://schemas.openxmlformats.org/drawingml/2006/main">
              <a:ext uri="{FF2B5EF4-FFF2-40B4-BE49-F238E27FC236}">
                <a16:creationId xmlns:a16="http://schemas.microsoft.com/office/drawing/2014/main" id="{85E628B8-69F1-4CE3-88F6-C6C5BB523ED0}"/>
              </a:ext>
            </a:extLst>
          </p:cNvPr>
          <p:cNvSpPr>
            <a:spLocks xmlns:a="http://schemas.openxmlformats.org/drawingml/2006/main" noGrp="1"/>
          </p:cNvSpPr>
          <p:nvPr/>
        </p:nvSpPr>
        <p:spPr>
          <a:xfrm xmlns:a="http://schemas.openxmlformats.org/drawingml/2006/main">
            <a:off x="1314450" y="215265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0">
                <a:solidFill>
                  <a:srgbClr val="5B6470"/>
                </a:solidFill>
                <a:latin typeface="Arial"/>
                <a:ea typeface="Arial"/>
                <a:cs typeface="Arial"/>
              </a:defRPr>
            </a:pPr>
            <a:r>
              <a:rPr sz="1575" b="0">
                <a:solidFill>
                  <a:srgbClr val="5B6470"/>
                </a:solidFill>
                <a:latin typeface="Arial"/>
                <a:ea typeface="Arial"/>
                <a:cs typeface="Arial"/>
              </a:rPr>
              <a:t>No. Authentication proves control of an authorized DID key. Authorization remains a separate server decision.</a:t>
            </a:r>
          </a:p>
        </p:txBody>
      </p:sp>
      <p:sp>
        <p:nvSpPr>
          <p:cNvPr id="8" name="">
            <a:extLst xmlns:a="http://schemas.openxmlformats.org/drawingml/2006/main">
              <a:ext uri="{FF2B5EF4-FFF2-40B4-BE49-F238E27FC236}">
                <a16:creationId xmlns:a16="http://schemas.microsoft.com/office/drawing/2014/main" id="{E9AAF1E1-A4FD-492E-AD90-B9795FB44360}"/>
              </a:ext>
            </a:extLst>
          </p:cNvPr>
          <p:cNvSpPr>
            <a:spLocks xmlns:a="http://schemas.openxmlformats.org/drawingml/2006/main" noGrp="1"/>
          </p:cNvSpPr>
          <p:nvPr/>
        </p:nvSpPr>
        <p:spPr>
          <a:xfrm xmlns:a="http://schemas.openxmlformats.org/drawingml/2006/main">
            <a:off x="590550" y="2895600"/>
            <a:ext cx="105537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0E24E9AB-869B-41D4-931D-1B744BDAD50A}"/>
              </a:ext>
            </a:extLst>
          </p:cNvPr>
          <p:cNvSpPr>
            <a:spLocks xmlns:a="http://schemas.openxmlformats.org/drawingml/2006/main" noGrp="1"/>
          </p:cNvSpPr>
          <p:nvPr/>
        </p:nvSpPr>
        <p:spPr>
          <a:xfrm xmlns:a="http://schemas.openxmlformats.org/drawingml/2006/main">
            <a:off x="590550" y="3086100"/>
            <a:ext cx="514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00" b="1">
                <a:solidFill>
                  <a:srgbClr val="3D8DFF"/>
                </a:solidFill>
                <a:latin typeface="Arial"/>
                <a:ea typeface="Arial"/>
                <a:cs typeface="Arial"/>
              </a:defRPr>
            </a:pPr>
            <a:r>
              <a:rPr sz="1800" b="1">
                <a:solidFill>
                  <a:srgbClr val="3D8DFF"/>
                </a:solidFill>
                <a:latin typeface="Arial"/>
                <a:ea typeface="Arial"/>
                <a:cs typeface="Arial"/>
              </a:rPr>
              <a:t>Q5</a:t>
            </a:r>
          </a:p>
        </p:txBody>
      </p:sp>
      <p:sp>
        <p:nvSpPr>
          <p:cNvPr id="10" name="">
            <a:extLst xmlns:a="http://schemas.openxmlformats.org/drawingml/2006/main">
              <a:ext uri="{FF2B5EF4-FFF2-40B4-BE49-F238E27FC236}">
                <a16:creationId xmlns:a16="http://schemas.microsoft.com/office/drawing/2014/main" id="{6D7E8E90-658B-47B5-AAB9-DE5CC8283227}"/>
              </a:ext>
            </a:extLst>
          </p:cNvPr>
          <p:cNvSpPr>
            <a:spLocks xmlns:a="http://schemas.openxmlformats.org/drawingml/2006/main" noGrp="1"/>
          </p:cNvSpPr>
          <p:nvPr/>
        </p:nvSpPr>
        <p:spPr>
          <a:xfrm xmlns:a="http://schemas.openxmlformats.org/drawingml/2006/main">
            <a:off x="1314450" y="3086100"/>
            <a:ext cx="9810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950" b="1">
                <a:solidFill>
                  <a:srgbClr val="0B0D10"/>
                </a:solidFill>
                <a:latin typeface="Arial"/>
                <a:ea typeface="Arial"/>
                <a:cs typeface="Arial"/>
              </a:defRPr>
            </a:pPr>
            <a:r>
              <a:rPr sz="1950" b="1">
                <a:solidFill>
                  <a:srgbClr val="0B0D10"/>
                </a:solidFill>
                <a:latin typeface="Arial"/>
                <a:ea typeface="Arial"/>
                <a:cs typeface="Arial"/>
              </a:rPr>
              <a:t>Why issue an access token after DID authentication?</a:t>
            </a:r>
          </a:p>
        </p:txBody>
      </p:sp>
      <p:sp>
        <p:nvSpPr>
          <p:cNvPr id="11" name="">
            <a:extLst xmlns:a="http://schemas.openxmlformats.org/drawingml/2006/main">
              <a:ext uri="{FF2B5EF4-FFF2-40B4-BE49-F238E27FC236}">
                <a16:creationId xmlns:a16="http://schemas.microsoft.com/office/drawing/2014/main" id="{37364056-A18B-40FE-A932-816CC9873ABB}"/>
              </a:ext>
            </a:extLst>
          </p:cNvPr>
          <p:cNvSpPr>
            <a:spLocks xmlns:a="http://schemas.openxmlformats.org/drawingml/2006/main" noGrp="1"/>
          </p:cNvSpPr>
          <p:nvPr/>
        </p:nvSpPr>
        <p:spPr>
          <a:xfrm xmlns:a="http://schemas.openxmlformats.org/drawingml/2006/main">
            <a:off x="1314450" y="358140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0">
                <a:solidFill>
                  <a:srgbClr val="5B6470"/>
                </a:solidFill>
                <a:latin typeface="Arial"/>
                <a:ea typeface="Arial"/>
                <a:cs typeface="Arial"/>
              </a:defRPr>
            </a:pPr>
            <a:r>
              <a:rPr sz="1575" b="0">
                <a:solidFill>
                  <a:srgbClr val="5B6470"/>
                </a:solidFill>
                <a:latin typeface="Arial"/>
                <a:ea typeface="Arial"/>
                <a:cs typeface="Arial"/>
              </a:rPr>
              <a:t>It is an optimization that avoids repeated DID resolution and signature verification. It does not replace the initial proof.</a:t>
            </a:r>
          </a:p>
        </p:txBody>
      </p:sp>
      <p:sp>
        <p:nvSpPr>
          <p:cNvPr id="12" name="">
            <a:extLst xmlns:a="http://schemas.openxmlformats.org/drawingml/2006/main">
              <a:ext uri="{FF2B5EF4-FFF2-40B4-BE49-F238E27FC236}">
                <a16:creationId xmlns:a16="http://schemas.microsoft.com/office/drawing/2014/main" id="{6D559CDC-B2DD-45BF-BECB-5EC01AAB207D}"/>
              </a:ext>
            </a:extLst>
          </p:cNvPr>
          <p:cNvSpPr>
            <a:spLocks xmlns:a="http://schemas.openxmlformats.org/drawingml/2006/main" noGrp="1"/>
          </p:cNvSpPr>
          <p:nvPr/>
        </p:nvSpPr>
        <p:spPr>
          <a:xfrm xmlns:a="http://schemas.openxmlformats.org/drawingml/2006/main">
            <a:off x="590550" y="4324350"/>
            <a:ext cx="105537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AA3BAC7E-52F2-4ADE-8D7B-2D2E19E0F4D9}"/>
              </a:ext>
            </a:extLst>
          </p:cNvPr>
          <p:cNvSpPr>
            <a:spLocks xmlns:a="http://schemas.openxmlformats.org/drawingml/2006/main" noGrp="1"/>
          </p:cNvSpPr>
          <p:nvPr/>
        </p:nvSpPr>
        <p:spPr>
          <a:xfrm xmlns:a="http://schemas.openxmlformats.org/drawingml/2006/main">
            <a:off x="590550" y="4514850"/>
            <a:ext cx="514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00" b="1">
                <a:solidFill>
                  <a:srgbClr val="3D8DFF"/>
                </a:solidFill>
                <a:latin typeface="Arial"/>
                <a:ea typeface="Arial"/>
                <a:cs typeface="Arial"/>
              </a:defRPr>
            </a:pPr>
            <a:r>
              <a:rPr sz="1800" b="1">
                <a:solidFill>
                  <a:srgbClr val="3D8DFF"/>
                </a:solidFill>
                <a:latin typeface="Arial"/>
                <a:ea typeface="Arial"/>
                <a:cs typeface="Arial"/>
              </a:rPr>
              <a:t>Q6</a:t>
            </a:r>
          </a:p>
        </p:txBody>
      </p:sp>
      <p:sp>
        <p:nvSpPr>
          <p:cNvPr id="14" name="">
            <a:extLst xmlns:a="http://schemas.openxmlformats.org/drawingml/2006/main">
              <a:ext uri="{FF2B5EF4-FFF2-40B4-BE49-F238E27FC236}">
                <a16:creationId xmlns:a16="http://schemas.microsoft.com/office/drawing/2014/main" id="{70DDA417-36B8-4727-9D06-FF373E299E1E}"/>
              </a:ext>
            </a:extLst>
          </p:cNvPr>
          <p:cNvSpPr>
            <a:spLocks xmlns:a="http://schemas.openxmlformats.org/drawingml/2006/main" noGrp="1"/>
          </p:cNvSpPr>
          <p:nvPr/>
        </p:nvSpPr>
        <p:spPr>
          <a:xfrm xmlns:a="http://schemas.openxmlformats.org/drawingml/2006/main">
            <a:off x="1314450" y="4514850"/>
            <a:ext cx="9810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950" b="1">
                <a:solidFill>
                  <a:srgbClr val="0B0D10"/>
                </a:solidFill>
                <a:latin typeface="Arial"/>
                <a:ea typeface="Arial"/>
                <a:cs typeface="Arial"/>
              </a:defRPr>
            </a:pPr>
            <a:r>
              <a:rPr sz="1950" b="1">
                <a:solidFill>
                  <a:srgbClr val="0B0D10"/>
                </a:solidFill>
                <a:latin typeface="Arial"/>
                <a:ea typeface="Arial"/>
                <a:cs typeface="Arial"/>
              </a:rPr>
              <a:t>How does this relate to OAuth?</a:t>
            </a:r>
          </a:p>
        </p:txBody>
      </p:sp>
      <p:sp>
        <p:nvSpPr>
          <p:cNvPr id="15" name="">
            <a:extLst xmlns:a="http://schemas.openxmlformats.org/drawingml/2006/main">
              <a:ext uri="{FF2B5EF4-FFF2-40B4-BE49-F238E27FC236}">
                <a16:creationId xmlns:a16="http://schemas.microsoft.com/office/drawing/2014/main" id="{318DD5D5-751A-439E-BE06-A3A5F0761D6A}"/>
              </a:ext>
            </a:extLst>
          </p:cNvPr>
          <p:cNvSpPr>
            <a:spLocks xmlns:a="http://schemas.openxmlformats.org/drawingml/2006/main" noGrp="1"/>
          </p:cNvSpPr>
          <p:nvPr/>
        </p:nvSpPr>
        <p:spPr>
          <a:xfrm xmlns:a="http://schemas.openxmlformats.org/drawingml/2006/main">
            <a:off x="1314450" y="501015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0">
                <a:solidFill>
                  <a:srgbClr val="5B6470"/>
                </a:solidFill>
                <a:latin typeface="Arial"/>
                <a:ea typeface="Arial"/>
                <a:cs typeface="Arial"/>
              </a:defRPr>
            </a:pPr>
            <a:r>
              <a:rPr sz="1575" b="0">
                <a:solidFill>
                  <a:srgbClr val="5B6470"/>
                </a:solidFill>
                <a:latin typeface="Arial"/>
                <a:ea typeface="Arial"/>
                <a:cs typeface="Arial"/>
              </a:rPr>
              <a:t>This PR defines DID-based HTTP authentication, not a complete delegation framework. OAuth can be layered on top; that integration is outside this PR.</a:t>
            </a:r>
          </a:p>
        </p:txBody>
      </p:sp>
      <p:sp>
        <p:nvSpPr>
          <p:cNvPr id="16" name="">
            <a:extLst xmlns:a="http://schemas.openxmlformats.org/drawingml/2006/main">
              <a:ext uri="{FF2B5EF4-FFF2-40B4-BE49-F238E27FC236}">
                <a16:creationId xmlns:a16="http://schemas.microsoft.com/office/drawing/2014/main" id="{E102DA36-6479-42B6-9803-95083B7125AA}"/>
              </a:ext>
            </a:extLst>
          </p:cNvPr>
          <p:cNvSpPr>
            <a:spLocks xmlns:a="http://schemas.openxmlformats.org/drawingml/2006/main" noGrp="1"/>
          </p:cNvSpPr>
          <p:nvPr/>
        </p:nvSpPr>
        <p:spPr>
          <a:xfrm xmlns:a="http://schemas.openxmlformats.org/drawingml/2006/main">
            <a:off x="590550" y="5753100"/>
            <a:ext cx="105537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Tree>
    <p:extLst>
      <p:ext uri="{BB962C8B-B14F-4D97-AF65-F5344CB8AC3E}">
        <p14:creationId xmlns:p14="http://schemas.microsoft.com/office/powerpoint/2010/main" val="214024809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11203CA7-9871-4730-8834-5601372450A2}"/>
              </a:ext>
            </a:extLst>
          </p:cNvPr>
          <p:cNvSpPr>
            <a:spLocks xmlns:a="http://schemas.openxmlformats.org/drawingml/2006/main" noGrp="1"/>
          </p:cNvSpPr>
          <p:nvPr/>
        </p:nvSpPr>
        <p:spPr>
          <a:xfrm xmlns:a="http://schemas.openxmlformats.org/drawingml/2006/main">
            <a:off x="514350" y="2667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125" b="1">
                <a:solidFill>
                  <a:srgbClr val="3D8DFF"/>
                </a:solidFill>
                <a:latin typeface="Arial"/>
                <a:ea typeface="Arial"/>
                <a:cs typeface="Arial"/>
              </a:defRPr>
            </a:pPr>
            <a:r>
              <a:rPr sz="1125" b="1">
                <a:solidFill>
                  <a:srgbClr val="3D8DFF"/>
                </a:solidFill>
                <a:latin typeface="Arial"/>
                <a:ea typeface="Arial"/>
                <a:cs typeface="Arial"/>
              </a:rPr>
              <a:t>APPENDIX</a:t>
            </a:r>
          </a:p>
        </p:txBody>
      </p:sp>
      <p:sp>
        <p:nvSpPr>
          <p:cNvPr id="2" name="">
            <a:extLst xmlns:a="http://schemas.openxmlformats.org/drawingml/2006/main">
              <a:ext uri="{FF2B5EF4-FFF2-40B4-BE49-F238E27FC236}">
                <a16:creationId xmlns:a16="http://schemas.microsoft.com/office/drawing/2014/main" id="{B543150E-7C3A-4722-885A-10D5ECEC4C8B}"/>
              </a:ext>
            </a:extLst>
          </p:cNvPr>
          <p:cNvSpPr>
            <a:spLocks xmlns:a="http://schemas.openxmlformats.org/drawingml/2006/main" noGrp="1"/>
          </p:cNvSpPr>
          <p:nvPr/>
        </p:nvSpPr>
        <p:spPr>
          <a:xfrm xmlns:a="http://schemas.openxmlformats.org/drawingml/2006/main">
            <a:off x="514350" y="55245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3525" b="1">
                <a:solidFill>
                  <a:srgbClr val="0B0D10"/>
                </a:solidFill>
                <a:latin typeface="Arial"/>
                <a:ea typeface="Arial"/>
                <a:cs typeface="Arial"/>
              </a:defRPr>
            </a:pPr>
            <a:r>
              <a:rPr sz="3525" b="1">
                <a:solidFill>
                  <a:srgbClr val="0B0D10"/>
                </a:solidFill>
                <a:latin typeface="Arial"/>
                <a:ea typeface="Arial"/>
                <a:cs typeface="Arial"/>
              </a:rPr>
              <a:t>FAQ · did:wba lifecycle and readiness</a:t>
            </a:r>
          </a:p>
        </p:txBody>
      </p:sp>
      <p:sp>
        <p:nvSpPr>
          <p:cNvPr id="3" name="">
            <a:extLst xmlns:a="http://schemas.openxmlformats.org/drawingml/2006/main">
              <a:ext uri="{FF2B5EF4-FFF2-40B4-BE49-F238E27FC236}">
                <a16:creationId xmlns:a16="http://schemas.microsoft.com/office/drawing/2014/main" id="{E6FCB3DE-F50C-4E08-B31A-F432BE704576}"/>
              </a:ext>
            </a:extLst>
          </p:cNvPr>
          <p:cNvSpPr>
            <a:spLocks xmlns:a="http://schemas.openxmlformats.org/drawingml/2006/main" noGrp="1"/>
          </p:cNvSpPr>
          <p:nvPr/>
        </p:nvSpPr>
        <p:spPr>
          <a:xfrm xmlns:a="http://schemas.openxmlformats.org/drawingml/2006/main">
            <a:off x="514350" y="1352550"/>
            <a:ext cx="111633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3A2B6E6A-B67A-4E97-885A-CAB56A0C3127}"/>
              </a:ext>
            </a:extLst>
          </p:cNvPr>
          <p:cNvSpPr>
            <a:spLocks xmlns:a="http://schemas.openxmlformats.org/drawingml/2006/main" noGrp="1"/>
          </p:cNvSpPr>
          <p:nvPr/>
        </p:nvSpPr>
        <p:spPr>
          <a:xfrm xmlns:a="http://schemas.openxmlformats.org/drawingml/2006/main">
            <a:off x="11239500" y="6362700"/>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975" b="0">
                <a:solidFill>
                  <a:srgbClr val="5B6470"/>
                </a:solidFill>
                <a:latin typeface="Arial"/>
                <a:ea typeface="Arial"/>
                <a:cs typeface="Arial"/>
              </a:defRPr>
            </a:pPr>
            <a:r>
              <a:rPr sz="975" b="0">
                <a:solidFill>
                  <a:srgbClr val="5B6470"/>
                </a:solidFill>
                <a:latin typeface="Arial"/>
                <a:ea typeface="Arial"/>
                <a:cs typeface="Arial"/>
              </a:rPr>
              <a:t>16</a:t>
            </a:r>
          </a:p>
        </p:txBody>
      </p:sp>
      <p:sp>
        <p:nvSpPr>
          <p:cNvPr id="5" name="">
            <a:extLst xmlns:a="http://schemas.openxmlformats.org/drawingml/2006/main">
              <a:ext uri="{FF2B5EF4-FFF2-40B4-BE49-F238E27FC236}">
                <a16:creationId xmlns:a16="http://schemas.microsoft.com/office/drawing/2014/main" id="{0EE5D4F0-56C1-48DC-A806-1EDF86F89AD7}"/>
              </a:ext>
            </a:extLst>
          </p:cNvPr>
          <p:cNvSpPr>
            <a:spLocks xmlns:a="http://schemas.openxmlformats.org/drawingml/2006/main" noGrp="1"/>
          </p:cNvSpPr>
          <p:nvPr/>
        </p:nvSpPr>
        <p:spPr>
          <a:xfrm xmlns:a="http://schemas.openxmlformats.org/drawingml/2006/main">
            <a:off x="590550" y="1657350"/>
            <a:ext cx="514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00" b="1">
                <a:solidFill>
                  <a:srgbClr val="3D8DFF"/>
                </a:solidFill>
                <a:latin typeface="Arial"/>
                <a:ea typeface="Arial"/>
                <a:cs typeface="Arial"/>
              </a:defRPr>
            </a:pPr>
            <a:r>
              <a:rPr sz="1800" b="1">
                <a:solidFill>
                  <a:srgbClr val="3D8DFF"/>
                </a:solidFill>
                <a:latin typeface="Arial"/>
                <a:ea typeface="Arial"/>
                <a:cs typeface="Arial"/>
              </a:rPr>
              <a:t>Q7</a:t>
            </a:r>
          </a:p>
        </p:txBody>
      </p:sp>
      <p:sp>
        <p:nvSpPr>
          <p:cNvPr id="6" name="">
            <a:extLst xmlns:a="http://schemas.openxmlformats.org/drawingml/2006/main">
              <a:ext uri="{FF2B5EF4-FFF2-40B4-BE49-F238E27FC236}">
                <a16:creationId xmlns:a16="http://schemas.microsoft.com/office/drawing/2014/main" id="{4CD67500-3DC9-4FCA-BE3C-8A184203E6B8}"/>
              </a:ext>
            </a:extLst>
          </p:cNvPr>
          <p:cNvSpPr>
            <a:spLocks xmlns:a="http://schemas.openxmlformats.org/drawingml/2006/main" noGrp="1"/>
          </p:cNvSpPr>
          <p:nvPr/>
        </p:nvSpPr>
        <p:spPr>
          <a:xfrm xmlns:a="http://schemas.openxmlformats.org/drawingml/2006/main">
            <a:off x="1314450" y="1657350"/>
            <a:ext cx="9810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950" b="1">
                <a:solidFill>
                  <a:srgbClr val="0B0D10"/>
                </a:solidFill>
                <a:latin typeface="Arial"/>
                <a:ea typeface="Arial"/>
                <a:cs typeface="Arial"/>
              </a:defRPr>
            </a:pPr>
            <a:r>
              <a:rPr sz="1950" b="1">
                <a:solidFill>
                  <a:srgbClr val="0B0D10"/>
                </a:solidFill>
                <a:latin typeface="Arial"/>
                <a:ea typeface="Arial"/>
                <a:cs typeface="Arial"/>
              </a:rPr>
              <a:t>Why does changing the e1_ binding key change the DID?</a:t>
            </a:r>
          </a:p>
        </p:txBody>
      </p:sp>
      <p:sp>
        <p:nvSpPr>
          <p:cNvPr id="7" name="">
            <a:extLst xmlns:a="http://schemas.openxmlformats.org/drawingml/2006/main">
              <a:ext uri="{FF2B5EF4-FFF2-40B4-BE49-F238E27FC236}">
                <a16:creationId xmlns:a16="http://schemas.microsoft.com/office/drawing/2014/main" id="{DF4AD4ED-0EBF-4528-ABB7-00ADCB7F926C}"/>
              </a:ext>
            </a:extLst>
          </p:cNvPr>
          <p:cNvSpPr>
            <a:spLocks xmlns:a="http://schemas.openxmlformats.org/drawingml/2006/main" noGrp="1"/>
          </p:cNvSpPr>
          <p:nvPr/>
        </p:nvSpPr>
        <p:spPr>
          <a:xfrm xmlns:a="http://schemas.openxmlformats.org/drawingml/2006/main">
            <a:off x="1314450" y="215265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0">
                <a:solidFill>
                  <a:srgbClr val="5B6470"/>
                </a:solidFill>
                <a:latin typeface="Arial"/>
                <a:ea typeface="Arial"/>
                <a:cs typeface="Arial"/>
              </a:defRPr>
            </a:pPr>
            <a:r>
              <a:rPr sz="1575" b="0">
                <a:solidFill>
                  <a:srgbClr val="5B6470"/>
                </a:solidFill>
                <a:latin typeface="Arial"/>
                <a:ea typeface="Arial"/>
                <a:cs typeface="Arial"/>
              </a:rPr>
              <a:t>Because the public-key fingerprint is part of the identifier. Stable user-facing naming belongs above the DID method.</a:t>
            </a:r>
          </a:p>
        </p:txBody>
      </p:sp>
      <p:sp>
        <p:nvSpPr>
          <p:cNvPr id="8" name="">
            <a:extLst xmlns:a="http://schemas.openxmlformats.org/drawingml/2006/main">
              <a:ext uri="{FF2B5EF4-FFF2-40B4-BE49-F238E27FC236}">
                <a16:creationId xmlns:a16="http://schemas.microsoft.com/office/drawing/2014/main" id="{F53AE4E8-3AFE-4204-A6A4-67121B1B352F}"/>
              </a:ext>
            </a:extLst>
          </p:cNvPr>
          <p:cNvSpPr>
            <a:spLocks xmlns:a="http://schemas.openxmlformats.org/drawingml/2006/main" noGrp="1"/>
          </p:cNvSpPr>
          <p:nvPr/>
        </p:nvSpPr>
        <p:spPr>
          <a:xfrm xmlns:a="http://schemas.openxmlformats.org/drawingml/2006/main">
            <a:off x="590550" y="2895600"/>
            <a:ext cx="105537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72457AEE-435B-4B81-990F-260FF925EEDE}"/>
              </a:ext>
            </a:extLst>
          </p:cNvPr>
          <p:cNvSpPr>
            <a:spLocks xmlns:a="http://schemas.openxmlformats.org/drawingml/2006/main" noGrp="1"/>
          </p:cNvSpPr>
          <p:nvPr/>
        </p:nvSpPr>
        <p:spPr>
          <a:xfrm xmlns:a="http://schemas.openxmlformats.org/drawingml/2006/main">
            <a:off x="590550" y="3086100"/>
            <a:ext cx="514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00" b="1">
                <a:solidFill>
                  <a:srgbClr val="3D8DFF"/>
                </a:solidFill>
                <a:latin typeface="Arial"/>
                <a:ea typeface="Arial"/>
                <a:cs typeface="Arial"/>
              </a:defRPr>
            </a:pPr>
            <a:r>
              <a:rPr sz="1800" b="1">
                <a:solidFill>
                  <a:srgbClr val="3D8DFF"/>
                </a:solidFill>
                <a:latin typeface="Arial"/>
                <a:ea typeface="Arial"/>
                <a:cs typeface="Arial"/>
              </a:rPr>
              <a:t>Q8</a:t>
            </a:r>
          </a:p>
        </p:txBody>
      </p:sp>
      <p:sp>
        <p:nvSpPr>
          <p:cNvPr id="10" name="">
            <a:extLst xmlns:a="http://schemas.openxmlformats.org/drawingml/2006/main">
              <a:ext uri="{FF2B5EF4-FFF2-40B4-BE49-F238E27FC236}">
                <a16:creationId xmlns:a16="http://schemas.microsoft.com/office/drawing/2014/main" id="{FBCC81F6-A556-4271-854C-7915AE329A89}"/>
              </a:ext>
            </a:extLst>
          </p:cNvPr>
          <p:cNvSpPr>
            <a:spLocks xmlns:a="http://schemas.openxmlformats.org/drawingml/2006/main" noGrp="1"/>
          </p:cNvSpPr>
          <p:nvPr/>
        </p:nvSpPr>
        <p:spPr>
          <a:xfrm xmlns:a="http://schemas.openxmlformats.org/drawingml/2006/main">
            <a:off x="1314450" y="3086100"/>
            <a:ext cx="9810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950" b="1">
                <a:solidFill>
                  <a:srgbClr val="0B0D10"/>
                </a:solidFill>
                <a:latin typeface="Arial"/>
                <a:ea typeface="Arial"/>
                <a:cs typeface="Arial"/>
              </a:defRPr>
            </a:pPr>
            <a:r>
              <a:rPr sz="1950" b="1">
                <a:solidFill>
                  <a:srgbClr val="0B0D10"/>
                </a:solidFill>
                <a:latin typeface="Arial"/>
                <a:ea typeface="Arial"/>
                <a:cs typeface="Arial"/>
              </a:rPr>
              <a:t>Are legacy path DIDs without a fingerprint supported?</a:t>
            </a:r>
          </a:p>
        </p:txBody>
      </p:sp>
      <p:sp>
        <p:nvSpPr>
          <p:cNvPr id="11" name="">
            <a:extLst xmlns:a="http://schemas.openxmlformats.org/drawingml/2006/main">
              <a:ext uri="{FF2B5EF4-FFF2-40B4-BE49-F238E27FC236}">
                <a16:creationId xmlns:a16="http://schemas.microsoft.com/office/drawing/2014/main" id="{F498003A-A410-44FE-A6B4-2AC0A9BB75B1}"/>
              </a:ext>
            </a:extLst>
          </p:cNvPr>
          <p:cNvSpPr>
            <a:spLocks xmlns:a="http://schemas.openxmlformats.org/drawingml/2006/main" noGrp="1"/>
          </p:cNvSpPr>
          <p:nvPr/>
        </p:nvSpPr>
        <p:spPr>
          <a:xfrm xmlns:a="http://schemas.openxmlformats.org/drawingml/2006/main">
            <a:off x="1314450" y="358140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0">
                <a:solidFill>
                  <a:srgbClr val="5B6470"/>
                </a:solidFill>
                <a:latin typeface="Arial"/>
                <a:ea typeface="Arial"/>
                <a:cs typeface="Arial"/>
              </a:defRPr>
            </a:pPr>
            <a:r>
              <a:rPr sz="1575" b="0">
                <a:solidFill>
                  <a:srgbClr val="5B6470"/>
                </a:solidFill>
                <a:latin typeface="Arial"/>
                <a:ea typeface="Arial"/>
                <a:cs typeface="Arial"/>
              </a:rPr>
              <a:t>The text allows parsers to accept historical forms, but the exact legacy syntax and validation profile should be clarified.</a:t>
            </a:r>
          </a:p>
        </p:txBody>
      </p:sp>
      <p:sp>
        <p:nvSpPr>
          <p:cNvPr id="12" name="">
            <a:extLst xmlns:a="http://schemas.openxmlformats.org/drawingml/2006/main">
              <a:ext uri="{FF2B5EF4-FFF2-40B4-BE49-F238E27FC236}">
                <a16:creationId xmlns:a16="http://schemas.microsoft.com/office/drawing/2014/main" id="{5B8FB060-E72D-4769-B691-587823A20A8C}"/>
              </a:ext>
            </a:extLst>
          </p:cNvPr>
          <p:cNvSpPr>
            <a:spLocks xmlns:a="http://schemas.openxmlformats.org/drawingml/2006/main" noGrp="1"/>
          </p:cNvSpPr>
          <p:nvPr/>
        </p:nvSpPr>
        <p:spPr>
          <a:xfrm xmlns:a="http://schemas.openxmlformats.org/drawingml/2006/main">
            <a:off x="590550" y="4324350"/>
            <a:ext cx="105537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F3AB422A-4D43-4AC5-B990-2C24E484B423}"/>
              </a:ext>
            </a:extLst>
          </p:cNvPr>
          <p:cNvSpPr>
            <a:spLocks xmlns:a="http://schemas.openxmlformats.org/drawingml/2006/main" noGrp="1"/>
          </p:cNvSpPr>
          <p:nvPr/>
        </p:nvSpPr>
        <p:spPr>
          <a:xfrm xmlns:a="http://schemas.openxmlformats.org/drawingml/2006/main">
            <a:off x="590550" y="4514850"/>
            <a:ext cx="514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00" b="1">
                <a:solidFill>
                  <a:srgbClr val="3D8DFF"/>
                </a:solidFill>
                <a:latin typeface="Arial"/>
                <a:ea typeface="Arial"/>
                <a:cs typeface="Arial"/>
              </a:defRPr>
            </a:pPr>
            <a:r>
              <a:rPr sz="1800" b="1">
                <a:solidFill>
                  <a:srgbClr val="3D8DFF"/>
                </a:solidFill>
                <a:latin typeface="Arial"/>
                <a:ea typeface="Arial"/>
                <a:cs typeface="Arial"/>
              </a:rPr>
              <a:t>Q9</a:t>
            </a:r>
          </a:p>
        </p:txBody>
      </p:sp>
      <p:sp>
        <p:nvSpPr>
          <p:cNvPr id="14" name="">
            <a:extLst xmlns:a="http://schemas.openxmlformats.org/drawingml/2006/main">
              <a:ext uri="{FF2B5EF4-FFF2-40B4-BE49-F238E27FC236}">
                <a16:creationId xmlns:a16="http://schemas.microsoft.com/office/drawing/2014/main" id="{46EE486E-54A4-415D-A13C-2D7DEF981BDC}"/>
              </a:ext>
            </a:extLst>
          </p:cNvPr>
          <p:cNvSpPr>
            <a:spLocks xmlns:a="http://schemas.openxmlformats.org/drawingml/2006/main" noGrp="1"/>
          </p:cNvSpPr>
          <p:nvPr/>
        </p:nvSpPr>
        <p:spPr>
          <a:xfrm xmlns:a="http://schemas.openxmlformats.org/drawingml/2006/main">
            <a:off x="1314450" y="4514850"/>
            <a:ext cx="9810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950" b="1">
                <a:solidFill>
                  <a:srgbClr val="0B0D10"/>
                </a:solidFill>
                <a:latin typeface="Arial"/>
                <a:ea typeface="Arial"/>
                <a:cs typeface="Arial"/>
              </a:defRPr>
            </a:pPr>
            <a:r>
              <a:rPr sz="1950" b="1">
                <a:solidFill>
                  <a:srgbClr val="0B0D10"/>
                </a:solidFill>
                <a:latin typeface="Arial"/>
                <a:ea typeface="Arial"/>
                <a:cs typeface="Arial"/>
              </a:rPr>
              <a:t>Is the PR implementation-ready?</a:t>
            </a:r>
          </a:p>
        </p:txBody>
      </p:sp>
      <p:sp>
        <p:nvSpPr>
          <p:cNvPr id="15" name="">
            <a:extLst xmlns:a="http://schemas.openxmlformats.org/drawingml/2006/main">
              <a:ext uri="{FF2B5EF4-FFF2-40B4-BE49-F238E27FC236}">
                <a16:creationId xmlns:a16="http://schemas.microsoft.com/office/drawing/2014/main" id="{78B2ED99-7369-4BCB-A6A9-57C13DBCF0B5}"/>
              </a:ext>
            </a:extLst>
          </p:cNvPr>
          <p:cNvSpPr>
            <a:spLocks xmlns:a="http://schemas.openxmlformats.org/drawingml/2006/main" noGrp="1"/>
          </p:cNvSpPr>
          <p:nvPr/>
        </p:nvSpPr>
        <p:spPr>
          <a:xfrm xmlns:a="http://schemas.openxmlformats.org/drawingml/2006/main">
            <a:off x="1314450" y="501015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0">
                <a:solidFill>
                  <a:srgbClr val="5B6470"/>
                </a:solidFill>
                <a:latin typeface="Arial"/>
                <a:ea typeface="Arial"/>
                <a:cs typeface="Arial"/>
              </a:defRPr>
            </a:pPr>
            <a:r>
              <a:rPr sz="1575" b="0">
                <a:solidFill>
                  <a:srgbClr val="5B6470"/>
                </a:solidFill>
                <a:latin typeface="Arial"/>
                <a:ea typeface="Arial"/>
                <a:cs typeface="Arial"/>
              </a:rPr>
              <a:t>The architecture is strong, but minimum algorithms, replay uniqueness, anti-rollback behavior, and executable test vectors need further review.</a:t>
            </a:r>
          </a:p>
        </p:txBody>
      </p:sp>
      <p:sp>
        <p:nvSpPr>
          <p:cNvPr id="16" name="">
            <a:extLst xmlns:a="http://schemas.openxmlformats.org/drawingml/2006/main">
              <a:ext uri="{FF2B5EF4-FFF2-40B4-BE49-F238E27FC236}">
                <a16:creationId xmlns:a16="http://schemas.microsoft.com/office/drawing/2014/main" id="{7A4C763B-89CA-465E-BECD-AE3FF1C6D396}"/>
              </a:ext>
            </a:extLst>
          </p:cNvPr>
          <p:cNvSpPr>
            <a:spLocks xmlns:a="http://schemas.openxmlformats.org/drawingml/2006/main" noGrp="1"/>
          </p:cNvSpPr>
          <p:nvPr/>
        </p:nvSpPr>
        <p:spPr>
          <a:xfrm xmlns:a="http://schemas.openxmlformats.org/drawingml/2006/main">
            <a:off x="590550" y="5753100"/>
            <a:ext cx="105537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Tree>
    <p:extLst>
      <p:ext uri="{BB962C8B-B14F-4D97-AF65-F5344CB8AC3E}">
        <p14:creationId xmlns:p14="http://schemas.microsoft.com/office/powerpoint/2010/main" val="70252017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2026-08-26T12:54:27.2820000Z</dcterms:created>
  <dcterms:modified xsi:type="dcterms:W3CDTF">2026-08-26T12:54:27.2820000Z</dcterms:modified>
</coreProperties>
</file>