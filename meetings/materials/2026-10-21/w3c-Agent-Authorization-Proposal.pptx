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This proposal adds authorization on top of the existing identity layer. First separate verifiable attributes, organizational roles and direct mandates from resource-side access grants. The main OAuth contribution is the binding between a DID identity and self-published, CIMD-style client metadata. The deck explains the design and trust boundaries rather than re-teaching the standard OAuth authorization-code flow.</a:t>
            </a:r>
          </a:p>
          <a:p/>
          <a:p>
            <a:r>
              <a:t>中文讲解提示</a:t>
            </a:r>
          </a:p>
          <a:p>
            <a:r>
              <a:t>本提案在现有身份层上增加授权能力。首先区分可验证属性、组织角色与直接委托，以及资源方管理的访问授权。OAuth 部分的重点是 DID 身份与自发布、CIMD 风格客户端元数据之间的绑定。分享聚焦设计思路与信任边界，而不是重复介绍标准 OAuth 授权码流程。</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A DID authentication proof establishes control of an authorized key for an identifier. It does not establish a company role, human consent or permission to access a resource. Use a purchasing Agent as the example: the supplier must assess both its claimed organizational mandate and its permission for the requested business operation. An authorization model must record the authorizer, Agent, resource or action, limits and the lifecycle of the grant.</a:t>
            </a:r>
          </a:p>
          <a:p/>
          <a:p>
            <a:r>
              <a:t>中文讲解提示</a:t>
            </a:r>
          </a:p>
          <a:p>
            <a:r>
              <a:t>DID 认证证明某个标识符的已授权密钥受控，但不自动证明组织角色、用户同意或资源权限。可以用采购智能体举例：供应商既要确认它代表哪家公司，也要判断它是否有权执行具体操作。授权模型需要明确授权者、智能体、资源或动作、约束，以及授权如何终止。</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This is a division of primary responsibilities, not an exclusive capability boundary. VC can represent attributes, organizational roles and direct delegation. A signature does not make a statement automatically true or acceptable: the verifier must decide whether to trust the issuer for that claim. OAuth manages resource-side grants and may also consider roles or other evidence in its policy. The current proposal defines no automatic VC-to-OAuth token conversion.</a:t>
            </a:r>
          </a:p>
          <a:p/>
          <a:p>
            <a:r>
              <a:t>中文讲解提示</a:t>
            </a:r>
          </a:p>
          <a:p>
            <a:r>
              <a:t>这里说明的是主要职责分工，而非排他的能力边界。VC 可以承载属性、组织角色或直接委托；签名不意味着声明自动真实、可信或被接受，验证方仍需判断签发者是否有权签发这类声明。OAuth 管理资源方侧的访问授权，其策略也可参考角色等信息。当前提案不定义 VC 自动兑换 OAuth 令牌。</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The issuer controls its issuing key; the Agent does not receive that key. The Agent presents the credential with proof that it is the intended holder. The verifier checks issuer authority, holder binding, current status including revocation, permissions, constraints and its own policy. This describes the intended architecture. The detailed VC Profile remains under development in the source snapshot; this is not a claim that an implementable complete VC profile has already been finalized.</a:t>
            </a:r>
          </a:p>
          <a:p/>
          <a:p>
            <a:r>
              <a:t>中文讲解提示</a:t>
            </a:r>
          </a:p>
          <a:p>
            <a:r>
              <a:t>签发者自己控制签发密钥，不应把该密钥交给智能体。智能体持有凭证并在出示时证明自己是指定持有者。验证方核验签发者权限、持有者绑定、当前状态（包括撤销）、权限与约束，并应用本地策略。本页介绍预期架构；来源快照中的详细 VC Profile 仍待完善，不表示已形成完整可实现的规范。</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The proposal does not redesign OAuth. It adds a scalable way for previously unknown Agents to identify and describe themselves as clients. Standard CIMD uses an HTTPS metadata-document URL as client_id. This proposal borrows its self-published metadata pattern but keeps the Agent DID as client_id. The validated DID Document supplies the authentication-key relationship, metadata location and pinned digest. This is a DID-native extension, not unmodified standard CIMD. A stock AS needs the appropriate adapter. Consent, grants, scopes, tokens, refresh and revocation remain OAuth responsibilities.</a:t>
            </a:r>
          </a:p>
          <a:p/>
          <a:p>
            <a:r>
              <a:t>中文讲解提示</a:t>
            </a:r>
          </a:p>
          <a:p>
            <a:r>
              <a:t>本提案并不重做 OAuth，而是让此前未知的智能体可以扩展地完成客户端身份识别和元数据描述。标准 CIMD 使用 HTTPS 元数据文档 URL 作为 client_id；本方案借鉴其自发布元数据模式，但保留 Agent DID 作为 client_id。经过验证的 DID 文档提供认证密钥关系、元数据位置及固定摘要。这是 DID 原生扩展，不是未经修改的标准 CIMD，普通授权服务器仍需适配。用户同意、授权、权限范围、令牌、刷新与撤销继续由 OAuth 负责。</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Two documents serve distinct purposes. The DID Document is validated under its DID method and authorizes the keys used for client authentication. It also carries the metadata service URL and digest. The CIMD-style document describes OAuth client configuration; it cannot silently replace the DID or become a new authority for keys. OAuth grants and resource policy remain a third, independent concern. The DID method supplies the applicable trust model; a DID Document is not automatically an assertion of organizational trust or resource permission.</a:t>
            </a:r>
          </a:p>
          <a:p/>
          <a:p>
            <a:r>
              <a:t>中文讲解提示</a:t>
            </a:r>
          </a:p>
          <a:p>
            <a:r>
              <a:t>两份文档职责不同：DID 文档按对应 DID 方法进行验证，并授权用于客户端认证的密钥；它还携带元数据服务地址与摘要。CIMD 风格文档描述 OAuth 客户端配置，不能悄悄替换 DID 或成为另一套密钥权威。OAuth 的授权与资源策略是第三类独立职责。信任属性由具体 DID 方法决定，DID 文档不会自动证明组织可信性或资源权限。</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The arrow has one direction: the validated DID Document points to the metadata and pins its content. serviceEndpoint locates the document; the digest binds its exact UTF-8 bytes. Authentication keys still come from the DID authentication relationship. The metadata client_id must match the Agent DID. Redirect URIs and grant types are requested configuration, not permission: the AS must approve them under its policy. The source field is anp_metadata_sha256; earlier slides used metadata_sha256 as a shorthand. This revision displays the source field name.</a:t>
            </a:r>
          </a:p>
          <a:p/>
          <a:p>
            <a:r>
              <a:t>中文讲解提示</a:t>
            </a:r>
          </a:p>
          <a:p>
            <a:r>
              <a:t>箭头只有一个方向：经过验证的 DID 文档指向元数据，并固定其内容。serviceEndpoint 定位文档，摘要绑定精确 UTF-8 字节。客户端认证密钥仍由 DID authentication 关系授权；元数据中的 client_id 必须与 Agent DID 一致。回调地址和授权类型是请求配置而非权限，仍需授权服务器按策略审批。来源草案字段名是 anp_metadata_sha256，前版以 metadata_sha256 简写；本版显示原始字段名。</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First establish the DID and authentication key. Create the metadata document, serialize its exact UTF-8 representation and compute SHA-256. Publish the URL and digest through a valid DID Document update, together with the authorized key relationship. The digest covers the complete bytes, including whitespace and a final newline if present. Hash after HTTP transfer/content decoding; do not parse and reserialize the JSON before comparison. Any metadata change requires an updated digest. Metadata integrity still depends on the chosen DID method, freshness and key custody. This is not a claim of automatic rollback resistance.</a:t>
            </a:r>
          </a:p>
          <a:p/>
          <a:p>
            <a:r>
              <a:t>中文讲解提示</a:t>
            </a:r>
          </a:p>
          <a:p>
            <a:r>
              <a:t>先建立 DID 与认证密钥，再创建元数据文档，对其精确 UTF-8 表示进行序列化并计算 SHA-256。通过有效的 DID 文档更新发布 URL 与摘要，并建立认证密钥关系。摘要覆盖全部字节，包括空白和存在时的末尾换行。应在 HTTP 传输及内容解码后计算，不能解析 JSON 后重新序列化再比较。任何元数据变化都需要更新摘要。完整性仍依赖具体 DID 方法、状态新鲜度和密钥保管，并不意味着自动具备防回滚能力。</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First-contact admission is enabled only when the AS supports this DID-native profile and allows self-published clients. Validate the current DID Document under its method. Fetch the advertised metadata, compare its exact-byte digest and require a matching client_id and profile. Apply local admission policy. For an authorization-code flow, discovery, callback approval and admission occur before issuing the code; they do not prove possession of the client key. At the token endpoint, revalidate as required and check a fresh client_assertion using private_key_jwt and a key authorized by DID authentication. Enforce the audience, time and replay checks. Independently validate the grant and resource policy before issuing any token. All failures fail closed.</a:t>
            </a:r>
          </a:p>
          <a:p/>
          <a:p>
            <a:r>
              <a:t>中文讲解提示</a:t>
            </a:r>
          </a:p>
          <a:p>
            <a:r>
              <a:t>只有授权服务器支持该 DID 原生 Profile，并允许自发布客户端时，才能进行首次接入。先按 DID 方法验证当前文档，再获取元数据、比较精确字节摘要，并检查 client_id 与 Profile 一致性，随后执行本地准入策略。授权码模式中，发现、回调审批与准入在授权码签发前完成；这不证明客户端持有私钥。令牌端点按要求重新检查，并使用 DID authentication 授权的密钥验证新的 private_key_jwt 客户端断言，检查受众、时间和重放。签发令牌前，还需独立判断授权与资源策略；必要检查失败时拒绝。</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The proposal adds a DID-native onboarding and metadata-binding layer, not a replacement for OAuth grants. Keep three decisions separate: discovery of configuration, proof of the client identity, and permission for a protected operation. The DID client-authentication key and a DPoP key serve distinct roles; DPoP does not replace client authentication, and using a DID for client authentication does not automatically sender-constrain an access token. Key material need not be the same and is not required to be different by this architecture. Each resource still enforces its own scopes, policy and token lifecycle. Interoperability work must test first contact, tampering, key updates and revocation.</a:t>
            </a:r>
          </a:p>
          <a:p/>
          <a:p>
            <a:r>
              <a:t>中文讲解提示</a:t>
            </a:r>
          </a:p>
          <a:p>
            <a:r>
              <a:t>本提案增加 DID 原生客户端接入与元数据绑定层，不替代 OAuth 授权机制。必须区分配置发现、客户端身份认证，以及受保护操作的权限判断。DID 客户端认证密钥与 DPoP 密钥的职责不同；DPoP 不替代客户端认证，以 DID 进行客户端认证也不自动约束令牌的持有者。二者密钥材料不必相同，本架构也不要求必须不同。各资源方仍执行自身权限范围、策略和令牌生命周期。互操作测试应覆盖首次接入、篡改、密钥更新与撤销。</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The proposal adds a DID-native onboarding and metadata-binding layer, not a replacement for OAuth grants. Keep three decisions separate: discovery of configuration, proof of the client identity, and permission for a protected operation. The DID client-authentication key and a DPoP key serve distinct roles; DPoP does not replace client authentication, and using a DID for client authentication does not automatically sender-constrain an access token. Key material need not be the same and is not required to be different by this architecture. Each resource still enforces its own scopes, policy and token lifecycle. Interoperability work must test first contact, tampering, key updates and revocation.</a:t>
            </a:r>
          </a:p>
          <a:p/>
          <a:p>
            <a:r>
              <a:t>中文讲解提示</a:t>
            </a:r>
          </a:p>
          <a:p>
            <a:r>
              <a:t>本提案增加 DID 原生客户端接入与元数据绑定层，不替代 OAuth 授权机制。必须区分配置发现、客户端身份认证，以及受保护操作的权限判断。DID 客户端认证密钥与 DPoP 密钥的职责不同；DPoP 不替代客户端认证，以 DID 进行客户端认证也不自动约束令牌的持有者。二者密钥材料不必相同，本架构也不要求必须不同。各资源方仍执行自身权限范围、策略和令牌生命周期。互操作测试应覆盖首次接入、篡改、密钥更新与撤销。</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NOTES</a:t>
            </a:r>
          </a:p>
          <a:p>
            <a:r>
              <a:t>The proposal adds a DID-native onboarding and metadata-binding layer, not a replacement for OAuth grants. Keep three decisions separate: discovery of configuration, proof of the client identity, and permission for a protected operation. The DID client-authentication key and a DPoP key serve distinct roles; DPoP does not replace client authentication, and using a DID for client authentication does not automatically sender-constrain an access token. Key material need not be the same and is not required to be different by this architecture. Each resource still enforces its own scopes, policy and token lifecycle. Interoperability work must test first contact, tampering, key updates and revocation.</a:t>
            </a:r>
          </a:p>
          <a:p/>
          <a:p>
            <a:r>
              <a:t>中文讲解提示</a:t>
            </a:r>
          </a:p>
          <a:p>
            <a:r>
              <a:t>本提案增加 DID 原生客户端接入与元数据绑定层，不替代 OAuth 授权机制。必须区分配置发现、客户端身份认证，以及受保护操作的权限判断。DID 客户端认证密钥与 DPoP 密钥的职责不同；DPoP 不替代客户端认证，以 DID 进行客户端认证也不自动约束令牌的持有者。二者密钥材料不必相同，本架构也不要求必须不同。各资源方仍执行自身权限范围、策略和令牌生命周期。互操作测试应覆盖首次接入、篡改、密钥更新与撤销。</a:t>
            </a:r>
          </a:p>
          <a:p/>
          <a:p>
            <a:r>
              <a:t>SOURCES / 来源</a:t>
            </a:r>
          </a:p>
          <a:p>
            <a:r>
              <a:t>ANP-05 source draft / ANP-05 来源草案:</a:t>
            </a:r>
          </a:p>
          <a:p>
            <a:r>
              <a:t>https://github.com/agent-network-protocol/AgentNetworkProtocol/blob/6683793dc1df244375b1bf51f2bce93bd5f48ac3/05-anp-did-authorization-protocol-specification.md</a:t>
            </a:r>
          </a:p>
          <a:p>
            <a:r>
              <a:t>AI Agent Protocol working proposal / AI Agent Protocol 工作提案:</a:t>
            </a:r>
          </a:p>
          <a:p>
            <a:r>
              <a:t>protocol.html and agent-authorization.html prepared in this conversation / 本次对话整理的 protocol.html 与 agent-authorization.html。</a:t>
            </a:r>
          </a:p>
          <a:p>
            <a:r>
              <a:t>Community discussion material, not an adopted W3C Recommendation / 社区讨论材料，并非已采纳的 W3C 推荐标准。</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ENGLISH SPEAKER NOTES</a:t>
            </a:r>
          </a:p>
          <a:p>
            <a:r>
              <a:t>The CIMD URL remains the OAuth client identifier. The client publishes metadata, and in the selected private_key_jwt configuration it publishes public keys through JWKS. The optional proposal extension names an Agent DID. An extension-aware authorization server verifies the DID document and its explicit back-reference to the client URL, plus the selected key-binding evidence. CIMD discovery, local admission, user consent, grants, scopes and tokens remain separate concerns. An unverified agent_did is only a claim. A standard server that does not implement this extension must not be described as having verified the DID.</a:t>
            </a:r>
          </a:p>
          <a:p/>
          <a:p>
            <a:r>
              <a:t>中文讲解提示</a:t>
            </a:r>
          </a:p>
          <a:p>
            <a:r>
              <a:t>CIMD URL 仍然是 OAuth 客户端标识。客户端发布元数据；在本页采用的 private_key_jwt 配置中，通过 JWKS 发布公钥。可选的提案扩展声明 Agent DID。支持扩展的授权服务器验证 DID 文档、其对客户端 URL 的明确回指，以及所选择的密钥绑定证据。CIMD 发现、本地准入、用户同意、授权、权限范围与令牌是不同职责。未经验证的 agent_did 仅是声明；未实现该扩展的标准服务器不能声称已经验证 DID。</a:t>
            </a:r>
          </a:p>
          <a:p/>
          <a:p>
            <a:r>
              <a:t>SOURCE AND REVISION / 来源与修订</a:t>
            </a:r>
          </a:p>
          <a:p>
            <a:r>
              <a:t>Based on the five-slide V2 supplement. Wording has been shortened on the slide; the design is still Option B: HTTPS URL client_id plus a DID-binding extension. This is a discussion proposal, not a finalized standard.</a:t>
            </a:r>
          </a:p>
          <a:p>
            <a:r>
              <a:t>依据 V2 的 5 页补充 PPT 重排。页面文字经过精简；核心仍为方案 B：HTTPS URL client_id 加 DID 绑定扩展。本材料是讨论提案，并非已定稿标准。</a:t>
            </a:r>
          </a:p>
          <a:p/>
          <a:p>
            <a:r>
              <a:t>PREVIOUS V2 NOTES (retained for reference) / 原 V2 备注（保留供参考）</a:t>
            </a:r>
          </a:p>
          <a:p>
            <a:r>
              <a:t>ENGLISH SPEAKER NOTES</a:t>
            </a:r>
          </a:p>
          <a:p>
            <a:r>
              <a:t>Standard CIMD keeps an HTTPS URL as client_id and uses the metadata document plus JWKS to describe and authenticate the OAuth client. The compatibility profile keeps that wire behavior unchanged. It adds an optional DID identity claim and a verified back-reference from the DID Document. OAuth grants, scopes, consent and tokens remain standard.</a:t>
            </a:r>
          </a:p>
          <a:p/>
          <a:p>
            <a:r>
              <a:t>中文讲解提示</a:t>
            </a:r>
          </a:p>
          <a:p>
            <a:r>
              <a:t>标准 CIMD 继续使用 HTTPS URL 作为 client_id，并通过元数据文档与 JWKS 描述和认证 OAuth 客户端。本兼容方案不改变这一线缆流程，而是增加可选的 DID 身份声明，以及 DID 文档对 CIMD URL 的可验证回指。OAuth 的授权、权限范围、用户同意与令牌机制保持不变。</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ENGLISH SPEAKER NOTES</a:t>
            </a:r>
          </a:p>
          <a:p>
            <a:r>
              <a:t>CIMD identifies the OAuth client by an HTTPS URL and describes its OAuth configuration. JWKS supplies the public key for the chosen private_key_jwt client-authentication method. The DID document, validated under the appropriate DID method, supplies the DID identity context and authorizes verification methods; a proposed service entry can point back to the exact CIMD client_id URL. These roles must not be conflated with resource authorization. The DID method determines how authenticity and current state are established. Reusing a key does not by itself grant permission or make a bearer access token sender-constrained.</a:t>
            </a:r>
          </a:p>
          <a:p/>
          <a:p>
            <a:r>
              <a:t>中文讲解提示</a:t>
            </a:r>
          </a:p>
          <a:p>
            <a:r>
              <a:t>CIMD 通过 HTTPS URL 标识 OAuth 客户端，并描述 OAuth 配置。JWKS 为所选的 private_key_jwt 客户端认证方式提供公钥。DID 文档需要按对应 DID 方法验证，提供 DID 身份上下文并授权验证方法；提案中的服务条目可以回指精确的 CIMD client_id URL。以上职责不能与资源授权混淆。文档真实性和当前状态如何确认，取决于 DID 方法。复用密钥本身不会授予权限，也不会使 Bearer 访问令牌自动具有发送者约束。</a:t>
            </a:r>
          </a:p>
          <a:p/>
          <a:p>
            <a:r>
              <a:t>SOURCE AND REVISION / 来源与修订</a:t>
            </a:r>
          </a:p>
          <a:p>
            <a:r>
              <a:t>Based on the five-slide V2 supplement. Wording has been shortened on the slide; the design is still Option B: HTTPS URL client_id plus a DID-binding extension. This is a discussion proposal, not a finalized standard.</a:t>
            </a:r>
          </a:p>
          <a:p>
            <a:r>
              <a:t>依据 V2 的 5 页补充 PPT 重排。页面文字经过精简；核心仍为方案 B：HTTPS URL client_id 加 DID 绑定扩展。本材料是讨论提案，并非已定稿标准。</a:t>
            </a:r>
          </a:p>
          <a:p/>
          <a:p>
            <a:r>
              <a:t>PREVIOUS V2 NOTES (retained for reference) / 原 V2 备注（保留供参考）</a:t>
            </a:r>
          </a:p>
          <a:p>
            <a:r>
              <a:t>ENGLISH SPEAKER NOTES</a:t>
            </a:r>
          </a:p>
          <a:p>
            <a:r>
              <a:t>The three artifacts serve different trust roles. The CIMD URL and document identify and configure the OAuth client. JWKS supplies the OAuth client-authentication key. The DID Document supplies a verifiable Agent identity and can authorize a binding to the CIMD URL or key. None of them by itself grants access to a protected resource.</a:t>
            </a:r>
          </a:p>
          <a:p/>
          <a:p>
            <a:r>
              <a:t>中文讲解提示</a:t>
            </a:r>
          </a:p>
          <a:p>
            <a:r>
              <a:t>三类对象承担不同的信任职责。CIMD URL 和文档用于标识并配置 OAuth 客户端；JWKS 提供 OAuth 客户端认证公钥；DID 文档提供可验证的智能体身份，并可授权其与 CIMD URL 或公钥之间的绑定。任何一项都不会单独授予受保护资源的访问权限。</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ENGLISH SPEAKER NOTES</a:t>
            </a:r>
          </a:p>
          <a:p>
            <a:r>
              <a:t>This is a relationship diagram, not a complete JSON schema. All example domains and the did:example identifier are illustrative. agent_did and the proposed DID service binding are extension design, not claims about fields mandated by CIMD. The DID service entry refers to the exact HTTPS client_id URL. For the shared-key option, the actual key that verifies the OAuth client assertion must be authorized by the validated DID authentication relationship; do not compare key IDs alone. The alternative is a DID-authorized proof binding the client URL and a separate OAuth public key, with defined freshness and revocation. An optional exact-byte metadata digest pins the metadata representation. If jwks_uri references external data, hashing the CIMD document alone does not hash that external key set; the key-binding check is still needed. Document authenticity and freshness follow the DID method. Detailed wire schemas, key rotation, migration and revocation remain work to specify.</a:t>
            </a:r>
          </a:p>
          <a:p/>
          <a:p>
            <a:r>
              <a:t>中文讲解提示</a:t>
            </a:r>
          </a:p>
          <a:p>
            <a:r>
              <a:t>本页是关系示意图，而非完整 JSON 结构。示例域名和 did:example 标识符仅用于说明。agent_did 及拟议的 DID 服务绑定均属扩展设计，不代表 CIMD 已要求这些字段。DID 服务条目回指精确的 HTTPS client_id URL。复用密钥时，真正验证 OAuth 客户端断言的公钥必须被已验证 DID 文档的 authentication 关系授权；不能只比较 key ID。另一方案是由 DID 授权密钥签署将客户端 URL 与独立 OAuth 公钥绑定的证明，并规定新鲜度和撤销。可选的精确字节摘要用于固定元数据内容。如果 jwks_uri 指向外部内容，仅对 CIMD 文档求摘要并不能固定远端公钥集合，仍需核验密钥绑定。文档真实性与新鲜度遵循 DID 方法；具体字段结构、换钥、迁移和撤销规则仍待细化。</a:t>
            </a:r>
          </a:p>
          <a:p/>
          <a:p>
            <a:r>
              <a:t>SOURCE AND REVISION / 来源与修订</a:t>
            </a:r>
          </a:p>
          <a:p>
            <a:r>
              <a:t>Based on the five-slide V2 supplement. Wording has been shortened on the slide; the design is still Option B: HTTPS URL client_id plus a DID-binding extension. This is a discussion proposal, not a finalized standard.</a:t>
            </a:r>
          </a:p>
          <a:p>
            <a:r>
              <a:t>依据 V2 的 5 页补充 PPT 重排。页面文字经过精简；核心仍为方案 B：HTTPS URL client_id 加 DID 绑定扩展。本材料是讨论提案，并非已定稿标准。</a:t>
            </a:r>
          </a:p>
          <a:p/>
          <a:p>
            <a:r>
              <a:t>PREVIOUS V2 NOTES (retained for reference) / 原 V2 备注（保留供参考）</a:t>
            </a:r>
          </a:p>
          <a:p>
            <a:r>
              <a:t>ENGLISH SPEAKER NOTES</a:t>
            </a:r>
          </a:p>
          <a:p>
            <a:r>
              <a:t>The binding must be checked in both directions. The CIMD document names the Agent DID. The DID Document points back to the CIMD client_id URL and optionally pins a digest or key relationship. Cross-references alone are not sufficient; an ANP-aware authorization server must validate both documents and the binding evidence.</a:t>
            </a:r>
          </a:p>
          <a:p/>
          <a:p>
            <a:r>
              <a:t>中文讲解提示</a:t>
            </a:r>
          </a:p>
          <a:p>
            <a:r>
              <a:t>绑定关系需要双向核验。CIMD 文档声明 Agent DID；DID 文档回指 CIMD client_id URL，并可固定摘要或密钥关系。仅仅互相写入地址还不够，支持 ANP 的授权服务器必须验证两份文档及绑定证据。</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ENGLISH SPEAKER NOTES</a:t>
            </a:r>
          </a:p>
          <a:p>
            <a:r>
              <a:t>This slide is a validation checklist, not a literal OAuth message sequence. The authorization request uses the HTTPS Client Identifier URL. The AS discovers CIMD metadata, requires the client_id match and reviews redirects, grant types, the configured authentication method and admission policy. For authorization code, user authentication and consent happen before code issuance; the token endpoint then verifies the fresh private_key_jwt and the code/PKCE bindings. An extension-aware AS must validate the DID under its method, the explicit back-reference and the selected cryptographic key binding before relying on the DID identity. If it pins a digest, it also compares the exact metadata bytes. Failure of a required binding check is not grounds for an automatic downgrade. Resource permission, issuer/tenant context, target, lifetime and revocation remain independent checks.</a:t>
            </a:r>
          </a:p>
          <a:p/>
          <a:p>
            <a:r>
              <a:t>中文讲解提示</a:t>
            </a:r>
          </a:p>
          <a:p>
            <a:r>
              <a:t>本页是验证清单，不是 OAuth 报文的严格时序图。授权请求使用 HTTPS 客户端标识 URL。AS 发现 CIMD 元数据、要求 client_id 匹配，并检查回调、授权类型、认证方式与准入策略。授权码模式下，用户认证与同意发生在授权码签发前；随后令牌端点验证新的 private_key_jwt 以及授权码和 PKCE 绑定。支持扩展的 AS 在使用 DID 身份前，必须按对应 DID 方法验证 DID、明确回指和所选的密码学密钥绑定。如启用摘要固定，还应核验元数据精确字节。所要求的绑定检查失败时，不应自动降级绕过。资源权限、发行者与租户上下文、目标资源、有效期及撤销仍需要独立检查。</a:t>
            </a:r>
          </a:p>
          <a:p/>
          <a:p>
            <a:r>
              <a:t>SOURCE AND REVISION / 来源与修订</a:t>
            </a:r>
          </a:p>
          <a:p>
            <a:r>
              <a:t>Based on the five-slide V2 supplement. Wording has been shortened on the slide; the design is still Option B: HTTPS URL client_id plus a DID-binding extension. This is a discussion proposal, not a finalized standard.</a:t>
            </a:r>
          </a:p>
          <a:p>
            <a:r>
              <a:t>依据 V2 的 5 页补充 PPT 重排。页面文字经过精简；核心仍为方案 B：HTTPS URL client_id 加 DID 绑定扩展。本材料是讨论提案，并非已定稿标准。</a:t>
            </a:r>
          </a:p>
          <a:p/>
          <a:p>
            <a:r>
              <a:t>PREVIOUS V2 NOTES (retained for reference) / 原 V2 备注（保留供参考）</a:t>
            </a:r>
          </a:p>
          <a:p>
            <a:r>
              <a:t>ENGLISH SPEAKER NOTES</a:t>
            </a:r>
          </a:p>
          <a:p>
            <a:r>
              <a:t>An ANP-aware authorization server performs the normal CIMD and OAuth checks first. It may then perform the additional DID validation. Discovery, client authentication, DID identity validation and resource authorization are distinct decisions. A valid DID binding does not bypass user consent, scope policy or resource enforcement.</a:t>
            </a:r>
          </a:p>
          <a:p/>
          <a:p>
            <a:r>
              <a:t>中文讲解提示</a:t>
            </a:r>
          </a:p>
          <a:p>
            <a:r>
              <a:t>支持 ANP 的授权服务器首先完成标准 CIMD 和 OAuth 检查，然后可以增加 DID 验证。元数据发现、客户端认证、DID 身份验证和资源授权是不同的判断。有效的 DID 绑定不会绕过用户同意、权限范围策略或资源服务器执行。</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ENGLISH SPEAKER NOTES</a:t>
            </a:r>
          </a:p>
          <a:p>
            <a:r>
              <a:t>The compatibility path keeps the HTTPS client_id and ordinary CIMD behavior. A baseline AS can treat unsupported extension metadata according to its supported standards and local policy; it has not verified a DID. An extension-aware AS validates the binding before treating the DID as identity evidence. The proposed rollout starts with published extension metadata and the explicit DID back-reference, then specifies interoperable proofs, freshness, key updates, migration and revocation. The first two publication stages alone are not proof of a secure operational binding. Test the full binding before claiming support, fail closed when DID validation is required, and do not silently inherit grants after a client URL or identity change. The DID-native client_id design is a separate profile, not an alternative interpretation of the same request.</a:t>
            </a:r>
          </a:p>
          <a:p/>
          <a:p>
            <a:r>
              <a:t>中文讲解提示</a:t>
            </a:r>
          </a:p>
          <a:p>
            <a:r>
              <a:t>兼容路线保留 HTTPS client_id 和标准 CIMD 行为。普通 AS 按其所支持的标准和本地策略处理不支持的扩展元数据，但不能据此声称已验证 DID。支持扩展的 AS 在把 DID 当作身份依据前需完成绑定验证。建议先发布扩展元数据和明确的 DID 回指，再规范可互操作的证明、新鲜度、换钥、迁移和撤销。前两个发布阶段本身并不代表已建立安全可用的绑定。对外声称支持前需测试完整校验；要求 DID 验证时应失败关闭，客户端 URL 或身份变化后不能自动继承授权。DID 原生 client_id 是独立 Profile，而不是对同一请求的另一种解释。</a:t>
            </a:r>
          </a:p>
          <a:p/>
          <a:p>
            <a:r>
              <a:t>SOURCE AND REVISION / 来源与修订</a:t>
            </a:r>
          </a:p>
          <a:p>
            <a:r>
              <a:t>Based on the five-slide V2 supplement. Wording has been shortened on the slide; the design is still Option B: HTTPS URL client_id plus a DID-binding extension. This is a discussion proposal, not a finalized standard.</a:t>
            </a:r>
          </a:p>
          <a:p>
            <a:r>
              <a:t>依据 V2 的 5 页补充 PPT 重排。页面文字经过精简；核心仍为方案 B：HTTPS URL client_id 加 DID 绑定扩展。本材料是讨论提案，并非已定稿标准。</a:t>
            </a:r>
          </a:p>
          <a:p/>
          <a:p>
            <a:r>
              <a:t>PREVIOUS V2 NOTES (retained for reference) / 原 V2 备注（保留供参考）</a:t>
            </a:r>
          </a:p>
          <a:p>
            <a:r>
              <a:t>ENGLISH SPEAKER NOTES</a:t>
            </a:r>
          </a:p>
          <a:p>
            <a:r>
              <a:t>A standard CIMD server can ignore the DID extension and continue to work. An ANP-aware server runs the same CIMD flow, then performs additional DID binding validation and can apply a stronger admission policy. A staged rollout begins with agent_did, adds the DID back-reference, and then standardizes proof, freshness, migration and revocation. Keep the DID-native client_id profile separate.</a:t>
            </a:r>
          </a:p>
          <a:p/>
          <a:p>
            <a:r>
              <a:t>中文讲解提示</a:t>
            </a:r>
          </a:p>
          <a:p>
            <a:r>
              <a:t>标准 CIMD 服务器可以忽略 DID 扩展并继续运行。支持 ANP 的服务器执行相同的 CIMD 流程，再增加 DID 绑定验证，并可采用更强的准入策略。建议先发布 agent_did，再增加 DID 回指，最后规范绑定证明、状态新鲜度、迁移和撤销。“DID 直接作为 client_id”的 DID 原生方案应作为独立 Profile 保留。</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200" y="6356350"/>
            <a:ext cx="2895600" cy="365125"/>
          </a:xfrm>
        </p:spPr>
        <p:txBody>
          <a:bodyPr/>
          <a:lstStyle/>
          <a:p>
            <a:endParaRPr lang="en-US"/>
          </a:p>
        </p:txBody>
      </p:sp>
      <p:sp>
        <p:nvSpPr>
          <p:cNvPr id="4" name="Slide Number Placeholder 3"/>
          <p:cNvSpPr>
            <a:spLocks noGrp="1"/>
          </p:cNvSpPr>
          <p:nvPr>
            <p:ph type="sldNum" sz="quarter" idx="12"/>
          </p:nvPr>
        </p:nvSpPr>
        <p:spPr>
          <a:xfrm>
            <a:off x="6553200" y="6356350"/>
            <a:ext cx="2133600" cy="365125"/>
          </a:xfrm>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34A"/>
        </a:solidFill>
        <a:effectLst/>
      </p:bgPr>
    </p:bg>
    <p:spTree>
      <p:nvGrpSpPr>
        <p:cNvPr id="1" name=""/>
        <p:cNvGrpSpPr/>
        <p:nvPr/>
      </p:nvGrpSpPr>
      <p:grpSpPr>
        <a:xfrm>
          <a:off x="0" y="0"/>
          <a:ext cx="0" cy="0"/>
          <a:chOff x="0" y="0"/>
          <a:chExt cx="0" cy="0"/>
        </a:xfrm>
      </p:grpSpPr>
      <p:sp>
        <p:nvSpPr>
          <p:cNvPr id="2" name="Cover accent"/>
          <p:cNvSpPr/>
          <p:nvPr/>
        </p:nvSpPr>
        <p:spPr>
          <a:xfrm>
            <a:off x="566928" y="685800"/>
            <a:ext cx="50292" cy="5166360"/>
          </a:xfrm>
          <a:prstGeom prst="rect">
            <a:avLst/>
          </a:prstGeom>
          <a:solidFill>
            <a:srgbClr val="07888E"/>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Kicker EN"/>
          <p:cNvSpPr txBox="1"/>
          <p:nvPr/>
        </p:nvSpPr>
        <p:spPr>
          <a:xfrm>
            <a:off x="877824" y="740664"/>
            <a:ext cx="9144000" cy="308610"/>
          </a:xfrm>
          <a:prstGeom prst="rect">
            <a:avLst/>
          </a:prstGeom>
          <a:noFill/>
        </p:spPr>
        <p:txBody>
          <a:bodyPr wrap="none" lIns="0" tIns="12700" rIns="0" bIns="0" anchor="t">
            <a:noAutofit/>
          </a:bodyPr>
          <a:lstStyle/>
          <a:p>
            <a:pPr algn="l">
              <a:lnSpc>
                <a:spcPts val="1830"/>
              </a:lnSpc>
              <a:spcBef>
                <a:spcPts val="0"/>
              </a:spcBef>
              <a:spcAft>
                <a:spcPts val="0"/>
              </a:spcAft>
              <a:defRPr sz="1500" b="1">
                <a:solidFill>
                  <a:srgbClr val="AAC2D2"/>
                </a:solidFill>
                <a:latin typeface="Arial" panose="020B0704020202020204"/>
              </a:defRPr>
            </a:pPr>
            <a:r>
              <a:rPr lang="en-US" sz="1500" b="1">
                <a:solidFill>
                  <a:srgbClr val="AAC2D2"/>
                </a:solidFill>
                <a:latin typeface="Arial" panose="020B0704020202020204"/>
                <a:ea typeface="Arial" panose="020B0704020202020204"/>
                <a:cs typeface="Arial" panose="020B0704020202020204"/>
              </a:rPr>
              <a:t>AI AGENT PROTOCOL</a:t>
            </a:r>
            <a:endParaRPr lang="en-US" sz="1500" b="1">
              <a:solidFill>
                <a:srgbClr val="AAC2D2"/>
              </a:solidFill>
              <a:latin typeface="Arial" panose="020B0704020202020204"/>
              <a:ea typeface="Arial" panose="020B0704020202020204"/>
              <a:cs typeface="Arial" panose="020B0704020202020204"/>
            </a:endParaRPr>
          </a:p>
        </p:txBody>
      </p:sp>
      <p:sp>
        <p:nvSpPr>
          <p:cNvPr id="4" name="Kicker ZH"/>
          <p:cNvSpPr txBox="1"/>
          <p:nvPr/>
        </p:nvSpPr>
        <p:spPr>
          <a:xfrm>
            <a:off x="877824" y="1090422"/>
            <a:ext cx="9144000" cy="253619"/>
          </a:xfrm>
          <a:prstGeom prst="rect">
            <a:avLst/>
          </a:prstGeom>
          <a:noFill/>
        </p:spPr>
        <p:txBody>
          <a:bodyPr wrap="none" lIns="0" tIns="12700" rIns="0" bIns="0" anchor="t">
            <a:noAutofit/>
          </a:bodyPr>
          <a:lstStyle/>
          <a:p>
            <a:pPr algn="l">
              <a:lnSpc>
                <a:spcPts val="1395"/>
              </a:lnSpc>
              <a:spcBef>
                <a:spcPts val="0"/>
              </a:spcBef>
              <a:spcAft>
                <a:spcPts val="0"/>
              </a:spcAft>
              <a:defRPr sz="1100" b="0">
                <a:solidFill>
                  <a:srgbClr val="AAC2D2"/>
                </a:solidFill>
                <a:latin typeface="Noto Sans CJK SC"/>
              </a:defRPr>
            </a:pPr>
            <a:r>
              <a:rPr lang="zh-CN" sz="1100" b="0">
                <a:solidFill>
                  <a:srgbClr val="AAC2D2"/>
                </a:solidFill>
                <a:latin typeface="Noto Sans CJK SC"/>
                <a:ea typeface="Noto Sans CJK SC"/>
                <a:cs typeface="Noto Sans CJK SC"/>
              </a:rPr>
              <a:t>AI 智能体协议</a:t>
            </a:r>
            <a:endParaRPr lang="zh-CN" sz="1100" b="0">
              <a:solidFill>
                <a:srgbClr val="AAC2D2"/>
              </a:solidFill>
              <a:latin typeface="Noto Sans CJK SC"/>
              <a:ea typeface="Noto Sans CJK SC"/>
              <a:cs typeface="Noto Sans CJK SC"/>
            </a:endParaRPr>
          </a:p>
        </p:txBody>
      </p:sp>
      <p:sp>
        <p:nvSpPr>
          <p:cNvPr id="5" name="Cover title EN"/>
          <p:cNvSpPr txBox="1"/>
          <p:nvPr/>
        </p:nvSpPr>
        <p:spPr>
          <a:xfrm>
            <a:off x="868680" y="1938528"/>
            <a:ext cx="10652760" cy="680466"/>
          </a:xfrm>
          <a:prstGeom prst="rect">
            <a:avLst/>
          </a:prstGeom>
          <a:noFill/>
        </p:spPr>
        <p:txBody>
          <a:bodyPr wrap="none" lIns="0" tIns="12700" rIns="0" bIns="0" anchor="t">
            <a:noAutofit/>
          </a:bodyPr>
          <a:lstStyle/>
          <a:p>
            <a:pPr algn="l">
              <a:lnSpc>
                <a:spcPts val="4760"/>
              </a:lnSpc>
              <a:spcBef>
                <a:spcPts val="0"/>
              </a:spcBef>
              <a:spcAft>
                <a:spcPts val="0"/>
              </a:spcAft>
              <a:defRPr sz="3900" b="1">
                <a:solidFill>
                  <a:srgbClr val="FFFFFF"/>
                </a:solidFill>
                <a:latin typeface="Arial" panose="020B0704020202020204"/>
              </a:defRPr>
            </a:pPr>
            <a:r>
              <a:rPr lang="en-US" sz="3900" b="1">
                <a:solidFill>
                  <a:srgbClr val="FFFFFF"/>
                </a:solidFill>
                <a:latin typeface="Arial" panose="020B0704020202020204"/>
                <a:ea typeface="Arial" panose="020B0704020202020204"/>
                <a:cs typeface="Arial" panose="020B0704020202020204"/>
              </a:rPr>
              <a:t>Agent Authorization Proposal</a:t>
            </a:r>
            <a:endParaRPr lang="en-US" sz="3900" b="1">
              <a:solidFill>
                <a:srgbClr val="FFFFFF"/>
              </a:solidFill>
              <a:latin typeface="Arial" panose="020B0704020202020204"/>
              <a:ea typeface="Arial" panose="020B0704020202020204"/>
              <a:cs typeface="Arial" panose="020B0704020202020204"/>
            </a:endParaRPr>
          </a:p>
        </p:txBody>
      </p:sp>
      <p:sp>
        <p:nvSpPr>
          <p:cNvPr id="6" name="Cover title ZH"/>
          <p:cNvSpPr txBox="1"/>
          <p:nvPr/>
        </p:nvSpPr>
        <p:spPr>
          <a:xfrm>
            <a:off x="868680" y="2728722"/>
            <a:ext cx="10652760" cy="479425"/>
          </a:xfrm>
          <a:prstGeom prst="rect">
            <a:avLst/>
          </a:prstGeom>
          <a:noFill/>
        </p:spPr>
        <p:txBody>
          <a:bodyPr wrap="none" lIns="0" tIns="12700" rIns="0" bIns="0" anchor="t">
            <a:noAutofit/>
          </a:bodyPr>
          <a:lstStyle/>
          <a:p>
            <a:pPr algn="l">
              <a:lnSpc>
                <a:spcPts val="3175"/>
              </a:lnSpc>
              <a:spcBef>
                <a:spcPts val="0"/>
              </a:spcBef>
              <a:spcAft>
                <a:spcPts val="0"/>
              </a:spcAft>
              <a:defRPr sz="2500" b="0">
                <a:solidFill>
                  <a:srgbClr val="AAC2D2"/>
                </a:solidFill>
                <a:latin typeface="Noto Sans CJK SC"/>
              </a:defRPr>
            </a:pPr>
            <a:r>
              <a:rPr lang="zh-CN" sz="2500" b="0">
                <a:solidFill>
                  <a:srgbClr val="AAC2D2"/>
                </a:solidFill>
                <a:latin typeface="Noto Sans CJK SC"/>
                <a:ea typeface="Noto Sans CJK SC"/>
                <a:cs typeface="Noto Sans CJK SC"/>
              </a:rPr>
              <a:t>智能体授权提案</a:t>
            </a:r>
            <a:endParaRPr lang="zh-CN" sz="2500" b="0">
              <a:solidFill>
                <a:srgbClr val="AAC2D2"/>
              </a:solidFill>
              <a:latin typeface="Noto Sans CJK SC"/>
              <a:ea typeface="Noto Sans CJK SC"/>
              <a:cs typeface="Noto Sans CJK SC"/>
            </a:endParaRPr>
          </a:p>
        </p:txBody>
      </p:sp>
      <p:sp>
        <p:nvSpPr>
          <p:cNvPr id="7" name="Cover subtitle EN"/>
          <p:cNvSpPr txBox="1"/>
          <p:nvPr/>
        </p:nvSpPr>
        <p:spPr>
          <a:xfrm>
            <a:off x="886968" y="3543808"/>
            <a:ext cx="10561320" cy="819912"/>
          </a:xfrm>
          <a:prstGeom prst="rect">
            <a:avLst/>
          </a:prstGeom>
          <a:noFill/>
        </p:spPr>
        <p:txBody>
          <a:bodyPr wrap="none" lIns="0" tIns="12700" rIns="0" bIns="0" anchor="t">
            <a:noAutofit/>
          </a:bodyPr>
          <a:lstStyle/>
          <a:p>
            <a:pPr algn="l">
              <a:lnSpc>
                <a:spcPts val="2930"/>
              </a:lnSpc>
              <a:spcBef>
                <a:spcPts val="0"/>
              </a:spcBef>
              <a:spcAft>
                <a:spcPts val="0"/>
              </a:spcAft>
              <a:defRPr sz="2400" b="0">
                <a:solidFill>
                  <a:srgbClr val="FFFFFF"/>
                </a:solidFill>
                <a:latin typeface="Arial" panose="020B0704020202020204"/>
              </a:defRPr>
            </a:pPr>
            <a:r>
              <a:rPr lang="en-US" sz="2400" b="0">
                <a:solidFill>
                  <a:srgbClr val="FFFFFF"/>
                </a:solidFill>
                <a:latin typeface="Arial" panose="020B0704020202020204"/>
                <a:ea typeface="Arial" panose="020B0704020202020204"/>
                <a:cs typeface="Arial" panose="020B0704020202020204"/>
              </a:rPr>
              <a:t>DID identity, verifiable claims,</a:t>
            </a:r>
            <a:endParaRPr lang="en-US" sz="2400" b="0">
              <a:solidFill>
                <a:srgbClr val="FFFFFF"/>
              </a:solidFill>
              <a:latin typeface="Arial" panose="020B0704020202020204"/>
              <a:ea typeface="Arial" panose="020B0704020202020204"/>
              <a:cs typeface="Arial" panose="020B0704020202020204"/>
            </a:endParaRPr>
          </a:p>
          <a:p>
            <a:pPr algn="l">
              <a:lnSpc>
                <a:spcPts val="2930"/>
              </a:lnSpc>
              <a:spcBef>
                <a:spcPts val="0"/>
              </a:spcBef>
              <a:spcAft>
                <a:spcPts val="0"/>
              </a:spcAft>
              <a:defRPr sz="2400" b="0">
                <a:solidFill>
                  <a:srgbClr val="FFFFFF"/>
                </a:solidFill>
                <a:latin typeface="Arial" panose="020B0704020202020204"/>
              </a:defRPr>
            </a:pPr>
            <a:r>
              <a:rPr lang="en-US" sz="2400" b="0">
                <a:solidFill>
                  <a:srgbClr val="FFFFFF"/>
                </a:solidFill>
                <a:latin typeface="Arial" panose="020B0704020202020204"/>
                <a:ea typeface="Arial" panose="020B0704020202020204"/>
                <a:cs typeface="Arial" panose="020B0704020202020204"/>
              </a:rPr>
              <a:t>and DID–CIMD OAuth onboarding</a:t>
            </a:r>
            <a:endParaRPr lang="en-US" sz="2400" b="0">
              <a:solidFill>
                <a:srgbClr val="FFFFFF"/>
              </a:solidFill>
              <a:latin typeface="Arial" panose="020B0704020202020204"/>
              <a:ea typeface="Arial" panose="020B0704020202020204"/>
              <a:cs typeface="Arial" panose="020B0704020202020204"/>
            </a:endParaRPr>
          </a:p>
        </p:txBody>
      </p:sp>
      <p:sp>
        <p:nvSpPr>
          <p:cNvPr id="8" name="Cover subtitle ZH"/>
          <p:cNvSpPr txBox="1"/>
          <p:nvPr/>
        </p:nvSpPr>
        <p:spPr>
          <a:xfrm>
            <a:off x="887095" y="4455160"/>
            <a:ext cx="10561320" cy="1079500"/>
          </a:xfrm>
          <a:prstGeom prst="rect">
            <a:avLst/>
          </a:prstGeom>
          <a:noFill/>
        </p:spPr>
        <p:txBody>
          <a:bodyPr wrap="none" lIns="0" tIns="12700" rIns="0" bIns="0" anchor="t">
            <a:noAutofit/>
          </a:bodyPr>
          <a:lstStyle/>
          <a:p>
            <a:pPr algn="l">
              <a:lnSpc>
                <a:spcPts val="2400"/>
              </a:lnSpc>
              <a:spcBef>
                <a:spcPts val="0"/>
              </a:spcBef>
              <a:spcAft>
                <a:spcPts val="0"/>
              </a:spcAft>
              <a:defRPr sz="1600" b="0">
                <a:solidFill>
                  <a:srgbClr val="AAC2D2"/>
                </a:solidFill>
                <a:latin typeface="Noto Sans CJK SC"/>
              </a:defRPr>
            </a:pPr>
            <a:r>
              <a:rPr lang="zh-CN" sz="1600" b="0">
                <a:solidFill>
                  <a:srgbClr val="AAC2D2"/>
                </a:solidFill>
                <a:latin typeface="Noto Sans CJK SC"/>
                <a:ea typeface="Noto Sans CJK SC"/>
                <a:cs typeface="Noto Sans CJK SC"/>
              </a:rPr>
              <a:t>DID 身份、可验证声明，</a:t>
            </a:r>
            <a:endParaRPr lang="zh-CN" sz="1600" b="0">
              <a:solidFill>
                <a:srgbClr val="AAC2D2"/>
              </a:solidFill>
              <a:latin typeface="Noto Sans CJK SC"/>
              <a:ea typeface="Noto Sans CJK SC"/>
              <a:cs typeface="Noto Sans CJK SC"/>
            </a:endParaRPr>
          </a:p>
          <a:p>
            <a:pPr algn="l">
              <a:lnSpc>
                <a:spcPts val="2400"/>
              </a:lnSpc>
              <a:spcBef>
                <a:spcPts val="0"/>
              </a:spcBef>
              <a:spcAft>
                <a:spcPts val="0"/>
              </a:spcAft>
              <a:defRPr sz="1600" b="0">
                <a:solidFill>
                  <a:srgbClr val="AAC2D2"/>
                </a:solidFill>
                <a:latin typeface="Noto Sans CJK SC"/>
              </a:defRPr>
            </a:pPr>
            <a:r>
              <a:rPr lang="zh-CN" sz="1600" b="0">
                <a:solidFill>
                  <a:srgbClr val="AAC2D2"/>
                </a:solidFill>
                <a:latin typeface="Noto Sans CJK SC"/>
                <a:ea typeface="Noto Sans CJK SC"/>
                <a:cs typeface="Noto Sans CJK SC"/>
              </a:rPr>
              <a:t>以及 DID–CIMD OAuth 客户端接入</a:t>
            </a:r>
            <a:endParaRPr lang="zh-CN" sz="1600" b="0">
              <a:solidFill>
                <a:srgbClr val="AAC2D2"/>
              </a:solidFill>
              <a:latin typeface="Noto Sans CJK SC"/>
              <a:ea typeface="Noto Sans CJK SC"/>
              <a:cs typeface="Noto Sans CJK SC"/>
            </a:endParaRPr>
          </a:p>
          <a:p>
            <a:pPr algn="l">
              <a:lnSpc>
                <a:spcPts val="2400"/>
              </a:lnSpc>
              <a:spcBef>
                <a:spcPts val="0"/>
              </a:spcBef>
              <a:spcAft>
                <a:spcPts val="0"/>
              </a:spcAft>
              <a:defRPr sz="1600" b="0">
                <a:solidFill>
                  <a:srgbClr val="AAC2D2"/>
                </a:solidFill>
                <a:latin typeface="Noto Sans CJK SC"/>
              </a:defRPr>
            </a:pPr>
            <a:r>
              <a:rPr lang="zh-CN" sz="1600" b="0">
                <a:solidFill>
                  <a:srgbClr val="AAC2D2"/>
                </a:solidFill>
                <a:latin typeface="Noto Sans CJK SC"/>
                <a:ea typeface="Noto Sans CJK SC"/>
                <a:cs typeface="Noto Sans CJK SC"/>
              </a:rPr>
              <a:t>https://github.com/w3c-cg/ai-agent-protocol/pull/46</a:t>
            </a:r>
            <a:endParaRPr lang="zh-CN" sz="1600" b="0">
              <a:solidFill>
                <a:srgbClr val="AAC2D2"/>
              </a:solidFill>
              <a:latin typeface="Noto Sans CJK SC"/>
              <a:ea typeface="Noto Sans CJK SC"/>
              <a:cs typeface="Noto Sans CJK SC"/>
            </a:endParaRPr>
          </a:p>
        </p:txBody>
      </p:sp>
      <p:sp>
        <p:nvSpPr>
          <p:cNvPr id="9" name="Cover status EN"/>
          <p:cNvSpPr txBox="1"/>
          <p:nvPr/>
        </p:nvSpPr>
        <p:spPr>
          <a:xfrm>
            <a:off x="886968" y="5735828"/>
            <a:ext cx="10515600" cy="262128"/>
          </a:xfrm>
          <a:prstGeom prst="rect">
            <a:avLst/>
          </a:prstGeom>
          <a:noFill/>
        </p:spPr>
        <p:txBody>
          <a:bodyPr wrap="none" lIns="0" tIns="12700" rIns="0" bIns="0" anchor="t">
            <a:noAutofit/>
          </a:bodyPr>
          <a:lstStyle/>
          <a:p>
            <a:pPr algn="l">
              <a:lnSpc>
                <a:spcPts val="1465"/>
              </a:lnSpc>
              <a:spcBef>
                <a:spcPts val="0"/>
              </a:spcBef>
              <a:spcAft>
                <a:spcPts val="0"/>
              </a:spcAft>
              <a:defRPr sz="1200" b="0">
                <a:solidFill>
                  <a:srgbClr val="AAC2D2"/>
                </a:solidFill>
                <a:latin typeface="Arial" panose="020B0704020202020204"/>
              </a:defRPr>
            </a:pPr>
            <a:r>
              <a:rPr lang="en-US" sz="1200" b="0">
                <a:solidFill>
                  <a:srgbClr val="AAC2D2"/>
                </a:solidFill>
                <a:latin typeface="Arial" panose="020B0704020202020204"/>
                <a:ea typeface="Arial" panose="020B0704020202020204"/>
                <a:cs typeface="Arial" panose="020B0704020202020204"/>
              </a:rPr>
              <a:t>Community discussion draft · 2026.10.21</a:t>
            </a:r>
            <a:endParaRPr lang="en-US" sz="1200" b="0">
              <a:solidFill>
                <a:srgbClr val="AAC2D2"/>
              </a:solidFill>
              <a:latin typeface="Arial" panose="020B0704020202020204"/>
              <a:ea typeface="Arial" panose="020B0704020202020204"/>
              <a:cs typeface="Arial" panose="020B0704020202020204"/>
            </a:endParaRPr>
          </a:p>
        </p:txBody>
      </p:sp>
      <p:sp>
        <p:nvSpPr>
          <p:cNvPr id="10" name="Cover status ZH"/>
          <p:cNvSpPr txBox="1"/>
          <p:nvPr/>
        </p:nvSpPr>
        <p:spPr>
          <a:xfrm>
            <a:off x="886968" y="6065266"/>
            <a:ext cx="10515600" cy="237489"/>
          </a:xfrm>
          <a:prstGeom prst="rect">
            <a:avLst/>
          </a:prstGeom>
          <a:noFill/>
        </p:spPr>
        <p:txBody>
          <a:bodyPr wrap="none" lIns="0" tIns="12700" rIns="0" bIns="0" anchor="t">
            <a:noAutofit/>
          </a:bodyPr>
          <a:lstStyle/>
          <a:p>
            <a:pPr algn="l">
              <a:lnSpc>
                <a:spcPts val="1270"/>
              </a:lnSpc>
              <a:spcBef>
                <a:spcPts val="0"/>
              </a:spcBef>
              <a:spcAft>
                <a:spcPts val="0"/>
              </a:spcAft>
              <a:defRPr sz="1000" b="0">
                <a:solidFill>
                  <a:srgbClr val="AAC2D2"/>
                </a:solidFill>
                <a:latin typeface="Noto Sans CJK SC"/>
              </a:defRPr>
            </a:pPr>
            <a:r>
              <a:rPr lang="zh-CN" sz="1000" b="0">
                <a:solidFill>
                  <a:srgbClr val="AAC2D2"/>
                </a:solidFill>
                <a:latin typeface="Noto Sans CJK SC"/>
                <a:ea typeface="Noto Sans CJK SC"/>
                <a:cs typeface="Noto Sans CJK SC"/>
              </a:rPr>
              <a:t>社区讨论稿 · 2026.10.21</a:t>
            </a:r>
            <a:endParaRPr lang="zh-CN" sz="1000" b="0">
              <a:solidFill>
                <a:srgbClr val="AAC2D2"/>
              </a:solidFill>
              <a:latin typeface="Noto Sans CJK SC"/>
              <a:ea typeface="Noto Sans CJK SC"/>
              <a:cs typeface="Noto Sans CJK SC"/>
            </a:endParaRPr>
          </a:p>
        </p:txBody>
      </p:sp>
      <p:sp>
        <p:nvSpPr>
          <p:cNvPr id="11"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AAC2D2"/>
                </a:solidFill>
                <a:latin typeface="Noto Sans CJK SC"/>
              </a:defRPr>
            </a:pPr>
            <a:r>
              <a:rPr lang="en-US" sz="900" b="0">
                <a:solidFill>
                  <a:srgbClr val="AAC2D2"/>
                </a:solidFill>
                <a:latin typeface="Noto Sans CJK SC"/>
                <a:ea typeface="Noto Sans CJK SC"/>
                <a:cs typeface="Noto Sans CJK SC"/>
              </a:rPr>
              <a:t>AI Agent Protocol / AI 智能体协议</a:t>
            </a:r>
            <a:endParaRPr lang="en-US" sz="900" b="0">
              <a:solidFill>
                <a:srgbClr val="AAC2D2"/>
              </a:solidFill>
              <a:latin typeface="Noto Sans CJK SC"/>
              <a:ea typeface="Noto Sans CJK SC"/>
              <a:cs typeface="Noto Sans CJK SC"/>
            </a:endParaRPr>
          </a:p>
        </p:txBody>
      </p:sp>
      <p:sp>
        <p:nvSpPr>
          <p:cNvPr id="12"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AAC2D2"/>
                </a:solidFill>
                <a:latin typeface="Noto Sans CJK SC"/>
              </a:defRPr>
            </a:pPr>
            <a:r>
              <a:rPr lang="en-US" sz="900" b="0">
                <a:solidFill>
                  <a:srgbClr val="AAC2D2"/>
                </a:solidFill>
                <a:latin typeface="Noto Sans CJK SC"/>
                <a:ea typeface="Noto Sans CJK SC"/>
                <a:cs typeface="Noto Sans CJK SC"/>
              </a:rPr>
              <a:t>Community discussion draft / 社区讨论稿</a:t>
            </a:r>
            <a:endParaRPr lang="en-US" sz="900" b="0">
              <a:solidFill>
                <a:srgbClr val="AAC2D2"/>
              </a:solidFill>
              <a:latin typeface="Noto Sans CJK SC"/>
              <a:ea typeface="Noto Sans CJK SC"/>
              <a:cs typeface="Noto Sans CJK SC"/>
            </a:endParaRPr>
          </a:p>
        </p:txBody>
      </p:sp>
      <p:sp>
        <p:nvSpPr>
          <p:cNvPr id="13"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AAC2D2"/>
                </a:solidFill>
                <a:latin typeface="Arial" panose="020B0704020202020204"/>
              </a:defRPr>
            </a:pPr>
            <a:r>
              <a:rPr lang="en-US" sz="1200" b="1">
                <a:solidFill>
                  <a:srgbClr val="AAC2D2"/>
                </a:solidFill>
                <a:latin typeface="Arial" panose="020B0704020202020204"/>
                <a:ea typeface="Arial" panose="020B0704020202020204"/>
                <a:cs typeface="Arial" panose="020B0704020202020204"/>
              </a:rPr>
              <a:t>01</a:t>
            </a:r>
            <a:endParaRPr lang="en-US" sz="1200" b="1">
              <a:solidFill>
                <a:srgbClr val="AAC2D2"/>
              </a:solidFill>
              <a:latin typeface="Arial" panose="020B0704020202020204"/>
              <a:ea typeface="Arial" panose="020B0704020202020204"/>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How can DID support Agent authorization?</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DID 如何支持智能体授权？</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Introduction EN"/>
          <p:cNvSpPr txBox="1"/>
          <p:nvPr/>
        </p:nvSpPr>
        <p:spPr>
          <a:xfrm>
            <a:off x="594360" y="1353312"/>
            <a:ext cx="10972800" cy="757936"/>
          </a:xfrm>
          <a:prstGeom prst="rect">
            <a:avLst/>
          </a:prstGeom>
          <a:noFill/>
        </p:spPr>
        <p:txBody>
          <a:bodyPr wrap="none" lIns="0" tIns="12700" rIns="0" bIns="0" anchor="t">
            <a:noAutofit/>
          </a:bodyPr>
          <a:lstStyle/>
          <a:p>
            <a:pPr algn="l">
              <a:lnSpc>
                <a:spcPts val="2685"/>
              </a:lnSpc>
              <a:spcBef>
                <a:spcPts val="0"/>
              </a:spcBef>
              <a:spcAft>
                <a:spcPts val="0"/>
              </a:spcAft>
              <a:defRPr sz="2200" b="1">
                <a:solidFill>
                  <a:srgbClr val="10334A"/>
                </a:solidFill>
                <a:latin typeface="Arial" panose="020B0704020202020204"/>
              </a:defRPr>
            </a:pPr>
            <a:r>
              <a:rPr lang="en-US" sz="2200" b="1">
                <a:solidFill>
                  <a:srgbClr val="10334A"/>
                </a:solidFill>
                <a:latin typeface="Arial" panose="020B0704020202020204"/>
                <a:ea typeface="Arial" panose="020B0704020202020204"/>
                <a:cs typeface="Arial" panose="020B0704020202020204"/>
              </a:rPr>
              <a:t>DID and proof of key control establish identity.</a:t>
            </a:r>
            <a:endParaRPr lang="en-US" sz="2200" b="1">
              <a:solidFill>
                <a:srgbClr val="10334A"/>
              </a:solidFill>
              <a:latin typeface="Arial" panose="020B0704020202020204"/>
              <a:ea typeface="Arial" panose="020B0704020202020204"/>
              <a:cs typeface="Arial" panose="020B0704020202020204"/>
            </a:endParaRPr>
          </a:p>
          <a:p>
            <a:pPr algn="l">
              <a:lnSpc>
                <a:spcPts val="2685"/>
              </a:lnSpc>
              <a:spcBef>
                <a:spcPts val="0"/>
              </a:spcBef>
              <a:spcAft>
                <a:spcPts val="0"/>
              </a:spcAft>
              <a:defRPr sz="2200" b="1">
                <a:solidFill>
                  <a:srgbClr val="10334A"/>
                </a:solidFill>
                <a:latin typeface="Arial" panose="020B0704020202020204"/>
              </a:defRPr>
            </a:pPr>
            <a:r>
              <a:rPr lang="en-US" sz="2200" b="1">
                <a:solidFill>
                  <a:srgbClr val="10334A"/>
                </a:solidFill>
                <a:latin typeface="Arial" panose="020B0704020202020204"/>
                <a:ea typeface="Arial" panose="020B0704020202020204"/>
                <a:cs typeface="Arial" panose="020B0704020202020204"/>
              </a:rPr>
              <a:t>Identity alone does not grant authority.</a:t>
            </a:r>
            <a:endParaRPr lang="en-US" sz="2200" b="1">
              <a:solidFill>
                <a:srgbClr val="10334A"/>
              </a:solidFill>
              <a:latin typeface="Arial" panose="020B0704020202020204"/>
              <a:ea typeface="Arial" panose="020B0704020202020204"/>
              <a:cs typeface="Arial" panose="020B0704020202020204"/>
            </a:endParaRPr>
          </a:p>
        </p:txBody>
      </p:sp>
      <p:sp>
        <p:nvSpPr>
          <p:cNvPr id="6" name="Introduction ZH"/>
          <p:cNvSpPr txBox="1"/>
          <p:nvPr/>
        </p:nvSpPr>
        <p:spPr>
          <a:xfrm>
            <a:off x="594360" y="2166112"/>
            <a:ext cx="10972800" cy="310070"/>
          </a:xfrm>
          <a:prstGeom prst="rect">
            <a:avLst/>
          </a:prstGeom>
          <a:noFill/>
        </p:spPr>
        <p:txBody>
          <a:bodyPr wrap="none" lIns="0" tIns="12700" rIns="0" bIns="0" anchor="t">
            <a:noAutofit/>
          </a:bodyPr>
          <a:lstStyle/>
          <a:p>
            <a:pPr algn="l">
              <a:lnSpc>
                <a:spcPts val="1840"/>
              </a:lnSpc>
              <a:spcBef>
                <a:spcPts val="0"/>
              </a:spcBef>
              <a:spcAft>
                <a:spcPts val="0"/>
              </a:spcAft>
              <a:defRPr sz="1450" b="0">
                <a:solidFill>
                  <a:srgbClr val="5A7588"/>
                </a:solidFill>
                <a:latin typeface="Noto Sans CJK SC"/>
              </a:defRPr>
            </a:pPr>
            <a:r>
              <a:rPr lang="zh-CN" sz="1450" b="0">
                <a:solidFill>
                  <a:srgbClr val="5A7588"/>
                </a:solidFill>
                <a:latin typeface="Noto Sans CJK SC"/>
                <a:ea typeface="Noto Sans CJK SC"/>
                <a:cs typeface="Noto Sans CJK SC"/>
              </a:rPr>
              <a:t>DID 与密钥控制证明可以确认身份；身份本身并不自动产生授权。</a:t>
            </a:r>
            <a:endParaRPr lang="zh-CN" sz="1450" b="0">
              <a:solidFill>
                <a:srgbClr val="5A7588"/>
              </a:solidFill>
              <a:latin typeface="Noto Sans CJK SC"/>
              <a:ea typeface="Noto Sans CJK SC"/>
              <a:cs typeface="Noto Sans CJK SC"/>
            </a:endParaRPr>
          </a:p>
        </p:txBody>
      </p:sp>
      <p:sp>
        <p:nvSpPr>
          <p:cNvPr id="7" name="Question panel 1"/>
          <p:cNvSpPr/>
          <p:nvPr/>
        </p:nvSpPr>
        <p:spPr>
          <a:xfrm>
            <a:off x="566928" y="2487168"/>
            <a:ext cx="5404104" cy="2788920"/>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Stage 1"/>
          <p:cNvSpPr/>
          <p:nvPr/>
        </p:nvSpPr>
        <p:spPr>
          <a:xfrm>
            <a:off x="768096" y="2706624"/>
            <a:ext cx="438912" cy="438912"/>
          </a:xfrm>
          <a:prstGeom prst="ellipse">
            <a:avLst/>
          </a:prstGeom>
          <a:solidFill>
            <a:srgbClr val="07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ge 1 number"/>
          <p:cNvSpPr txBox="1"/>
          <p:nvPr/>
        </p:nvSpPr>
        <p:spPr>
          <a:xfrm>
            <a:off x="768096" y="2756916"/>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1</a:t>
            </a:r>
            <a:endParaRPr lang="en-US" sz="2000" b="1">
              <a:solidFill>
                <a:srgbClr val="FFFFFF"/>
              </a:solidFill>
              <a:latin typeface="Arial" panose="020B0704020202020204"/>
              <a:ea typeface="Arial" panose="020B0704020202020204"/>
              <a:cs typeface="Arial" panose="020B0704020202020204"/>
            </a:endParaRPr>
          </a:p>
        </p:txBody>
      </p:sp>
      <p:sp>
        <p:nvSpPr>
          <p:cNvPr id="10" name="Question 1 EN"/>
          <p:cNvSpPr txBox="1"/>
          <p:nvPr/>
        </p:nvSpPr>
        <p:spPr>
          <a:xfrm>
            <a:off x="1417320" y="2670048"/>
            <a:ext cx="4297680" cy="788924"/>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07888E"/>
                </a:solidFill>
                <a:latin typeface="Arial" panose="020B0704020202020204"/>
              </a:defRPr>
            </a:pPr>
            <a:r>
              <a:rPr lang="en-US" sz="2300" b="1">
                <a:solidFill>
                  <a:srgbClr val="07888E"/>
                </a:solidFill>
                <a:latin typeface="Arial" panose="020B0704020202020204"/>
                <a:ea typeface="Arial" panose="020B0704020202020204"/>
                <a:cs typeface="Arial" panose="020B0704020202020204"/>
              </a:rPr>
              <a:t>What does the Agent</a:t>
            </a:r>
            <a:endParaRPr lang="en-US" sz="2300" b="1">
              <a:solidFill>
                <a:srgbClr val="07888E"/>
              </a:solidFill>
              <a:latin typeface="Arial" panose="020B0704020202020204"/>
              <a:ea typeface="Arial" panose="020B0704020202020204"/>
              <a:cs typeface="Arial" panose="020B0704020202020204"/>
            </a:endParaRPr>
          </a:p>
          <a:p>
            <a:pPr algn="l">
              <a:lnSpc>
                <a:spcPts val="2805"/>
              </a:lnSpc>
              <a:spcBef>
                <a:spcPts val="0"/>
              </a:spcBef>
              <a:spcAft>
                <a:spcPts val="0"/>
              </a:spcAft>
              <a:defRPr sz="2300" b="1">
                <a:solidFill>
                  <a:srgbClr val="07888E"/>
                </a:solidFill>
                <a:latin typeface="Arial" panose="020B0704020202020204"/>
              </a:defRPr>
            </a:pPr>
            <a:r>
              <a:rPr lang="en-US" sz="2300" b="1">
                <a:solidFill>
                  <a:srgbClr val="07888E"/>
                </a:solidFill>
                <a:latin typeface="Arial" panose="020B0704020202020204"/>
                <a:ea typeface="Arial" panose="020B0704020202020204"/>
                <a:cs typeface="Arial" panose="020B0704020202020204"/>
              </a:rPr>
              <a:t>claim to be?</a:t>
            </a:r>
            <a:endParaRPr lang="en-US" sz="2300" b="1">
              <a:solidFill>
                <a:srgbClr val="07888E"/>
              </a:solidFill>
              <a:latin typeface="Arial" panose="020B0704020202020204"/>
              <a:ea typeface="Arial" panose="020B0704020202020204"/>
              <a:cs typeface="Arial" panose="020B0704020202020204"/>
            </a:endParaRPr>
          </a:p>
        </p:txBody>
      </p:sp>
      <p:sp>
        <p:nvSpPr>
          <p:cNvPr id="11" name="Question 1 ZH"/>
          <p:cNvSpPr txBox="1"/>
          <p:nvPr/>
        </p:nvSpPr>
        <p:spPr>
          <a:xfrm>
            <a:off x="1417320" y="3500119"/>
            <a:ext cx="4297680" cy="290715"/>
          </a:xfrm>
          <a:prstGeom prst="rect">
            <a:avLst/>
          </a:prstGeom>
          <a:noFill/>
        </p:spPr>
        <p:txBody>
          <a:bodyPr wrap="none" lIns="0" tIns="12700" rIns="0" bIns="0" anchor="t">
            <a:noAutofit/>
          </a:bodyPr>
          <a:lstStyle/>
          <a:p>
            <a:pPr algn="l">
              <a:lnSpc>
                <a:spcPts val="1690"/>
              </a:lnSpc>
              <a:spcBef>
                <a:spcPts val="0"/>
              </a:spcBef>
              <a:spcAft>
                <a:spcPts val="0"/>
              </a:spcAft>
              <a:defRPr sz="1330" b="0">
                <a:solidFill>
                  <a:srgbClr val="5A7588"/>
                </a:solidFill>
                <a:latin typeface="Noto Sans CJK SC"/>
              </a:defRPr>
            </a:pPr>
            <a:r>
              <a:rPr lang="zh-CN" sz="1330" b="0">
                <a:solidFill>
                  <a:srgbClr val="5A7588"/>
                </a:solidFill>
                <a:latin typeface="Noto Sans CJK SC"/>
                <a:ea typeface="Noto Sans CJK SC"/>
                <a:cs typeface="Noto Sans CJK SC"/>
              </a:rPr>
              <a:t>智能体声称具有什么属性、角色或委托？</a:t>
            </a:r>
            <a:endParaRPr lang="zh-CN" sz="1330" b="0">
              <a:solidFill>
                <a:srgbClr val="5A7588"/>
              </a:solidFill>
              <a:latin typeface="Noto Sans CJK SC"/>
              <a:ea typeface="Noto Sans CJK SC"/>
              <a:cs typeface="Noto Sans CJK SC"/>
            </a:endParaRPr>
          </a:p>
        </p:txBody>
      </p:sp>
      <p:sp>
        <p:nvSpPr>
          <p:cNvPr id="12" name="Example 1 EN"/>
          <p:cNvSpPr txBox="1"/>
          <p:nvPr/>
        </p:nvSpPr>
        <p:spPr>
          <a:xfrm>
            <a:off x="832103" y="4041648"/>
            <a:ext cx="4873752" cy="618489"/>
          </a:xfrm>
          <a:prstGeom prst="rect">
            <a:avLst/>
          </a:prstGeom>
          <a:noFill/>
        </p:spPr>
        <p:txBody>
          <a:bodyPr wrap="none" lIns="0" tIns="12700" rIns="0" bIns="0" anchor="t">
            <a:noAutofit/>
          </a:bodyPr>
          <a:lstStyle/>
          <a:p>
            <a:pPr algn="l">
              <a:lnSpc>
                <a:spcPts val="2135"/>
              </a:lnSpc>
              <a:spcBef>
                <a:spcPts val="0"/>
              </a:spcBef>
              <a:spcAft>
                <a:spcPts val="0"/>
              </a:spcAft>
              <a:defRPr sz="1750" b="0">
                <a:solidFill>
                  <a:srgbClr val="19384B"/>
                </a:solidFill>
                <a:latin typeface="Arial" panose="020B0704020202020204"/>
              </a:defRPr>
            </a:pPr>
            <a:r>
              <a:rPr lang="en-US" sz="1750" b="0">
                <a:solidFill>
                  <a:srgbClr val="19384B"/>
                </a:solidFill>
                <a:latin typeface="Arial" panose="020B0704020202020204"/>
                <a:ea typeface="Arial" panose="020B0704020202020204"/>
                <a:cs typeface="Arial" panose="020B0704020202020204"/>
              </a:rPr>
              <a:t>“I am the purchasing Agent</a:t>
            </a:r>
            <a:endParaRPr lang="en-US" sz="1750" b="0">
              <a:solidFill>
                <a:srgbClr val="19384B"/>
              </a:solidFill>
              <a:latin typeface="Arial" panose="020B0704020202020204"/>
              <a:ea typeface="Arial" panose="020B0704020202020204"/>
              <a:cs typeface="Arial" panose="020B0704020202020204"/>
            </a:endParaRPr>
          </a:p>
          <a:p>
            <a:pPr algn="l">
              <a:lnSpc>
                <a:spcPts val="2135"/>
              </a:lnSpc>
              <a:spcBef>
                <a:spcPts val="0"/>
              </a:spcBef>
              <a:spcAft>
                <a:spcPts val="0"/>
              </a:spcAft>
              <a:defRPr sz="1750" b="0">
                <a:solidFill>
                  <a:srgbClr val="19384B"/>
                </a:solidFill>
                <a:latin typeface="Arial" panose="020B0704020202020204"/>
              </a:defRPr>
            </a:pPr>
            <a:r>
              <a:rPr lang="en-US" sz="1750" b="0">
                <a:solidFill>
                  <a:srgbClr val="19384B"/>
                </a:solidFill>
                <a:latin typeface="Arial" panose="020B0704020202020204"/>
                <a:ea typeface="Arial" panose="020B0704020202020204"/>
                <a:cs typeface="Arial" panose="020B0704020202020204"/>
              </a:rPr>
              <a:t>appointed by Company A.”</a:t>
            </a:r>
            <a:endParaRPr lang="en-US" sz="1750" b="0">
              <a:solidFill>
                <a:srgbClr val="19384B"/>
              </a:solidFill>
              <a:latin typeface="Arial" panose="020B0704020202020204"/>
              <a:ea typeface="Arial" panose="020B0704020202020204"/>
              <a:cs typeface="Arial" panose="020B0704020202020204"/>
            </a:endParaRPr>
          </a:p>
        </p:txBody>
      </p:sp>
      <p:sp>
        <p:nvSpPr>
          <p:cNvPr id="13" name="Example 1 ZH"/>
          <p:cNvSpPr txBox="1"/>
          <p:nvPr/>
        </p:nvSpPr>
        <p:spPr>
          <a:xfrm>
            <a:off x="832103" y="4705858"/>
            <a:ext cx="4873752" cy="281038"/>
          </a:xfrm>
          <a:prstGeom prst="rect">
            <a:avLst/>
          </a:prstGeom>
          <a:noFill/>
        </p:spPr>
        <p:txBody>
          <a:bodyPr wrap="none" lIns="0" tIns="12700" rIns="0" bIns="0" anchor="t">
            <a:noAutofit/>
          </a:bodyPr>
          <a:lstStyle/>
          <a:p>
            <a:pPr algn="l">
              <a:lnSpc>
                <a:spcPts val="1610"/>
              </a:lnSpc>
              <a:spcBef>
                <a:spcPts val="0"/>
              </a:spcBef>
              <a:spcAft>
                <a:spcPts val="0"/>
              </a:spcAft>
              <a:defRPr sz="1270" b="0">
                <a:solidFill>
                  <a:srgbClr val="5A7588"/>
                </a:solidFill>
                <a:latin typeface="Noto Sans CJK SC"/>
              </a:defRPr>
            </a:pPr>
            <a:r>
              <a:rPr lang="zh-CN" sz="1270" b="0">
                <a:solidFill>
                  <a:srgbClr val="5A7588"/>
                </a:solidFill>
                <a:latin typeface="Noto Sans CJK SC"/>
                <a:ea typeface="Noto Sans CJK SC"/>
                <a:cs typeface="Noto Sans CJK SC"/>
              </a:rPr>
              <a:t>“我是由 A 公司任命的采购智能体。”</a:t>
            </a:r>
            <a:endParaRPr lang="zh-CN" sz="1270" b="0">
              <a:solidFill>
                <a:srgbClr val="5A7588"/>
              </a:solidFill>
              <a:latin typeface="Noto Sans CJK SC"/>
              <a:ea typeface="Noto Sans CJK SC"/>
              <a:cs typeface="Noto Sans CJK SC"/>
            </a:endParaRPr>
          </a:p>
        </p:txBody>
      </p:sp>
      <p:sp>
        <p:nvSpPr>
          <p:cNvPr id="14" name="Question panel 2"/>
          <p:cNvSpPr/>
          <p:nvPr/>
        </p:nvSpPr>
        <p:spPr>
          <a:xfrm>
            <a:off x="6217920" y="2487168"/>
            <a:ext cx="5404104" cy="2788920"/>
          </a:xfrm>
          <a:prstGeom prst="roundRect">
            <a:avLst>
              <a:gd name="adj" fmla="val 6000"/>
            </a:avLst>
          </a:prstGeom>
          <a:solidFill>
            <a:srgbClr val="EDF3FD"/>
          </a:solidFill>
          <a:ln w="11430">
            <a:solidFill>
              <a:srgbClr val="2168D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5" name="Stage 2"/>
          <p:cNvSpPr/>
          <p:nvPr/>
        </p:nvSpPr>
        <p:spPr>
          <a:xfrm>
            <a:off x="6419088" y="2706624"/>
            <a:ext cx="438912" cy="438912"/>
          </a:xfrm>
          <a:prstGeom prst="ellipse">
            <a:avLst/>
          </a:prstGeom>
          <a:solidFill>
            <a:srgbClr val="216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ge 2 number"/>
          <p:cNvSpPr txBox="1"/>
          <p:nvPr/>
        </p:nvSpPr>
        <p:spPr>
          <a:xfrm>
            <a:off x="6419088" y="2756916"/>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2</a:t>
            </a:r>
            <a:endParaRPr lang="en-US" sz="2000" b="1">
              <a:solidFill>
                <a:srgbClr val="FFFFFF"/>
              </a:solidFill>
              <a:latin typeface="Arial" panose="020B0704020202020204"/>
              <a:ea typeface="Arial" panose="020B0704020202020204"/>
              <a:cs typeface="Arial" panose="020B0704020202020204"/>
            </a:endParaRPr>
          </a:p>
        </p:txBody>
      </p:sp>
      <p:sp>
        <p:nvSpPr>
          <p:cNvPr id="17" name="Question 2 EN"/>
          <p:cNvSpPr txBox="1"/>
          <p:nvPr/>
        </p:nvSpPr>
        <p:spPr>
          <a:xfrm>
            <a:off x="7068312" y="2670048"/>
            <a:ext cx="4297680" cy="788924"/>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2168D5"/>
                </a:solidFill>
                <a:latin typeface="Arial" panose="020B0704020202020204"/>
              </a:defRPr>
            </a:pPr>
            <a:r>
              <a:rPr lang="en-US" sz="2300" b="1">
                <a:solidFill>
                  <a:srgbClr val="2168D5"/>
                </a:solidFill>
                <a:latin typeface="Arial" panose="020B0704020202020204"/>
                <a:ea typeface="Arial" panose="020B0704020202020204"/>
                <a:cs typeface="Arial" panose="020B0704020202020204"/>
              </a:rPr>
              <a:t>What may the Agent</a:t>
            </a:r>
            <a:endParaRPr lang="en-US" sz="2300" b="1">
              <a:solidFill>
                <a:srgbClr val="2168D5"/>
              </a:solidFill>
              <a:latin typeface="Arial" panose="020B0704020202020204"/>
              <a:ea typeface="Arial" panose="020B0704020202020204"/>
              <a:cs typeface="Arial" panose="020B0704020202020204"/>
            </a:endParaRPr>
          </a:p>
          <a:p>
            <a:pPr algn="l">
              <a:lnSpc>
                <a:spcPts val="2805"/>
              </a:lnSpc>
              <a:spcBef>
                <a:spcPts val="0"/>
              </a:spcBef>
              <a:spcAft>
                <a:spcPts val="0"/>
              </a:spcAft>
              <a:defRPr sz="2300" b="1">
                <a:solidFill>
                  <a:srgbClr val="2168D5"/>
                </a:solidFill>
                <a:latin typeface="Arial" panose="020B0704020202020204"/>
              </a:defRPr>
            </a:pPr>
            <a:r>
              <a:rPr lang="en-US" sz="2300" b="1">
                <a:solidFill>
                  <a:srgbClr val="2168D5"/>
                </a:solidFill>
                <a:latin typeface="Arial" panose="020B0704020202020204"/>
                <a:ea typeface="Arial" panose="020B0704020202020204"/>
                <a:cs typeface="Arial" panose="020B0704020202020204"/>
              </a:rPr>
              <a:t>access or execute?</a:t>
            </a:r>
            <a:endParaRPr lang="en-US" sz="2300" b="1">
              <a:solidFill>
                <a:srgbClr val="2168D5"/>
              </a:solidFill>
              <a:latin typeface="Arial" panose="020B0704020202020204"/>
              <a:ea typeface="Arial" panose="020B0704020202020204"/>
              <a:cs typeface="Arial" panose="020B0704020202020204"/>
            </a:endParaRPr>
          </a:p>
        </p:txBody>
      </p:sp>
      <p:sp>
        <p:nvSpPr>
          <p:cNvPr id="18" name="Question 2 ZH"/>
          <p:cNvSpPr txBox="1"/>
          <p:nvPr/>
        </p:nvSpPr>
        <p:spPr>
          <a:xfrm>
            <a:off x="7068312" y="3500119"/>
            <a:ext cx="4297680" cy="290715"/>
          </a:xfrm>
          <a:prstGeom prst="rect">
            <a:avLst/>
          </a:prstGeom>
          <a:noFill/>
        </p:spPr>
        <p:txBody>
          <a:bodyPr wrap="none" lIns="0" tIns="12700" rIns="0" bIns="0" anchor="t">
            <a:noAutofit/>
          </a:bodyPr>
          <a:lstStyle/>
          <a:p>
            <a:pPr algn="l">
              <a:lnSpc>
                <a:spcPts val="1690"/>
              </a:lnSpc>
              <a:spcBef>
                <a:spcPts val="0"/>
              </a:spcBef>
              <a:spcAft>
                <a:spcPts val="0"/>
              </a:spcAft>
              <a:defRPr sz="1330" b="0">
                <a:solidFill>
                  <a:srgbClr val="5A7588"/>
                </a:solidFill>
                <a:latin typeface="Noto Sans CJK SC"/>
              </a:defRPr>
            </a:pPr>
            <a:r>
              <a:rPr lang="zh-CN" sz="1330" b="0">
                <a:solidFill>
                  <a:srgbClr val="5A7588"/>
                </a:solidFill>
                <a:latin typeface="Noto Sans CJK SC"/>
                <a:ea typeface="Noto Sans CJK SC"/>
                <a:cs typeface="Noto Sans CJK SC"/>
              </a:rPr>
              <a:t>智能体可以访问哪些资源、执行哪些操作？</a:t>
            </a:r>
            <a:endParaRPr lang="zh-CN" sz="1330" b="0">
              <a:solidFill>
                <a:srgbClr val="5A7588"/>
              </a:solidFill>
              <a:latin typeface="Noto Sans CJK SC"/>
              <a:ea typeface="Noto Sans CJK SC"/>
              <a:cs typeface="Noto Sans CJK SC"/>
            </a:endParaRPr>
          </a:p>
        </p:txBody>
      </p:sp>
      <p:sp>
        <p:nvSpPr>
          <p:cNvPr id="19" name="Example 2 EN"/>
          <p:cNvSpPr txBox="1"/>
          <p:nvPr/>
        </p:nvSpPr>
        <p:spPr>
          <a:xfrm>
            <a:off x="6483096" y="4041648"/>
            <a:ext cx="4873752" cy="618489"/>
          </a:xfrm>
          <a:prstGeom prst="rect">
            <a:avLst/>
          </a:prstGeom>
          <a:noFill/>
        </p:spPr>
        <p:txBody>
          <a:bodyPr wrap="none" lIns="0" tIns="12700" rIns="0" bIns="0" anchor="t">
            <a:noAutofit/>
          </a:bodyPr>
          <a:lstStyle/>
          <a:p>
            <a:pPr algn="l">
              <a:lnSpc>
                <a:spcPts val="2135"/>
              </a:lnSpc>
              <a:spcBef>
                <a:spcPts val="0"/>
              </a:spcBef>
              <a:spcAft>
                <a:spcPts val="0"/>
              </a:spcAft>
              <a:defRPr sz="1750" b="0">
                <a:solidFill>
                  <a:srgbClr val="19384B"/>
                </a:solidFill>
                <a:latin typeface="Arial" panose="020B0704020202020204"/>
              </a:defRPr>
            </a:pPr>
            <a:r>
              <a:rPr lang="en-US" sz="1750" b="0">
                <a:solidFill>
                  <a:srgbClr val="19384B"/>
                </a:solidFill>
                <a:latin typeface="Arial" panose="020B0704020202020204"/>
                <a:ea typeface="Arial" panose="020B0704020202020204"/>
                <a:cs typeface="Arial" panose="020B0704020202020204"/>
              </a:rPr>
              <a:t>“May this Agent read quotations</a:t>
            </a:r>
            <a:endParaRPr lang="en-US" sz="1750" b="0">
              <a:solidFill>
                <a:srgbClr val="19384B"/>
              </a:solidFill>
              <a:latin typeface="Arial" panose="020B0704020202020204"/>
              <a:ea typeface="Arial" panose="020B0704020202020204"/>
              <a:cs typeface="Arial" panose="020B0704020202020204"/>
            </a:endParaRPr>
          </a:p>
          <a:p>
            <a:pPr algn="l">
              <a:lnSpc>
                <a:spcPts val="2135"/>
              </a:lnSpc>
              <a:spcBef>
                <a:spcPts val="0"/>
              </a:spcBef>
              <a:spcAft>
                <a:spcPts val="0"/>
              </a:spcAft>
              <a:defRPr sz="1750" b="0">
                <a:solidFill>
                  <a:srgbClr val="19384B"/>
                </a:solidFill>
                <a:latin typeface="Arial" panose="020B0704020202020204"/>
              </a:defRPr>
            </a:pPr>
            <a:r>
              <a:rPr lang="en-US" sz="1750" b="0">
                <a:solidFill>
                  <a:srgbClr val="19384B"/>
                </a:solidFill>
                <a:latin typeface="Arial" panose="020B0704020202020204"/>
                <a:ea typeface="Arial" panose="020B0704020202020204"/>
                <a:cs typeface="Arial" panose="020B0704020202020204"/>
              </a:rPr>
              <a:t>and submit a purchase request?”</a:t>
            </a:r>
            <a:endParaRPr lang="en-US" sz="1750" b="0">
              <a:solidFill>
                <a:srgbClr val="19384B"/>
              </a:solidFill>
              <a:latin typeface="Arial" panose="020B0704020202020204"/>
              <a:ea typeface="Arial" panose="020B0704020202020204"/>
              <a:cs typeface="Arial" panose="020B0704020202020204"/>
            </a:endParaRPr>
          </a:p>
        </p:txBody>
      </p:sp>
      <p:sp>
        <p:nvSpPr>
          <p:cNvPr id="20" name="Example 2 ZH"/>
          <p:cNvSpPr txBox="1"/>
          <p:nvPr/>
        </p:nvSpPr>
        <p:spPr>
          <a:xfrm>
            <a:off x="6483096" y="4705858"/>
            <a:ext cx="4873752" cy="560069"/>
          </a:xfrm>
          <a:prstGeom prst="rect">
            <a:avLst/>
          </a:prstGeom>
          <a:noFill/>
        </p:spPr>
        <p:txBody>
          <a:bodyPr wrap="none" lIns="0" tIns="12700" rIns="0" bIns="0" anchor="t">
            <a:noAutofit/>
          </a:bodyPr>
          <a:lstStyle/>
          <a:p>
            <a:pPr algn="l">
              <a:lnSpc>
                <a:spcPts val="1905"/>
              </a:lnSpc>
              <a:spcBef>
                <a:spcPts val="0"/>
              </a:spcBef>
              <a:spcAft>
                <a:spcPts val="0"/>
              </a:spcAft>
              <a:defRPr sz="1270" b="0">
                <a:solidFill>
                  <a:srgbClr val="5A7588"/>
                </a:solidFill>
                <a:latin typeface="Noto Sans CJK SC"/>
              </a:defRPr>
            </a:pPr>
            <a:r>
              <a:rPr lang="zh-CN" sz="1270" b="0">
                <a:solidFill>
                  <a:srgbClr val="5A7588"/>
                </a:solidFill>
                <a:latin typeface="Noto Sans CJK SC"/>
                <a:ea typeface="Noto Sans CJK SC"/>
                <a:cs typeface="Noto Sans CJK SC"/>
              </a:rPr>
              <a:t>“是否允许该智能体读取报价，</a:t>
            </a:r>
            <a:endParaRPr lang="zh-CN" sz="1270" b="0">
              <a:solidFill>
                <a:srgbClr val="5A7588"/>
              </a:solidFill>
              <a:latin typeface="Noto Sans CJK SC"/>
              <a:ea typeface="Noto Sans CJK SC"/>
              <a:cs typeface="Noto Sans CJK SC"/>
            </a:endParaRPr>
          </a:p>
          <a:p>
            <a:pPr algn="l">
              <a:lnSpc>
                <a:spcPts val="1905"/>
              </a:lnSpc>
              <a:spcBef>
                <a:spcPts val="0"/>
              </a:spcBef>
              <a:spcAft>
                <a:spcPts val="0"/>
              </a:spcAft>
              <a:defRPr sz="1270" b="0">
                <a:solidFill>
                  <a:srgbClr val="5A7588"/>
                </a:solidFill>
                <a:latin typeface="Noto Sans CJK SC"/>
              </a:defRPr>
            </a:pPr>
            <a:r>
              <a:rPr lang="zh-CN" sz="1270" b="0">
                <a:solidFill>
                  <a:srgbClr val="5A7588"/>
                </a:solidFill>
                <a:latin typeface="Noto Sans CJK SC"/>
                <a:ea typeface="Noto Sans CJK SC"/>
                <a:cs typeface="Noto Sans CJK SC"/>
              </a:rPr>
              <a:t>并提交采购申请？”</a:t>
            </a:r>
            <a:endParaRPr lang="zh-CN" sz="1270" b="0">
              <a:solidFill>
                <a:srgbClr val="5A7588"/>
              </a:solidFill>
              <a:latin typeface="Noto Sans CJK SC"/>
              <a:ea typeface="Noto Sans CJK SC"/>
              <a:cs typeface="Noto Sans CJK SC"/>
            </a:endParaRPr>
          </a:p>
        </p:txBody>
      </p:sp>
      <p:sp>
        <p:nvSpPr>
          <p:cNvPr id="21"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2"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23" name="Key message EN"/>
          <p:cNvSpPr txBox="1"/>
          <p:nvPr/>
        </p:nvSpPr>
        <p:spPr>
          <a:xfrm>
            <a:off x="740664" y="5769864"/>
            <a:ext cx="10689336" cy="331851"/>
          </a:xfrm>
          <a:prstGeom prst="rect">
            <a:avLst/>
          </a:prstGeom>
          <a:noFill/>
        </p:spPr>
        <p:txBody>
          <a:bodyPr wrap="none" lIns="0" tIns="12700" rIns="0" bIns="0" anchor="t">
            <a:noAutofit/>
          </a:bodyPr>
          <a:lstStyle/>
          <a:p>
            <a:pPr algn="l">
              <a:lnSpc>
                <a:spcPts val="2015"/>
              </a:lnSpc>
              <a:spcBef>
                <a:spcPts val="0"/>
              </a:spcBef>
              <a:spcAft>
                <a:spcPts val="0"/>
              </a:spcAft>
              <a:defRPr sz="1650" b="1">
                <a:solidFill>
                  <a:srgbClr val="10334A"/>
                </a:solidFill>
                <a:latin typeface="Arial" panose="020B0704020202020204"/>
              </a:defRPr>
            </a:pPr>
            <a:r>
              <a:rPr lang="en-US" sz="1650" b="1">
                <a:solidFill>
                  <a:srgbClr val="10334A"/>
                </a:solidFill>
                <a:latin typeface="Arial" panose="020B0704020202020204"/>
                <a:ea typeface="Arial" panose="020B0704020202020204"/>
                <a:cs typeface="Arial" panose="020B0704020202020204"/>
              </a:rPr>
              <a:t>Define the authorizer, Agent, resource or action, limits, and how authority ends.</a:t>
            </a:r>
            <a:endParaRPr lang="en-US" sz="1650" b="1">
              <a:solidFill>
                <a:srgbClr val="10334A"/>
              </a:solidFill>
              <a:latin typeface="Arial" panose="020B0704020202020204"/>
              <a:ea typeface="Arial" panose="020B0704020202020204"/>
              <a:cs typeface="Arial" panose="020B0704020202020204"/>
            </a:endParaRPr>
          </a:p>
        </p:txBody>
      </p:sp>
      <p:sp>
        <p:nvSpPr>
          <p:cNvPr id="24" name="Key message ZH"/>
          <p:cNvSpPr txBox="1"/>
          <p:nvPr/>
        </p:nvSpPr>
        <p:spPr>
          <a:xfrm>
            <a:off x="740664" y="611543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明确授权者、智能体、资源或动作、限制条件，以及授权如何终止。</a:t>
            </a:r>
            <a:endParaRPr lang="zh-CN" sz="1200" b="0">
              <a:solidFill>
                <a:srgbClr val="5A7588"/>
              </a:solidFill>
              <a:latin typeface="Noto Sans CJK SC"/>
              <a:ea typeface="Noto Sans CJK SC"/>
              <a:cs typeface="Noto Sans CJK SC"/>
            </a:endParaRPr>
          </a:p>
        </p:txBody>
      </p:sp>
      <p:sp>
        <p:nvSpPr>
          <p:cNvPr id="25"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26"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27"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02</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Two questions. Two complementary mechanisms.</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两类授权问题，两种互补机制。</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Mechanism panel VC — Verifiable claims"/>
          <p:cNvSpPr/>
          <p:nvPr/>
        </p:nvSpPr>
        <p:spPr>
          <a:xfrm>
            <a:off x="566928" y="1435608"/>
            <a:ext cx="5404104" cy="3822191"/>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Mechanism VC — Verifiable claims EN"/>
          <p:cNvSpPr txBox="1"/>
          <p:nvPr/>
        </p:nvSpPr>
        <p:spPr>
          <a:xfrm>
            <a:off x="813816" y="1664208"/>
            <a:ext cx="4910328" cy="432562"/>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07888E"/>
                </a:solidFill>
                <a:latin typeface="Arial" panose="020B0704020202020204"/>
              </a:defRPr>
            </a:pPr>
            <a:r>
              <a:rPr lang="en-US" sz="2300" b="1">
                <a:solidFill>
                  <a:srgbClr val="07888E"/>
                </a:solidFill>
                <a:latin typeface="Arial" panose="020B0704020202020204"/>
                <a:ea typeface="Arial" panose="020B0704020202020204"/>
                <a:cs typeface="Arial" panose="020B0704020202020204"/>
              </a:rPr>
              <a:t>VC — Verifiable claims</a:t>
            </a:r>
            <a:endParaRPr lang="en-US" sz="2300" b="1">
              <a:solidFill>
                <a:srgbClr val="07888E"/>
              </a:solidFill>
              <a:latin typeface="Arial" panose="020B0704020202020204"/>
              <a:ea typeface="Arial" panose="020B0704020202020204"/>
              <a:cs typeface="Arial" panose="020B0704020202020204"/>
            </a:endParaRPr>
          </a:p>
        </p:txBody>
      </p:sp>
      <p:sp>
        <p:nvSpPr>
          <p:cNvPr id="7" name="Mechanism VC — Verifiable claims ZH"/>
          <p:cNvSpPr txBox="1"/>
          <p:nvPr/>
        </p:nvSpPr>
        <p:spPr>
          <a:xfrm>
            <a:off x="813816" y="2151634"/>
            <a:ext cx="4910328" cy="302006"/>
          </a:xfrm>
          <a:prstGeom prst="rect">
            <a:avLst/>
          </a:prstGeom>
          <a:noFill/>
        </p:spPr>
        <p:txBody>
          <a:bodyPr wrap="none" lIns="0" tIns="12700" rIns="0" bIns="0" anchor="t">
            <a:noAutofit/>
          </a:bodyPr>
          <a:lstStyle/>
          <a:p>
            <a:pPr algn="l">
              <a:lnSpc>
                <a:spcPts val="1780"/>
              </a:lnSpc>
              <a:spcBef>
                <a:spcPts val="0"/>
              </a:spcBef>
              <a:spcAft>
                <a:spcPts val="0"/>
              </a:spcAft>
              <a:defRPr sz="1400" b="0">
                <a:solidFill>
                  <a:srgbClr val="5A7588"/>
                </a:solidFill>
                <a:latin typeface="Noto Sans CJK SC"/>
              </a:defRPr>
            </a:pPr>
            <a:r>
              <a:rPr lang="zh-CN" sz="1400" b="0">
                <a:solidFill>
                  <a:srgbClr val="5A7588"/>
                </a:solidFill>
                <a:latin typeface="Noto Sans CJK SC"/>
                <a:ea typeface="Noto Sans CJK SC"/>
                <a:cs typeface="Noto Sans CJK SC"/>
              </a:rPr>
              <a:t>VC — 可验证声明</a:t>
            </a:r>
            <a:endParaRPr lang="zh-CN" sz="1400" b="0">
              <a:solidFill>
                <a:srgbClr val="5A7588"/>
              </a:solidFill>
              <a:latin typeface="Noto Sans CJK SC"/>
              <a:ea typeface="Noto Sans CJK SC"/>
              <a:cs typeface="Noto Sans CJK SC"/>
            </a:endParaRPr>
          </a:p>
        </p:txBody>
      </p:sp>
      <p:sp>
        <p:nvSpPr>
          <p:cNvPr id="8" name="Scope VC — Verifiable claims EN"/>
          <p:cNvSpPr txBox="1"/>
          <p:nvPr/>
        </p:nvSpPr>
        <p:spPr>
          <a:xfrm>
            <a:off x="813816" y="2633472"/>
            <a:ext cx="4910328" cy="649478"/>
          </a:xfrm>
          <a:prstGeom prst="rect">
            <a:avLst/>
          </a:prstGeom>
          <a:noFill/>
        </p:spPr>
        <p:txBody>
          <a:bodyPr wrap="none" lIns="0" tIns="12700" rIns="0" bIns="0" anchor="t">
            <a:noAutofit/>
          </a:bodyPr>
          <a:lstStyle/>
          <a:p>
            <a:pPr algn="l">
              <a:lnSpc>
                <a:spcPts val="2255"/>
              </a:lnSpc>
              <a:spcBef>
                <a:spcPts val="0"/>
              </a:spcBef>
              <a:spcAft>
                <a:spcPts val="0"/>
              </a:spcAft>
              <a:defRPr sz="1850" b="1">
                <a:solidFill>
                  <a:srgbClr val="19384B"/>
                </a:solidFill>
                <a:latin typeface="Arial" panose="020B0704020202020204"/>
              </a:defRPr>
            </a:pPr>
            <a:r>
              <a:rPr lang="en-US" sz="1850" b="1">
                <a:solidFill>
                  <a:srgbClr val="19384B"/>
                </a:solidFill>
                <a:latin typeface="Arial" panose="020B0704020202020204"/>
                <a:ea typeface="Arial" panose="020B0704020202020204"/>
                <a:cs typeface="Arial" panose="020B0704020202020204"/>
              </a:rPr>
              <a:t>Carry statements about attributes,</a:t>
            </a:r>
            <a:endParaRPr lang="en-US" sz="1850" b="1">
              <a:solidFill>
                <a:srgbClr val="19384B"/>
              </a:solidFill>
              <a:latin typeface="Arial" panose="020B0704020202020204"/>
              <a:ea typeface="Arial" panose="020B0704020202020204"/>
              <a:cs typeface="Arial" panose="020B0704020202020204"/>
            </a:endParaRPr>
          </a:p>
          <a:p>
            <a:pPr algn="l">
              <a:lnSpc>
                <a:spcPts val="2255"/>
              </a:lnSpc>
              <a:spcBef>
                <a:spcPts val="0"/>
              </a:spcBef>
              <a:spcAft>
                <a:spcPts val="0"/>
              </a:spcAft>
              <a:defRPr sz="1850" b="1">
                <a:solidFill>
                  <a:srgbClr val="19384B"/>
                </a:solidFill>
                <a:latin typeface="Arial" panose="020B0704020202020204"/>
              </a:defRPr>
            </a:pPr>
            <a:r>
              <a:rPr lang="en-US" sz="1850" b="1">
                <a:solidFill>
                  <a:srgbClr val="19384B"/>
                </a:solidFill>
                <a:latin typeface="Arial" panose="020B0704020202020204"/>
                <a:ea typeface="Arial" panose="020B0704020202020204"/>
                <a:cs typeface="Arial" panose="020B0704020202020204"/>
              </a:rPr>
              <a:t>organizational roles or a direct mandate.</a:t>
            </a:r>
            <a:endParaRPr lang="en-US" sz="1850" b="1">
              <a:solidFill>
                <a:srgbClr val="19384B"/>
              </a:solidFill>
              <a:latin typeface="Arial" panose="020B0704020202020204"/>
              <a:ea typeface="Arial" panose="020B0704020202020204"/>
              <a:cs typeface="Arial" panose="020B0704020202020204"/>
            </a:endParaRPr>
          </a:p>
        </p:txBody>
      </p:sp>
      <p:sp>
        <p:nvSpPr>
          <p:cNvPr id="9" name="Scope VC — Verifiable claims ZH"/>
          <p:cNvSpPr txBox="1"/>
          <p:nvPr/>
        </p:nvSpPr>
        <p:spPr>
          <a:xfrm>
            <a:off x="813816" y="3351530"/>
            <a:ext cx="4910328" cy="590550"/>
          </a:xfrm>
          <a:prstGeom prst="rect">
            <a:avLst/>
          </a:prstGeom>
          <a:noFill/>
        </p:spPr>
        <p:txBody>
          <a:bodyPr wrap="none" lIns="0" tIns="12700" rIns="0" bIns="0" anchor="t">
            <a:noAutofit/>
          </a:bodyPr>
          <a:lstStyle/>
          <a:p>
            <a:pPr algn="l">
              <a:lnSpc>
                <a:spcPts val="202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承载关于属性、组织角色</a:t>
            </a:r>
            <a:endParaRPr lang="zh-CN" sz="1350" b="0">
              <a:solidFill>
                <a:srgbClr val="5A7588"/>
              </a:solidFill>
              <a:latin typeface="Noto Sans CJK SC"/>
              <a:ea typeface="Noto Sans CJK SC"/>
              <a:cs typeface="Noto Sans CJK SC"/>
            </a:endParaRPr>
          </a:p>
          <a:p>
            <a:pPr algn="l">
              <a:lnSpc>
                <a:spcPts val="202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或直接委托的声明。</a:t>
            </a:r>
            <a:endParaRPr lang="zh-CN" sz="1350" b="0">
              <a:solidFill>
                <a:srgbClr val="5A7588"/>
              </a:solidFill>
              <a:latin typeface="Noto Sans CJK SC"/>
              <a:ea typeface="Noto Sans CJK SC"/>
              <a:cs typeface="Noto Sans CJK SC"/>
            </a:endParaRPr>
          </a:p>
        </p:txBody>
      </p:sp>
      <p:sp>
        <p:nvSpPr>
          <p:cNvPr id="10" name="Policy VC — Verifiable claims EN"/>
          <p:cNvSpPr txBox="1"/>
          <p:nvPr/>
        </p:nvSpPr>
        <p:spPr>
          <a:xfrm>
            <a:off x="813816" y="3986784"/>
            <a:ext cx="4910328" cy="572008"/>
          </a:xfrm>
          <a:prstGeom prst="rect">
            <a:avLst/>
          </a:prstGeom>
          <a:noFill/>
        </p:spPr>
        <p:txBody>
          <a:bodyPr wrap="none" lIns="0" tIns="12700" rIns="0" bIns="0" anchor="t">
            <a:noAutofit/>
          </a:bodyPr>
          <a:lstStyle/>
          <a:p>
            <a:pPr algn="l">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The issuer signs the statement.</a:t>
            </a:r>
            <a:endParaRPr lang="en-US" sz="1600" b="0">
              <a:solidFill>
                <a:srgbClr val="19384B"/>
              </a:solidFill>
              <a:latin typeface="Arial" panose="020B0704020202020204"/>
              <a:ea typeface="Arial" panose="020B0704020202020204"/>
              <a:cs typeface="Arial" panose="020B0704020202020204"/>
            </a:endParaRPr>
          </a:p>
          <a:p>
            <a:pPr algn="l">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The verifier decides whether to trust it.</a:t>
            </a:r>
            <a:endParaRPr lang="en-US" sz="1600" b="0">
              <a:solidFill>
                <a:srgbClr val="19384B"/>
              </a:solidFill>
              <a:latin typeface="Arial" panose="020B0704020202020204"/>
              <a:ea typeface="Arial" panose="020B0704020202020204"/>
              <a:cs typeface="Arial" panose="020B0704020202020204"/>
            </a:endParaRPr>
          </a:p>
        </p:txBody>
      </p:sp>
      <p:sp>
        <p:nvSpPr>
          <p:cNvPr id="11" name="Policy VC — Verifiable claims ZH"/>
          <p:cNvSpPr txBox="1"/>
          <p:nvPr/>
        </p:nvSpPr>
        <p:spPr>
          <a:xfrm>
            <a:off x="813816" y="4613656"/>
            <a:ext cx="4910328" cy="563880"/>
          </a:xfrm>
          <a:prstGeom prst="rect">
            <a:avLst/>
          </a:prstGeom>
          <a:noFill/>
        </p:spPr>
        <p:txBody>
          <a:bodyPr wrap="none" lIns="0" tIns="12700" rIns="0" bIns="0" anchor="t">
            <a:noAutofit/>
          </a:bodyPr>
          <a:lstStyle/>
          <a:p>
            <a:pPr algn="l">
              <a:lnSpc>
                <a:spcPts val="1920"/>
              </a:lnSpc>
              <a:spcBef>
                <a:spcPts val="0"/>
              </a:spcBef>
              <a:spcAft>
                <a:spcPts val="0"/>
              </a:spcAft>
              <a:defRPr sz="1280" b="0">
                <a:solidFill>
                  <a:srgbClr val="5A7588"/>
                </a:solidFill>
                <a:latin typeface="Noto Sans CJK SC"/>
              </a:defRPr>
            </a:pPr>
            <a:r>
              <a:rPr lang="zh-CN" sz="1280" b="0">
                <a:solidFill>
                  <a:srgbClr val="5A7588"/>
                </a:solidFill>
                <a:latin typeface="Noto Sans CJK SC"/>
                <a:ea typeface="Noto Sans CJK SC"/>
                <a:cs typeface="Noto Sans CJK SC"/>
              </a:rPr>
              <a:t>签发者对声明签名；</a:t>
            </a:r>
            <a:endParaRPr lang="zh-CN" sz="1280" b="0">
              <a:solidFill>
                <a:srgbClr val="5A7588"/>
              </a:solidFill>
              <a:latin typeface="Noto Sans CJK SC"/>
              <a:ea typeface="Noto Sans CJK SC"/>
              <a:cs typeface="Noto Sans CJK SC"/>
            </a:endParaRPr>
          </a:p>
          <a:p>
            <a:pPr algn="l">
              <a:lnSpc>
                <a:spcPts val="1920"/>
              </a:lnSpc>
              <a:spcBef>
                <a:spcPts val="0"/>
              </a:spcBef>
              <a:spcAft>
                <a:spcPts val="0"/>
              </a:spcAft>
              <a:defRPr sz="1280" b="0">
                <a:solidFill>
                  <a:srgbClr val="5A7588"/>
                </a:solidFill>
                <a:latin typeface="Noto Sans CJK SC"/>
              </a:defRPr>
            </a:pPr>
            <a:r>
              <a:rPr lang="zh-CN" sz="1280" b="0">
                <a:solidFill>
                  <a:srgbClr val="5A7588"/>
                </a:solidFill>
                <a:latin typeface="Noto Sans CJK SC"/>
                <a:ea typeface="Noto Sans CJK SC"/>
                <a:cs typeface="Noto Sans CJK SC"/>
              </a:rPr>
              <a:t>验证方决定是否信任并接受。</a:t>
            </a:r>
            <a:endParaRPr lang="zh-CN" sz="1280" b="0">
              <a:solidFill>
                <a:srgbClr val="5A7588"/>
              </a:solidFill>
              <a:latin typeface="Noto Sans CJK SC"/>
              <a:ea typeface="Noto Sans CJK SC"/>
              <a:cs typeface="Noto Sans CJK SC"/>
            </a:endParaRPr>
          </a:p>
        </p:txBody>
      </p:sp>
      <p:sp>
        <p:nvSpPr>
          <p:cNvPr id="12" name="Mechanism panel OAuth — Resource access"/>
          <p:cNvSpPr/>
          <p:nvPr/>
        </p:nvSpPr>
        <p:spPr>
          <a:xfrm>
            <a:off x="6217920" y="1435608"/>
            <a:ext cx="5404104" cy="3822191"/>
          </a:xfrm>
          <a:prstGeom prst="roundRect">
            <a:avLst>
              <a:gd name="adj" fmla="val 6000"/>
            </a:avLst>
          </a:prstGeom>
          <a:solidFill>
            <a:srgbClr val="EDF3FD"/>
          </a:solidFill>
          <a:ln w="11430">
            <a:solidFill>
              <a:srgbClr val="2168D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3" name="Mechanism OAuth — Resource access EN"/>
          <p:cNvSpPr txBox="1"/>
          <p:nvPr/>
        </p:nvSpPr>
        <p:spPr>
          <a:xfrm>
            <a:off x="6464808" y="1664208"/>
            <a:ext cx="4910328" cy="432562"/>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2168D5"/>
                </a:solidFill>
                <a:latin typeface="Arial" panose="020B0704020202020204"/>
              </a:defRPr>
            </a:pPr>
            <a:r>
              <a:rPr lang="en-US" sz="2300" b="1">
                <a:solidFill>
                  <a:srgbClr val="2168D5"/>
                </a:solidFill>
                <a:latin typeface="Arial" panose="020B0704020202020204"/>
                <a:ea typeface="Arial" panose="020B0704020202020204"/>
                <a:cs typeface="Arial" panose="020B0704020202020204"/>
              </a:rPr>
              <a:t>OAuth — Resource access</a:t>
            </a:r>
            <a:endParaRPr lang="en-US" sz="2300" b="1">
              <a:solidFill>
                <a:srgbClr val="2168D5"/>
              </a:solidFill>
              <a:latin typeface="Arial" panose="020B0704020202020204"/>
              <a:ea typeface="Arial" panose="020B0704020202020204"/>
              <a:cs typeface="Arial" panose="020B0704020202020204"/>
            </a:endParaRPr>
          </a:p>
        </p:txBody>
      </p:sp>
      <p:sp>
        <p:nvSpPr>
          <p:cNvPr id="14" name="Mechanism OAuth — Resource access ZH"/>
          <p:cNvSpPr txBox="1"/>
          <p:nvPr/>
        </p:nvSpPr>
        <p:spPr>
          <a:xfrm>
            <a:off x="6464808" y="2151634"/>
            <a:ext cx="4910328" cy="302006"/>
          </a:xfrm>
          <a:prstGeom prst="rect">
            <a:avLst/>
          </a:prstGeom>
          <a:noFill/>
        </p:spPr>
        <p:txBody>
          <a:bodyPr wrap="none" lIns="0" tIns="12700" rIns="0" bIns="0" anchor="t">
            <a:noAutofit/>
          </a:bodyPr>
          <a:lstStyle/>
          <a:p>
            <a:pPr algn="l">
              <a:lnSpc>
                <a:spcPts val="1780"/>
              </a:lnSpc>
              <a:spcBef>
                <a:spcPts val="0"/>
              </a:spcBef>
              <a:spcAft>
                <a:spcPts val="0"/>
              </a:spcAft>
              <a:defRPr sz="1400" b="0">
                <a:solidFill>
                  <a:srgbClr val="5A7588"/>
                </a:solidFill>
                <a:latin typeface="Noto Sans CJK SC"/>
              </a:defRPr>
            </a:pPr>
            <a:r>
              <a:rPr lang="zh-CN" sz="1400" b="0">
                <a:solidFill>
                  <a:srgbClr val="5A7588"/>
                </a:solidFill>
                <a:latin typeface="Noto Sans CJK SC"/>
                <a:ea typeface="Noto Sans CJK SC"/>
                <a:cs typeface="Noto Sans CJK SC"/>
              </a:rPr>
              <a:t>OAuth — 资源访问授权</a:t>
            </a:r>
            <a:endParaRPr lang="zh-CN" sz="1400" b="0">
              <a:solidFill>
                <a:srgbClr val="5A7588"/>
              </a:solidFill>
              <a:latin typeface="Noto Sans CJK SC"/>
              <a:ea typeface="Noto Sans CJK SC"/>
              <a:cs typeface="Noto Sans CJK SC"/>
            </a:endParaRPr>
          </a:p>
        </p:txBody>
      </p:sp>
      <p:sp>
        <p:nvSpPr>
          <p:cNvPr id="15" name="Scope OAuth — Resource access EN"/>
          <p:cNvSpPr txBox="1"/>
          <p:nvPr/>
        </p:nvSpPr>
        <p:spPr>
          <a:xfrm>
            <a:off x="6464808" y="2633472"/>
            <a:ext cx="4910328" cy="649478"/>
          </a:xfrm>
          <a:prstGeom prst="rect">
            <a:avLst/>
          </a:prstGeom>
          <a:noFill/>
        </p:spPr>
        <p:txBody>
          <a:bodyPr wrap="none" lIns="0" tIns="12700" rIns="0" bIns="0" anchor="t">
            <a:noAutofit/>
          </a:bodyPr>
          <a:lstStyle/>
          <a:p>
            <a:pPr algn="l">
              <a:lnSpc>
                <a:spcPts val="2255"/>
              </a:lnSpc>
              <a:spcBef>
                <a:spcPts val="0"/>
              </a:spcBef>
              <a:spcAft>
                <a:spcPts val="0"/>
              </a:spcAft>
              <a:defRPr sz="1850" b="1">
                <a:solidFill>
                  <a:srgbClr val="19384B"/>
                </a:solidFill>
                <a:latin typeface="Arial" panose="020B0704020202020204"/>
              </a:defRPr>
            </a:pPr>
            <a:r>
              <a:rPr lang="en-US" sz="1850" b="1">
                <a:solidFill>
                  <a:srgbClr val="19384B"/>
                </a:solidFill>
                <a:latin typeface="Arial" panose="020B0704020202020204"/>
                <a:ea typeface="Arial" panose="020B0704020202020204"/>
                <a:cs typeface="Arial" panose="020B0704020202020204"/>
              </a:rPr>
              <a:t>Manage resource access with grants,</a:t>
            </a:r>
            <a:endParaRPr lang="en-US" sz="1850" b="1">
              <a:solidFill>
                <a:srgbClr val="19384B"/>
              </a:solidFill>
              <a:latin typeface="Arial" panose="020B0704020202020204"/>
              <a:ea typeface="Arial" panose="020B0704020202020204"/>
              <a:cs typeface="Arial" panose="020B0704020202020204"/>
            </a:endParaRPr>
          </a:p>
          <a:p>
            <a:pPr algn="l">
              <a:lnSpc>
                <a:spcPts val="2255"/>
              </a:lnSpc>
              <a:spcBef>
                <a:spcPts val="0"/>
              </a:spcBef>
              <a:spcAft>
                <a:spcPts val="0"/>
              </a:spcAft>
              <a:defRPr sz="1850" b="1">
                <a:solidFill>
                  <a:srgbClr val="19384B"/>
                </a:solidFill>
                <a:latin typeface="Arial" panose="020B0704020202020204"/>
              </a:defRPr>
            </a:pPr>
            <a:r>
              <a:rPr lang="en-US" sz="1850" b="1">
                <a:solidFill>
                  <a:srgbClr val="19384B"/>
                </a:solidFill>
                <a:latin typeface="Arial" panose="020B0704020202020204"/>
                <a:ea typeface="Arial" panose="020B0704020202020204"/>
                <a:cs typeface="Arial" panose="020B0704020202020204"/>
              </a:rPr>
              <a:t>scopes, tokens, refresh and revocation.</a:t>
            </a:r>
            <a:endParaRPr lang="en-US" sz="1850" b="1">
              <a:solidFill>
                <a:srgbClr val="19384B"/>
              </a:solidFill>
              <a:latin typeface="Arial" panose="020B0704020202020204"/>
              <a:ea typeface="Arial" panose="020B0704020202020204"/>
              <a:cs typeface="Arial" panose="020B0704020202020204"/>
            </a:endParaRPr>
          </a:p>
        </p:txBody>
      </p:sp>
      <p:sp>
        <p:nvSpPr>
          <p:cNvPr id="16" name="Scope OAuth — Resource access ZH"/>
          <p:cNvSpPr txBox="1"/>
          <p:nvPr/>
        </p:nvSpPr>
        <p:spPr>
          <a:xfrm>
            <a:off x="6464808" y="3351530"/>
            <a:ext cx="4910328" cy="590550"/>
          </a:xfrm>
          <a:prstGeom prst="rect">
            <a:avLst/>
          </a:prstGeom>
          <a:noFill/>
        </p:spPr>
        <p:txBody>
          <a:bodyPr wrap="none" lIns="0" tIns="12700" rIns="0" bIns="0" anchor="t">
            <a:noAutofit/>
          </a:bodyPr>
          <a:lstStyle/>
          <a:p>
            <a:pPr algn="l">
              <a:lnSpc>
                <a:spcPts val="202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通过授权、权限范围、令牌、刷新和撤销</a:t>
            </a:r>
            <a:endParaRPr lang="zh-CN" sz="1350" b="0">
              <a:solidFill>
                <a:srgbClr val="5A7588"/>
              </a:solidFill>
              <a:latin typeface="Noto Sans CJK SC"/>
              <a:ea typeface="Noto Sans CJK SC"/>
              <a:cs typeface="Noto Sans CJK SC"/>
            </a:endParaRPr>
          </a:p>
          <a:p>
            <a:pPr algn="l">
              <a:lnSpc>
                <a:spcPts val="202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管理资源访问。</a:t>
            </a:r>
            <a:endParaRPr lang="zh-CN" sz="1350" b="0">
              <a:solidFill>
                <a:srgbClr val="5A7588"/>
              </a:solidFill>
              <a:latin typeface="Noto Sans CJK SC"/>
              <a:ea typeface="Noto Sans CJK SC"/>
              <a:cs typeface="Noto Sans CJK SC"/>
            </a:endParaRPr>
          </a:p>
        </p:txBody>
      </p:sp>
      <p:sp>
        <p:nvSpPr>
          <p:cNvPr id="17" name="Policy OAuth — Resource access EN"/>
          <p:cNvSpPr txBox="1"/>
          <p:nvPr/>
        </p:nvSpPr>
        <p:spPr>
          <a:xfrm>
            <a:off x="6464808" y="3986784"/>
            <a:ext cx="4910328" cy="572008"/>
          </a:xfrm>
          <a:prstGeom prst="rect">
            <a:avLst/>
          </a:prstGeom>
          <a:noFill/>
        </p:spPr>
        <p:txBody>
          <a:bodyPr wrap="none" lIns="0" tIns="12700" rIns="0" bIns="0" anchor="t">
            <a:noAutofit/>
          </a:bodyPr>
          <a:lstStyle/>
          <a:p>
            <a:pPr algn="l">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A trusted authorization server evaluates</a:t>
            </a:r>
            <a:endParaRPr lang="en-US" sz="1600" b="0">
              <a:solidFill>
                <a:srgbClr val="19384B"/>
              </a:solidFill>
              <a:latin typeface="Arial" panose="020B0704020202020204"/>
              <a:ea typeface="Arial" panose="020B0704020202020204"/>
              <a:cs typeface="Arial" panose="020B0704020202020204"/>
            </a:endParaRPr>
          </a:p>
          <a:p>
            <a:pPr algn="l">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policy and issues a resource-specific token.</a:t>
            </a:r>
            <a:endParaRPr lang="en-US" sz="1600" b="0">
              <a:solidFill>
                <a:srgbClr val="19384B"/>
              </a:solidFill>
              <a:latin typeface="Arial" panose="020B0704020202020204"/>
              <a:ea typeface="Arial" panose="020B0704020202020204"/>
              <a:cs typeface="Arial" panose="020B0704020202020204"/>
            </a:endParaRPr>
          </a:p>
        </p:txBody>
      </p:sp>
      <p:sp>
        <p:nvSpPr>
          <p:cNvPr id="18" name="Policy OAuth — Resource access ZH"/>
          <p:cNvSpPr txBox="1"/>
          <p:nvPr/>
        </p:nvSpPr>
        <p:spPr>
          <a:xfrm>
            <a:off x="6464808" y="4613656"/>
            <a:ext cx="4910328" cy="563880"/>
          </a:xfrm>
          <a:prstGeom prst="rect">
            <a:avLst/>
          </a:prstGeom>
          <a:noFill/>
        </p:spPr>
        <p:txBody>
          <a:bodyPr wrap="none" lIns="0" tIns="12700" rIns="0" bIns="0" anchor="t">
            <a:noAutofit/>
          </a:bodyPr>
          <a:lstStyle/>
          <a:p>
            <a:pPr algn="l">
              <a:lnSpc>
                <a:spcPts val="1920"/>
              </a:lnSpc>
              <a:spcBef>
                <a:spcPts val="0"/>
              </a:spcBef>
              <a:spcAft>
                <a:spcPts val="0"/>
              </a:spcAft>
              <a:defRPr sz="1280" b="0">
                <a:solidFill>
                  <a:srgbClr val="5A7588"/>
                </a:solidFill>
                <a:latin typeface="Noto Sans CJK SC"/>
              </a:defRPr>
            </a:pPr>
            <a:r>
              <a:rPr lang="zh-CN" sz="1280" b="0">
                <a:solidFill>
                  <a:srgbClr val="5A7588"/>
                </a:solidFill>
                <a:latin typeface="Noto Sans CJK SC"/>
                <a:ea typeface="Noto Sans CJK SC"/>
                <a:cs typeface="Noto Sans CJK SC"/>
              </a:rPr>
              <a:t>资源方信任的授权服务器评估策略，</a:t>
            </a:r>
            <a:endParaRPr lang="zh-CN" sz="1280" b="0">
              <a:solidFill>
                <a:srgbClr val="5A7588"/>
              </a:solidFill>
              <a:latin typeface="Noto Sans CJK SC"/>
              <a:ea typeface="Noto Sans CJK SC"/>
              <a:cs typeface="Noto Sans CJK SC"/>
            </a:endParaRPr>
          </a:p>
          <a:p>
            <a:pPr algn="l">
              <a:lnSpc>
                <a:spcPts val="1920"/>
              </a:lnSpc>
              <a:spcBef>
                <a:spcPts val="0"/>
              </a:spcBef>
              <a:spcAft>
                <a:spcPts val="0"/>
              </a:spcAft>
              <a:defRPr sz="1280" b="0">
                <a:solidFill>
                  <a:srgbClr val="5A7588"/>
                </a:solidFill>
                <a:latin typeface="Noto Sans CJK SC"/>
              </a:defRPr>
            </a:pPr>
            <a:r>
              <a:rPr lang="zh-CN" sz="1280" b="0">
                <a:solidFill>
                  <a:srgbClr val="5A7588"/>
                </a:solidFill>
                <a:latin typeface="Noto Sans CJK SC"/>
                <a:ea typeface="Noto Sans CJK SC"/>
                <a:cs typeface="Noto Sans CJK SC"/>
              </a:rPr>
              <a:t>并签发面向特定资源的令牌。</a:t>
            </a:r>
            <a:endParaRPr lang="zh-CN" sz="1280" b="0">
              <a:solidFill>
                <a:srgbClr val="5A7588"/>
              </a:solidFill>
              <a:latin typeface="Noto Sans CJK SC"/>
              <a:ea typeface="Noto Sans CJK SC"/>
              <a:cs typeface="Noto Sans CJK SC"/>
            </a:endParaRPr>
          </a:p>
        </p:txBody>
      </p:sp>
      <p:sp>
        <p:nvSpPr>
          <p:cNvPr id="19"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0"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21" name="Key message EN"/>
          <p:cNvSpPr txBox="1"/>
          <p:nvPr/>
        </p:nvSpPr>
        <p:spPr>
          <a:xfrm>
            <a:off x="740664" y="5769864"/>
            <a:ext cx="10689336" cy="331851"/>
          </a:xfrm>
          <a:prstGeom prst="rect">
            <a:avLst/>
          </a:prstGeom>
          <a:noFill/>
        </p:spPr>
        <p:txBody>
          <a:bodyPr wrap="none" lIns="0" tIns="12700" rIns="0" bIns="0" anchor="t">
            <a:noAutofit/>
          </a:bodyPr>
          <a:lstStyle/>
          <a:p>
            <a:pPr algn="l">
              <a:lnSpc>
                <a:spcPts val="2015"/>
              </a:lnSpc>
              <a:spcBef>
                <a:spcPts val="0"/>
              </a:spcBef>
              <a:spcAft>
                <a:spcPts val="0"/>
              </a:spcAft>
              <a:defRPr sz="1650" b="1">
                <a:solidFill>
                  <a:srgbClr val="10334A"/>
                </a:solidFill>
                <a:latin typeface="Arial" panose="020B0704020202020204"/>
              </a:defRPr>
            </a:pPr>
            <a:r>
              <a:rPr lang="en-US" sz="1650" b="1">
                <a:solidFill>
                  <a:srgbClr val="10334A"/>
                </a:solidFill>
                <a:latin typeface="Arial" panose="020B0704020202020204"/>
                <a:ea typeface="Arial" panose="020B0704020202020204"/>
                <a:cs typeface="Arial" panose="020B0704020202020204"/>
              </a:rPr>
              <a:t>DID provides a reusable principal identity and authorized authentication keys.</a:t>
            </a:r>
            <a:endParaRPr lang="en-US" sz="1650" b="1">
              <a:solidFill>
                <a:srgbClr val="10334A"/>
              </a:solidFill>
              <a:latin typeface="Arial" panose="020B0704020202020204"/>
              <a:ea typeface="Arial" panose="020B0704020202020204"/>
              <a:cs typeface="Arial" panose="020B0704020202020204"/>
            </a:endParaRPr>
          </a:p>
        </p:txBody>
      </p:sp>
      <p:sp>
        <p:nvSpPr>
          <p:cNvPr id="22" name="Key message ZH"/>
          <p:cNvSpPr txBox="1"/>
          <p:nvPr/>
        </p:nvSpPr>
        <p:spPr>
          <a:xfrm>
            <a:off x="740664" y="611543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DID 提供可复用的主体身份与已授权的认证密钥。</a:t>
            </a:r>
            <a:endParaRPr lang="zh-CN" sz="1200" b="0">
              <a:solidFill>
                <a:srgbClr val="5A7588"/>
              </a:solidFill>
              <a:latin typeface="Noto Sans CJK SC"/>
              <a:ea typeface="Noto Sans CJK SC"/>
              <a:cs typeface="Noto Sans CJK SC"/>
            </a:endParaRPr>
          </a:p>
        </p:txBody>
      </p:sp>
      <p:sp>
        <p:nvSpPr>
          <p:cNvPr id="23"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24"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25"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03</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VC: verifiable roles and direct mandates</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VC：可验证的组织角色与直接委托</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VC participant 0"/>
          <p:cNvSpPr/>
          <p:nvPr/>
        </p:nvSpPr>
        <p:spPr>
          <a:xfrm>
            <a:off x="566928" y="1508760"/>
            <a:ext cx="3099816" cy="2121408"/>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VC actor 0 EN"/>
          <p:cNvSpPr txBox="1"/>
          <p:nvPr/>
        </p:nvSpPr>
        <p:spPr>
          <a:xfrm>
            <a:off x="731520" y="1682496"/>
            <a:ext cx="2770632" cy="417068"/>
          </a:xfrm>
          <a:prstGeom prst="rect">
            <a:avLst/>
          </a:prstGeom>
          <a:noFill/>
        </p:spPr>
        <p:txBody>
          <a:bodyPr wrap="none" lIns="0" tIns="12700" rIns="0" bIns="0" anchor="t">
            <a:noAutofit/>
          </a:bodyPr>
          <a:lstStyle/>
          <a:p>
            <a:pPr algn="ctr">
              <a:lnSpc>
                <a:spcPts val="2685"/>
              </a:lnSpc>
              <a:spcBef>
                <a:spcPts val="0"/>
              </a:spcBef>
              <a:spcAft>
                <a:spcPts val="0"/>
              </a:spcAft>
              <a:defRPr sz="2200" b="1">
                <a:solidFill>
                  <a:srgbClr val="07888E"/>
                </a:solidFill>
                <a:latin typeface="Arial" panose="020B0704020202020204"/>
              </a:defRPr>
            </a:pPr>
            <a:r>
              <a:rPr lang="en-US" sz="2200" b="1">
                <a:solidFill>
                  <a:srgbClr val="07888E"/>
                </a:solidFill>
                <a:latin typeface="Arial" panose="020B0704020202020204"/>
                <a:ea typeface="Arial" panose="020B0704020202020204"/>
                <a:cs typeface="Arial" panose="020B0704020202020204"/>
              </a:rPr>
              <a:t>Issuer</a:t>
            </a:r>
            <a:endParaRPr lang="en-US" sz="2200" b="1">
              <a:solidFill>
                <a:srgbClr val="07888E"/>
              </a:solidFill>
              <a:latin typeface="Arial" panose="020B0704020202020204"/>
              <a:ea typeface="Arial" panose="020B0704020202020204"/>
              <a:cs typeface="Arial" panose="020B0704020202020204"/>
            </a:endParaRPr>
          </a:p>
        </p:txBody>
      </p:sp>
      <p:sp>
        <p:nvSpPr>
          <p:cNvPr id="7" name="VC actor 0 ZH"/>
          <p:cNvSpPr txBox="1"/>
          <p:nvPr/>
        </p:nvSpPr>
        <p:spPr>
          <a:xfrm>
            <a:off x="731520" y="2122424"/>
            <a:ext cx="2770632" cy="269748"/>
          </a:xfrm>
          <a:prstGeom prst="rect">
            <a:avLst/>
          </a:prstGeom>
          <a:noFill/>
        </p:spPr>
        <p:txBody>
          <a:bodyPr wrap="none" lIns="0" tIns="12700" rIns="0" bIns="0" anchor="t">
            <a:noAutofit/>
          </a:bodyPr>
          <a:lstStyle/>
          <a:p>
            <a:pPr algn="ctr">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签发者</a:t>
            </a:r>
            <a:endParaRPr lang="zh-CN" sz="1200" b="0">
              <a:solidFill>
                <a:srgbClr val="5A7588"/>
              </a:solidFill>
              <a:latin typeface="Noto Sans CJK SC"/>
              <a:ea typeface="Noto Sans CJK SC"/>
              <a:cs typeface="Noto Sans CJK SC"/>
            </a:endParaRPr>
          </a:p>
        </p:txBody>
      </p:sp>
      <p:sp>
        <p:nvSpPr>
          <p:cNvPr id="8" name="VC action 0 EN"/>
          <p:cNvSpPr txBox="1"/>
          <p:nvPr/>
        </p:nvSpPr>
        <p:spPr>
          <a:xfrm>
            <a:off x="731520" y="2432304"/>
            <a:ext cx="2770632" cy="572008"/>
          </a:xfrm>
          <a:prstGeom prst="rect">
            <a:avLst/>
          </a:prstGeom>
          <a:noFill/>
        </p:spPr>
        <p:txBody>
          <a:bodyPr wrap="none" lIns="0" tIns="12700" rIns="0" bIns="0" anchor="t">
            <a:noAutofit/>
          </a:bodyPr>
          <a:lstStyle/>
          <a:p>
            <a:pPr algn="ctr">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Signs a claim with</a:t>
            </a:r>
            <a:endParaRPr lang="en-US" sz="1600" b="0">
              <a:solidFill>
                <a:srgbClr val="19384B"/>
              </a:solidFill>
              <a:latin typeface="Arial" panose="020B0704020202020204"/>
              <a:ea typeface="Arial" panose="020B0704020202020204"/>
              <a:cs typeface="Arial" panose="020B0704020202020204"/>
            </a:endParaRPr>
          </a:p>
          <a:p>
            <a:pPr algn="ctr">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an authorized key.</a:t>
            </a:r>
            <a:endParaRPr lang="en-US" sz="1600" b="0">
              <a:solidFill>
                <a:srgbClr val="19384B"/>
              </a:solidFill>
              <a:latin typeface="Arial" panose="020B0704020202020204"/>
              <a:ea typeface="Arial" panose="020B0704020202020204"/>
              <a:cs typeface="Arial" panose="020B0704020202020204"/>
            </a:endParaRPr>
          </a:p>
        </p:txBody>
      </p:sp>
      <p:sp>
        <p:nvSpPr>
          <p:cNvPr id="9" name="VC action 0 ZH"/>
          <p:cNvSpPr txBox="1"/>
          <p:nvPr/>
        </p:nvSpPr>
        <p:spPr>
          <a:xfrm>
            <a:off x="731520" y="3040888"/>
            <a:ext cx="2770632" cy="533400"/>
          </a:xfrm>
          <a:prstGeom prst="rect">
            <a:avLst/>
          </a:prstGeom>
          <a:noFill/>
        </p:spPr>
        <p:txBody>
          <a:bodyPr wrap="none" lIns="0" tIns="12700" rIns="0" bIns="0" anchor="t">
            <a:noAutofit/>
          </a:bodyPr>
          <a:lstStyle/>
          <a:p>
            <a:pPr algn="ctr">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使用已授权密钥</a:t>
            </a:r>
            <a:endParaRPr lang="zh-CN" sz="1200" b="0">
              <a:solidFill>
                <a:srgbClr val="5A7588"/>
              </a:solidFill>
              <a:latin typeface="Noto Sans CJK SC"/>
              <a:ea typeface="Noto Sans CJK SC"/>
              <a:cs typeface="Noto Sans CJK SC"/>
            </a:endParaRPr>
          </a:p>
          <a:p>
            <a:pPr algn="ctr">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对声明签名。</a:t>
            </a:r>
            <a:endParaRPr lang="zh-CN" sz="1200" b="0">
              <a:solidFill>
                <a:srgbClr val="5A7588"/>
              </a:solidFill>
              <a:latin typeface="Noto Sans CJK SC"/>
              <a:ea typeface="Noto Sans CJK SC"/>
              <a:cs typeface="Noto Sans CJK SC"/>
            </a:endParaRPr>
          </a:p>
        </p:txBody>
      </p:sp>
      <p:sp>
        <p:nvSpPr>
          <p:cNvPr id="10" name="VC participant 1"/>
          <p:cNvSpPr/>
          <p:nvPr/>
        </p:nvSpPr>
        <p:spPr>
          <a:xfrm>
            <a:off x="4544568" y="1508760"/>
            <a:ext cx="3099816" cy="2121408"/>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VC actor 1 EN"/>
          <p:cNvSpPr txBox="1"/>
          <p:nvPr/>
        </p:nvSpPr>
        <p:spPr>
          <a:xfrm>
            <a:off x="4709159" y="1682496"/>
            <a:ext cx="2770632" cy="417068"/>
          </a:xfrm>
          <a:prstGeom prst="rect">
            <a:avLst/>
          </a:prstGeom>
          <a:noFill/>
        </p:spPr>
        <p:txBody>
          <a:bodyPr wrap="none" lIns="0" tIns="12700" rIns="0" bIns="0" anchor="t">
            <a:noAutofit/>
          </a:bodyPr>
          <a:lstStyle/>
          <a:p>
            <a:pPr algn="ctr">
              <a:lnSpc>
                <a:spcPts val="2685"/>
              </a:lnSpc>
              <a:spcBef>
                <a:spcPts val="0"/>
              </a:spcBef>
              <a:spcAft>
                <a:spcPts val="0"/>
              </a:spcAft>
              <a:defRPr sz="2200" b="1">
                <a:solidFill>
                  <a:srgbClr val="07888E"/>
                </a:solidFill>
                <a:latin typeface="Arial" panose="020B0704020202020204"/>
              </a:defRPr>
            </a:pPr>
            <a:r>
              <a:rPr lang="en-US" sz="2200" b="1">
                <a:solidFill>
                  <a:srgbClr val="07888E"/>
                </a:solidFill>
                <a:latin typeface="Arial" panose="020B0704020202020204"/>
                <a:ea typeface="Arial" panose="020B0704020202020204"/>
                <a:cs typeface="Arial" panose="020B0704020202020204"/>
              </a:rPr>
              <a:t>Agent / Holder</a:t>
            </a:r>
            <a:endParaRPr lang="en-US" sz="2200" b="1">
              <a:solidFill>
                <a:srgbClr val="07888E"/>
              </a:solidFill>
              <a:latin typeface="Arial" panose="020B0704020202020204"/>
              <a:ea typeface="Arial" panose="020B0704020202020204"/>
              <a:cs typeface="Arial" panose="020B0704020202020204"/>
            </a:endParaRPr>
          </a:p>
        </p:txBody>
      </p:sp>
      <p:sp>
        <p:nvSpPr>
          <p:cNvPr id="12" name="VC actor 1 ZH"/>
          <p:cNvSpPr txBox="1"/>
          <p:nvPr/>
        </p:nvSpPr>
        <p:spPr>
          <a:xfrm>
            <a:off x="4709159" y="2122424"/>
            <a:ext cx="2770632" cy="269748"/>
          </a:xfrm>
          <a:prstGeom prst="rect">
            <a:avLst/>
          </a:prstGeom>
          <a:noFill/>
        </p:spPr>
        <p:txBody>
          <a:bodyPr wrap="none" lIns="0" tIns="12700" rIns="0" bIns="0" anchor="t">
            <a:noAutofit/>
          </a:bodyPr>
          <a:lstStyle/>
          <a:p>
            <a:pPr algn="ctr">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智能体 / 持有者</a:t>
            </a:r>
            <a:endParaRPr lang="zh-CN" sz="1200" b="0">
              <a:solidFill>
                <a:srgbClr val="5A7588"/>
              </a:solidFill>
              <a:latin typeface="Noto Sans CJK SC"/>
              <a:ea typeface="Noto Sans CJK SC"/>
              <a:cs typeface="Noto Sans CJK SC"/>
            </a:endParaRPr>
          </a:p>
        </p:txBody>
      </p:sp>
      <p:sp>
        <p:nvSpPr>
          <p:cNvPr id="13" name="VC action 1 EN"/>
          <p:cNvSpPr txBox="1"/>
          <p:nvPr/>
        </p:nvSpPr>
        <p:spPr>
          <a:xfrm>
            <a:off x="4709159" y="2432304"/>
            <a:ext cx="2770632" cy="572008"/>
          </a:xfrm>
          <a:prstGeom prst="rect">
            <a:avLst/>
          </a:prstGeom>
          <a:noFill/>
        </p:spPr>
        <p:txBody>
          <a:bodyPr wrap="none" lIns="0" tIns="12700" rIns="0" bIns="0" anchor="t">
            <a:noAutofit/>
          </a:bodyPr>
          <a:lstStyle/>
          <a:p>
            <a:pPr algn="ctr">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Presents the credential</a:t>
            </a:r>
            <a:endParaRPr lang="en-US" sz="1600" b="0">
              <a:solidFill>
                <a:srgbClr val="19384B"/>
              </a:solidFill>
              <a:latin typeface="Arial" panose="020B0704020202020204"/>
              <a:ea typeface="Arial" panose="020B0704020202020204"/>
              <a:cs typeface="Arial" panose="020B0704020202020204"/>
            </a:endParaRPr>
          </a:p>
          <a:p>
            <a:pPr algn="ctr">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with holder binding.</a:t>
            </a:r>
            <a:endParaRPr lang="en-US" sz="1600" b="0">
              <a:solidFill>
                <a:srgbClr val="19384B"/>
              </a:solidFill>
              <a:latin typeface="Arial" panose="020B0704020202020204"/>
              <a:ea typeface="Arial" panose="020B0704020202020204"/>
              <a:cs typeface="Arial" panose="020B0704020202020204"/>
            </a:endParaRPr>
          </a:p>
        </p:txBody>
      </p:sp>
      <p:sp>
        <p:nvSpPr>
          <p:cNvPr id="14" name="VC action 1 ZH"/>
          <p:cNvSpPr txBox="1"/>
          <p:nvPr/>
        </p:nvSpPr>
        <p:spPr>
          <a:xfrm>
            <a:off x="4709159" y="3040888"/>
            <a:ext cx="2770632" cy="533400"/>
          </a:xfrm>
          <a:prstGeom prst="rect">
            <a:avLst/>
          </a:prstGeom>
          <a:noFill/>
        </p:spPr>
        <p:txBody>
          <a:bodyPr wrap="none" lIns="0" tIns="12700" rIns="0" bIns="0" anchor="t">
            <a:noAutofit/>
          </a:bodyPr>
          <a:lstStyle/>
          <a:p>
            <a:pPr algn="ctr">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出示凭证，</a:t>
            </a:r>
            <a:endParaRPr lang="zh-CN" sz="1200" b="0">
              <a:solidFill>
                <a:srgbClr val="5A7588"/>
              </a:solidFill>
              <a:latin typeface="Noto Sans CJK SC"/>
              <a:ea typeface="Noto Sans CJK SC"/>
              <a:cs typeface="Noto Sans CJK SC"/>
            </a:endParaRPr>
          </a:p>
          <a:p>
            <a:pPr algn="ctr">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并完成持有者绑定。</a:t>
            </a:r>
            <a:endParaRPr lang="zh-CN" sz="1200" b="0">
              <a:solidFill>
                <a:srgbClr val="5A7588"/>
              </a:solidFill>
              <a:latin typeface="Noto Sans CJK SC"/>
              <a:ea typeface="Noto Sans CJK SC"/>
              <a:cs typeface="Noto Sans CJK SC"/>
            </a:endParaRPr>
          </a:p>
        </p:txBody>
      </p:sp>
      <p:sp>
        <p:nvSpPr>
          <p:cNvPr id="15" name="VC participant 2"/>
          <p:cNvSpPr/>
          <p:nvPr/>
        </p:nvSpPr>
        <p:spPr>
          <a:xfrm>
            <a:off x="8522208" y="1508760"/>
            <a:ext cx="3099816" cy="2121408"/>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6" name="VC actor 2 EN"/>
          <p:cNvSpPr txBox="1"/>
          <p:nvPr/>
        </p:nvSpPr>
        <p:spPr>
          <a:xfrm>
            <a:off x="8686800" y="1682496"/>
            <a:ext cx="2770632" cy="417068"/>
          </a:xfrm>
          <a:prstGeom prst="rect">
            <a:avLst/>
          </a:prstGeom>
          <a:noFill/>
        </p:spPr>
        <p:txBody>
          <a:bodyPr wrap="none" lIns="0" tIns="12700" rIns="0" bIns="0" anchor="t">
            <a:noAutofit/>
          </a:bodyPr>
          <a:lstStyle/>
          <a:p>
            <a:pPr algn="ctr">
              <a:lnSpc>
                <a:spcPts val="2685"/>
              </a:lnSpc>
              <a:spcBef>
                <a:spcPts val="0"/>
              </a:spcBef>
              <a:spcAft>
                <a:spcPts val="0"/>
              </a:spcAft>
              <a:defRPr sz="2200" b="1">
                <a:solidFill>
                  <a:srgbClr val="07888E"/>
                </a:solidFill>
                <a:latin typeface="Arial" panose="020B0704020202020204"/>
              </a:defRPr>
            </a:pPr>
            <a:r>
              <a:rPr lang="en-US" sz="2200" b="1">
                <a:solidFill>
                  <a:srgbClr val="07888E"/>
                </a:solidFill>
                <a:latin typeface="Arial" panose="020B0704020202020204"/>
                <a:ea typeface="Arial" panose="020B0704020202020204"/>
                <a:cs typeface="Arial" panose="020B0704020202020204"/>
              </a:rPr>
              <a:t>Verifier</a:t>
            </a:r>
            <a:endParaRPr lang="en-US" sz="2200" b="1">
              <a:solidFill>
                <a:srgbClr val="07888E"/>
              </a:solidFill>
              <a:latin typeface="Arial" panose="020B0704020202020204"/>
              <a:ea typeface="Arial" panose="020B0704020202020204"/>
              <a:cs typeface="Arial" panose="020B0704020202020204"/>
            </a:endParaRPr>
          </a:p>
        </p:txBody>
      </p:sp>
      <p:sp>
        <p:nvSpPr>
          <p:cNvPr id="17" name="VC actor 2 ZH"/>
          <p:cNvSpPr txBox="1"/>
          <p:nvPr/>
        </p:nvSpPr>
        <p:spPr>
          <a:xfrm>
            <a:off x="8686800" y="2122424"/>
            <a:ext cx="2770632" cy="269748"/>
          </a:xfrm>
          <a:prstGeom prst="rect">
            <a:avLst/>
          </a:prstGeom>
          <a:noFill/>
        </p:spPr>
        <p:txBody>
          <a:bodyPr wrap="none" lIns="0" tIns="12700" rIns="0" bIns="0" anchor="t">
            <a:noAutofit/>
          </a:bodyPr>
          <a:lstStyle/>
          <a:p>
            <a:pPr algn="ctr">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验证方</a:t>
            </a:r>
            <a:endParaRPr lang="zh-CN" sz="1200" b="0">
              <a:solidFill>
                <a:srgbClr val="5A7588"/>
              </a:solidFill>
              <a:latin typeface="Noto Sans CJK SC"/>
              <a:ea typeface="Noto Sans CJK SC"/>
              <a:cs typeface="Noto Sans CJK SC"/>
            </a:endParaRPr>
          </a:p>
        </p:txBody>
      </p:sp>
      <p:sp>
        <p:nvSpPr>
          <p:cNvPr id="18" name="VC action 2 EN"/>
          <p:cNvSpPr txBox="1"/>
          <p:nvPr/>
        </p:nvSpPr>
        <p:spPr>
          <a:xfrm>
            <a:off x="8686800" y="2432304"/>
            <a:ext cx="2770632" cy="572008"/>
          </a:xfrm>
          <a:prstGeom prst="rect">
            <a:avLst/>
          </a:prstGeom>
          <a:noFill/>
        </p:spPr>
        <p:txBody>
          <a:bodyPr wrap="none" lIns="0" tIns="12700" rIns="0" bIns="0" anchor="t">
            <a:noAutofit/>
          </a:bodyPr>
          <a:lstStyle/>
          <a:p>
            <a:pPr algn="ctr">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Checks the evidence</a:t>
            </a:r>
            <a:endParaRPr lang="en-US" sz="1600" b="0">
              <a:solidFill>
                <a:srgbClr val="19384B"/>
              </a:solidFill>
              <a:latin typeface="Arial" panose="020B0704020202020204"/>
              <a:ea typeface="Arial" panose="020B0704020202020204"/>
              <a:cs typeface="Arial" panose="020B0704020202020204"/>
            </a:endParaRPr>
          </a:p>
          <a:p>
            <a:pPr algn="ctr">
              <a:lnSpc>
                <a:spcPts val="1950"/>
              </a:lnSpc>
              <a:spcBef>
                <a:spcPts val="0"/>
              </a:spcBef>
              <a:spcAft>
                <a:spcPts val="0"/>
              </a:spcAft>
              <a:defRPr sz="1600" b="0">
                <a:solidFill>
                  <a:srgbClr val="19384B"/>
                </a:solidFill>
                <a:latin typeface="Arial" panose="020B0704020202020204"/>
              </a:defRPr>
            </a:pPr>
            <a:r>
              <a:rPr lang="en-US" sz="1600" b="0">
                <a:solidFill>
                  <a:srgbClr val="19384B"/>
                </a:solidFill>
                <a:latin typeface="Arial" panose="020B0704020202020204"/>
                <a:ea typeface="Arial" panose="020B0704020202020204"/>
                <a:cs typeface="Arial" panose="020B0704020202020204"/>
              </a:rPr>
              <a:t>and applies local policy.</a:t>
            </a:r>
            <a:endParaRPr lang="en-US" sz="1600" b="0">
              <a:solidFill>
                <a:srgbClr val="19384B"/>
              </a:solidFill>
              <a:latin typeface="Arial" panose="020B0704020202020204"/>
              <a:ea typeface="Arial" panose="020B0704020202020204"/>
              <a:cs typeface="Arial" panose="020B0704020202020204"/>
            </a:endParaRPr>
          </a:p>
        </p:txBody>
      </p:sp>
      <p:sp>
        <p:nvSpPr>
          <p:cNvPr id="19" name="VC action 2 ZH"/>
          <p:cNvSpPr txBox="1"/>
          <p:nvPr/>
        </p:nvSpPr>
        <p:spPr>
          <a:xfrm>
            <a:off x="8686800" y="3040888"/>
            <a:ext cx="2770632" cy="533400"/>
          </a:xfrm>
          <a:prstGeom prst="rect">
            <a:avLst/>
          </a:prstGeom>
          <a:noFill/>
        </p:spPr>
        <p:txBody>
          <a:bodyPr wrap="none" lIns="0" tIns="12700" rIns="0" bIns="0" anchor="t">
            <a:noAutofit/>
          </a:bodyPr>
          <a:lstStyle/>
          <a:p>
            <a:pPr algn="ctr">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核验证据，</a:t>
            </a:r>
            <a:endParaRPr lang="zh-CN" sz="1200" b="0">
              <a:solidFill>
                <a:srgbClr val="5A7588"/>
              </a:solidFill>
              <a:latin typeface="Noto Sans CJK SC"/>
              <a:ea typeface="Noto Sans CJK SC"/>
              <a:cs typeface="Noto Sans CJK SC"/>
            </a:endParaRPr>
          </a:p>
          <a:p>
            <a:pPr algn="ctr">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并应用本地策略。</a:t>
            </a:r>
            <a:endParaRPr lang="zh-CN" sz="1200" b="0">
              <a:solidFill>
                <a:srgbClr val="5A7588"/>
              </a:solidFill>
              <a:latin typeface="Noto Sans CJK SC"/>
              <a:ea typeface="Noto Sans CJK SC"/>
              <a:cs typeface="Noto Sans CJK SC"/>
            </a:endParaRPr>
          </a:p>
        </p:txBody>
      </p:sp>
      <p:sp>
        <p:nvSpPr>
          <p:cNvPr id="20" name="VC flow label 0 EN"/>
          <p:cNvSpPr txBox="1"/>
          <p:nvPr/>
        </p:nvSpPr>
        <p:spPr>
          <a:xfrm>
            <a:off x="3712463" y="1792224"/>
            <a:ext cx="777240" cy="237337"/>
          </a:xfrm>
          <a:prstGeom prst="rect">
            <a:avLst/>
          </a:prstGeom>
          <a:noFill/>
        </p:spPr>
        <p:txBody>
          <a:bodyPr wrap="none" lIns="0" tIns="12700" rIns="0" bIns="0" anchor="t">
            <a:noAutofit/>
          </a:bodyPr>
          <a:lstStyle/>
          <a:p>
            <a:pPr algn="ctr">
              <a:lnSpc>
                <a:spcPts val="1270"/>
              </a:lnSpc>
              <a:spcBef>
                <a:spcPts val="0"/>
              </a:spcBef>
              <a:spcAft>
                <a:spcPts val="0"/>
              </a:spcAft>
              <a:defRPr sz="1040" b="1">
                <a:solidFill>
                  <a:srgbClr val="07888E"/>
                </a:solidFill>
                <a:latin typeface="Arial" panose="020B0704020202020204"/>
              </a:defRPr>
            </a:pPr>
            <a:r>
              <a:rPr lang="en-US" sz="1040" b="1">
                <a:solidFill>
                  <a:srgbClr val="07888E"/>
                </a:solidFill>
                <a:latin typeface="Arial" panose="020B0704020202020204"/>
                <a:ea typeface="Arial" panose="020B0704020202020204"/>
                <a:cs typeface="Arial" panose="020B0704020202020204"/>
              </a:rPr>
              <a:t>Issue VC</a:t>
            </a:r>
            <a:endParaRPr lang="en-US" sz="1040" b="1">
              <a:solidFill>
                <a:srgbClr val="07888E"/>
              </a:solidFill>
              <a:latin typeface="Arial" panose="020B0704020202020204"/>
              <a:ea typeface="Arial" panose="020B0704020202020204"/>
              <a:cs typeface="Arial" panose="020B0704020202020204"/>
            </a:endParaRPr>
          </a:p>
        </p:txBody>
      </p:sp>
      <p:sp>
        <p:nvSpPr>
          <p:cNvPr id="21" name="VC flow label 0 ZH"/>
          <p:cNvSpPr txBox="1"/>
          <p:nvPr/>
        </p:nvSpPr>
        <p:spPr>
          <a:xfrm>
            <a:off x="3712463" y="2043277"/>
            <a:ext cx="777240" cy="229425"/>
          </a:xfrm>
          <a:prstGeom prst="rect">
            <a:avLst/>
          </a:prstGeom>
          <a:noFill/>
        </p:spPr>
        <p:txBody>
          <a:bodyPr wrap="none" lIns="0" tIns="12700" rIns="0" bIns="0" anchor="t">
            <a:noAutofit/>
          </a:bodyPr>
          <a:lstStyle/>
          <a:p>
            <a:pPr algn="ctr">
              <a:lnSpc>
                <a:spcPts val="1205"/>
              </a:lnSpc>
              <a:spcBef>
                <a:spcPts val="0"/>
              </a:spcBef>
              <a:spcAft>
                <a:spcPts val="0"/>
              </a:spcAft>
              <a:defRPr sz="950" b="0">
                <a:solidFill>
                  <a:srgbClr val="5A7588"/>
                </a:solidFill>
                <a:latin typeface="Noto Sans CJK SC"/>
              </a:defRPr>
            </a:pPr>
            <a:r>
              <a:rPr lang="zh-CN" sz="950" b="0">
                <a:solidFill>
                  <a:srgbClr val="5A7588"/>
                </a:solidFill>
                <a:latin typeface="Noto Sans CJK SC"/>
                <a:ea typeface="Noto Sans CJK SC"/>
                <a:cs typeface="Noto Sans CJK SC"/>
              </a:rPr>
              <a:t>签发 VC</a:t>
            </a:r>
            <a:endParaRPr lang="zh-CN" sz="950" b="0">
              <a:solidFill>
                <a:srgbClr val="5A7588"/>
              </a:solidFill>
              <a:latin typeface="Noto Sans CJK SC"/>
              <a:ea typeface="Noto Sans CJK SC"/>
              <a:cs typeface="Noto Sans CJK SC"/>
            </a:endParaRPr>
          </a:p>
        </p:txBody>
      </p:sp>
      <p:cxnSp>
        <p:nvCxnSpPr>
          <p:cNvPr id="22" name="VC arrow 0"/>
          <p:cNvCxnSpPr/>
          <p:nvPr/>
        </p:nvCxnSpPr>
        <p:spPr>
          <a:xfrm>
            <a:off x="3712463" y="2487168"/>
            <a:ext cx="777241" cy="0"/>
          </a:xfrm>
          <a:prstGeom prst="line">
            <a:avLst/>
          </a:prstGeom>
          <a:ln w="22860">
            <a:solidFill>
              <a:srgbClr val="0788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VC flow label 1 EN"/>
          <p:cNvSpPr txBox="1"/>
          <p:nvPr/>
        </p:nvSpPr>
        <p:spPr>
          <a:xfrm>
            <a:off x="7690104" y="1792224"/>
            <a:ext cx="777239" cy="237337"/>
          </a:xfrm>
          <a:prstGeom prst="rect">
            <a:avLst/>
          </a:prstGeom>
          <a:noFill/>
        </p:spPr>
        <p:txBody>
          <a:bodyPr wrap="none" lIns="0" tIns="12700" rIns="0" bIns="0" anchor="t">
            <a:noAutofit/>
          </a:bodyPr>
          <a:lstStyle/>
          <a:p>
            <a:pPr algn="ctr">
              <a:lnSpc>
                <a:spcPts val="1270"/>
              </a:lnSpc>
              <a:spcBef>
                <a:spcPts val="0"/>
              </a:spcBef>
              <a:spcAft>
                <a:spcPts val="0"/>
              </a:spcAft>
              <a:defRPr sz="1040" b="1">
                <a:solidFill>
                  <a:srgbClr val="07888E"/>
                </a:solidFill>
                <a:latin typeface="Arial" panose="020B0704020202020204"/>
              </a:defRPr>
            </a:pPr>
            <a:r>
              <a:rPr lang="en-US" sz="1040" b="1">
                <a:solidFill>
                  <a:srgbClr val="07888E"/>
                </a:solidFill>
                <a:latin typeface="Arial" panose="020B0704020202020204"/>
                <a:ea typeface="Arial" panose="020B0704020202020204"/>
                <a:cs typeface="Arial" panose="020B0704020202020204"/>
              </a:rPr>
              <a:t>Present VP</a:t>
            </a:r>
            <a:endParaRPr lang="en-US" sz="1040" b="1">
              <a:solidFill>
                <a:srgbClr val="07888E"/>
              </a:solidFill>
              <a:latin typeface="Arial" panose="020B0704020202020204"/>
              <a:ea typeface="Arial" panose="020B0704020202020204"/>
              <a:cs typeface="Arial" panose="020B0704020202020204"/>
            </a:endParaRPr>
          </a:p>
        </p:txBody>
      </p:sp>
      <p:sp>
        <p:nvSpPr>
          <p:cNvPr id="24" name="VC flow label 1 ZH"/>
          <p:cNvSpPr txBox="1"/>
          <p:nvPr/>
        </p:nvSpPr>
        <p:spPr>
          <a:xfrm>
            <a:off x="7690104" y="2043277"/>
            <a:ext cx="777239" cy="229425"/>
          </a:xfrm>
          <a:prstGeom prst="rect">
            <a:avLst/>
          </a:prstGeom>
          <a:noFill/>
        </p:spPr>
        <p:txBody>
          <a:bodyPr wrap="none" lIns="0" tIns="12700" rIns="0" bIns="0" anchor="t">
            <a:noAutofit/>
          </a:bodyPr>
          <a:lstStyle/>
          <a:p>
            <a:pPr algn="ctr">
              <a:lnSpc>
                <a:spcPts val="1205"/>
              </a:lnSpc>
              <a:spcBef>
                <a:spcPts val="0"/>
              </a:spcBef>
              <a:spcAft>
                <a:spcPts val="0"/>
              </a:spcAft>
              <a:defRPr sz="950" b="0">
                <a:solidFill>
                  <a:srgbClr val="5A7588"/>
                </a:solidFill>
                <a:latin typeface="Noto Sans CJK SC"/>
              </a:defRPr>
            </a:pPr>
            <a:r>
              <a:rPr lang="zh-CN" sz="950" b="0">
                <a:solidFill>
                  <a:srgbClr val="5A7588"/>
                </a:solidFill>
                <a:latin typeface="Noto Sans CJK SC"/>
                <a:ea typeface="Noto Sans CJK SC"/>
                <a:cs typeface="Noto Sans CJK SC"/>
              </a:rPr>
              <a:t>出示 VP</a:t>
            </a:r>
            <a:endParaRPr lang="zh-CN" sz="950" b="0">
              <a:solidFill>
                <a:srgbClr val="5A7588"/>
              </a:solidFill>
              <a:latin typeface="Noto Sans CJK SC"/>
              <a:ea typeface="Noto Sans CJK SC"/>
              <a:cs typeface="Noto Sans CJK SC"/>
            </a:endParaRPr>
          </a:p>
        </p:txBody>
      </p:sp>
      <p:cxnSp>
        <p:nvCxnSpPr>
          <p:cNvPr id="25" name="VC arrow 1"/>
          <p:cNvCxnSpPr/>
          <p:nvPr/>
        </p:nvCxnSpPr>
        <p:spPr>
          <a:xfrm>
            <a:off x="7690104" y="2487168"/>
            <a:ext cx="777240" cy="0"/>
          </a:xfrm>
          <a:prstGeom prst="line">
            <a:avLst/>
          </a:prstGeom>
          <a:ln w="22860">
            <a:solidFill>
              <a:srgbClr val="0788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VC Example panel"/>
          <p:cNvSpPr/>
          <p:nvPr/>
        </p:nvSpPr>
        <p:spPr>
          <a:xfrm>
            <a:off x="566928" y="3730752"/>
            <a:ext cx="5404104" cy="1664208"/>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7" name="VC Example heading bilingual"/>
          <p:cNvSpPr txBox="1"/>
          <p:nvPr/>
        </p:nvSpPr>
        <p:spPr>
          <a:xfrm>
            <a:off x="768096" y="3858768"/>
            <a:ext cx="5001768" cy="293116"/>
          </a:xfrm>
          <a:prstGeom prst="rect">
            <a:avLst/>
          </a:prstGeom>
          <a:noFill/>
        </p:spPr>
        <p:txBody>
          <a:bodyPr wrap="none" lIns="0" tIns="12700" rIns="0" bIns="0" anchor="t">
            <a:noAutofit/>
          </a:bodyPr>
          <a:lstStyle/>
          <a:p>
            <a:pPr algn="l">
              <a:lnSpc>
                <a:spcPts val="1705"/>
              </a:lnSpc>
              <a:spcBef>
                <a:spcPts val="0"/>
              </a:spcBef>
              <a:spcAft>
                <a:spcPts val="0"/>
              </a:spcAft>
              <a:defRPr sz="1400" b="1">
                <a:solidFill>
                  <a:srgbClr val="07888E"/>
                </a:solidFill>
                <a:latin typeface="Noto Sans CJK SC"/>
              </a:defRPr>
            </a:pPr>
            <a:r>
              <a:rPr lang="en-US" sz="1400" b="1">
                <a:solidFill>
                  <a:srgbClr val="07888E"/>
                </a:solidFill>
                <a:latin typeface="Noto Sans CJK SC"/>
                <a:ea typeface="Noto Sans CJK SC"/>
                <a:cs typeface="Noto Sans CJK SC"/>
              </a:rPr>
              <a:t>Example claim / 声明示例</a:t>
            </a:r>
            <a:endParaRPr lang="en-US" sz="1400" b="1">
              <a:solidFill>
                <a:srgbClr val="07888E"/>
              </a:solidFill>
              <a:latin typeface="Noto Sans CJK SC"/>
              <a:ea typeface="Noto Sans CJK SC"/>
              <a:cs typeface="Noto Sans CJK SC"/>
            </a:endParaRPr>
          </a:p>
        </p:txBody>
      </p:sp>
      <p:sp>
        <p:nvSpPr>
          <p:cNvPr id="28" name="VC Example body EN"/>
          <p:cNvSpPr txBox="1"/>
          <p:nvPr/>
        </p:nvSpPr>
        <p:spPr>
          <a:xfrm>
            <a:off x="768096" y="4242816"/>
            <a:ext cx="5001768" cy="565810"/>
          </a:xfrm>
          <a:prstGeom prst="rect">
            <a:avLst/>
          </a:prstGeom>
          <a:noFill/>
        </p:spPr>
        <p:txBody>
          <a:bodyPr wrap="none" lIns="0" tIns="12700" rIns="0" bIns="0" anchor="t">
            <a:noAutofit/>
          </a:bodyPr>
          <a:lstStyle/>
          <a:p>
            <a:pPr algn="l">
              <a:lnSpc>
                <a:spcPts val="1925"/>
              </a:lnSpc>
              <a:spcBef>
                <a:spcPts val="0"/>
              </a:spcBef>
              <a:spcAft>
                <a:spcPts val="0"/>
              </a:spcAft>
              <a:defRPr sz="1580" b="0">
                <a:solidFill>
                  <a:srgbClr val="19384B"/>
                </a:solidFill>
                <a:latin typeface="Arial" panose="020B0704020202020204"/>
              </a:defRPr>
            </a:pPr>
            <a:r>
              <a:rPr lang="en-US" sz="1580" b="0">
                <a:solidFill>
                  <a:srgbClr val="19384B"/>
                </a:solidFill>
                <a:latin typeface="Arial" panose="020B0704020202020204"/>
                <a:ea typeface="Arial" panose="020B0704020202020204"/>
                <a:cs typeface="Arial" panose="020B0704020202020204"/>
              </a:rPr>
              <a:t>“This Agent is our purchasing representative</a:t>
            </a:r>
            <a:endParaRPr lang="en-US" sz="1580" b="0">
              <a:solidFill>
                <a:srgbClr val="19384B"/>
              </a:solidFill>
              <a:latin typeface="Arial" panose="020B0704020202020204"/>
              <a:ea typeface="Arial" panose="020B0704020202020204"/>
              <a:cs typeface="Arial" panose="020B0704020202020204"/>
            </a:endParaRPr>
          </a:p>
          <a:p>
            <a:pPr algn="l">
              <a:lnSpc>
                <a:spcPts val="1925"/>
              </a:lnSpc>
              <a:spcBef>
                <a:spcPts val="0"/>
              </a:spcBef>
              <a:spcAft>
                <a:spcPts val="0"/>
              </a:spcAft>
              <a:defRPr sz="1580" b="0">
                <a:solidFill>
                  <a:srgbClr val="19384B"/>
                </a:solidFill>
                <a:latin typeface="Arial" panose="020B0704020202020204"/>
              </a:defRPr>
            </a:pPr>
            <a:r>
              <a:rPr lang="en-US" sz="1580" b="0">
                <a:solidFill>
                  <a:srgbClr val="19384B"/>
                </a:solidFill>
                <a:latin typeface="Arial" panose="020B0704020202020204"/>
                <a:ea typeface="Arial" panose="020B0704020202020204"/>
                <a:cs typeface="Arial" panose="020B0704020202020204"/>
              </a:rPr>
              <a:t>until [date], within the stated limits.”</a:t>
            </a:r>
            <a:endParaRPr lang="en-US" sz="1580" b="0">
              <a:solidFill>
                <a:srgbClr val="19384B"/>
              </a:solidFill>
              <a:latin typeface="Arial" panose="020B0704020202020204"/>
              <a:ea typeface="Arial" panose="020B0704020202020204"/>
              <a:cs typeface="Arial" panose="020B0704020202020204"/>
            </a:endParaRPr>
          </a:p>
        </p:txBody>
      </p:sp>
      <p:sp>
        <p:nvSpPr>
          <p:cNvPr id="29" name="VC Example body ZH"/>
          <p:cNvSpPr txBox="1"/>
          <p:nvPr/>
        </p:nvSpPr>
        <p:spPr>
          <a:xfrm>
            <a:off x="768096" y="4831486"/>
            <a:ext cx="5001768" cy="533400"/>
          </a:xfrm>
          <a:prstGeom prst="rect">
            <a:avLst/>
          </a:prstGeom>
          <a:noFill/>
        </p:spPr>
        <p:txBody>
          <a:bodyPr wrap="none" lIns="0" tIns="12700" rIns="0" bIns="0" anchor="t">
            <a:noAutofit/>
          </a:bodyPr>
          <a:lstStyle/>
          <a:p>
            <a:pPr algn="l">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“该智能体是我们的采购代表，</a:t>
            </a:r>
            <a:endParaRPr lang="zh-CN" sz="1200" b="0">
              <a:solidFill>
                <a:srgbClr val="5A7588"/>
              </a:solidFill>
              <a:latin typeface="Noto Sans CJK SC"/>
              <a:ea typeface="Noto Sans CJK SC"/>
              <a:cs typeface="Noto Sans CJK SC"/>
            </a:endParaRPr>
          </a:p>
          <a:p>
            <a:pPr algn="l">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在指定期限和约束范围内有效。”</a:t>
            </a:r>
            <a:endParaRPr lang="zh-CN" sz="1200" b="0">
              <a:solidFill>
                <a:srgbClr val="5A7588"/>
              </a:solidFill>
              <a:latin typeface="Noto Sans CJK SC"/>
              <a:ea typeface="Noto Sans CJK SC"/>
              <a:cs typeface="Noto Sans CJK SC"/>
            </a:endParaRPr>
          </a:p>
        </p:txBody>
      </p:sp>
      <p:sp>
        <p:nvSpPr>
          <p:cNvPr id="30" name="VC Checks panel"/>
          <p:cNvSpPr/>
          <p:nvPr/>
        </p:nvSpPr>
        <p:spPr>
          <a:xfrm>
            <a:off x="6217920" y="3730752"/>
            <a:ext cx="5404104" cy="1664208"/>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1" name="VC Checks heading bilingual"/>
          <p:cNvSpPr txBox="1"/>
          <p:nvPr/>
        </p:nvSpPr>
        <p:spPr>
          <a:xfrm>
            <a:off x="6419088" y="3858768"/>
            <a:ext cx="5001768" cy="293116"/>
          </a:xfrm>
          <a:prstGeom prst="rect">
            <a:avLst/>
          </a:prstGeom>
          <a:noFill/>
        </p:spPr>
        <p:txBody>
          <a:bodyPr wrap="none" lIns="0" tIns="12700" rIns="0" bIns="0" anchor="t">
            <a:noAutofit/>
          </a:bodyPr>
          <a:lstStyle/>
          <a:p>
            <a:pPr algn="l">
              <a:lnSpc>
                <a:spcPts val="1705"/>
              </a:lnSpc>
              <a:spcBef>
                <a:spcPts val="0"/>
              </a:spcBef>
              <a:spcAft>
                <a:spcPts val="0"/>
              </a:spcAft>
              <a:defRPr sz="1400" b="1">
                <a:solidFill>
                  <a:srgbClr val="07888E"/>
                </a:solidFill>
                <a:latin typeface="Noto Sans CJK SC"/>
              </a:defRPr>
            </a:pPr>
            <a:r>
              <a:rPr lang="en-US" sz="1400" b="1">
                <a:solidFill>
                  <a:srgbClr val="07888E"/>
                </a:solidFill>
                <a:latin typeface="Noto Sans CJK SC"/>
                <a:ea typeface="Noto Sans CJK SC"/>
                <a:cs typeface="Noto Sans CJK SC"/>
              </a:rPr>
              <a:t>Verifier checks / 验证方检查</a:t>
            </a:r>
            <a:endParaRPr lang="en-US" sz="1400" b="1">
              <a:solidFill>
                <a:srgbClr val="07888E"/>
              </a:solidFill>
              <a:latin typeface="Noto Sans CJK SC"/>
              <a:ea typeface="Noto Sans CJK SC"/>
              <a:cs typeface="Noto Sans CJK SC"/>
            </a:endParaRPr>
          </a:p>
        </p:txBody>
      </p:sp>
      <p:sp>
        <p:nvSpPr>
          <p:cNvPr id="32" name="VC Checks body EN"/>
          <p:cNvSpPr txBox="1"/>
          <p:nvPr/>
        </p:nvSpPr>
        <p:spPr>
          <a:xfrm>
            <a:off x="6419088" y="4242816"/>
            <a:ext cx="5001768" cy="565810"/>
          </a:xfrm>
          <a:prstGeom prst="rect">
            <a:avLst/>
          </a:prstGeom>
          <a:noFill/>
        </p:spPr>
        <p:txBody>
          <a:bodyPr wrap="none" lIns="0" tIns="12700" rIns="0" bIns="0" anchor="t">
            <a:noAutofit/>
          </a:bodyPr>
          <a:lstStyle/>
          <a:p>
            <a:pPr algn="l">
              <a:lnSpc>
                <a:spcPts val="1925"/>
              </a:lnSpc>
              <a:spcBef>
                <a:spcPts val="0"/>
              </a:spcBef>
              <a:spcAft>
                <a:spcPts val="0"/>
              </a:spcAft>
              <a:defRPr sz="1580" b="0">
                <a:solidFill>
                  <a:srgbClr val="19384B"/>
                </a:solidFill>
                <a:latin typeface="Arial" panose="020B0704020202020204"/>
              </a:defRPr>
            </a:pPr>
            <a:r>
              <a:rPr lang="en-US" sz="1580" b="0">
                <a:solidFill>
                  <a:srgbClr val="19384B"/>
                </a:solidFill>
                <a:latin typeface="Arial" panose="020B0704020202020204"/>
                <a:ea typeface="Arial" panose="020B0704020202020204"/>
                <a:cs typeface="Arial" panose="020B0704020202020204"/>
              </a:rPr>
              <a:t>Issuer authority · holder binding · status</a:t>
            </a:r>
            <a:endParaRPr lang="en-US" sz="1580" b="0">
              <a:solidFill>
                <a:srgbClr val="19384B"/>
              </a:solidFill>
              <a:latin typeface="Arial" panose="020B0704020202020204"/>
              <a:ea typeface="Arial" panose="020B0704020202020204"/>
              <a:cs typeface="Arial" panose="020B0704020202020204"/>
            </a:endParaRPr>
          </a:p>
          <a:p>
            <a:pPr algn="l">
              <a:lnSpc>
                <a:spcPts val="1925"/>
              </a:lnSpc>
              <a:spcBef>
                <a:spcPts val="0"/>
              </a:spcBef>
              <a:spcAft>
                <a:spcPts val="0"/>
              </a:spcAft>
              <a:defRPr sz="1580" b="0">
                <a:solidFill>
                  <a:srgbClr val="19384B"/>
                </a:solidFill>
                <a:latin typeface="Arial" panose="020B0704020202020204"/>
              </a:defRPr>
            </a:pPr>
            <a:r>
              <a:rPr lang="en-US" sz="1580" b="0">
                <a:solidFill>
                  <a:srgbClr val="19384B"/>
                </a:solidFill>
                <a:latin typeface="Arial" panose="020B0704020202020204"/>
                <a:ea typeface="Arial" panose="020B0704020202020204"/>
                <a:cs typeface="Arial" panose="020B0704020202020204"/>
              </a:rPr>
              <a:t>Permissions · constraints · local policy</a:t>
            </a:r>
            <a:endParaRPr lang="en-US" sz="1580" b="0">
              <a:solidFill>
                <a:srgbClr val="19384B"/>
              </a:solidFill>
              <a:latin typeface="Arial" panose="020B0704020202020204"/>
              <a:ea typeface="Arial" panose="020B0704020202020204"/>
              <a:cs typeface="Arial" panose="020B0704020202020204"/>
            </a:endParaRPr>
          </a:p>
        </p:txBody>
      </p:sp>
      <p:sp>
        <p:nvSpPr>
          <p:cNvPr id="33" name="VC Checks body ZH"/>
          <p:cNvSpPr txBox="1"/>
          <p:nvPr/>
        </p:nvSpPr>
        <p:spPr>
          <a:xfrm>
            <a:off x="6419088" y="4831486"/>
            <a:ext cx="5001768" cy="533400"/>
          </a:xfrm>
          <a:prstGeom prst="rect">
            <a:avLst/>
          </a:prstGeom>
          <a:noFill/>
        </p:spPr>
        <p:txBody>
          <a:bodyPr wrap="none" lIns="0" tIns="12700" rIns="0" bIns="0" anchor="t">
            <a:noAutofit/>
          </a:bodyPr>
          <a:lstStyle/>
          <a:p>
            <a:pPr algn="l">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签发者权限 · 持有者绑定 · 凭证状态</a:t>
            </a:r>
            <a:endParaRPr lang="zh-CN" sz="1200" b="0">
              <a:solidFill>
                <a:srgbClr val="5A7588"/>
              </a:solidFill>
              <a:latin typeface="Noto Sans CJK SC"/>
              <a:ea typeface="Noto Sans CJK SC"/>
              <a:cs typeface="Noto Sans CJK SC"/>
            </a:endParaRPr>
          </a:p>
          <a:p>
            <a:pPr algn="l">
              <a:lnSpc>
                <a:spcPts val="1800"/>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权限范围 · 约束条件 · 本地策略</a:t>
            </a:r>
            <a:endParaRPr lang="zh-CN" sz="1200" b="0">
              <a:solidFill>
                <a:srgbClr val="5A7588"/>
              </a:solidFill>
              <a:latin typeface="Noto Sans CJK SC"/>
              <a:ea typeface="Noto Sans CJK SC"/>
              <a:cs typeface="Noto Sans CJK SC"/>
            </a:endParaRPr>
          </a:p>
        </p:txBody>
      </p:sp>
      <p:sp>
        <p:nvSpPr>
          <p:cNvPr id="34"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5"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36" name="Key message EN"/>
          <p:cNvSpPr txBox="1"/>
          <p:nvPr/>
        </p:nvSpPr>
        <p:spPr>
          <a:xfrm>
            <a:off x="740664" y="5769864"/>
            <a:ext cx="10689336" cy="331851"/>
          </a:xfrm>
          <a:prstGeom prst="rect">
            <a:avLst/>
          </a:prstGeom>
          <a:noFill/>
        </p:spPr>
        <p:txBody>
          <a:bodyPr wrap="none" lIns="0" tIns="12700" rIns="0" bIns="0" anchor="t">
            <a:noAutofit/>
          </a:bodyPr>
          <a:lstStyle/>
          <a:p>
            <a:pPr algn="l">
              <a:lnSpc>
                <a:spcPts val="2015"/>
              </a:lnSpc>
              <a:spcBef>
                <a:spcPts val="0"/>
              </a:spcBef>
              <a:spcAft>
                <a:spcPts val="0"/>
              </a:spcAft>
              <a:defRPr sz="1650" b="1">
                <a:solidFill>
                  <a:srgbClr val="10334A"/>
                </a:solidFill>
                <a:latin typeface="Arial" panose="020B0704020202020204"/>
              </a:defRPr>
            </a:pPr>
            <a:r>
              <a:rPr lang="en-US" sz="1650" b="1">
                <a:solidFill>
                  <a:srgbClr val="10334A"/>
                </a:solidFill>
                <a:latin typeface="Arial" panose="020B0704020202020204"/>
                <a:ea typeface="Arial" panose="020B0704020202020204"/>
                <a:cs typeface="Arial" panose="020B0704020202020204"/>
              </a:rPr>
              <a:t>A valid VC is evidence for a decision — not an automatic OAuth access token.</a:t>
            </a:r>
            <a:endParaRPr lang="en-US" sz="1650" b="1">
              <a:solidFill>
                <a:srgbClr val="10334A"/>
              </a:solidFill>
              <a:latin typeface="Arial" panose="020B0704020202020204"/>
              <a:ea typeface="Arial" panose="020B0704020202020204"/>
              <a:cs typeface="Arial" panose="020B0704020202020204"/>
            </a:endParaRPr>
          </a:p>
        </p:txBody>
      </p:sp>
      <p:sp>
        <p:nvSpPr>
          <p:cNvPr id="37" name="Key message ZH"/>
          <p:cNvSpPr txBox="1"/>
          <p:nvPr/>
        </p:nvSpPr>
        <p:spPr>
          <a:xfrm>
            <a:off x="740664" y="611543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有效的 VC 是授权决策的依据，而不会自动成为 OAuth 访问令牌。</a:t>
            </a:r>
            <a:endParaRPr lang="zh-CN" sz="1200" b="0">
              <a:solidFill>
                <a:srgbClr val="5A7588"/>
              </a:solidFill>
              <a:latin typeface="Noto Sans CJK SC"/>
              <a:ea typeface="Noto Sans CJK SC"/>
              <a:cs typeface="Noto Sans CJK SC"/>
            </a:endParaRPr>
          </a:p>
        </p:txBody>
      </p:sp>
      <p:sp>
        <p:nvSpPr>
          <p:cNvPr id="38"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39"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40"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04</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Our OAuth focus: DID + client metadata</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我们的 OAuth 重点：DID 身份与客户端元数据的绑定</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Focus intro EN"/>
          <p:cNvSpPr txBox="1"/>
          <p:nvPr/>
        </p:nvSpPr>
        <p:spPr>
          <a:xfrm>
            <a:off x="594360" y="1353312"/>
            <a:ext cx="10972800" cy="788924"/>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10334A"/>
                </a:solidFill>
                <a:latin typeface="Arial" panose="020B0704020202020204"/>
              </a:defRPr>
            </a:pPr>
            <a:r>
              <a:rPr lang="en-US" sz="2300" b="1">
                <a:solidFill>
                  <a:srgbClr val="10334A"/>
                </a:solidFill>
                <a:latin typeface="Arial" panose="020B0704020202020204"/>
                <a:ea typeface="Arial" panose="020B0704020202020204"/>
                <a:cs typeface="Arial" panose="020B0704020202020204"/>
              </a:rPr>
              <a:t>Add first-contact client onboarding.</a:t>
            </a:r>
            <a:endParaRPr lang="en-US" sz="2300" b="1">
              <a:solidFill>
                <a:srgbClr val="10334A"/>
              </a:solidFill>
              <a:latin typeface="Arial" panose="020B0704020202020204"/>
              <a:ea typeface="Arial" panose="020B0704020202020204"/>
              <a:cs typeface="Arial" panose="020B0704020202020204"/>
            </a:endParaRPr>
          </a:p>
          <a:p>
            <a:pPr algn="l">
              <a:lnSpc>
                <a:spcPts val="2805"/>
              </a:lnSpc>
              <a:spcBef>
                <a:spcPts val="0"/>
              </a:spcBef>
              <a:spcAft>
                <a:spcPts val="0"/>
              </a:spcAft>
              <a:defRPr sz="2300" b="1">
                <a:solidFill>
                  <a:srgbClr val="10334A"/>
                </a:solidFill>
                <a:latin typeface="Arial" panose="020B0704020202020204"/>
              </a:defRPr>
            </a:pPr>
            <a:r>
              <a:rPr lang="en-US" sz="2300" b="1">
                <a:solidFill>
                  <a:srgbClr val="10334A"/>
                </a:solidFill>
                <a:latin typeface="Arial" panose="020B0704020202020204"/>
                <a:ea typeface="Arial" panose="020B0704020202020204"/>
                <a:cs typeface="Arial" panose="020B0704020202020204"/>
              </a:rPr>
              <a:t>Reuse OAuth for grants and tokens.</a:t>
            </a:r>
            <a:endParaRPr lang="en-US" sz="2300" b="1">
              <a:solidFill>
                <a:srgbClr val="10334A"/>
              </a:solidFill>
              <a:latin typeface="Arial" panose="020B0704020202020204"/>
              <a:ea typeface="Arial" panose="020B0704020202020204"/>
              <a:cs typeface="Arial" panose="020B0704020202020204"/>
            </a:endParaRPr>
          </a:p>
        </p:txBody>
      </p:sp>
      <p:sp>
        <p:nvSpPr>
          <p:cNvPr id="6" name="Focus intro ZH"/>
          <p:cNvSpPr txBox="1"/>
          <p:nvPr/>
        </p:nvSpPr>
        <p:spPr>
          <a:xfrm>
            <a:off x="594360" y="2192528"/>
            <a:ext cx="10972800" cy="310070"/>
          </a:xfrm>
          <a:prstGeom prst="rect">
            <a:avLst/>
          </a:prstGeom>
          <a:noFill/>
        </p:spPr>
        <p:txBody>
          <a:bodyPr wrap="none" lIns="0" tIns="12700" rIns="0" bIns="0" anchor="t">
            <a:noAutofit/>
          </a:bodyPr>
          <a:lstStyle/>
          <a:p>
            <a:pPr algn="l">
              <a:lnSpc>
                <a:spcPts val="1840"/>
              </a:lnSpc>
              <a:spcBef>
                <a:spcPts val="0"/>
              </a:spcBef>
              <a:spcAft>
                <a:spcPts val="0"/>
              </a:spcAft>
              <a:defRPr sz="1450" b="0">
                <a:solidFill>
                  <a:srgbClr val="5A7588"/>
                </a:solidFill>
                <a:latin typeface="Noto Sans CJK SC"/>
              </a:defRPr>
            </a:pPr>
            <a:r>
              <a:rPr lang="zh-CN" sz="1450" b="0">
                <a:solidFill>
                  <a:srgbClr val="5A7588"/>
                </a:solidFill>
                <a:latin typeface="Noto Sans CJK SC"/>
                <a:ea typeface="Noto Sans CJK SC"/>
                <a:cs typeface="Noto Sans CJK SC"/>
              </a:rPr>
              <a:t>增加智能体首次接入机制；授权与令牌继续复用 OAuth。</a:t>
            </a:r>
            <a:endParaRPr lang="zh-CN" sz="1450" b="0">
              <a:solidFill>
                <a:srgbClr val="5A7588"/>
              </a:solidFill>
              <a:latin typeface="Noto Sans CJK SC"/>
              <a:ea typeface="Noto Sans CJK SC"/>
              <a:cs typeface="Noto Sans CJK SC"/>
            </a:endParaRPr>
          </a:p>
        </p:txBody>
      </p:sp>
      <p:sp>
        <p:nvSpPr>
          <p:cNvPr id="7" name="OAuth focus panel 0"/>
          <p:cNvSpPr/>
          <p:nvPr/>
        </p:nvSpPr>
        <p:spPr>
          <a:xfrm>
            <a:off x="566928" y="2660904"/>
            <a:ext cx="3483864" cy="2706624"/>
          </a:xfrm>
          <a:prstGeom prst="roundRect">
            <a:avLst>
              <a:gd name="adj" fmla="val 6000"/>
            </a:avLst>
          </a:prstGeom>
          <a:solidFill>
            <a:srgbClr val="EDF3FD"/>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OAuth focus heading 0 EN"/>
          <p:cNvSpPr txBox="1"/>
          <p:nvPr/>
        </p:nvSpPr>
        <p:spPr>
          <a:xfrm>
            <a:off x="768096" y="2798064"/>
            <a:ext cx="3081528"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2168D5"/>
                </a:solidFill>
                <a:latin typeface="Arial" panose="020B0704020202020204"/>
              </a:defRPr>
            </a:pPr>
            <a:r>
              <a:rPr lang="en-US" sz="1800" b="1">
                <a:solidFill>
                  <a:srgbClr val="2168D5"/>
                </a:solidFill>
                <a:latin typeface="Arial" panose="020B0704020202020204"/>
                <a:ea typeface="Arial" panose="020B0704020202020204"/>
                <a:cs typeface="Arial" panose="020B0704020202020204"/>
              </a:rPr>
              <a:t>CIMD idea</a:t>
            </a:r>
            <a:endParaRPr lang="en-US" sz="1800" b="1">
              <a:solidFill>
                <a:srgbClr val="2168D5"/>
              </a:solidFill>
              <a:latin typeface="Arial" panose="020B0704020202020204"/>
              <a:ea typeface="Arial" panose="020B0704020202020204"/>
              <a:cs typeface="Arial" panose="020B0704020202020204"/>
            </a:endParaRPr>
          </a:p>
        </p:txBody>
      </p:sp>
      <p:sp>
        <p:nvSpPr>
          <p:cNvPr id="9" name="OAuth focus heading 0 ZH"/>
          <p:cNvSpPr txBox="1"/>
          <p:nvPr/>
        </p:nvSpPr>
        <p:spPr>
          <a:xfrm>
            <a:off x="768096" y="3185160"/>
            <a:ext cx="3081528" cy="276199"/>
          </a:xfrm>
          <a:prstGeom prst="rect">
            <a:avLst/>
          </a:prstGeom>
          <a:noFill/>
        </p:spPr>
        <p:txBody>
          <a:bodyPr wrap="none" lIns="0" tIns="12700" rIns="0" bIns="0" anchor="t">
            <a:noAutofit/>
          </a:bodyPr>
          <a:lstStyle/>
          <a:p>
            <a:pPr algn="l">
              <a:lnSpc>
                <a:spcPts val="1575"/>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CIMD 的核心思路</a:t>
            </a:r>
            <a:endParaRPr lang="zh-CN" sz="1240" b="0">
              <a:solidFill>
                <a:srgbClr val="5A7588"/>
              </a:solidFill>
              <a:latin typeface="Noto Sans CJK SC"/>
              <a:ea typeface="Noto Sans CJK SC"/>
              <a:cs typeface="Noto Sans CJK SC"/>
            </a:endParaRPr>
          </a:p>
        </p:txBody>
      </p:sp>
      <p:sp>
        <p:nvSpPr>
          <p:cNvPr id="10" name="OAuth focus body 0 EN"/>
          <p:cNvSpPr txBox="1"/>
          <p:nvPr/>
        </p:nvSpPr>
        <p:spPr>
          <a:xfrm>
            <a:off x="768096" y="3511296"/>
            <a:ext cx="3081528" cy="612292"/>
          </a:xfrm>
          <a:prstGeom prst="rect">
            <a:avLst/>
          </a:prstGeom>
          <a:noFill/>
        </p:spPr>
        <p:txBody>
          <a:bodyPr wrap="none" lIns="0" tIns="12700" rIns="0" bIns="0" anchor="t">
            <a:noAutofit/>
          </a:bodyPr>
          <a:lstStyle/>
          <a:p>
            <a:pPr algn="l">
              <a:lnSpc>
                <a:spcPts val="2110"/>
              </a:lnSpc>
              <a:spcBef>
                <a:spcPts val="0"/>
              </a:spcBef>
              <a:spcAft>
                <a:spcPts val="0"/>
              </a:spcAft>
              <a:defRPr sz="1730" b="1">
                <a:solidFill>
                  <a:srgbClr val="19384B"/>
                </a:solidFill>
                <a:latin typeface="Arial" panose="020B0704020202020204"/>
              </a:defRPr>
            </a:pPr>
            <a:r>
              <a:rPr lang="en-US" sz="1730" b="1">
                <a:solidFill>
                  <a:srgbClr val="19384B"/>
                </a:solidFill>
                <a:latin typeface="Arial" panose="020B0704020202020204"/>
                <a:ea typeface="Arial" panose="020B0704020202020204"/>
                <a:cs typeface="Arial" panose="020B0704020202020204"/>
              </a:rPr>
              <a:t>Publish OAuth metadata</a:t>
            </a:r>
            <a:endParaRPr lang="en-US" sz="1730" b="1">
              <a:solidFill>
                <a:srgbClr val="19384B"/>
              </a:solidFill>
              <a:latin typeface="Arial" panose="020B0704020202020204"/>
              <a:ea typeface="Arial" panose="020B0704020202020204"/>
              <a:cs typeface="Arial" panose="020B0704020202020204"/>
            </a:endParaRPr>
          </a:p>
          <a:p>
            <a:pPr algn="l">
              <a:lnSpc>
                <a:spcPts val="2110"/>
              </a:lnSpc>
              <a:spcBef>
                <a:spcPts val="0"/>
              </a:spcBef>
              <a:spcAft>
                <a:spcPts val="0"/>
              </a:spcAft>
              <a:defRPr sz="1730" b="1">
                <a:solidFill>
                  <a:srgbClr val="19384B"/>
                </a:solidFill>
                <a:latin typeface="Arial" panose="020B0704020202020204"/>
              </a:defRPr>
            </a:pPr>
            <a:r>
              <a:rPr lang="en-US" sz="1730" b="1">
                <a:solidFill>
                  <a:srgbClr val="19384B"/>
                </a:solidFill>
                <a:latin typeface="Arial" panose="020B0704020202020204"/>
                <a:ea typeface="Arial" panose="020B0704020202020204"/>
                <a:cs typeface="Arial" panose="020B0704020202020204"/>
              </a:rPr>
              <a:t>at an HTTPS URL.</a:t>
            </a:r>
            <a:endParaRPr lang="en-US" sz="1730" b="1">
              <a:solidFill>
                <a:srgbClr val="19384B"/>
              </a:solidFill>
              <a:latin typeface="Arial" panose="020B0704020202020204"/>
              <a:ea typeface="Arial" panose="020B0704020202020204"/>
              <a:cs typeface="Arial" panose="020B0704020202020204"/>
            </a:endParaRPr>
          </a:p>
        </p:txBody>
      </p:sp>
      <p:sp>
        <p:nvSpPr>
          <p:cNvPr id="11" name="OAuth focus body 0 ZH"/>
          <p:cNvSpPr txBox="1"/>
          <p:nvPr/>
        </p:nvSpPr>
        <p:spPr>
          <a:xfrm>
            <a:off x="768096" y="4192168"/>
            <a:ext cx="3081528" cy="548640"/>
          </a:xfrm>
          <a:prstGeom prst="rect">
            <a:avLst/>
          </a:prstGeom>
          <a:noFill/>
        </p:spPr>
        <p:txBody>
          <a:bodyPr wrap="none" lIns="0" tIns="12700" rIns="0" bIns="0" anchor="t">
            <a:noAutofit/>
          </a:bodyPr>
          <a:lstStyle/>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客户端通过 HTTPS URL</a:t>
            </a:r>
            <a:endParaRPr lang="zh-CN" sz="1240" b="0">
              <a:solidFill>
                <a:srgbClr val="5A7588"/>
              </a:solidFill>
              <a:latin typeface="Noto Sans CJK SC"/>
              <a:ea typeface="Noto Sans CJK SC"/>
              <a:cs typeface="Noto Sans CJK SC"/>
            </a:endParaRPr>
          </a:p>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自行发布 OAuth 元数据。</a:t>
            </a:r>
            <a:endParaRPr lang="zh-CN" sz="1240" b="0">
              <a:solidFill>
                <a:srgbClr val="5A7588"/>
              </a:solidFill>
              <a:latin typeface="Noto Sans CJK SC"/>
              <a:ea typeface="Noto Sans CJK SC"/>
              <a:cs typeface="Noto Sans CJK SC"/>
            </a:endParaRPr>
          </a:p>
        </p:txBody>
      </p:sp>
      <p:sp>
        <p:nvSpPr>
          <p:cNvPr id="12" name="OAuth focus detail 0 EN"/>
          <p:cNvSpPr txBox="1"/>
          <p:nvPr/>
        </p:nvSpPr>
        <p:spPr>
          <a:xfrm>
            <a:off x="768096" y="4782312"/>
            <a:ext cx="3081528" cy="269875"/>
          </a:xfrm>
          <a:prstGeom prst="rect">
            <a:avLst/>
          </a:prstGeom>
          <a:noFill/>
        </p:spPr>
        <p:txBody>
          <a:bodyPr wrap="none" lIns="0" tIns="12700" rIns="0" bIns="0" anchor="t">
            <a:noAutofit/>
          </a:bodyPr>
          <a:lstStyle/>
          <a:p>
            <a:pPr algn="l">
              <a:lnSpc>
                <a:spcPts val="1525"/>
              </a:lnSpc>
              <a:spcBef>
                <a:spcPts val="0"/>
              </a:spcBef>
              <a:spcAft>
                <a:spcPts val="0"/>
              </a:spcAft>
              <a:defRPr sz="1250" b="0">
                <a:solidFill>
                  <a:srgbClr val="2168D5"/>
                </a:solidFill>
                <a:latin typeface="Arial" panose="020B0704020202020204"/>
              </a:defRPr>
            </a:pPr>
            <a:r>
              <a:rPr lang="en-US" sz="1250" b="0">
                <a:solidFill>
                  <a:srgbClr val="2168D5"/>
                </a:solidFill>
                <a:latin typeface="Arial" panose="020B0704020202020204"/>
                <a:ea typeface="Arial" panose="020B0704020202020204"/>
                <a:cs typeface="Arial" panose="020B0704020202020204"/>
              </a:rPr>
              <a:t>Standard CIMD: URL = client_id</a:t>
            </a:r>
            <a:endParaRPr lang="en-US" sz="1250" b="0">
              <a:solidFill>
                <a:srgbClr val="2168D5"/>
              </a:solidFill>
              <a:latin typeface="Arial" panose="020B0704020202020204"/>
              <a:ea typeface="Arial" panose="020B0704020202020204"/>
              <a:cs typeface="Arial" panose="020B0704020202020204"/>
            </a:endParaRPr>
          </a:p>
        </p:txBody>
      </p:sp>
      <p:sp>
        <p:nvSpPr>
          <p:cNvPr id="13" name="OAuth focus detail 0 ZH"/>
          <p:cNvSpPr txBox="1"/>
          <p:nvPr/>
        </p:nvSpPr>
        <p:spPr>
          <a:xfrm>
            <a:off x="768096" y="5075047"/>
            <a:ext cx="3081528" cy="245554"/>
          </a:xfrm>
          <a:prstGeom prst="rect">
            <a:avLst/>
          </a:prstGeom>
          <a:noFill/>
        </p:spPr>
        <p:txBody>
          <a:bodyPr wrap="none" lIns="0" tIns="12700" rIns="0" bIns="0" anchor="t">
            <a:noAutofit/>
          </a:bodyPr>
          <a:lstStyle/>
          <a:p>
            <a:pPr algn="l">
              <a:lnSpc>
                <a:spcPts val="1335"/>
              </a:lnSpc>
              <a:spcBef>
                <a:spcPts val="0"/>
              </a:spcBef>
              <a:spcAft>
                <a:spcPts val="0"/>
              </a:spcAft>
              <a:defRPr sz="1050" b="0">
                <a:solidFill>
                  <a:srgbClr val="5A7588"/>
                </a:solidFill>
                <a:latin typeface="Noto Sans CJK SC"/>
              </a:defRPr>
            </a:pPr>
            <a:r>
              <a:rPr lang="zh-CN" sz="1050" b="0">
                <a:solidFill>
                  <a:srgbClr val="5A7588"/>
                </a:solidFill>
                <a:latin typeface="Noto Sans CJK SC"/>
                <a:ea typeface="Noto Sans CJK SC"/>
                <a:cs typeface="Noto Sans CJK SC"/>
              </a:rPr>
              <a:t>标准 CIMD：URL 即 client_id</a:t>
            </a:r>
            <a:endParaRPr lang="zh-CN" sz="1050" b="0">
              <a:solidFill>
                <a:srgbClr val="5A7588"/>
              </a:solidFill>
              <a:latin typeface="Noto Sans CJK SC"/>
              <a:ea typeface="Noto Sans CJK SC"/>
              <a:cs typeface="Noto Sans CJK SC"/>
            </a:endParaRPr>
          </a:p>
        </p:txBody>
      </p:sp>
      <p:sp>
        <p:nvSpPr>
          <p:cNvPr id="14" name="OAuth focus panel 1"/>
          <p:cNvSpPr/>
          <p:nvPr/>
        </p:nvSpPr>
        <p:spPr>
          <a:xfrm>
            <a:off x="4352544" y="2660904"/>
            <a:ext cx="3483864" cy="2706624"/>
          </a:xfrm>
          <a:prstGeom prst="roundRect">
            <a:avLst>
              <a:gd name="adj" fmla="val 6000"/>
            </a:avLst>
          </a:prstGeom>
          <a:solidFill>
            <a:srgbClr val="ECF8F6"/>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5" name="OAuth focus heading 1 EN"/>
          <p:cNvSpPr txBox="1"/>
          <p:nvPr/>
        </p:nvSpPr>
        <p:spPr>
          <a:xfrm>
            <a:off x="4553712" y="2798064"/>
            <a:ext cx="3081528"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07888E"/>
                </a:solidFill>
                <a:latin typeface="Arial" panose="020B0704020202020204"/>
              </a:defRPr>
            </a:pPr>
            <a:r>
              <a:rPr lang="en-US" sz="1800" b="1">
                <a:solidFill>
                  <a:srgbClr val="07888E"/>
                </a:solidFill>
                <a:latin typeface="Arial" panose="020B0704020202020204"/>
                <a:ea typeface="Arial" panose="020B0704020202020204"/>
                <a:cs typeface="Arial" panose="020B0704020202020204"/>
              </a:rPr>
              <a:t>DID-native binding</a:t>
            </a:r>
            <a:endParaRPr lang="en-US" sz="1800" b="1">
              <a:solidFill>
                <a:srgbClr val="07888E"/>
              </a:solidFill>
              <a:latin typeface="Arial" panose="020B0704020202020204"/>
              <a:ea typeface="Arial" panose="020B0704020202020204"/>
              <a:cs typeface="Arial" panose="020B0704020202020204"/>
            </a:endParaRPr>
          </a:p>
        </p:txBody>
      </p:sp>
      <p:sp>
        <p:nvSpPr>
          <p:cNvPr id="16" name="OAuth focus heading 1 ZH"/>
          <p:cNvSpPr txBox="1"/>
          <p:nvPr/>
        </p:nvSpPr>
        <p:spPr>
          <a:xfrm>
            <a:off x="4553712" y="3185160"/>
            <a:ext cx="3081528" cy="276199"/>
          </a:xfrm>
          <a:prstGeom prst="rect">
            <a:avLst/>
          </a:prstGeom>
          <a:noFill/>
        </p:spPr>
        <p:txBody>
          <a:bodyPr wrap="none" lIns="0" tIns="12700" rIns="0" bIns="0" anchor="t">
            <a:noAutofit/>
          </a:bodyPr>
          <a:lstStyle/>
          <a:p>
            <a:pPr algn="l">
              <a:lnSpc>
                <a:spcPts val="1575"/>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DID 原生绑定</a:t>
            </a:r>
            <a:endParaRPr lang="zh-CN" sz="1240" b="0">
              <a:solidFill>
                <a:srgbClr val="5A7588"/>
              </a:solidFill>
              <a:latin typeface="Noto Sans CJK SC"/>
              <a:ea typeface="Noto Sans CJK SC"/>
              <a:cs typeface="Noto Sans CJK SC"/>
            </a:endParaRPr>
          </a:p>
        </p:txBody>
      </p:sp>
      <p:sp>
        <p:nvSpPr>
          <p:cNvPr id="17" name="OAuth focus body 1 EN"/>
          <p:cNvSpPr txBox="1"/>
          <p:nvPr/>
        </p:nvSpPr>
        <p:spPr>
          <a:xfrm>
            <a:off x="4553712" y="3511296"/>
            <a:ext cx="3081528" cy="612292"/>
          </a:xfrm>
          <a:prstGeom prst="rect">
            <a:avLst/>
          </a:prstGeom>
          <a:noFill/>
        </p:spPr>
        <p:txBody>
          <a:bodyPr wrap="none" lIns="0" tIns="12700" rIns="0" bIns="0" anchor="t">
            <a:noAutofit/>
          </a:bodyPr>
          <a:lstStyle/>
          <a:p>
            <a:pPr algn="l">
              <a:lnSpc>
                <a:spcPts val="2110"/>
              </a:lnSpc>
              <a:spcBef>
                <a:spcPts val="0"/>
              </a:spcBef>
              <a:spcAft>
                <a:spcPts val="0"/>
              </a:spcAft>
              <a:defRPr sz="1730" b="1">
                <a:solidFill>
                  <a:srgbClr val="19384B"/>
                </a:solidFill>
                <a:latin typeface="Arial" panose="020B0704020202020204"/>
              </a:defRPr>
            </a:pPr>
            <a:r>
              <a:rPr lang="en-US" sz="1730" b="1">
                <a:solidFill>
                  <a:srgbClr val="19384B"/>
                </a:solidFill>
                <a:latin typeface="Arial" panose="020B0704020202020204"/>
                <a:ea typeface="Arial" panose="020B0704020202020204"/>
                <a:cs typeface="Arial" panose="020B0704020202020204"/>
              </a:rPr>
              <a:t>Keep the DID as client_id.</a:t>
            </a:r>
            <a:endParaRPr lang="en-US" sz="1730" b="1">
              <a:solidFill>
                <a:srgbClr val="19384B"/>
              </a:solidFill>
              <a:latin typeface="Arial" panose="020B0704020202020204"/>
              <a:ea typeface="Arial" panose="020B0704020202020204"/>
              <a:cs typeface="Arial" panose="020B0704020202020204"/>
            </a:endParaRPr>
          </a:p>
          <a:p>
            <a:pPr algn="l">
              <a:lnSpc>
                <a:spcPts val="2110"/>
              </a:lnSpc>
              <a:spcBef>
                <a:spcPts val="0"/>
              </a:spcBef>
              <a:spcAft>
                <a:spcPts val="0"/>
              </a:spcAft>
              <a:defRPr sz="1730" b="1">
                <a:solidFill>
                  <a:srgbClr val="19384B"/>
                </a:solidFill>
                <a:latin typeface="Arial" panose="020B0704020202020204"/>
              </a:defRPr>
            </a:pPr>
            <a:r>
              <a:rPr lang="en-US" sz="1730" b="1">
                <a:solidFill>
                  <a:srgbClr val="19384B"/>
                </a:solidFill>
                <a:latin typeface="Arial" panose="020B0704020202020204"/>
                <a:ea typeface="Arial" panose="020B0704020202020204"/>
                <a:cs typeface="Arial" panose="020B0704020202020204"/>
              </a:rPr>
              <a:t>Use DID-authorized keys.</a:t>
            </a:r>
            <a:endParaRPr lang="en-US" sz="1730" b="1">
              <a:solidFill>
                <a:srgbClr val="19384B"/>
              </a:solidFill>
              <a:latin typeface="Arial" panose="020B0704020202020204"/>
              <a:ea typeface="Arial" panose="020B0704020202020204"/>
              <a:cs typeface="Arial" panose="020B0704020202020204"/>
            </a:endParaRPr>
          </a:p>
        </p:txBody>
      </p:sp>
      <p:sp>
        <p:nvSpPr>
          <p:cNvPr id="18" name="OAuth focus body 1 ZH"/>
          <p:cNvSpPr txBox="1"/>
          <p:nvPr/>
        </p:nvSpPr>
        <p:spPr>
          <a:xfrm>
            <a:off x="4553712" y="4192168"/>
            <a:ext cx="3081528" cy="548640"/>
          </a:xfrm>
          <a:prstGeom prst="rect">
            <a:avLst/>
          </a:prstGeom>
          <a:noFill/>
        </p:spPr>
        <p:txBody>
          <a:bodyPr wrap="none" lIns="0" tIns="12700" rIns="0" bIns="0" anchor="t">
            <a:noAutofit/>
          </a:bodyPr>
          <a:lstStyle/>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以 DID 作为 client_id，</a:t>
            </a:r>
            <a:endParaRPr lang="zh-CN" sz="1240" b="0">
              <a:solidFill>
                <a:srgbClr val="5A7588"/>
              </a:solidFill>
              <a:latin typeface="Noto Sans CJK SC"/>
              <a:ea typeface="Noto Sans CJK SC"/>
              <a:cs typeface="Noto Sans CJK SC"/>
            </a:endParaRPr>
          </a:p>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使用 DID 授权的认证密钥。</a:t>
            </a:r>
            <a:endParaRPr lang="zh-CN" sz="1240" b="0">
              <a:solidFill>
                <a:srgbClr val="5A7588"/>
              </a:solidFill>
              <a:latin typeface="Noto Sans CJK SC"/>
              <a:ea typeface="Noto Sans CJK SC"/>
              <a:cs typeface="Noto Sans CJK SC"/>
            </a:endParaRPr>
          </a:p>
        </p:txBody>
      </p:sp>
      <p:sp>
        <p:nvSpPr>
          <p:cNvPr id="19" name="OAuth focus detail 1 EN"/>
          <p:cNvSpPr txBox="1"/>
          <p:nvPr/>
        </p:nvSpPr>
        <p:spPr>
          <a:xfrm>
            <a:off x="4553712" y="4782312"/>
            <a:ext cx="3081528" cy="269875"/>
          </a:xfrm>
          <a:prstGeom prst="rect">
            <a:avLst/>
          </a:prstGeom>
          <a:noFill/>
        </p:spPr>
        <p:txBody>
          <a:bodyPr wrap="none" lIns="0" tIns="12700" rIns="0" bIns="0" anchor="t">
            <a:noAutofit/>
          </a:bodyPr>
          <a:lstStyle/>
          <a:p>
            <a:pPr algn="l">
              <a:lnSpc>
                <a:spcPts val="1525"/>
              </a:lnSpc>
              <a:spcBef>
                <a:spcPts val="0"/>
              </a:spcBef>
              <a:spcAft>
                <a:spcPts val="0"/>
              </a:spcAft>
              <a:defRPr sz="1250" b="0">
                <a:solidFill>
                  <a:srgbClr val="07888E"/>
                </a:solidFill>
                <a:latin typeface="Arial" panose="020B0704020202020204"/>
              </a:defRPr>
            </a:pPr>
            <a:r>
              <a:rPr lang="en-US" sz="1250" b="0">
                <a:solidFill>
                  <a:srgbClr val="07888E"/>
                </a:solidFill>
                <a:latin typeface="Arial" panose="020B0704020202020204"/>
                <a:ea typeface="Arial" panose="020B0704020202020204"/>
                <a:cs typeface="Arial" panose="020B0704020202020204"/>
              </a:rPr>
              <a:t>DID Document → URL + digest</a:t>
            </a:r>
            <a:endParaRPr lang="en-US" sz="1250" b="0">
              <a:solidFill>
                <a:srgbClr val="07888E"/>
              </a:solidFill>
              <a:latin typeface="Arial" panose="020B0704020202020204"/>
              <a:ea typeface="Arial" panose="020B0704020202020204"/>
              <a:cs typeface="Arial" panose="020B0704020202020204"/>
            </a:endParaRPr>
          </a:p>
        </p:txBody>
      </p:sp>
      <p:sp>
        <p:nvSpPr>
          <p:cNvPr id="20" name="OAuth focus detail 1 ZH"/>
          <p:cNvSpPr txBox="1"/>
          <p:nvPr/>
        </p:nvSpPr>
        <p:spPr>
          <a:xfrm>
            <a:off x="4553712" y="5075047"/>
            <a:ext cx="3081528" cy="245554"/>
          </a:xfrm>
          <a:prstGeom prst="rect">
            <a:avLst/>
          </a:prstGeom>
          <a:noFill/>
        </p:spPr>
        <p:txBody>
          <a:bodyPr wrap="none" lIns="0" tIns="12700" rIns="0" bIns="0" anchor="t">
            <a:noAutofit/>
          </a:bodyPr>
          <a:lstStyle/>
          <a:p>
            <a:pPr algn="l">
              <a:lnSpc>
                <a:spcPts val="1335"/>
              </a:lnSpc>
              <a:spcBef>
                <a:spcPts val="0"/>
              </a:spcBef>
              <a:spcAft>
                <a:spcPts val="0"/>
              </a:spcAft>
              <a:defRPr sz="1050" b="0">
                <a:solidFill>
                  <a:srgbClr val="5A7588"/>
                </a:solidFill>
                <a:latin typeface="Noto Sans CJK SC"/>
              </a:defRPr>
            </a:pPr>
            <a:r>
              <a:rPr lang="zh-CN" sz="1050" b="0">
                <a:solidFill>
                  <a:srgbClr val="5A7588"/>
                </a:solidFill>
                <a:latin typeface="Noto Sans CJK SC"/>
                <a:ea typeface="Noto Sans CJK SC"/>
                <a:cs typeface="Noto Sans CJK SC"/>
              </a:rPr>
              <a:t>DID 文档 → 元数据地址 + 摘要</a:t>
            </a:r>
            <a:endParaRPr lang="zh-CN" sz="1050" b="0">
              <a:solidFill>
                <a:srgbClr val="5A7588"/>
              </a:solidFill>
              <a:latin typeface="Noto Sans CJK SC"/>
              <a:ea typeface="Noto Sans CJK SC"/>
              <a:cs typeface="Noto Sans CJK SC"/>
            </a:endParaRPr>
          </a:p>
        </p:txBody>
      </p:sp>
      <p:sp>
        <p:nvSpPr>
          <p:cNvPr id="21" name="OAuth focus panel 2"/>
          <p:cNvSpPr/>
          <p:nvPr/>
        </p:nvSpPr>
        <p:spPr>
          <a:xfrm>
            <a:off x="8138160" y="2660904"/>
            <a:ext cx="3483864" cy="2706624"/>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2" name="OAuth focus heading 2 EN"/>
          <p:cNvSpPr txBox="1"/>
          <p:nvPr/>
        </p:nvSpPr>
        <p:spPr>
          <a:xfrm>
            <a:off x="8339328" y="2798064"/>
            <a:ext cx="3081528"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10334A"/>
                </a:solidFill>
                <a:latin typeface="Arial" panose="020B0704020202020204"/>
              </a:defRPr>
            </a:pPr>
            <a:r>
              <a:rPr lang="en-US" sz="1800" b="1">
                <a:solidFill>
                  <a:srgbClr val="10334A"/>
                </a:solidFill>
                <a:latin typeface="Arial" panose="020B0704020202020204"/>
                <a:ea typeface="Arial" panose="020B0704020202020204"/>
                <a:cs typeface="Arial" panose="020B0704020202020204"/>
              </a:rPr>
              <a:t>Reuse OAuth</a:t>
            </a:r>
            <a:endParaRPr lang="en-US" sz="1800" b="1">
              <a:solidFill>
                <a:srgbClr val="10334A"/>
              </a:solidFill>
              <a:latin typeface="Arial" panose="020B0704020202020204"/>
              <a:ea typeface="Arial" panose="020B0704020202020204"/>
              <a:cs typeface="Arial" panose="020B0704020202020204"/>
            </a:endParaRPr>
          </a:p>
        </p:txBody>
      </p:sp>
      <p:sp>
        <p:nvSpPr>
          <p:cNvPr id="23" name="OAuth focus heading 2 ZH"/>
          <p:cNvSpPr txBox="1"/>
          <p:nvPr/>
        </p:nvSpPr>
        <p:spPr>
          <a:xfrm>
            <a:off x="8339328" y="3185160"/>
            <a:ext cx="3081528" cy="276199"/>
          </a:xfrm>
          <a:prstGeom prst="rect">
            <a:avLst/>
          </a:prstGeom>
          <a:noFill/>
        </p:spPr>
        <p:txBody>
          <a:bodyPr wrap="none" lIns="0" tIns="12700" rIns="0" bIns="0" anchor="t">
            <a:noAutofit/>
          </a:bodyPr>
          <a:lstStyle/>
          <a:p>
            <a:pPr algn="l">
              <a:lnSpc>
                <a:spcPts val="1575"/>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复用 OAuth</a:t>
            </a:r>
            <a:endParaRPr lang="zh-CN" sz="1240" b="0">
              <a:solidFill>
                <a:srgbClr val="5A7588"/>
              </a:solidFill>
              <a:latin typeface="Noto Sans CJK SC"/>
              <a:ea typeface="Noto Sans CJK SC"/>
              <a:cs typeface="Noto Sans CJK SC"/>
            </a:endParaRPr>
          </a:p>
        </p:txBody>
      </p:sp>
      <p:sp>
        <p:nvSpPr>
          <p:cNvPr id="24" name="OAuth focus body 2 EN"/>
          <p:cNvSpPr txBox="1"/>
          <p:nvPr/>
        </p:nvSpPr>
        <p:spPr>
          <a:xfrm>
            <a:off x="8339328" y="3511296"/>
            <a:ext cx="3081528" cy="612292"/>
          </a:xfrm>
          <a:prstGeom prst="rect">
            <a:avLst/>
          </a:prstGeom>
          <a:noFill/>
        </p:spPr>
        <p:txBody>
          <a:bodyPr wrap="none" lIns="0" tIns="12700" rIns="0" bIns="0" anchor="t">
            <a:noAutofit/>
          </a:bodyPr>
          <a:lstStyle/>
          <a:p>
            <a:pPr algn="l">
              <a:lnSpc>
                <a:spcPts val="2110"/>
              </a:lnSpc>
              <a:spcBef>
                <a:spcPts val="0"/>
              </a:spcBef>
              <a:spcAft>
                <a:spcPts val="0"/>
              </a:spcAft>
              <a:defRPr sz="1730" b="1">
                <a:solidFill>
                  <a:srgbClr val="19384B"/>
                </a:solidFill>
                <a:latin typeface="Arial" panose="020B0704020202020204"/>
              </a:defRPr>
            </a:pPr>
            <a:r>
              <a:rPr lang="en-US" sz="1730" b="1">
                <a:solidFill>
                  <a:srgbClr val="19384B"/>
                </a:solidFill>
                <a:latin typeface="Arial" panose="020B0704020202020204"/>
                <a:ea typeface="Arial" panose="020B0704020202020204"/>
                <a:cs typeface="Arial" panose="020B0704020202020204"/>
              </a:rPr>
              <a:t>Keep consent, grants,</a:t>
            </a:r>
            <a:endParaRPr lang="en-US" sz="1730" b="1">
              <a:solidFill>
                <a:srgbClr val="19384B"/>
              </a:solidFill>
              <a:latin typeface="Arial" panose="020B0704020202020204"/>
              <a:ea typeface="Arial" panose="020B0704020202020204"/>
              <a:cs typeface="Arial" panose="020B0704020202020204"/>
            </a:endParaRPr>
          </a:p>
          <a:p>
            <a:pPr algn="l">
              <a:lnSpc>
                <a:spcPts val="2110"/>
              </a:lnSpc>
              <a:spcBef>
                <a:spcPts val="0"/>
              </a:spcBef>
              <a:spcAft>
                <a:spcPts val="0"/>
              </a:spcAft>
              <a:defRPr sz="1730" b="1">
                <a:solidFill>
                  <a:srgbClr val="19384B"/>
                </a:solidFill>
                <a:latin typeface="Arial" panose="020B0704020202020204"/>
              </a:defRPr>
            </a:pPr>
            <a:r>
              <a:rPr lang="en-US" sz="1730" b="1">
                <a:solidFill>
                  <a:srgbClr val="19384B"/>
                </a:solidFill>
                <a:latin typeface="Arial" panose="020B0704020202020204"/>
                <a:ea typeface="Arial" panose="020B0704020202020204"/>
                <a:cs typeface="Arial" panose="020B0704020202020204"/>
              </a:rPr>
              <a:t>scopes and tokens.</a:t>
            </a:r>
            <a:endParaRPr lang="en-US" sz="1730" b="1">
              <a:solidFill>
                <a:srgbClr val="19384B"/>
              </a:solidFill>
              <a:latin typeface="Arial" panose="020B0704020202020204"/>
              <a:ea typeface="Arial" panose="020B0704020202020204"/>
              <a:cs typeface="Arial" panose="020B0704020202020204"/>
            </a:endParaRPr>
          </a:p>
        </p:txBody>
      </p:sp>
      <p:sp>
        <p:nvSpPr>
          <p:cNvPr id="25" name="OAuth focus body 2 ZH"/>
          <p:cNvSpPr txBox="1"/>
          <p:nvPr/>
        </p:nvSpPr>
        <p:spPr>
          <a:xfrm>
            <a:off x="8339328" y="4192168"/>
            <a:ext cx="3081528" cy="548640"/>
          </a:xfrm>
          <a:prstGeom prst="rect">
            <a:avLst/>
          </a:prstGeom>
          <a:noFill/>
        </p:spPr>
        <p:txBody>
          <a:bodyPr wrap="none" lIns="0" tIns="12700" rIns="0" bIns="0" anchor="t">
            <a:noAutofit/>
          </a:bodyPr>
          <a:lstStyle/>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保留用户同意、授权、</a:t>
            </a:r>
            <a:endParaRPr lang="zh-CN" sz="1240" b="0">
              <a:solidFill>
                <a:srgbClr val="5A7588"/>
              </a:solidFill>
              <a:latin typeface="Noto Sans CJK SC"/>
              <a:ea typeface="Noto Sans CJK SC"/>
              <a:cs typeface="Noto Sans CJK SC"/>
            </a:endParaRPr>
          </a:p>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权限范围与令牌机制。</a:t>
            </a:r>
            <a:endParaRPr lang="zh-CN" sz="1240" b="0">
              <a:solidFill>
                <a:srgbClr val="5A7588"/>
              </a:solidFill>
              <a:latin typeface="Noto Sans CJK SC"/>
              <a:ea typeface="Noto Sans CJK SC"/>
              <a:cs typeface="Noto Sans CJK SC"/>
            </a:endParaRPr>
          </a:p>
        </p:txBody>
      </p:sp>
      <p:sp>
        <p:nvSpPr>
          <p:cNvPr id="26" name="OAuth focus detail 2 EN"/>
          <p:cNvSpPr txBox="1"/>
          <p:nvPr/>
        </p:nvSpPr>
        <p:spPr>
          <a:xfrm>
            <a:off x="8339328" y="4782312"/>
            <a:ext cx="3081528" cy="269875"/>
          </a:xfrm>
          <a:prstGeom prst="rect">
            <a:avLst/>
          </a:prstGeom>
          <a:noFill/>
        </p:spPr>
        <p:txBody>
          <a:bodyPr wrap="none" lIns="0" tIns="12700" rIns="0" bIns="0" anchor="t">
            <a:noAutofit/>
          </a:bodyPr>
          <a:lstStyle/>
          <a:p>
            <a:pPr algn="l">
              <a:lnSpc>
                <a:spcPts val="1525"/>
              </a:lnSpc>
              <a:spcBef>
                <a:spcPts val="0"/>
              </a:spcBef>
              <a:spcAft>
                <a:spcPts val="0"/>
              </a:spcAft>
              <a:defRPr sz="1250" b="0">
                <a:solidFill>
                  <a:srgbClr val="10334A"/>
                </a:solidFill>
                <a:latin typeface="Arial" panose="020B0704020202020204"/>
              </a:defRPr>
            </a:pPr>
            <a:r>
              <a:rPr lang="en-US" sz="1250" b="0">
                <a:solidFill>
                  <a:srgbClr val="10334A"/>
                </a:solidFill>
                <a:latin typeface="Arial" panose="020B0704020202020204"/>
                <a:ea typeface="Arial" panose="020B0704020202020204"/>
                <a:cs typeface="Arial" panose="020B0704020202020204"/>
              </a:rPr>
              <a:t>Refresh and revocation stay in OAuth.</a:t>
            </a:r>
            <a:endParaRPr lang="en-US" sz="1250" b="0">
              <a:solidFill>
                <a:srgbClr val="10334A"/>
              </a:solidFill>
              <a:latin typeface="Arial" panose="020B0704020202020204"/>
              <a:ea typeface="Arial" panose="020B0704020202020204"/>
              <a:cs typeface="Arial" panose="020B0704020202020204"/>
            </a:endParaRPr>
          </a:p>
        </p:txBody>
      </p:sp>
      <p:sp>
        <p:nvSpPr>
          <p:cNvPr id="27" name="OAuth focus detail 2 ZH"/>
          <p:cNvSpPr txBox="1"/>
          <p:nvPr/>
        </p:nvSpPr>
        <p:spPr>
          <a:xfrm>
            <a:off x="8339328" y="5075047"/>
            <a:ext cx="3081528" cy="245554"/>
          </a:xfrm>
          <a:prstGeom prst="rect">
            <a:avLst/>
          </a:prstGeom>
          <a:noFill/>
        </p:spPr>
        <p:txBody>
          <a:bodyPr wrap="none" lIns="0" tIns="12700" rIns="0" bIns="0" anchor="t">
            <a:noAutofit/>
          </a:bodyPr>
          <a:lstStyle/>
          <a:p>
            <a:pPr algn="l">
              <a:lnSpc>
                <a:spcPts val="1335"/>
              </a:lnSpc>
              <a:spcBef>
                <a:spcPts val="0"/>
              </a:spcBef>
              <a:spcAft>
                <a:spcPts val="0"/>
              </a:spcAft>
              <a:defRPr sz="1050" b="0">
                <a:solidFill>
                  <a:srgbClr val="5A7588"/>
                </a:solidFill>
                <a:latin typeface="Noto Sans CJK SC"/>
              </a:defRPr>
            </a:pPr>
            <a:r>
              <a:rPr lang="zh-CN" sz="1050" b="0">
                <a:solidFill>
                  <a:srgbClr val="5A7588"/>
                </a:solidFill>
                <a:latin typeface="Noto Sans CJK SC"/>
                <a:ea typeface="Noto Sans CJK SC"/>
                <a:cs typeface="Noto Sans CJK SC"/>
              </a:rPr>
              <a:t>刷新与撤销继续由 OAuth 管理。</a:t>
            </a:r>
            <a:endParaRPr lang="zh-CN" sz="1050" b="0">
              <a:solidFill>
                <a:srgbClr val="5A7588"/>
              </a:solidFill>
              <a:latin typeface="Noto Sans CJK SC"/>
              <a:ea typeface="Noto Sans CJK SC"/>
              <a:cs typeface="Noto Sans CJK SC"/>
            </a:endParaRPr>
          </a:p>
        </p:txBody>
      </p:sp>
      <p:sp>
        <p:nvSpPr>
          <p:cNvPr id="28"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9"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30" name="Key message EN"/>
          <p:cNvSpPr txBox="1"/>
          <p:nvPr/>
        </p:nvSpPr>
        <p:spPr>
          <a:xfrm>
            <a:off x="740664" y="5769864"/>
            <a:ext cx="10689336" cy="331851"/>
          </a:xfrm>
          <a:prstGeom prst="rect">
            <a:avLst/>
          </a:prstGeom>
          <a:noFill/>
        </p:spPr>
        <p:txBody>
          <a:bodyPr wrap="none" lIns="0" tIns="12700" rIns="0" bIns="0" anchor="t">
            <a:noAutofit/>
          </a:bodyPr>
          <a:lstStyle/>
          <a:p>
            <a:pPr algn="l">
              <a:lnSpc>
                <a:spcPts val="2015"/>
              </a:lnSpc>
              <a:spcBef>
                <a:spcPts val="0"/>
              </a:spcBef>
              <a:spcAft>
                <a:spcPts val="0"/>
              </a:spcAft>
              <a:defRPr sz="1650" b="1">
                <a:solidFill>
                  <a:srgbClr val="10334A"/>
                </a:solidFill>
                <a:latin typeface="Arial" panose="020B0704020202020204"/>
              </a:defRPr>
            </a:pPr>
            <a:r>
              <a:rPr lang="en-US" sz="1650" b="1">
                <a:solidFill>
                  <a:srgbClr val="10334A"/>
                </a:solidFill>
                <a:latin typeface="Arial" panose="020B0704020202020204"/>
                <a:ea typeface="Arial" panose="020B0704020202020204"/>
                <a:cs typeface="Arial" panose="020B0704020202020204"/>
              </a:rPr>
              <a:t>The new layer binds identity to metadata; it does not create a new OAuth grant.</a:t>
            </a:r>
            <a:endParaRPr lang="en-US" sz="1650" b="1">
              <a:solidFill>
                <a:srgbClr val="10334A"/>
              </a:solidFill>
              <a:latin typeface="Arial" panose="020B0704020202020204"/>
              <a:ea typeface="Arial" panose="020B0704020202020204"/>
              <a:cs typeface="Arial" panose="020B0704020202020204"/>
            </a:endParaRPr>
          </a:p>
        </p:txBody>
      </p:sp>
      <p:sp>
        <p:nvSpPr>
          <p:cNvPr id="31" name="Key message ZH"/>
          <p:cNvSpPr txBox="1"/>
          <p:nvPr/>
        </p:nvSpPr>
        <p:spPr>
          <a:xfrm>
            <a:off x="740664" y="611543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新增层解决身份与元数据绑定，而不是发明新的 OAuth 授权流程。</a:t>
            </a:r>
            <a:endParaRPr lang="zh-CN" sz="1200" b="0">
              <a:solidFill>
                <a:srgbClr val="5A7588"/>
              </a:solidFill>
              <a:latin typeface="Noto Sans CJK SC"/>
              <a:ea typeface="Noto Sans CJK SC"/>
              <a:cs typeface="Noto Sans CJK SC"/>
            </a:endParaRPr>
          </a:p>
        </p:txBody>
      </p:sp>
      <p:sp>
        <p:nvSpPr>
          <p:cNvPr id="32"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33"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34"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05</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Two documents. Three distinct responsibilities.</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两份文档，三类清晰职责。</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Responsibility panel 0"/>
          <p:cNvSpPr/>
          <p:nvPr/>
        </p:nvSpPr>
        <p:spPr>
          <a:xfrm>
            <a:off x="566928" y="1417320"/>
            <a:ext cx="11055096" cy="1271016"/>
          </a:xfrm>
          <a:prstGeom prst="roundRect">
            <a:avLst>
              <a:gd name="adj" fmla="val 6000"/>
            </a:avLst>
          </a:prstGeom>
          <a:solidFill>
            <a:srgbClr val="ECF8F6"/>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Responsibility title 0 EN"/>
          <p:cNvSpPr txBox="1"/>
          <p:nvPr/>
        </p:nvSpPr>
        <p:spPr>
          <a:xfrm>
            <a:off x="804672" y="1682496"/>
            <a:ext cx="2889504" cy="393827"/>
          </a:xfrm>
          <a:prstGeom prst="rect">
            <a:avLst/>
          </a:prstGeom>
          <a:noFill/>
        </p:spPr>
        <p:txBody>
          <a:bodyPr wrap="none" lIns="0" tIns="12700" rIns="0" bIns="0" anchor="t">
            <a:noAutofit/>
          </a:bodyPr>
          <a:lstStyle/>
          <a:p>
            <a:pPr algn="l">
              <a:lnSpc>
                <a:spcPts val="2500"/>
              </a:lnSpc>
              <a:spcBef>
                <a:spcPts val="0"/>
              </a:spcBef>
              <a:spcAft>
                <a:spcPts val="0"/>
              </a:spcAft>
              <a:defRPr sz="2050" b="1">
                <a:solidFill>
                  <a:srgbClr val="07888E"/>
                </a:solidFill>
                <a:latin typeface="Arial" panose="020B0704020202020204"/>
              </a:defRPr>
            </a:pPr>
            <a:r>
              <a:rPr lang="en-US" sz="2050" b="1">
                <a:solidFill>
                  <a:srgbClr val="07888E"/>
                </a:solidFill>
                <a:latin typeface="Arial" panose="020B0704020202020204"/>
                <a:ea typeface="Arial" panose="020B0704020202020204"/>
                <a:cs typeface="Arial" panose="020B0704020202020204"/>
              </a:rPr>
              <a:t>DID Document</a:t>
            </a:r>
            <a:endParaRPr lang="en-US" sz="2050" b="1">
              <a:solidFill>
                <a:srgbClr val="07888E"/>
              </a:solidFill>
              <a:latin typeface="Arial" panose="020B0704020202020204"/>
              <a:ea typeface="Arial" panose="020B0704020202020204"/>
              <a:cs typeface="Arial" panose="020B0704020202020204"/>
            </a:endParaRPr>
          </a:p>
        </p:txBody>
      </p:sp>
      <p:sp>
        <p:nvSpPr>
          <p:cNvPr id="7" name="Responsibility title 0 ZH"/>
          <p:cNvSpPr txBox="1"/>
          <p:nvPr/>
        </p:nvSpPr>
        <p:spPr>
          <a:xfrm>
            <a:off x="804672" y="2122043"/>
            <a:ext cx="2889504" cy="293941"/>
          </a:xfrm>
          <a:prstGeom prst="rect">
            <a:avLst/>
          </a:prstGeom>
          <a:noFill/>
        </p:spPr>
        <p:txBody>
          <a:bodyPr wrap="none" lIns="0" tIns="12700" rIns="0" bIns="0" anchor="t">
            <a:noAutofit/>
          </a:bodyPr>
          <a:lstStyle/>
          <a:p>
            <a:pPr algn="l">
              <a:lnSpc>
                <a:spcPts val="171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DID 文档</a:t>
            </a:r>
            <a:endParaRPr lang="zh-CN" sz="1350" b="0">
              <a:solidFill>
                <a:srgbClr val="5A7588"/>
              </a:solidFill>
              <a:latin typeface="Noto Sans CJK SC"/>
              <a:ea typeface="Noto Sans CJK SC"/>
              <a:cs typeface="Noto Sans CJK SC"/>
            </a:endParaRPr>
          </a:p>
        </p:txBody>
      </p:sp>
      <p:cxnSp>
        <p:nvCxnSpPr>
          <p:cNvPr id="8" name="Responsibility divider 0"/>
          <p:cNvCxnSpPr/>
          <p:nvPr/>
        </p:nvCxnSpPr>
        <p:spPr>
          <a:xfrm>
            <a:off x="3922776" y="1609344"/>
            <a:ext cx="0" cy="786384"/>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9" name="Responsibility body 0 EN"/>
          <p:cNvSpPr txBox="1"/>
          <p:nvPr/>
        </p:nvSpPr>
        <p:spPr>
          <a:xfrm>
            <a:off x="4160520" y="1463040"/>
            <a:ext cx="7232904" cy="596798"/>
          </a:xfrm>
          <a:prstGeom prst="rect">
            <a:avLst/>
          </a:prstGeom>
          <a:noFill/>
        </p:spPr>
        <p:txBody>
          <a:bodyPr wrap="none" lIns="0" tIns="12700" rIns="0" bIns="0" anchor="t">
            <a:noAutofit/>
          </a:bodyPr>
          <a:lstStyle/>
          <a:p>
            <a:pPr algn="l">
              <a:lnSpc>
                <a:spcPts val="2050"/>
              </a:lnSpc>
              <a:spcBef>
                <a:spcPts val="0"/>
              </a:spcBef>
              <a:spcAft>
                <a:spcPts val="0"/>
              </a:spcAft>
              <a:defRPr sz="1680" b="0">
                <a:solidFill>
                  <a:srgbClr val="19384B"/>
                </a:solidFill>
                <a:latin typeface="Arial" panose="020B0704020202020204"/>
              </a:defRPr>
            </a:pPr>
            <a:r>
              <a:rPr lang="en-US" sz="1680" b="0">
                <a:solidFill>
                  <a:srgbClr val="19384B"/>
                </a:solidFill>
                <a:latin typeface="Arial" panose="020B0704020202020204"/>
                <a:ea typeface="Arial" panose="020B0704020202020204"/>
                <a:cs typeface="Arial" panose="020B0704020202020204"/>
              </a:rPr>
              <a:t>Identify the Agent and its authorized authentication keys.</a:t>
            </a:r>
            <a:endParaRPr lang="en-US" sz="1680" b="0">
              <a:solidFill>
                <a:srgbClr val="19384B"/>
              </a:solidFill>
              <a:latin typeface="Arial" panose="020B0704020202020204"/>
              <a:ea typeface="Arial" panose="020B0704020202020204"/>
              <a:cs typeface="Arial" panose="020B0704020202020204"/>
            </a:endParaRPr>
          </a:p>
          <a:p>
            <a:pPr algn="l">
              <a:lnSpc>
                <a:spcPts val="2050"/>
              </a:lnSpc>
              <a:spcBef>
                <a:spcPts val="0"/>
              </a:spcBef>
              <a:spcAft>
                <a:spcPts val="0"/>
              </a:spcAft>
              <a:defRPr sz="1680" b="0">
                <a:solidFill>
                  <a:srgbClr val="19384B"/>
                </a:solidFill>
                <a:latin typeface="Arial" panose="020B0704020202020204"/>
              </a:defRPr>
            </a:pPr>
            <a:r>
              <a:rPr lang="en-US" sz="1680" b="0">
                <a:solidFill>
                  <a:srgbClr val="19384B"/>
                </a:solidFill>
                <a:latin typeface="Arial" panose="020B0704020202020204"/>
                <a:ea typeface="Arial" panose="020B0704020202020204"/>
                <a:cs typeface="Arial" panose="020B0704020202020204"/>
              </a:rPr>
              <a:t>Publish the metadata URL and its exact-byte digest.</a:t>
            </a:r>
            <a:endParaRPr lang="en-US" sz="1680" b="0">
              <a:solidFill>
                <a:srgbClr val="19384B"/>
              </a:solidFill>
              <a:latin typeface="Arial" panose="020B0704020202020204"/>
              <a:ea typeface="Arial" panose="020B0704020202020204"/>
              <a:cs typeface="Arial" panose="020B0704020202020204"/>
            </a:endParaRPr>
          </a:p>
        </p:txBody>
      </p:sp>
      <p:sp>
        <p:nvSpPr>
          <p:cNvPr id="10" name="Responsibility body 0 ZH"/>
          <p:cNvSpPr txBox="1"/>
          <p:nvPr/>
        </p:nvSpPr>
        <p:spPr>
          <a:xfrm>
            <a:off x="4160520" y="2110130"/>
            <a:ext cx="7232904" cy="548640"/>
          </a:xfrm>
          <a:prstGeom prst="rect">
            <a:avLst/>
          </a:prstGeom>
          <a:noFill/>
        </p:spPr>
        <p:txBody>
          <a:bodyPr wrap="none" lIns="0" tIns="12700" rIns="0" bIns="0" anchor="t">
            <a:noAutofit/>
          </a:bodyPr>
          <a:lstStyle/>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标识智能体及其已授权认证密钥；</a:t>
            </a:r>
            <a:endParaRPr lang="zh-CN" sz="1240" b="0">
              <a:solidFill>
                <a:srgbClr val="5A7588"/>
              </a:solidFill>
              <a:latin typeface="Noto Sans CJK SC"/>
              <a:ea typeface="Noto Sans CJK SC"/>
              <a:cs typeface="Noto Sans CJK SC"/>
            </a:endParaRPr>
          </a:p>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发布元数据 URL 与精确字节摘要。</a:t>
            </a:r>
            <a:endParaRPr lang="zh-CN" sz="1240" b="0">
              <a:solidFill>
                <a:srgbClr val="5A7588"/>
              </a:solidFill>
              <a:latin typeface="Noto Sans CJK SC"/>
              <a:ea typeface="Noto Sans CJK SC"/>
              <a:cs typeface="Noto Sans CJK SC"/>
            </a:endParaRPr>
          </a:p>
        </p:txBody>
      </p:sp>
      <p:sp>
        <p:nvSpPr>
          <p:cNvPr id="11" name="Responsibility panel 1"/>
          <p:cNvSpPr/>
          <p:nvPr/>
        </p:nvSpPr>
        <p:spPr>
          <a:xfrm>
            <a:off x="566928" y="2724912"/>
            <a:ext cx="11055096" cy="1271016"/>
          </a:xfrm>
          <a:prstGeom prst="roundRect">
            <a:avLst>
              <a:gd name="adj" fmla="val 6000"/>
            </a:avLst>
          </a:prstGeom>
          <a:solidFill>
            <a:srgbClr val="EDF3FD"/>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2" name="Responsibility title 1 EN"/>
          <p:cNvSpPr txBox="1"/>
          <p:nvPr/>
        </p:nvSpPr>
        <p:spPr>
          <a:xfrm>
            <a:off x="804672" y="2990088"/>
            <a:ext cx="2889504" cy="393827"/>
          </a:xfrm>
          <a:prstGeom prst="rect">
            <a:avLst/>
          </a:prstGeom>
          <a:noFill/>
        </p:spPr>
        <p:txBody>
          <a:bodyPr wrap="none" lIns="0" tIns="12700" rIns="0" bIns="0" anchor="t">
            <a:noAutofit/>
          </a:bodyPr>
          <a:lstStyle/>
          <a:p>
            <a:pPr algn="l">
              <a:lnSpc>
                <a:spcPts val="2500"/>
              </a:lnSpc>
              <a:spcBef>
                <a:spcPts val="0"/>
              </a:spcBef>
              <a:spcAft>
                <a:spcPts val="0"/>
              </a:spcAft>
              <a:defRPr sz="2050" b="1">
                <a:solidFill>
                  <a:srgbClr val="2168D5"/>
                </a:solidFill>
                <a:latin typeface="Arial" panose="020B0704020202020204"/>
              </a:defRPr>
            </a:pPr>
            <a:r>
              <a:rPr lang="en-US" sz="2050" b="1">
                <a:solidFill>
                  <a:srgbClr val="2168D5"/>
                </a:solidFill>
                <a:latin typeface="Arial" panose="020B0704020202020204"/>
                <a:ea typeface="Arial" panose="020B0704020202020204"/>
                <a:cs typeface="Arial" panose="020B0704020202020204"/>
              </a:rPr>
              <a:t>CIMD-style metadata</a:t>
            </a:r>
            <a:endParaRPr lang="en-US" sz="2050" b="1">
              <a:solidFill>
                <a:srgbClr val="2168D5"/>
              </a:solidFill>
              <a:latin typeface="Arial" panose="020B0704020202020204"/>
              <a:ea typeface="Arial" panose="020B0704020202020204"/>
              <a:cs typeface="Arial" panose="020B0704020202020204"/>
            </a:endParaRPr>
          </a:p>
        </p:txBody>
      </p:sp>
      <p:sp>
        <p:nvSpPr>
          <p:cNvPr id="13" name="Responsibility title 1 ZH"/>
          <p:cNvSpPr txBox="1"/>
          <p:nvPr/>
        </p:nvSpPr>
        <p:spPr>
          <a:xfrm>
            <a:off x="804672" y="3429634"/>
            <a:ext cx="2889504" cy="293941"/>
          </a:xfrm>
          <a:prstGeom prst="rect">
            <a:avLst/>
          </a:prstGeom>
          <a:noFill/>
        </p:spPr>
        <p:txBody>
          <a:bodyPr wrap="none" lIns="0" tIns="12700" rIns="0" bIns="0" anchor="t">
            <a:noAutofit/>
          </a:bodyPr>
          <a:lstStyle/>
          <a:p>
            <a:pPr algn="l">
              <a:lnSpc>
                <a:spcPts val="171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CIMD 风格客户端元数据</a:t>
            </a:r>
            <a:endParaRPr lang="zh-CN" sz="1350" b="0">
              <a:solidFill>
                <a:srgbClr val="5A7588"/>
              </a:solidFill>
              <a:latin typeface="Noto Sans CJK SC"/>
              <a:ea typeface="Noto Sans CJK SC"/>
              <a:cs typeface="Noto Sans CJK SC"/>
            </a:endParaRPr>
          </a:p>
        </p:txBody>
      </p:sp>
      <p:cxnSp>
        <p:nvCxnSpPr>
          <p:cNvPr id="14" name="Responsibility divider 1"/>
          <p:cNvCxnSpPr/>
          <p:nvPr/>
        </p:nvCxnSpPr>
        <p:spPr>
          <a:xfrm>
            <a:off x="3922776" y="2916936"/>
            <a:ext cx="0" cy="786384"/>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15" name="Responsibility body 1 EN"/>
          <p:cNvSpPr txBox="1"/>
          <p:nvPr/>
        </p:nvSpPr>
        <p:spPr>
          <a:xfrm>
            <a:off x="4160520" y="2770632"/>
            <a:ext cx="7232904" cy="596798"/>
          </a:xfrm>
          <a:prstGeom prst="rect">
            <a:avLst/>
          </a:prstGeom>
          <a:noFill/>
        </p:spPr>
        <p:txBody>
          <a:bodyPr wrap="none" lIns="0" tIns="12700" rIns="0" bIns="0" anchor="t">
            <a:noAutofit/>
          </a:bodyPr>
          <a:lstStyle/>
          <a:p>
            <a:pPr algn="l">
              <a:lnSpc>
                <a:spcPts val="2050"/>
              </a:lnSpc>
              <a:spcBef>
                <a:spcPts val="0"/>
              </a:spcBef>
              <a:spcAft>
                <a:spcPts val="0"/>
              </a:spcAft>
              <a:defRPr sz="1680" b="0">
                <a:solidFill>
                  <a:srgbClr val="19384B"/>
                </a:solidFill>
                <a:latin typeface="Arial" panose="020B0704020202020204"/>
              </a:defRPr>
            </a:pPr>
            <a:r>
              <a:rPr lang="en-US" sz="1680" b="0">
                <a:solidFill>
                  <a:srgbClr val="19384B"/>
                </a:solidFill>
                <a:latin typeface="Arial" panose="020B0704020202020204"/>
                <a:ea typeface="Arial" panose="020B0704020202020204"/>
                <a:cs typeface="Arial" panose="020B0704020202020204"/>
              </a:rPr>
              <a:t>Describe client configuration: name, redirect URIs,</a:t>
            </a:r>
            <a:endParaRPr lang="en-US" sz="1680" b="0">
              <a:solidFill>
                <a:srgbClr val="19384B"/>
              </a:solidFill>
              <a:latin typeface="Arial" panose="020B0704020202020204"/>
              <a:ea typeface="Arial" panose="020B0704020202020204"/>
              <a:cs typeface="Arial" panose="020B0704020202020204"/>
            </a:endParaRPr>
          </a:p>
          <a:p>
            <a:pPr algn="l">
              <a:lnSpc>
                <a:spcPts val="2050"/>
              </a:lnSpc>
              <a:spcBef>
                <a:spcPts val="0"/>
              </a:spcBef>
              <a:spcAft>
                <a:spcPts val="0"/>
              </a:spcAft>
              <a:defRPr sz="1680" b="0">
                <a:solidFill>
                  <a:srgbClr val="19384B"/>
                </a:solidFill>
                <a:latin typeface="Arial" panose="020B0704020202020204"/>
              </a:defRPr>
            </a:pPr>
            <a:r>
              <a:rPr lang="en-US" sz="1680" b="0">
                <a:solidFill>
                  <a:srgbClr val="19384B"/>
                </a:solidFill>
                <a:latin typeface="Arial" panose="020B0704020202020204"/>
                <a:ea typeface="Arial" panose="020B0704020202020204"/>
                <a:cs typeface="Arial" panose="020B0704020202020204"/>
              </a:rPr>
              <a:t>grant types and the authentication method.</a:t>
            </a:r>
            <a:endParaRPr lang="en-US" sz="1680" b="0">
              <a:solidFill>
                <a:srgbClr val="19384B"/>
              </a:solidFill>
              <a:latin typeface="Arial" panose="020B0704020202020204"/>
              <a:ea typeface="Arial" panose="020B0704020202020204"/>
              <a:cs typeface="Arial" panose="020B0704020202020204"/>
            </a:endParaRPr>
          </a:p>
        </p:txBody>
      </p:sp>
      <p:sp>
        <p:nvSpPr>
          <p:cNvPr id="16" name="Responsibility body 1 ZH"/>
          <p:cNvSpPr txBox="1"/>
          <p:nvPr/>
        </p:nvSpPr>
        <p:spPr>
          <a:xfrm>
            <a:off x="4160520" y="3417722"/>
            <a:ext cx="7232904" cy="548640"/>
          </a:xfrm>
          <a:prstGeom prst="rect">
            <a:avLst/>
          </a:prstGeom>
          <a:noFill/>
        </p:spPr>
        <p:txBody>
          <a:bodyPr wrap="none" lIns="0" tIns="12700" rIns="0" bIns="0" anchor="t">
            <a:noAutofit/>
          </a:bodyPr>
          <a:lstStyle/>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描述客户端配置：名称、回调地址、</a:t>
            </a:r>
            <a:endParaRPr lang="zh-CN" sz="1240" b="0">
              <a:solidFill>
                <a:srgbClr val="5A7588"/>
              </a:solidFill>
              <a:latin typeface="Noto Sans CJK SC"/>
              <a:ea typeface="Noto Sans CJK SC"/>
              <a:cs typeface="Noto Sans CJK SC"/>
            </a:endParaRPr>
          </a:p>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授权类型和客户端认证方式。</a:t>
            </a:r>
            <a:endParaRPr lang="zh-CN" sz="1240" b="0">
              <a:solidFill>
                <a:srgbClr val="5A7588"/>
              </a:solidFill>
              <a:latin typeface="Noto Sans CJK SC"/>
              <a:ea typeface="Noto Sans CJK SC"/>
              <a:cs typeface="Noto Sans CJK SC"/>
            </a:endParaRPr>
          </a:p>
        </p:txBody>
      </p:sp>
      <p:sp>
        <p:nvSpPr>
          <p:cNvPr id="17" name="Responsibility panel 2"/>
          <p:cNvSpPr/>
          <p:nvPr/>
        </p:nvSpPr>
        <p:spPr>
          <a:xfrm>
            <a:off x="566928" y="4032504"/>
            <a:ext cx="11055096" cy="1271016"/>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8" name="Responsibility title 2 EN"/>
          <p:cNvSpPr txBox="1"/>
          <p:nvPr/>
        </p:nvSpPr>
        <p:spPr>
          <a:xfrm>
            <a:off x="804672" y="4297680"/>
            <a:ext cx="2889504" cy="393827"/>
          </a:xfrm>
          <a:prstGeom prst="rect">
            <a:avLst/>
          </a:prstGeom>
          <a:noFill/>
        </p:spPr>
        <p:txBody>
          <a:bodyPr wrap="none" lIns="0" tIns="12700" rIns="0" bIns="0" anchor="t">
            <a:noAutofit/>
          </a:bodyPr>
          <a:lstStyle/>
          <a:p>
            <a:pPr algn="l">
              <a:lnSpc>
                <a:spcPts val="2500"/>
              </a:lnSpc>
              <a:spcBef>
                <a:spcPts val="0"/>
              </a:spcBef>
              <a:spcAft>
                <a:spcPts val="0"/>
              </a:spcAft>
              <a:defRPr sz="2050" b="1">
                <a:solidFill>
                  <a:srgbClr val="10334A"/>
                </a:solidFill>
                <a:latin typeface="Arial" panose="020B0704020202020204"/>
              </a:defRPr>
            </a:pPr>
            <a:r>
              <a:rPr lang="en-US" sz="2050" b="1">
                <a:solidFill>
                  <a:srgbClr val="10334A"/>
                </a:solidFill>
                <a:latin typeface="Arial" panose="020B0704020202020204"/>
                <a:ea typeface="Arial" panose="020B0704020202020204"/>
                <a:cs typeface="Arial" panose="020B0704020202020204"/>
              </a:rPr>
              <a:t>OAuth authorization</a:t>
            </a:r>
            <a:endParaRPr lang="en-US" sz="2050" b="1">
              <a:solidFill>
                <a:srgbClr val="10334A"/>
              </a:solidFill>
              <a:latin typeface="Arial" panose="020B0704020202020204"/>
              <a:ea typeface="Arial" panose="020B0704020202020204"/>
              <a:cs typeface="Arial" panose="020B0704020202020204"/>
            </a:endParaRPr>
          </a:p>
        </p:txBody>
      </p:sp>
      <p:sp>
        <p:nvSpPr>
          <p:cNvPr id="19" name="Responsibility title 2 ZH"/>
          <p:cNvSpPr txBox="1"/>
          <p:nvPr/>
        </p:nvSpPr>
        <p:spPr>
          <a:xfrm>
            <a:off x="804672" y="4737227"/>
            <a:ext cx="2889504" cy="293941"/>
          </a:xfrm>
          <a:prstGeom prst="rect">
            <a:avLst/>
          </a:prstGeom>
          <a:noFill/>
        </p:spPr>
        <p:txBody>
          <a:bodyPr wrap="none" lIns="0" tIns="12700" rIns="0" bIns="0" anchor="t">
            <a:noAutofit/>
          </a:bodyPr>
          <a:lstStyle/>
          <a:p>
            <a:pPr algn="l">
              <a:lnSpc>
                <a:spcPts val="1715"/>
              </a:lnSpc>
              <a:spcBef>
                <a:spcPts val="0"/>
              </a:spcBef>
              <a:spcAft>
                <a:spcPts val="0"/>
              </a:spcAft>
              <a:defRPr sz="1350" b="0">
                <a:solidFill>
                  <a:srgbClr val="5A7588"/>
                </a:solidFill>
                <a:latin typeface="Noto Sans CJK SC"/>
              </a:defRPr>
            </a:pPr>
            <a:r>
              <a:rPr lang="zh-CN" sz="1350" b="0">
                <a:solidFill>
                  <a:srgbClr val="5A7588"/>
                </a:solidFill>
                <a:latin typeface="Noto Sans CJK SC"/>
                <a:ea typeface="Noto Sans CJK SC"/>
                <a:cs typeface="Noto Sans CJK SC"/>
              </a:rPr>
              <a:t>OAuth 授权机制</a:t>
            </a:r>
            <a:endParaRPr lang="zh-CN" sz="1350" b="0">
              <a:solidFill>
                <a:srgbClr val="5A7588"/>
              </a:solidFill>
              <a:latin typeface="Noto Sans CJK SC"/>
              <a:ea typeface="Noto Sans CJK SC"/>
              <a:cs typeface="Noto Sans CJK SC"/>
            </a:endParaRPr>
          </a:p>
        </p:txBody>
      </p:sp>
      <p:cxnSp>
        <p:nvCxnSpPr>
          <p:cNvPr id="20" name="Responsibility divider 2"/>
          <p:cNvCxnSpPr/>
          <p:nvPr/>
        </p:nvCxnSpPr>
        <p:spPr>
          <a:xfrm>
            <a:off x="3922776" y="4224528"/>
            <a:ext cx="0" cy="786384"/>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21" name="Responsibility body 2 EN"/>
          <p:cNvSpPr txBox="1"/>
          <p:nvPr/>
        </p:nvSpPr>
        <p:spPr>
          <a:xfrm>
            <a:off x="4160520" y="4078224"/>
            <a:ext cx="7232904" cy="596798"/>
          </a:xfrm>
          <a:prstGeom prst="rect">
            <a:avLst/>
          </a:prstGeom>
          <a:noFill/>
        </p:spPr>
        <p:txBody>
          <a:bodyPr wrap="none" lIns="0" tIns="12700" rIns="0" bIns="0" anchor="t">
            <a:noAutofit/>
          </a:bodyPr>
          <a:lstStyle/>
          <a:p>
            <a:pPr algn="l">
              <a:lnSpc>
                <a:spcPts val="2050"/>
              </a:lnSpc>
              <a:spcBef>
                <a:spcPts val="0"/>
              </a:spcBef>
              <a:spcAft>
                <a:spcPts val="0"/>
              </a:spcAft>
              <a:defRPr sz="1680" b="0">
                <a:solidFill>
                  <a:srgbClr val="19384B"/>
                </a:solidFill>
                <a:latin typeface="Arial" panose="020B0704020202020204"/>
              </a:defRPr>
            </a:pPr>
            <a:r>
              <a:rPr lang="en-US" sz="1680" b="0">
                <a:solidFill>
                  <a:srgbClr val="19384B"/>
                </a:solidFill>
                <a:latin typeface="Arial" panose="020B0704020202020204"/>
                <a:ea typeface="Arial" panose="020B0704020202020204"/>
                <a:cs typeface="Arial" panose="020B0704020202020204"/>
              </a:rPr>
              <a:t>The AS and resource side evaluate access independently.</a:t>
            </a:r>
            <a:endParaRPr lang="en-US" sz="1680" b="0">
              <a:solidFill>
                <a:srgbClr val="19384B"/>
              </a:solidFill>
              <a:latin typeface="Arial" panose="020B0704020202020204"/>
              <a:ea typeface="Arial" panose="020B0704020202020204"/>
              <a:cs typeface="Arial" panose="020B0704020202020204"/>
            </a:endParaRPr>
          </a:p>
          <a:p>
            <a:pPr algn="l">
              <a:lnSpc>
                <a:spcPts val="2050"/>
              </a:lnSpc>
              <a:spcBef>
                <a:spcPts val="0"/>
              </a:spcBef>
              <a:spcAft>
                <a:spcPts val="0"/>
              </a:spcAft>
              <a:defRPr sz="1680" b="0">
                <a:solidFill>
                  <a:srgbClr val="19384B"/>
                </a:solidFill>
                <a:latin typeface="Arial" panose="020B0704020202020204"/>
              </a:defRPr>
            </a:pPr>
            <a:r>
              <a:rPr lang="en-US" sz="1680" b="0">
                <a:solidFill>
                  <a:srgbClr val="19384B"/>
                </a:solidFill>
                <a:latin typeface="Arial" panose="020B0704020202020204"/>
                <a:ea typeface="Arial" panose="020B0704020202020204"/>
                <a:cs typeface="Arial" panose="020B0704020202020204"/>
              </a:rPr>
              <a:t>Published metadata does not itself grant permission.</a:t>
            </a:r>
            <a:endParaRPr lang="en-US" sz="1680" b="0">
              <a:solidFill>
                <a:srgbClr val="19384B"/>
              </a:solidFill>
              <a:latin typeface="Arial" panose="020B0704020202020204"/>
              <a:ea typeface="Arial" panose="020B0704020202020204"/>
              <a:cs typeface="Arial" panose="020B0704020202020204"/>
            </a:endParaRPr>
          </a:p>
        </p:txBody>
      </p:sp>
      <p:sp>
        <p:nvSpPr>
          <p:cNvPr id="22" name="Responsibility body 2 ZH"/>
          <p:cNvSpPr txBox="1"/>
          <p:nvPr/>
        </p:nvSpPr>
        <p:spPr>
          <a:xfrm>
            <a:off x="4160520" y="4725314"/>
            <a:ext cx="7232904" cy="548640"/>
          </a:xfrm>
          <a:prstGeom prst="rect">
            <a:avLst/>
          </a:prstGeom>
          <a:noFill/>
        </p:spPr>
        <p:txBody>
          <a:bodyPr wrap="none" lIns="0" tIns="12700" rIns="0" bIns="0" anchor="t">
            <a:noAutofit/>
          </a:bodyPr>
          <a:lstStyle/>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授权服务器与资源方独立评估访问权限；</a:t>
            </a:r>
            <a:endParaRPr lang="zh-CN" sz="1240" b="0">
              <a:solidFill>
                <a:srgbClr val="5A7588"/>
              </a:solidFill>
              <a:latin typeface="Noto Sans CJK SC"/>
              <a:ea typeface="Noto Sans CJK SC"/>
              <a:cs typeface="Noto Sans CJK SC"/>
            </a:endParaRPr>
          </a:p>
          <a:p>
            <a:pPr algn="l">
              <a:lnSpc>
                <a:spcPts val="1860"/>
              </a:lnSpc>
              <a:spcBef>
                <a:spcPts val="0"/>
              </a:spcBef>
              <a:spcAft>
                <a:spcPts val="0"/>
              </a:spcAft>
              <a:defRPr sz="1240" b="0">
                <a:solidFill>
                  <a:srgbClr val="5A7588"/>
                </a:solidFill>
                <a:latin typeface="Noto Sans CJK SC"/>
              </a:defRPr>
            </a:pPr>
            <a:r>
              <a:rPr lang="zh-CN" sz="1240" b="0">
                <a:solidFill>
                  <a:srgbClr val="5A7588"/>
                </a:solidFill>
                <a:latin typeface="Noto Sans CJK SC"/>
                <a:ea typeface="Noto Sans CJK SC"/>
                <a:cs typeface="Noto Sans CJK SC"/>
              </a:rPr>
              <a:t>公开元数据本身不会授予权限。</a:t>
            </a:r>
            <a:endParaRPr lang="zh-CN" sz="1240" b="0">
              <a:solidFill>
                <a:srgbClr val="5A7588"/>
              </a:solidFill>
              <a:latin typeface="Noto Sans CJK SC"/>
              <a:ea typeface="Noto Sans CJK SC"/>
              <a:cs typeface="Noto Sans CJK SC"/>
            </a:endParaRPr>
          </a:p>
        </p:txBody>
      </p:sp>
      <p:sp>
        <p:nvSpPr>
          <p:cNvPr id="23"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4"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25" name="Key message EN"/>
          <p:cNvSpPr txBox="1"/>
          <p:nvPr/>
        </p:nvSpPr>
        <p:spPr>
          <a:xfrm>
            <a:off x="740664" y="5769864"/>
            <a:ext cx="10689336" cy="331851"/>
          </a:xfrm>
          <a:prstGeom prst="rect">
            <a:avLst/>
          </a:prstGeom>
          <a:noFill/>
        </p:spPr>
        <p:txBody>
          <a:bodyPr wrap="none" lIns="0" tIns="12700" rIns="0" bIns="0" anchor="t">
            <a:noAutofit/>
          </a:bodyPr>
          <a:lstStyle/>
          <a:p>
            <a:pPr algn="l">
              <a:lnSpc>
                <a:spcPts val="2015"/>
              </a:lnSpc>
              <a:spcBef>
                <a:spcPts val="0"/>
              </a:spcBef>
              <a:spcAft>
                <a:spcPts val="0"/>
              </a:spcAft>
              <a:defRPr sz="1650" b="1">
                <a:solidFill>
                  <a:srgbClr val="10334A"/>
                </a:solidFill>
                <a:latin typeface="Arial" panose="020B0704020202020204"/>
              </a:defRPr>
            </a:pPr>
            <a:r>
              <a:rPr lang="en-US" sz="1650" b="1">
                <a:solidFill>
                  <a:srgbClr val="10334A"/>
                </a:solidFill>
                <a:latin typeface="Arial" panose="020B0704020202020204"/>
                <a:ea typeface="Arial" panose="020B0704020202020204"/>
                <a:cs typeface="Arial" panose="020B0704020202020204"/>
              </a:rPr>
              <a:t>Keep identity and keys, client configuration, and access policy separate.</a:t>
            </a:r>
            <a:endParaRPr lang="en-US" sz="1650" b="1">
              <a:solidFill>
                <a:srgbClr val="10334A"/>
              </a:solidFill>
              <a:latin typeface="Arial" panose="020B0704020202020204"/>
              <a:ea typeface="Arial" panose="020B0704020202020204"/>
              <a:cs typeface="Arial" panose="020B0704020202020204"/>
            </a:endParaRPr>
          </a:p>
        </p:txBody>
      </p:sp>
      <p:sp>
        <p:nvSpPr>
          <p:cNvPr id="26" name="Key message ZH"/>
          <p:cNvSpPr txBox="1"/>
          <p:nvPr/>
        </p:nvSpPr>
        <p:spPr>
          <a:xfrm>
            <a:off x="740664" y="611543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将身份与密钥、客户端配置，以及资源访问策略分开处理。</a:t>
            </a:r>
            <a:endParaRPr lang="zh-CN" sz="1200" b="0">
              <a:solidFill>
                <a:srgbClr val="5A7588"/>
              </a:solidFill>
              <a:latin typeface="Noto Sans CJK SC"/>
              <a:ea typeface="Noto Sans CJK SC"/>
              <a:cs typeface="Noto Sans CJK SC"/>
            </a:endParaRPr>
          </a:p>
        </p:txBody>
      </p:sp>
      <p:sp>
        <p:nvSpPr>
          <p:cNvPr id="27"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28"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29"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06</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How the DID Document binds client metadata</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DID 文档如何绑定客户端元数据</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DID document panel"/>
          <p:cNvSpPr/>
          <p:nvPr/>
        </p:nvSpPr>
        <p:spPr>
          <a:xfrm>
            <a:off x="566928" y="1417320"/>
            <a:ext cx="4617720" cy="3877056"/>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Metadata document panel"/>
          <p:cNvSpPr/>
          <p:nvPr/>
        </p:nvSpPr>
        <p:spPr>
          <a:xfrm>
            <a:off x="7004304" y="1417320"/>
            <a:ext cx="4617720" cy="3877056"/>
          </a:xfrm>
          <a:prstGeom prst="roundRect">
            <a:avLst>
              <a:gd name="adj" fmla="val 6000"/>
            </a:avLst>
          </a:prstGeom>
          <a:solidFill>
            <a:srgbClr val="EDF3FD"/>
          </a:solidFill>
          <a:ln w="11430">
            <a:solidFill>
              <a:srgbClr val="2168D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7" name="DID document title EN"/>
          <p:cNvSpPr txBox="1"/>
          <p:nvPr/>
        </p:nvSpPr>
        <p:spPr>
          <a:xfrm>
            <a:off x="804672" y="1618488"/>
            <a:ext cx="4142232" cy="432562"/>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07888E"/>
                </a:solidFill>
                <a:latin typeface="Arial" panose="020B0704020202020204"/>
              </a:defRPr>
            </a:pPr>
            <a:r>
              <a:rPr lang="en-US" sz="2300" b="1">
                <a:solidFill>
                  <a:srgbClr val="07888E"/>
                </a:solidFill>
                <a:latin typeface="Arial" panose="020B0704020202020204"/>
                <a:ea typeface="Arial" panose="020B0704020202020204"/>
                <a:cs typeface="Arial" panose="020B0704020202020204"/>
              </a:rPr>
              <a:t>DID Document</a:t>
            </a:r>
            <a:endParaRPr lang="en-US" sz="2300" b="1">
              <a:solidFill>
                <a:srgbClr val="07888E"/>
              </a:solidFill>
              <a:latin typeface="Arial" panose="020B0704020202020204"/>
              <a:ea typeface="Arial" panose="020B0704020202020204"/>
              <a:cs typeface="Arial" panose="020B0704020202020204"/>
            </a:endParaRPr>
          </a:p>
        </p:txBody>
      </p:sp>
      <p:sp>
        <p:nvSpPr>
          <p:cNvPr id="8" name="DID document title ZH"/>
          <p:cNvSpPr txBox="1"/>
          <p:nvPr/>
        </p:nvSpPr>
        <p:spPr>
          <a:xfrm>
            <a:off x="804672" y="2096769"/>
            <a:ext cx="4142232" cy="302006"/>
          </a:xfrm>
          <a:prstGeom prst="rect">
            <a:avLst/>
          </a:prstGeom>
          <a:noFill/>
        </p:spPr>
        <p:txBody>
          <a:bodyPr wrap="none" lIns="0" tIns="12700" rIns="0" bIns="0" anchor="t">
            <a:noAutofit/>
          </a:bodyPr>
          <a:lstStyle/>
          <a:p>
            <a:pPr algn="l">
              <a:lnSpc>
                <a:spcPts val="1780"/>
              </a:lnSpc>
              <a:spcBef>
                <a:spcPts val="0"/>
              </a:spcBef>
              <a:spcAft>
                <a:spcPts val="0"/>
              </a:spcAft>
              <a:defRPr sz="1400" b="0">
                <a:solidFill>
                  <a:srgbClr val="5A7588"/>
                </a:solidFill>
                <a:latin typeface="Noto Sans CJK SC"/>
              </a:defRPr>
            </a:pPr>
            <a:r>
              <a:rPr lang="zh-CN" sz="1400" b="0">
                <a:solidFill>
                  <a:srgbClr val="5A7588"/>
                </a:solidFill>
                <a:latin typeface="Noto Sans CJK SC"/>
                <a:ea typeface="Noto Sans CJK SC"/>
                <a:cs typeface="Noto Sans CJK SC"/>
              </a:rPr>
              <a:t>DID 文档</a:t>
            </a:r>
            <a:endParaRPr lang="zh-CN" sz="1400" b="0">
              <a:solidFill>
                <a:srgbClr val="5A7588"/>
              </a:solidFill>
              <a:latin typeface="Noto Sans CJK SC"/>
              <a:ea typeface="Noto Sans CJK SC"/>
              <a:cs typeface="Noto Sans CJK SC"/>
            </a:endParaRPr>
          </a:p>
        </p:txBody>
      </p:sp>
      <p:sp>
        <p:nvSpPr>
          <p:cNvPr id="9" name="Metadata document title EN"/>
          <p:cNvSpPr txBox="1"/>
          <p:nvPr/>
        </p:nvSpPr>
        <p:spPr>
          <a:xfrm>
            <a:off x="7242048" y="1618488"/>
            <a:ext cx="4142232" cy="432562"/>
          </a:xfrm>
          <a:prstGeom prst="rect">
            <a:avLst/>
          </a:prstGeom>
          <a:noFill/>
        </p:spPr>
        <p:txBody>
          <a:bodyPr wrap="none" lIns="0" tIns="12700" rIns="0" bIns="0" anchor="t">
            <a:noAutofit/>
          </a:bodyPr>
          <a:lstStyle/>
          <a:p>
            <a:pPr algn="l">
              <a:lnSpc>
                <a:spcPts val="2805"/>
              </a:lnSpc>
              <a:spcBef>
                <a:spcPts val="0"/>
              </a:spcBef>
              <a:spcAft>
                <a:spcPts val="0"/>
              </a:spcAft>
              <a:defRPr sz="2300" b="1">
                <a:solidFill>
                  <a:srgbClr val="2168D5"/>
                </a:solidFill>
                <a:latin typeface="Arial" panose="020B0704020202020204"/>
              </a:defRPr>
            </a:pPr>
            <a:r>
              <a:rPr lang="en-US" sz="2300" b="1">
                <a:solidFill>
                  <a:srgbClr val="2168D5"/>
                </a:solidFill>
                <a:latin typeface="Arial" panose="020B0704020202020204"/>
                <a:ea typeface="Arial" panose="020B0704020202020204"/>
                <a:cs typeface="Arial" panose="020B0704020202020204"/>
              </a:rPr>
              <a:t>CIMD-style metadata</a:t>
            </a:r>
            <a:endParaRPr lang="en-US" sz="2300" b="1">
              <a:solidFill>
                <a:srgbClr val="2168D5"/>
              </a:solidFill>
              <a:latin typeface="Arial" panose="020B0704020202020204"/>
              <a:ea typeface="Arial" panose="020B0704020202020204"/>
              <a:cs typeface="Arial" panose="020B0704020202020204"/>
            </a:endParaRPr>
          </a:p>
        </p:txBody>
      </p:sp>
      <p:sp>
        <p:nvSpPr>
          <p:cNvPr id="10" name="Metadata document title ZH"/>
          <p:cNvSpPr txBox="1"/>
          <p:nvPr/>
        </p:nvSpPr>
        <p:spPr>
          <a:xfrm>
            <a:off x="7242048" y="2096769"/>
            <a:ext cx="4142232" cy="302006"/>
          </a:xfrm>
          <a:prstGeom prst="rect">
            <a:avLst/>
          </a:prstGeom>
          <a:noFill/>
        </p:spPr>
        <p:txBody>
          <a:bodyPr wrap="none" lIns="0" tIns="12700" rIns="0" bIns="0" anchor="t">
            <a:noAutofit/>
          </a:bodyPr>
          <a:lstStyle/>
          <a:p>
            <a:pPr algn="l">
              <a:lnSpc>
                <a:spcPts val="1780"/>
              </a:lnSpc>
              <a:spcBef>
                <a:spcPts val="0"/>
              </a:spcBef>
              <a:spcAft>
                <a:spcPts val="0"/>
              </a:spcAft>
              <a:defRPr sz="1400" b="0">
                <a:solidFill>
                  <a:srgbClr val="5A7588"/>
                </a:solidFill>
                <a:latin typeface="Noto Sans CJK SC"/>
              </a:defRPr>
            </a:pPr>
            <a:r>
              <a:rPr lang="zh-CN" sz="1400" b="0">
                <a:solidFill>
                  <a:srgbClr val="5A7588"/>
                </a:solidFill>
                <a:latin typeface="Noto Sans CJK SC"/>
                <a:ea typeface="Noto Sans CJK SC"/>
                <a:cs typeface="Noto Sans CJK SC"/>
              </a:rPr>
              <a:t>CIMD 风格客户端元数据</a:t>
            </a:r>
            <a:endParaRPr lang="zh-CN" sz="1400" b="0">
              <a:solidFill>
                <a:srgbClr val="5A7588"/>
              </a:solidFill>
              <a:latin typeface="Noto Sans CJK SC"/>
              <a:ea typeface="Noto Sans CJK SC"/>
              <a:cs typeface="Noto Sans CJK SC"/>
            </a:endParaRPr>
          </a:p>
        </p:txBody>
      </p:sp>
      <p:sp>
        <p:nvSpPr>
          <p:cNvPr id="11" name="DID field 0"/>
          <p:cNvSpPr txBox="1"/>
          <p:nvPr/>
        </p:nvSpPr>
        <p:spPr>
          <a:xfrm>
            <a:off x="813816" y="2459736"/>
            <a:ext cx="4123944" cy="308610"/>
          </a:xfrm>
          <a:prstGeom prst="rect">
            <a:avLst/>
          </a:prstGeom>
          <a:noFill/>
        </p:spPr>
        <p:txBody>
          <a:bodyPr wrap="none" lIns="0" tIns="12700" rIns="0" bIns="0" anchor="t">
            <a:noAutofit/>
          </a:bodyPr>
          <a:lstStyle/>
          <a:p>
            <a:pPr algn="l">
              <a:lnSpc>
                <a:spcPts val="1830"/>
              </a:lnSpc>
              <a:spcBef>
                <a:spcPts val="0"/>
              </a:spcBef>
              <a:spcAft>
                <a:spcPts val="0"/>
              </a:spcAft>
              <a:defRPr sz="1500" b="1">
                <a:solidFill>
                  <a:srgbClr val="07888E"/>
                </a:solidFill>
                <a:latin typeface="Courier New" panose="02070609020205020404"/>
              </a:defRPr>
            </a:pPr>
            <a:r>
              <a:rPr lang="en-US" sz="1500" b="1">
                <a:solidFill>
                  <a:srgbClr val="07888E"/>
                </a:solidFill>
                <a:latin typeface="Courier New" panose="02070609020205020404"/>
                <a:ea typeface="Courier New" panose="02070609020205020404"/>
                <a:cs typeface="Courier New" panose="02070609020205020404"/>
              </a:rPr>
              <a:t>authentication</a:t>
            </a:r>
            <a:endParaRPr lang="en-US" sz="1500" b="1">
              <a:solidFill>
                <a:srgbClr val="07888E"/>
              </a:solidFill>
              <a:latin typeface="Courier New" panose="02070609020205020404"/>
              <a:ea typeface="Courier New" panose="02070609020205020404"/>
              <a:cs typeface="Courier New" panose="02070609020205020404"/>
            </a:endParaRPr>
          </a:p>
        </p:txBody>
      </p:sp>
      <p:sp>
        <p:nvSpPr>
          <p:cNvPr id="12" name="DID field meaning 0 EN"/>
          <p:cNvSpPr txBox="1"/>
          <p:nvPr/>
        </p:nvSpPr>
        <p:spPr>
          <a:xfrm>
            <a:off x="813816" y="2788920"/>
            <a:ext cx="4123944" cy="300863"/>
          </a:xfrm>
          <a:prstGeom prst="rect">
            <a:avLst/>
          </a:prstGeom>
          <a:noFill/>
        </p:spPr>
        <p:txBody>
          <a:bodyPr wrap="none" lIns="0" tIns="12700" rIns="0" bIns="0" anchor="t">
            <a:noAutofit/>
          </a:bodyPr>
          <a:lstStyle/>
          <a:p>
            <a:pPr algn="l">
              <a:lnSpc>
                <a:spcPts val="1770"/>
              </a:lnSpc>
              <a:spcBef>
                <a:spcPts val="0"/>
              </a:spcBef>
              <a:spcAft>
                <a:spcPts val="0"/>
              </a:spcAft>
              <a:defRPr sz="1450" b="0">
                <a:solidFill>
                  <a:srgbClr val="19384B"/>
                </a:solidFill>
                <a:latin typeface="Arial" panose="020B0704020202020204"/>
              </a:defRPr>
            </a:pPr>
            <a:r>
              <a:rPr lang="en-US" sz="1450" b="0">
                <a:solidFill>
                  <a:srgbClr val="19384B"/>
                </a:solidFill>
                <a:latin typeface="Arial" panose="020B0704020202020204"/>
                <a:ea typeface="Arial" panose="020B0704020202020204"/>
                <a:cs typeface="Arial" panose="020B0704020202020204"/>
              </a:rPr>
              <a:t>Authorized client authentication keys</a:t>
            </a:r>
            <a:endParaRPr lang="en-US" sz="1450" b="0">
              <a:solidFill>
                <a:srgbClr val="19384B"/>
              </a:solidFill>
              <a:latin typeface="Arial" panose="020B0704020202020204"/>
              <a:ea typeface="Arial" panose="020B0704020202020204"/>
              <a:cs typeface="Arial" panose="020B0704020202020204"/>
            </a:endParaRPr>
          </a:p>
        </p:txBody>
      </p:sp>
      <p:sp>
        <p:nvSpPr>
          <p:cNvPr id="13" name="DID field meaning 0 ZH"/>
          <p:cNvSpPr txBox="1"/>
          <p:nvPr/>
        </p:nvSpPr>
        <p:spPr>
          <a:xfrm>
            <a:off x="813816" y="3108071"/>
            <a:ext cx="4123944" cy="261683"/>
          </a:xfrm>
          <a:prstGeom prst="rect">
            <a:avLst/>
          </a:prstGeom>
          <a:noFill/>
        </p:spPr>
        <p:txBody>
          <a:bodyPr wrap="none" lIns="0" tIns="12700" rIns="0" bIns="0" anchor="t">
            <a:noAutofit/>
          </a:bodyPr>
          <a:lstStyle/>
          <a:p>
            <a:pPr algn="l">
              <a:lnSpc>
                <a:spcPts val="1460"/>
              </a:lnSpc>
              <a:spcBef>
                <a:spcPts val="0"/>
              </a:spcBef>
              <a:spcAft>
                <a:spcPts val="0"/>
              </a:spcAft>
              <a:defRPr sz="1150" b="0">
                <a:solidFill>
                  <a:srgbClr val="5A7588"/>
                </a:solidFill>
                <a:latin typeface="Noto Sans CJK SC"/>
              </a:defRPr>
            </a:pPr>
            <a:r>
              <a:rPr lang="zh-CN" sz="1150" b="0">
                <a:solidFill>
                  <a:srgbClr val="5A7588"/>
                </a:solidFill>
                <a:latin typeface="Noto Sans CJK SC"/>
                <a:ea typeface="Noto Sans CJK SC"/>
                <a:cs typeface="Noto Sans CJK SC"/>
              </a:rPr>
              <a:t>已授权的客户端认证公钥</a:t>
            </a:r>
            <a:endParaRPr lang="zh-CN" sz="1150" b="0">
              <a:solidFill>
                <a:srgbClr val="5A7588"/>
              </a:solidFill>
              <a:latin typeface="Noto Sans CJK SC"/>
              <a:ea typeface="Noto Sans CJK SC"/>
              <a:cs typeface="Noto Sans CJK SC"/>
            </a:endParaRPr>
          </a:p>
        </p:txBody>
      </p:sp>
      <p:sp>
        <p:nvSpPr>
          <p:cNvPr id="14" name="DID field 1"/>
          <p:cNvSpPr txBox="1"/>
          <p:nvPr/>
        </p:nvSpPr>
        <p:spPr>
          <a:xfrm>
            <a:off x="813816" y="3401568"/>
            <a:ext cx="4123944" cy="308610"/>
          </a:xfrm>
          <a:prstGeom prst="rect">
            <a:avLst/>
          </a:prstGeom>
          <a:noFill/>
        </p:spPr>
        <p:txBody>
          <a:bodyPr wrap="none" lIns="0" tIns="12700" rIns="0" bIns="0" anchor="t">
            <a:noAutofit/>
          </a:bodyPr>
          <a:lstStyle/>
          <a:p>
            <a:pPr algn="l">
              <a:lnSpc>
                <a:spcPts val="1830"/>
              </a:lnSpc>
              <a:spcBef>
                <a:spcPts val="0"/>
              </a:spcBef>
              <a:spcAft>
                <a:spcPts val="0"/>
              </a:spcAft>
              <a:defRPr sz="1500" b="1">
                <a:solidFill>
                  <a:srgbClr val="07888E"/>
                </a:solidFill>
                <a:latin typeface="Courier New" panose="02070609020205020404"/>
              </a:defRPr>
            </a:pPr>
            <a:r>
              <a:rPr lang="en-US" sz="1500" b="1">
                <a:solidFill>
                  <a:srgbClr val="07888E"/>
                </a:solidFill>
                <a:latin typeface="Courier New" panose="02070609020205020404"/>
                <a:ea typeface="Courier New" panose="02070609020205020404"/>
                <a:cs typeface="Courier New" panose="02070609020205020404"/>
              </a:rPr>
              <a:t>serviceEndpoint</a:t>
            </a:r>
            <a:endParaRPr lang="en-US" sz="1500" b="1">
              <a:solidFill>
                <a:srgbClr val="07888E"/>
              </a:solidFill>
              <a:latin typeface="Courier New" panose="02070609020205020404"/>
              <a:ea typeface="Courier New" panose="02070609020205020404"/>
              <a:cs typeface="Courier New" panose="02070609020205020404"/>
            </a:endParaRPr>
          </a:p>
        </p:txBody>
      </p:sp>
      <p:sp>
        <p:nvSpPr>
          <p:cNvPr id="15" name="DID field meaning 1 EN"/>
          <p:cNvSpPr txBox="1"/>
          <p:nvPr/>
        </p:nvSpPr>
        <p:spPr>
          <a:xfrm>
            <a:off x="813816" y="3730752"/>
            <a:ext cx="4123944" cy="300863"/>
          </a:xfrm>
          <a:prstGeom prst="rect">
            <a:avLst/>
          </a:prstGeom>
          <a:noFill/>
        </p:spPr>
        <p:txBody>
          <a:bodyPr wrap="none" lIns="0" tIns="12700" rIns="0" bIns="0" anchor="t">
            <a:noAutofit/>
          </a:bodyPr>
          <a:lstStyle/>
          <a:p>
            <a:pPr algn="l">
              <a:lnSpc>
                <a:spcPts val="1770"/>
              </a:lnSpc>
              <a:spcBef>
                <a:spcPts val="0"/>
              </a:spcBef>
              <a:spcAft>
                <a:spcPts val="0"/>
              </a:spcAft>
              <a:defRPr sz="1450" b="0">
                <a:solidFill>
                  <a:srgbClr val="19384B"/>
                </a:solidFill>
                <a:latin typeface="Arial" panose="020B0704020202020204"/>
              </a:defRPr>
            </a:pPr>
            <a:r>
              <a:rPr lang="en-US" sz="1450" b="0">
                <a:solidFill>
                  <a:srgbClr val="19384B"/>
                </a:solidFill>
                <a:latin typeface="Arial" panose="020B0704020202020204"/>
                <a:ea typeface="Arial" panose="020B0704020202020204"/>
                <a:cs typeface="Arial" panose="020B0704020202020204"/>
              </a:rPr>
              <a:t>URL of the client metadata document</a:t>
            </a:r>
            <a:endParaRPr lang="en-US" sz="1450" b="0">
              <a:solidFill>
                <a:srgbClr val="19384B"/>
              </a:solidFill>
              <a:latin typeface="Arial" panose="020B0704020202020204"/>
              <a:ea typeface="Arial" panose="020B0704020202020204"/>
              <a:cs typeface="Arial" panose="020B0704020202020204"/>
            </a:endParaRPr>
          </a:p>
        </p:txBody>
      </p:sp>
      <p:sp>
        <p:nvSpPr>
          <p:cNvPr id="16" name="DID field meaning 1 ZH"/>
          <p:cNvSpPr txBox="1"/>
          <p:nvPr/>
        </p:nvSpPr>
        <p:spPr>
          <a:xfrm>
            <a:off x="813816" y="4049903"/>
            <a:ext cx="4123944" cy="261683"/>
          </a:xfrm>
          <a:prstGeom prst="rect">
            <a:avLst/>
          </a:prstGeom>
          <a:noFill/>
        </p:spPr>
        <p:txBody>
          <a:bodyPr wrap="none" lIns="0" tIns="12700" rIns="0" bIns="0" anchor="t">
            <a:noAutofit/>
          </a:bodyPr>
          <a:lstStyle/>
          <a:p>
            <a:pPr algn="l">
              <a:lnSpc>
                <a:spcPts val="1460"/>
              </a:lnSpc>
              <a:spcBef>
                <a:spcPts val="0"/>
              </a:spcBef>
              <a:spcAft>
                <a:spcPts val="0"/>
              </a:spcAft>
              <a:defRPr sz="1150" b="0">
                <a:solidFill>
                  <a:srgbClr val="5A7588"/>
                </a:solidFill>
                <a:latin typeface="Noto Sans CJK SC"/>
              </a:defRPr>
            </a:pPr>
            <a:r>
              <a:rPr lang="zh-CN" sz="1150" b="0">
                <a:solidFill>
                  <a:srgbClr val="5A7588"/>
                </a:solidFill>
                <a:latin typeface="Noto Sans CJK SC"/>
                <a:ea typeface="Noto Sans CJK SC"/>
                <a:cs typeface="Noto Sans CJK SC"/>
              </a:rPr>
              <a:t>客户端元数据文档的 URL</a:t>
            </a:r>
            <a:endParaRPr lang="zh-CN" sz="1150" b="0">
              <a:solidFill>
                <a:srgbClr val="5A7588"/>
              </a:solidFill>
              <a:latin typeface="Noto Sans CJK SC"/>
              <a:ea typeface="Noto Sans CJK SC"/>
              <a:cs typeface="Noto Sans CJK SC"/>
            </a:endParaRPr>
          </a:p>
        </p:txBody>
      </p:sp>
      <p:sp>
        <p:nvSpPr>
          <p:cNvPr id="17" name="DID field 2"/>
          <p:cNvSpPr txBox="1"/>
          <p:nvPr/>
        </p:nvSpPr>
        <p:spPr>
          <a:xfrm>
            <a:off x="813816" y="4343400"/>
            <a:ext cx="4123944" cy="308610"/>
          </a:xfrm>
          <a:prstGeom prst="rect">
            <a:avLst/>
          </a:prstGeom>
          <a:noFill/>
        </p:spPr>
        <p:txBody>
          <a:bodyPr wrap="none" lIns="0" tIns="12700" rIns="0" bIns="0" anchor="t">
            <a:noAutofit/>
          </a:bodyPr>
          <a:lstStyle/>
          <a:p>
            <a:pPr algn="l">
              <a:lnSpc>
                <a:spcPts val="1830"/>
              </a:lnSpc>
              <a:spcBef>
                <a:spcPts val="0"/>
              </a:spcBef>
              <a:spcAft>
                <a:spcPts val="0"/>
              </a:spcAft>
              <a:defRPr sz="1500" b="1">
                <a:solidFill>
                  <a:srgbClr val="07888E"/>
                </a:solidFill>
                <a:latin typeface="Courier New" panose="02070609020205020404"/>
              </a:defRPr>
            </a:pPr>
            <a:r>
              <a:rPr lang="en-US" sz="1500" b="1">
                <a:solidFill>
                  <a:srgbClr val="07888E"/>
                </a:solidFill>
                <a:latin typeface="Courier New" panose="02070609020205020404"/>
                <a:ea typeface="Courier New" panose="02070609020205020404"/>
                <a:cs typeface="Courier New" panose="02070609020205020404"/>
              </a:rPr>
              <a:t>anp_metadata_sha256</a:t>
            </a:r>
            <a:endParaRPr lang="en-US" sz="1500" b="1">
              <a:solidFill>
                <a:srgbClr val="07888E"/>
              </a:solidFill>
              <a:latin typeface="Courier New" panose="02070609020205020404"/>
              <a:ea typeface="Courier New" panose="02070609020205020404"/>
              <a:cs typeface="Courier New" panose="02070609020205020404"/>
            </a:endParaRPr>
          </a:p>
        </p:txBody>
      </p:sp>
      <p:sp>
        <p:nvSpPr>
          <p:cNvPr id="18" name="DID field meaning 2 EN"/>
          <p:cNvSpPr txBox="1"/>
          <p:nvPr/>
        </p:nvSpPr>
        <p:spPr>
          <a:xfrm>
            <a:off x="813816" y="4672584"/>
            <a:ext cx="4123944" cy="300863"/>
          </a:xfrm>
          <a:prstGeom prst="rect">
            <a:avLst/>
          </a:prstGeom>
          <a:noFill/>
        </p:spPr>
        <p:txBody>
          <a:bodyPr wrap="none" lIns="0" tIns="12700" rIns="0" bIns="0" anchor="t">
            <a:noAutofit/>
          </a:bodyPr>
          <a:lstStyle/>
          <a:p>
            <a:pPr algn="l">
              <a:lnSpc>
                <a:spcPts val="1770"/>
              </a:lnSpc>
              <a:spcBef>
                <a:spcPts val="0"/>
              </a:spcBef>
              <a:spcAft>
                <a:spcPts val="0"/>
              </a:spcAft>
              <a:defRPr sz="1450" b="0">
                <a:solidFill>
                  <a:srgbClr val="19384B"/>
                </a:solidFill>
                <a:latin typeface="Arial" panose="020B0704020202020204"/>
              </a:defRPr>
            </a:pPr>
            <a:r>
              <a:rPr lang="en-US" sz="1450" b="0">
                <a:solidFill>
                  <a:srgbClr val="19384B"/>
                </a:solidFill>
                <a:latin typeface="Arial" panose="020B0704020202020204"/>
                <a:ea typeface="Arial" panose="020B0704020202020204"/>
                <a:cs typeface="Arial" panose="020B0704020202020204"/>
              </a:rPr>
              <a:t>Digest of the exact metadata bytes</a:t>
            </a:r>
            <a:endParaRPr lang="en-US" sz="1450" b="0">
              <a:solidFill>
                <a:srgbClr val="19384B"/>
              </a:solidFill>
              <a:latin typeface="Arial" panose="020B0704020202020204"/>
              <a:ea typeface="Arial" panose="020B0704020202020204"/>
              <a:cs typeface="Arial" panose="020B0704020202020204"/>
            </a:endParaRPr>
          </a:p>
        </p:txBody>
      </p:sp>
      <p:sp>
        <p:nvSpPr>
          <p:cNvPr id="19" name="DID field meaning 2 ZH"/>
          <p:cNvSpPr txBox="1"/>
          <p:nvPr/>
        </p:nvSpPr>
        <p:spPr>
          <a:xfrm>
            <a:off x="813816" y="4991735"/>
            <a:ext cx="4123944" cy="261683"/>
          </a:xfrm>
          <a:prstGeom prst="rect">
            <a:avLst/>
          </a:prstGeom>
          <a:noFill/>
        </p:spPr>
        <p:txBody>
          <a:bodyPr wrap="none" lIns="0" tIns="12700" rIns="0" bIns="0" anchor="t">
            <a:noAutofit/>
          </a:bodyPr>
          <a:lstStyle/>
          <a:p>
            <a:pPr algn="l">
              <a:lnSpc>
                <a:spcPts val="1460"/>
              </a:lnSpc>
              <a:spcBef>
                <a:spcPts val="0"/>
              </a:spcBef>
              <a:spcAft>
                <a:spcPts val="0"/>
              </a:spcAft>
              <a:defRPr sz="1150" b="0">
                <a:solidFill>
                  <a:srgbClr val="5A7588"/>
                </a:solidFill>
                <a:latin typeface="Noto Sans CJK SC"/>
              </a:defRPr>
            </a:pPr>
            <a:r>
              <a:rPr lang="zh-CN" sz="1150" b="0">
                <a:solidFill>
                  <a:srgbClr val="5A7588"/>
                </a:solidFill>
                <a:latin typeface="Noto Sans CJK SC"/>
                <a:ea typeface="Noto Sans CJK SC"/>
                <a:cs typeface="Noto Sans CJK SC"/>
              </a:rPr>
              <a:t>元数据精确字节内容的摘要</a:t>
            </a:r>
            <a:endParaRPr lang="zh-CN" sz="1150" b="0">
              <a:solidFill>
                <a:srgbClr val="5A7588"/>
              </a:solidFill>
              <a:latin typeface="Noto Sans CJK SC"/>
              <a:ea typeface="Noto Sans CJK SC"/>
              <a:cs typeface="Noto Sans CJK SC"/>
            </a:endParaRPr>
          </a:p>
        </p:txBody>
      </p:sp>
      <p:sp>
        <p:nvSpPr>
          <p:cNvPr id="20" name="Metadata field 0"/>
          <p:cNvSpPr txBox="1"/>
          <p:nvPr/>
        </p:nvSpPr>
        <p:spPr>
          <a:xfrm>
            <a:off x="7251192" y="2551176"/>
            <a:ext cx="1783080" cy="263677"/>
          </a:xfrm>
          <a:prstGeom prst="rect">
            <a:avLst/>
          </a:prstGeom>
          <a:noFill/>
        </p:spPr>
        <p:txBody>
          <a:bodyPr wrap="none" lIns="0" tIns="12700" rIns="0" bIns="0" anchor="t">
            <a:noAutofit/>
          </a:bodyPr>
          <a:lstStyle/>
          <a:p>
            <a:pPr algn="l">
              <a:lnSpc>
                <a:spcPts val="1475"/>
              </a:lnSpc>
              <a:spcBef>
                <a:spcPts val="0"/>
              </a:spcBef>
              <a:spcAft>
                <a:spcPts val="0"/>
              </a:spcAft>
              <a:defRPr sz="1210" b="1">
                <a:solidFill>
                  <a:srgbClr val="2168D5"/>
                </a:solidFill>
                <a:latin typeface="Courier New" panose="02070609020205020404"/>
              </a:defRPr>
            </a:pPr>
            <a:r>
              <a:rPr lang="en-US" sz="1210" b="1">
                <a:solidFill>
                  <a:srgbClr val="2168D5"/>
                </a:solidFill>
                <a:latin typeface="Courier New" panose="02070609020205020404"/>
                <a:ea typeface="Courier New" panose="02070609020205020404"/>
                <a:cs typeface="Courier New" panose="02070609020205020404"/>
              </a:rPr>
              <a:t>client_id</a:t>
            </a:r>
            <a:endParaRPr lang="en-US" sz="1210" b="1">
              <a:solidFill>
                <a:srgbClr val="2168D5"/>
              </a:solidFill>
              <a:latin typeface="Courier New" panose="02070609020205020404"/>
              <a:ea typeface="Courier New" panose="02070609020205020404"/>
              <a:cs typeface="Courier New" panose="02070609020205020404"/>
            </a:endParaRPr>
          </a:p>
        </p:txBody>
      </p:sp>
      <p:sp>
        <p:nvSpPr>
          <p:cNvPr id="21" name="Metadata field meaning 0 EN"/>
          <p:cNvSpPr txBox="1"/>
          <p:nvPr/>
        </p:nvSpPr>
        <p:spPr>
          <a:xfrm>
            <a:off x="9162288" y="2496312"/>
            <a:ext cx="2212848" cy="280720"/>
          </a:xfrm>
          <a:prstGeom prst="rect">
            <a:avLst/>
          </a:prstGeom>
          <a:noFill/>
        </p:spPr>
        <p:txBody>
          <a:bodyPr wrap="none" lIns="0" tIns="12700" rIns="0" bIns="0" anchor="t">
            <a:noAutofit/>
          </a:bodyPr>
          <a:lstStyle/>
          <a:p>
            <a:pPr algn="l">
              <a:lnSpc>
                <a:spcPts val="1610"/>
              </a:lnSpc>
              <a:spcBef>
                <a:spcPts val="0"/>
              </a:spcBef>
              <a:spcAft>
                <a:spcPts val="0"/>
              </a:spcAft>
              <a:defRPr sz="1320" b="0">
                <a:solidFill>
                  <a:srgbClr val="19384B"/>
                </a:solidFill>
                <a:latin typeface="Arial" panose="020B0704020202020204"/>
              </a:defRPr>
            </a:pPr>
            <a:r>
              <a:rPr lang="en-US" sz="1320" b="0">
                <a:solidFill>
                  <a:srgbClr val="19384B"/>
                </a:solidFill>
                <a:latin typeface="Arial" panose="020B0704020202020204"/>
                <a:ea typeface="Arial" panose="020B0704020202020204"/>
                <a:cs typeface="Arial" panose="020B0704020202020204"/>
              </a:rPr>
              <a:t>The same Agent DID</a:t>
            </a:r>
            <a:endParaRPr lang="en-US" sz="1320" b="0">
              <a:solidFill>
                <a:srgbClr val="19384B"/>
              </a:solidFill>
              <a:latin typeface="Arial" panose="020B0704020202020204"/>
              <a:ea typeface="Arial" panose="020B0704020202020204"/>
              <a:cs typeface="Arial" panose="020B0704020202020204"/>
            </a:endParaRPr>
          </a:p>
        </p:txBody>
      </p:sp>
      <p:sp>
        <p:nvSpPr>
          <p:cNvPr id="22" name="Metadata field meaning 0 ZH"/>
          <p:cNvSpPr txBox="1"/>
          <p:nvPr/>
        </p:nvSpPr>
        <p:spPr>
          <a:xfrm>
            <a:off x="9162288" y="2799892"/>
            <a:ext cx="221284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相同的 Agent DID</a:t>
            </a:r>
            <a:endParaRPr lang="zh-CN" sz="1120" b="0">
              <a:solidFill>
                <a:srgbClr val="5A7588"/>
              </a:solidFill>
              <a:latin typeface="Noto Sans CJK SC"/>
              <a:ea typeface="Noto Sans CJK SC"/>
              <a:cs typeface="Noto Sans CJK SC"/>
            </a:endParaRPr>
          </a:p>
        </p:txBody>
      </p:sp>
      <p:sp>
        <p:nvSpPr>
          <p:cNvPr id="23" name="Metadata field 1"/>
          <p:cNvSpPr txBox="1"/>
          <p:nvPr/>
        </p:nvSpPr>
        <p:spPr>
          <a:xfrm>
            <a:off x="7251192" y="3246120"/>
            <a:ext cx="1783080" cy="263677"/>
          </a:xfrm>
          <a:prstGeom prst="rect">
            <a:avLst/>
          </a:prstGeom>
          <a:noFill/>
        </p:spPr>
        <p:txBody>
          <a:bodyPr wrap="none" lIns="0" tIns="12700" rIns="0" bIns="0" anchor="t">
            <a:noAutofit/>
          </a:bodyPr>
          <a:lstStyle/>
          <a:p>
            <a:pPr algn="l">
              <a:lnSpc>
                <a:spcPts val="1475"/>
              </a:lnSpc>
              <a:spcBef>
                <a:spcPts val="0"/>
              </a:spcBef>
              <a:spcAft>
                <a:spcPts val="0"/>
              </a:spcAft>
              <a:defRPr sz="1210" b="1">
                <a:solidFill>
                  <a:srgbClr val="2168D5"/>
                </a:solidFill>
                <a:latin typeface="Courier New" panose="02070609020205020404"/>
              </a:defRPr>
            </a:pPr>
            <a:r>
              <a:rPr lang="en-US" sz="1210" b="1">
                <a:solidFill>
                  <a:srgbClr val="2168D5"/>
                </a:solidFill>
                <a:latin typeface="Courier New" panose="02070609020205020404"/>
                <a:ea typeface="Courier New" panose="02070609020205020404"/>
                <a:cs typeface="Courier New" panose="02070609020205020404"/>
              </a:rPr>
              <a:t>redirect_uris</a:t>
            </a:r>
            <a:endParaRPr lang="en-US" sz="1210" b="1">
              <a:solidFill>
                <a:srgbClr val="2168D5"/>
              </a:solidFill>
              <a:latin typeface="Courier New" panose="02070609020205020404"/>
              <a:ea typeface="Courier New" panose="02070609020205020404"/>
              <a:cs typeface="Courier New" panose="02070609020205020404"/>
            </a:endParaRPr>
          </a:p>
        </p:txBody>
      </p:sp>
      <p:sp>
        <p:nvSpPr>
          <p:cNvPr id="24" name="Metadata field meaning 1 EN"/>
          <p:cNvSpPr txBox="1"/>
          <p:nvPr/>
        </p:nvSpPr>
        <p:spPr>
          <a:xfrm>
            <a:off x="9162288" y="3191256"/>
            <a:ext cx="2212848" cy="280720"/>
          </a:xfrm>
          <a:prstGeom prst="rect">
            <a:avLst/>
          </a:prstGeom>
          <a:noFill/>
        </p:spPr>
        <p:txBody>
          <a:bodyPr wrap="none" lIns="0" tIns="12700" rIns="0" bIns="0" anchor="t">
            <a:noAutofit/>
          </a:bodyPr>
          <a:lstStyle/>
          <a:p>
            <a:pPr algn="l">
              <a:lnSpc>
                <a:spcPts val="1610"/>
              </a:lnSpc>
              <a:spcBef>
                <a:spcPts val="0"/>
              </a:spcBef>
              <a:spcAft>
                <a:spcPts val="0"/>
              </a:spcAft>
              <a:defRPr sz="1320" b="0">
                <a:solidFill>
                  <a:srgbClr val="19384B"/>
                </a:solidFill>
                <a:latin typeface="Arial" panose="020B0704020202020204"/>
              </a:defRPr>
            </a:pPr>
            <a:r>
              <a:rPr lang="en-US" sz="1320" b="0">
                <a:solidFill>
                  <a:srgbClr val="19384B"/>
                </a:solidFill>
                <a:latin typeface="Arial" panose="020B0704020202020204"/>
                <a:ea typeface="Arial" panose="020B0704020202020204"/>
                <a:cs typeface="Arial" panose="020B0704020202020204"/>
              </a:rPr>
              <a:t>Callbacks for AS review</a:t>
            </a:r>
            <a:endParaRPr lang="en-US" sz="1320" b="0">
              <a:solidFill>
                <a:srgbClr val="19384B"/>
              </a:solidFill>
              <a:latin typeface="Arial" panose="020B0704020202020204"/>
              <a:ea typeface="Arial" panose="020B0704020202020204"/>
              <a:cs typeface="Arial" panose="020B0704020202020204"/>
            </a:endParaRPr>
          </a:p>
        </p:txBody>
      </p:sp>
      <p:sp>
        <p:nvSpPr>
          <p:cNvPr id="25" name="Metadata field meaning 1 ZH"/>
          <p:cNvSpPr txBox="1"/>
          <p:nvPr/>
        </p:nvSpPr>
        <p:spPr>
          <a:xfrm>
            <a:off x="9162288" y="3494836"/>
            <a:ext cx="221284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供 AS 审查的回调地址</a:t>
            </a:r>
            <a:endParaRPr lang="zh-CN" sz="1120" b="0">
              <a:solidFill>
                <a:srgbClr val="5A7588"/>
              </a:solidFill>
              <a:latin typeface="Noto Sans CJK SC"/>
              <a:ea typeface="Noto Sans CJK SC"/>
              <a:cs typeface="Noto Sans CJK SC"/>
            </a:endParaRPr>
          </a:p>
        </p:txBody>
      </p:sp>
      <p:sp>
        <p:nvSpPr>
          <p:cNvPr id="26" name="Metadata field 2"/>
          <p:cNvSpPr txBox="1"/>
          <p:nvPr/>
        </p:nvSpPr>
        <p:spPr>
          <a:xfrm>
            <a:off x="7251192" y="3941063"/>
            <a:ext cx="1783080" cy="263677"/>
          </a:xfrm>
          <a:prstGeom prst="rect">
            <a:avLst/>
          </a:prstGeom>
          <a:noFill/>
        </p:spPr>
        <p:txBody>
          <a:bodyPr wrap="none" lIns="0" tIns="12700" rIns="0" bIns="0" anchor="t">
            <a:noAutofit/>
          </a:bodyPr>
          <a:lstStyle/>
          <a:p>
            <a:pPr algn="l">
              <a:lnSpc>
                <a:spcPts val="1475"/>
              </a:lnSpc>
              <a:spcBef>
                <a:spcPts val="0"/>
              </a:spcBef>
              <a:spcAft>
                <a:spcPts val="0"/>
              </a:spcAft>
              <a:defRPr sz="1210" b="1">
                <a:solidFill>
                  <a:srgbClr val="2168D5"/>
                </a:solidFill>
                <a:latin typeface="Courier New" panose="02070609020205020404"/>
              </a:defRPr>
            </a:pPr>
            <a:r>
              <a:rPr lang="en-US" sz="1210" b="1">
                <a:solidFill>
                  <a:srgbClr val="2168D5"/>
                </a:solidFill>
                <a:latin typeface="Courier New" panose="02070609020205020404"/>
                <a:ea typeface="Courier New" panose="02070609020205020404"/>
                <a:cs typeface="Courier New" panose="02070609020205020404"/>
              </a:rPr>
              <a:t>grant_types</a:t>
            </a:r>
            <a:endParaRPr lang="en-US" sz="1210" b="1">
              <a:solidFill>
                <a:srgbClr val="2168D5"/>
              </a:solidFill>
              <a:latin typeface="Courier New" panose="02070609020205020404"/>
              <a:ea typeface="Courier New" panose="02070609020205020404"/>
              <a:cs typeface="Courier New" panose="02070609020205020404"/>
            </a:endParaRPr>
          </a:p>
        </p:txBody>
      </p:sp>
      <p:sp>
        <p:nvSpPr>
          <p:cNvPr id="27" name="Metadata field meaning 2 EN"/>
          <p:cNvSpPr txBox="1"/>
          <p:nvPr/>
        </p:nvSpPr>
        <p:spPr>
          <a:xfrm>
            <a:off x="9162288" y="3886200"/>
            <a:ext cx="2212848" cy="280720"/>
          </a:xfrm>
          <a:prstGeom prst="rect">
            <a:avLst/>
          </a:prstGeom>
          <a:noFill/>
        </p:spPr>
        <p:txBody>
          <a:bodyPr wrap="none" lIns="0" tIns="12700" rIns="0" bIns="0" anchor="t">
            <a:noAutofit/>
          </a:bodyPr>
          <a:lstStyle/>
          <a:p>
            <a:pPr algn="l">
              <a:lnSpc>
                <a:spcPts val="1610"/>
              </a:lnSpc>
              <a:spcBef>
                <a:spcPts val="0"/>
              </a:spcBef>
              <a:spcAft>
                <a:spcPts val="0"/>
              </a:spcAft>
              <a:defRPr sz="1320" b="0">
                <a:solidFill>
                  <a:srgbClr val="19384B"/>
                </a:solidFill>
                <a:latin typeface="Arial" panose="020B0704020202020204"/>
              </a:defRPr>
            </a:pPr>
            <a:r>
              <a:rPr lang="en-US" sz="1320" b="0">
                <a:solidFill>
                  <a:srgbClr val="19384B"/>
                </a:solidFill>
                <a:latin typeface="Arial" panose="020B0704020202020204"/>
                <a:ea typeface="Arial" panose="020B0704020202020204"/>
                <a:cs typeface="Arial" panose="020B0704020202020204"/>
              </a:rPr>
              <a:t>Requested grants</a:t>
            </a:r>
            <a:endParaRPr lang="en-US" sz="1320" b="0">
              <a:solidFill>
                <a:srgbClr val="19384B"/>
              </a:solidFill>
              <a:latin typeface="Arial" panose="020B0704020202020204"/>
              <a:ea typeface="Arial" panose="020B0704020202020204"/>
              <a:cs typeface="Arial" panose="020B0704020202020204"/>
            </a:endParaRPr>
          </a:p>
        </p:txBody>
      </p:sp>
      <p:sp>
        <p:nvSpPr>
          <p:cNvPr id="28" name="Metadata field meaning 2 ZH"/>
          <p:cNvSpPr txBox="1"/>
          <p:nvPr/>
        </p:nvSpPr>
        <p:spPr>
          <a:xfrm>
            <a:off x="9162288" y="4189780"/>
            <a:ext cx="221284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请求使用的授权类型</a:t>
            </a:r>
            <a:endParaRPr lang="zh-CN" sz="1120" b="0">
              <a:solidFill>
                <a:srgbClr val="5A7588"/>
              </a:solidFill>
              <a:latin typeface="Noto Sans CJK SC"/>
              <a:ea typeface="Noto Sans CJK SC"/>
              <a:cs typeface="Noto Sans CJK SC"/>
            </a:endParaRPr>
          </a:p>
        </p:txBody>
      </p:sp>
      <p:sp>
        <p:nvSpPr>
          <p:cNvPr id="29" name="Metadata field 3"/>
          <p:cNvSpPr txBox="1"/>
          <p:nvPr/>
        </p:nvSpPr>
        <p:spPr>
          <a:xfrm>
            <a:off x="7251192" y="4636007"/>
            <a:ext cx="1783080" cy="451154"/>
          </a:xfrm>
          <a:prstGeom prst="rect">
            <a:avLst/>
          </a:prstGeom>
          <a:noFill/>
        </p:spPr>
        <p:txBody>
          <a:bodyPr wrap="none" lIns="0" tIns="12700" rIns="0" bIns="0" anchor="t">
            <a:noAutofit/>
          </a:bodyPr>
          <a:lstStyle/>
          <a:p>
            <a:pPr algn="l">
              <a:lnSpc>
                <a:spcPts val="1475"/>
              </a:lnSpc>
              <a:spcBef>
                <a:spcPts val="0"/>
              </a:spcBef>
              <a:spcAft>
                <a:spcPts val="0"/>
              </a:spcAft>
              <a:defRPr sz="1210" b="1">
                <a:solidFill>
                  <a:srgbClr val="2168D5"/>
                </a:solidFill>
                <a:latin typeface="Courier New" panose="02070609020205020404"/>
              </a:defRPr>
            </a:pPr>
            <a:r>
              <a:rPr lang="en-US" sz="1210" b="1">
                <a:solidFill>
                  <a:srgbClr val="2168D5"/>
                </a:solidFill>
                <a:latin typeface="Courier New" panose="02070609020205020404"/>
                <a:ea typeface="Courier New" panose="02070609020205020404"/>
                <a:cs typeface="Courier New" panose="02070609020205020404"/>
              </a:rPr>
              <a:t>token_endpoint_</a:t>
            </a:r>
            <a:endParaRPr lang="en-US" sz="1210" b="1">
              <a:solidFill>
                <a:srgbClr val="2168D5"/>
              </a:solidFill>
              <a:latin typeface="Courier New" panose="02070609020205020404"/>
              <a:ea typeface="Courier New" panose="02070609020205020404"/>
              <a:cs typeface="Courier New" panose="02070609020205020404"/>
            </a:endParaRPr>
          </a:p>
          <a:p>
            <a:pPr algn="l">
              <a:lnSpc>
                <a:spcPts val="1475"/>
              </a:lnSpc>
              <a:spcBef>
                <a:spcPts val="0"/>
              </a:spcBef>
              <a:spcAft>
                <a:spcPts val="0"/>
              </a:spcAft>
              <a:defRPr sz="1210" b="1">
                <a:solidFill>
                  <a:srgbClr val="2168D5"/>
                </a:solidFill>
                <a:latin typeface="Courier New" panose="02070609020205020404"/>
              </a:defRPr>
            </a:pPr>
            <a:r>
              <a:rPr lang="en-US" sz="1210" b="1">
                <a:solidFill>
                  <a:srgbClr val="2168D5"/>
                </a:solidFill>
                <a:latin typeface="Courier New" panose="02070609020205020404"/>
                <a:ea typeface="Courier New" panose="02070609020205020404"/>
                <a:cs typeface="Courier New" panose="02070609020205020404"/>
              </a:rPr>
              <a:t>auth_method</a:t>
            </a:r>
            <a:endParaRPr lang="en-US" sz="1210" b="1">
              <a:solidFill>
                <a:srgbClr val="2168D5"/>
              </a:solidFill>
              <a:latin typeface="Courier New" panose="02070609020205020404"/>
              <a:ea typeface="Courier New" panose="02070609020205020404"/>
              <a:cs typeface="Courier New" panose="02070609020205020404"/>
            </a:endParaRPr>
          </a:p>
        </p:txBody>
      </p:sp>
      <p:sp>
        <p:nvSpPr>
          <p:cNvPr id="30" name="Metadata field meaning 3 EN"/>
          <p:cNvSpPr txBox="1"/>
          <p:nvPr/>
        </p:nvSpPr>
        <p:spPr>
          <a:xfrm>
            <a:off x="9162288" y="4581144"/>
            <a:ext cx="2212848" cy="280720"/>
          </a:xfrm>
          <a:prstGeom prst="rect">
            <a:avLst/>
          </a:prstGeom>
          <a:noFill/>
        </p:spPr>
        <p:txBody>
          <a:bodyPr wrap="none" lIns="0" tIns="12700" rIns="0" bIns="0" anchor="t">
            <a:noAutofit/>
          </a:bodyPr>
          <a:lstStyle/>
          <a:p>
            <a:pPr algn="l">
              <a:lnSpc>
                <a:spcPts val="1610"/>
              </a:lnSpc>
              <a:spcBef>
                <a:spcPts val="0"/>
              </a:spcBef>
              <a:spcAft>
                <a:spcPts val="0"/>
              </a:spcAft>
              <a:defRPr sz="1320" b="0">
                <a:solidFill>
                  <a:srgbClr val="19384B"/>
                </a:solidFill>
                <a:latin typeface="Arial" panose="020B0704020202020204"/>
              </a:defRPr>
            </a:pPr>
            <a:r>
              <a:rPr lang="en-US" sz="1320" b="0">
                <a:solidFill>
                  <a:srgbClr val="19384B"/>
                </a:solidFill>
                <a:latin typeface="Arial" panose="020B0704020202020204"/>
                <a:ea typeface="Arial" panose="020B0704020202020204"/>
                <a:cs typeface="Arial" panose="020B0704020202020204"/>
              </a:rPr>
              <a:t>Client auth method</a:t>
            </a:r>
            <a:endParaRPr lang="en-US" sz="1320" b="0">
              <a:solidFill>
                <a:srgbClr val="19384B"/>
              </a:solidFill>
              <a:latin typeface="Arial" panose="020B0704020202020204"/>
              <a:ea typeface="Arial" panose="020B0704020202020204"/>
              <a:cs typeface="Arial" panose="020B0704020202020204"/>
            </a:endParaRPr>
          </a:p>
        </p:txBody>
      </p:sp>
      <p:sp>
        <p:nvSpPr>
          <p:cNvPr id="31" name="Metadata field meaning 3 ZH"/>
          <p:cNvSpPr txBox="1"/>
          <p:nvPr/>
        </p:nvSpPr>
        <p:spPr>
          <a:xfrm>
            <a:off x="9162288" y="4884724"/>
            <a:ext cx="221284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客户端认证方式</a:t>
            </a:r>
            <a:endParaRPr lang="zh-CN" sz="1120" b="0">
              <a:solidFill>
                <a:srgbClr val="5A7588"/>
              </a:solidFill>
              <a:latin typeface="Noto Sans CJK SC"/>
              <a:ea typeface="Noto Sans CJK SC"/>
              <a:cs typeface="Noto Sans CJK SC"/>
            </a:endParaRPr>
          </a:p>
        </p:txBody>
      </p:sp>
      <p:sp>
        <p:nvSpPr>
          <p:cNvPr id="32" name="Binding label EN"/>
          <p:cNvSpPr txBox="1"/>
          <p:nvPr/>
        </p:nvSpPr>
        <p:spPr>
          <a:xfrm>
            <a:off x="5285232" y="2587752"/>
            <a:ext cx="1618488" cy="327202"/>
          </a:xfrm>
          <a:prstGeom prst="rect">
            <a:avLst/>
          </a:prstGeom>
          <a:noFill/>
        </p:spPr>
        <p:txBody>
          <a:bodyPr wrap="none" lIns="0" tIns="12700" rIns="0" bIns="0" anchor="t">
            <a:noAutofit/>
          </a:bodyPr>
          <a:lstStyle/>
          <a:p>
            <a:pPr algn="ctr">
              <a:lnSpc>
                <a:spcPts val="1975"/>
              </a:lnSpc>
              <a:spcBef>
                <a:spcPts val="0"/>
              </a:spcBef>
              <a:spcAft>
                <a:spcPts val="0"/>
              </a:spcAft>
              <a:defRPr sz="1620" b="1">
                <a:solidFill>
                  <a:srgbClr val="2168D5"/>
                </a:solidFill>
                <a:latin typeface="Arial" panose="020B0704020202020204"/>
              </a:defRPr>
            </a:pPr>
            <a:r>
              <a:rPr lang="en-US" sz="1620" b="1">
                <a:solidFill>
                  <a:srgbClr val="2168D5"/>
                </a:solidFill>
                <a:latin typeface="Arial" panose="020B0704020202020204"/>
                <a:ea typeface="Arial" panose="020B0704020202020204"/>
                <a:cs typeface="Arial" panose="020B0704020202020204"/>
              </a:rPr>
              <a:t>URL + digest</a:t>
            </a:r>
            <a:endParaRPr lang="en-US" sz="1620" b="1">
              <a:solidFill>
                <a:srgbClr val="2168D5"/>
              </a:solidFill>
              <a:latin typeface="Arial" panose="020B0704020202020204"/>
              <a:ea typeface="Arial" panose="020B0704020202020204"/>
              <a:cs typeface="Arial" panose="020B0704020202020204"/>
            </a:endParaRPr>
          </a:p>
        </p:txBody>
      </p:sp>
      <p:sp>
        <p:nvSpPr>
          <p:cNvPr id="33" name="Binding label ZH"/>
          <p:cNvSpPr txBox="1"/>
          <p:nvPr/>
        </p:nvSpPr>
        <p:spPr>
          <a:xfrm>
            <a:off x="5285232" y="2965246"/>
            <a:ext cx="1618488" cy="269748"/>
          </a:xfrm>
          <a:prstGeom prst="rect">
            <a:avLst/>
          </a:prstGeom>
          <a:noFill/>
        </p:spPr>
        <p:txBody>
          <a:bodyPr wrap="none" lIns="0" tIns="12700" rIns="0" bIns="0" anchor="t">
            <a:noAutofit/>
          </a:bodyPr>
          <a:lstStyle/>
          <a:p>
            <a:pPr algn="ctr">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地址 + 摘要</a:t>
            </a:r>
            <a:endParaRPr lang="zh-CN" sz="1200" b="0">
              <a:solidFill>
                <a:srgbClr val="5A7588"/>
              </a:solidFill>
              <a:latin typeface="Noto Sans CJK SC"/>
              <a:ea typeface="Noto Sans CJK SC"/>
              <a:cs typeface="Noto Sans CJK SC"/>
            </a:endParaRPr>
          </a:p>
        </p:txBody>
      </p:sp>
      <p:cxnSp>
        <p:nvCxnSpPr>
          <p:cNvPr id="34" name="DID to metadata ONLY"/>
          <p:cNvCxnSpPr/>
          <p:nvPr/>
        </p:nvCxnSpPr>
        <p:spPr>
          <a:xfrm>
            <a:off x="5294376" y="3410712"/>
            <a:ext cx="1600200" cy="0"/>
          </a:xfrm>
          <a:prstGeom prst="line">
            <a:avLst/>
          </a:prstGeom>
          <a:ln w="27940">
            <a:solidFill>
              <a:srgbClr val="2168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Binding meaning EN"/>
          <p:cNvSpPr txBox="1"/>
          <p:nvPr/>
        </p:nvSpPr>
        <p:spPr>
          <a:xfrm>
            <a:off x="5285232" y="3675887"/>
            <a:ext cx="1618488" cy="293116"/>
          </a:xfrm>
          <a:prstGeom prst="rect">
            <a:avLst/>
          </a:prstGeom>
          <a:noFill/>
        </p:spPr>
        <p:txBody>
          <a:bodyPr wrap="none" lIns="0" tIns="12700" rIns="0" bIns="0" anchor="t">
            <a:noAutofit/>
          </a:bodyPr>
          <a:lstStyle/>
          <a:p>
            <a:pPr algn="ctr">
              <a:lnSpc>
                <a:spcPts val="1705"/>
              </a:lnSpc>
              <a:spcBef>
                <a:spcPts val="0"/>
              </a:spcBef>
              <a:spcAft>
                <a:spcPts val="0"/>
              </a:spcAft>
              <a:defRPr sz="1400" b="0">
                <a:solidFill>
                  <a:srgbClr val="2168D5"/>
                </a:solidFill>
                <a:latin typeface="Arial" panose="020B0704020202020204"/>
              </a:defRPr>
            </a:pPr>
            <a:r>
              <a:rPr lang="en-US" sz="1400" b="0">
                <a:solidFill>
                  <a:srgbClr val="2168D5"/>
                </a:solidFill>
                <a:latin typeface="Arial" panose="020B0704020202020204"/>
                <a:ea typeface="Arial" panose="020B0704020202020204"/>
                <a:cs typeface="Arial" panose="020B0704020202020204"/>
              </a:rPr>
              <a:t>Locate + verify</a:t>
            </a:r>
            <a:endParaRPr lang="en-US" sz="1400" b="0">
              <a:solidFill>
                <a:srgbClr val="2168D5"/>
              </a:solidFill>
              <a:latin typeface="Arial" panose="020B0704020202020204"/>
              <a:ea typeface="Arial" panose="020B0704020202020204"/>
              <a:cs typeface="Arial" panose="020B0704020202020204"/>
            </a:endParaRPr>
          </a:p>
        </p:txBody>
      </p:sp>
      <p:sp>
        <p:nvSpPr>
          <p:cNvPr id="36" name="Binding meaning ZH"/>
          <p:cNvSpPr txBox="1"/>
          <p:nvPr/>
        </p:nvSpPr>
        <p:spPr>
          <a:xfrm>
            <a:off x="5285232" y="4014724"/>
            <a:ext cx="1618488" cy="261683"/>
          </a:xfrm>
          <a:prstGeom prst="rect">
            <a:avLst/>
          </a:prstGeom>
          <a:noFill/>
        </p:spPr>
        <p:txBody>
          <a:bodyPr wrap="none" lIns="0" tIns="12700" rIns="0" bIns="0" anchor="t">
            <a:noAutofit/>
          </a:bodyPr>
          <a:lstStyle/>
          <a:p>
            <a:pPr algn="ctr">
              <a:lnSpc>
                <a:spcPts val="1460"/>
              </a:lnSpc>
              <a:spcBef>
                <a:spcPts val="0"/>
              </a:spcBef>
              <a:spcAft>
                <a:spcPts val="0"/>
              </a:spcAft>
              <a:defRPr sz="1150" b="0">
                <a:solidFill>
                  <a:srgbClr val="5A7588"/>
                </a:solidFill>
                <a:latin typeface="Noto Sans CJK SC"/>
              </a:defRPr>
            </a:pPr>
            <a:r>
              <a:rPr lang="zh-CN" sz="1150" b="0">
                <a:solidFill>
                  <a:srgbClr val="5A7588"/>
                </a:solidFill>
                <a:latin typeface="Noto Sans CJK SC"/>
                <a:ea typeface="Noto Sans CJK SC"/>
                <a:cs typeface="Noto Sans CJK SC"/>
              </a:rPr>
              <a:t>定位 + 校验</a:t>
            </a:r>
            <a:endParaRPr lang="zh-CN" sz="1150" b="0">
              <a:solidFill>
                <a:srgbClr val="5A7588"/>
              </a:solidFill>
              <a:latin typeface="Noto Sans CJK SC"/>
              <a:ea typeface="Noto Sans CJK SC"/>
              <a:cs typeface="Noto Sans CJK SC"/>
            </a:endParaRPr>
          </a:p>
        </p:txBody>
      </p:sp>
      <p:sp>
        <p:nvSpPr>
          <p:cNvPr id="37"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8"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39" name="Key message EN"/>
          <p:cNvSpPr txBox="1"/>
          <p:nvPr/>
        </p:nvSpPr>
        <p:spPr>
          <a:xfrm>
            <a:off x="740664" y="5769864"/>
            <a:ext cx="10689336" cy="324104"/>
          </a:xfrm>
          <a:prstGeom prst="rect">
            <a:avLst/>
          </a:prstGeom>
          <a:noFill/>
        </p:spPr>
        <p:txBody>
          <a:bodyPr wrap="none" lIns="0" tIns="12700" rIns="0" bIns="0" anchor="t">
            <a:noAutofit/>
          </a:bodyPr>
          <a:lstStyle/>
          <a:p>
            <a:pPr algn="l">
              <a:lnSpc>
                <a:spcPts val="1950"/>
              </a:lnSpc>
              <a:spcBef>
                <a:spcPts val="0"/>
              </a:spcBef>
              <a:spcAft>
                <a:spcPts val="0"/>
              </a:spcAft>
              <a:defRPr sz="1600" b="1">
                <a:solidFill>
                  <a:srgbClr val="10334A"/>
                </a:solidFill>
                <a:latin typeface="Arial" panose="020B0704020202020204"/>
              </a:defRPr>
            </a:pPr>
            <a:r>
              <a:rPr lang="en-US" sz="1600" b="1">
                <a:solidFill>
                  <a:srgbClr val="10334A"/>
                </a:solidFill>
                <a:latin typeface="Arial" panose="020B0704020202020204"/>
                <a:ea typeface="Arial" panose="020B0704020202020204"/>
                <a:cs typeface="Arial" panose="020B0704020202020204"/>
              </a:rPr>
              <a:t>Fetch the metadata bytes, then compare their SHA-256 with the DID-pinned digest.</a:t>
            </a:r>
            <a:endParaRPr lang="en-US" sz="1600" b="1">
              <a:solidFill>
                <a:srgbClr val="10334A"/>
              </a:solidFill>
              <a:latin typeface="Arial" panose="020B0704020202020204"/>
              <a:ea typeface="Arial" panose="020B0704020202020204"/>
              <a:cs typeface="Arial" panose="020B0704020202020204"/>
            </a:endParaRPr>
          </a:p>
        </p:txBody>
      </p:sp>
      <p:sp>
        <p:nvSpPr>
          <p:cNvPr id="40" name="Key message ZH"/>
          <p:cNvSpPr txBox="1"/>
          <p:nvPr/>
        </p:nvSpPr>
        <p:spPr>
          <a:xfrm>
            <a:off x="740664" y="6107684"/>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获取元数据字节，计算 SHA-256，并与 DID 文档中固定的摘要比较。</a:t>
            </a:r>
            <a:endParaRPr lang="zh-CN" sz="1200" b="0">
              <a:solidFill>
                <a:srgbClr val="5A7588"/>
              </a:solidFill>
              <a:latin typeface="Noto Sans CJK SC"/>
              <a:ea typeface="Noto Sans CJK SC"/>
              <a:cs typeface="Noto Sans CJK SC"/>
            </a:endParaRPr>
          </a:p>
        </p:txBody>
      </p:sp>
      <p:sp>
        <p:nvSpPr>
          <p:cNvPr id="41"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42"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43"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07</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Publish once; bind the exact metadata bytes</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发布客户端配置，并绑定精确的元数据字节</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Stage 1"/>
          <p:cNvSpPr/>
          <p:nvPr/>
        </p:nvSpPr>
        <p:spPr>
          <a:xfrm>
            <a:off x="676656" y="1536192"/>
            <a:ext cx="438912" cy="438912"/>
          </a:xfrm>
          <a:prstGeom prst="ellipse">
            <a:avLst/>
          </a:prstGeom>
          <a:solidFill>
            <a:srgbClr val="07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ge 1 number"/>
          <p:cNvSpPr txBox="1"/>
          <p:nvPr/>
        </p:nvSpPr>
        <p:spPr>
          <a:xfrm>
            <a:off x="676656" y="1586484"/>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1</a:t>
            </a:r>
            <a:endParaRPr lang="en-US" sz="2000" b="1">
              <a:solidFill>
                <a:srgbClr val="FFFFFF"/>
              </a:solidFill>
              <a:latin typeface="Arial" panose="020B0704020202020204"/>
              <a:ea typeface="Arial" panose="020B0704020202020204"/>
              <a:cs typeface="Arial" panose="020B0704020202020204"/>
            </a:endParaRPr>
          </a:p>
        </p:txBody>
      </p:sp>
      <p:sp>
        <p:nvSpPr>
          <p:cNvPr id="7" name="Publication step 0 EN"/>
          <p:cNvSpPr txBox="1"/>
          <p:nvPr/>
        </p:nvSpPr>
        <p:spPr>
          <a:xfrm>
            <a:off x="1353312" y="1517904"/>
            <a:ext cx="6291072"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19384B"/>
                </a:solidFill>
                <a:latin typeface="Arial" panose="020B0704020202020204"/>
              </a:defRPr>
            </a:pPr>
            <a:r>
              <a:rPr lang="en-US" sz="1800" b="1">
                <a:solidFill>
                  <a:srgbClr val="19384B"/>
                </a:solidFill>
                <a:latin typeface="Arial" panose="020B0704020202020204"/>
                <a:ea typeface="Arial" panose="020B0704020202020204"/>
                <a:cs typeface="Arial" panose="020B0704020202020204"/>
              </a:rPr>
              <a:t>Create the DID and authentication key</a:t>
            </a:r>
            <a:endParaRPr lang="en-US" sz="1800" b="1">
              <a:solidFill>
                <a:srgbClr val="19384B"/>
              </a:solidFill>
              <a:latin typeface="Arial" panose="020B0704020202020204"/>
              <a:ea typeface="Arial" panose="020B0704020202020204"/>
              <a:cs typeface="Arial" panose="020B0704020202020204"/>
            </a:endParaRPr>
          </a:p>
        </p:txBody>
      </p:sp>
      <p:sp>
        <p:nvSpPr>
          <p:cNvPr id="8" name="Publication step 0 ZH"/>
          <p:cNvSpPr txBox="1"/>
          <p:nvPr/>
        </p:nvSpPr>
        <p:spPr>
          <a:xfrm>
            <a:off x="1353312" y="1905000"/>
            <a:ext cx="6291072" cy="285877"/>
          </a:xfrm>
          <a:prstGeom prst="rect">
            <a:avLst/>
          </a:prstGeom>
          <a:noFill/>
        </p:spPr>
        <p:txBody>
          <a:bodyPr wrap="none" lIns="0" tIns="12700" rIns="0" bIns="0" anchor="t">
            <a:noAutofit/>
          </a:bodyPr>
          <a:lstStyle/>
          <a:p>
            <a:pPr algn="l">
              <a:lnSpc>
                <a:spcPts val="1650"/>
              </a:lnSpc>
              <a:spcBef>
                <a:spcPts val="0"/>
              </a:spcBef>
              <a:spcAft>
                <a:spcPts val="0"/>
              </a:spcAft>
              <a:defRPr sz="1300" b="0">
                <a:solidFill>
                  <a:srgbClr val="5A7588"/>
                </a:solidFill>
                <a:latin typeface="Noto Sans CJK SC"/>
              </a:defRPr>
            </a:pPr>
            <a:r>
              <a:rPr lang="zh-CN" sz="1300" b="0">
                <a:solidFill>
                  <a:srgbClr val="5A7588"/>
                </a:solidFill>
                <a:latin typeface="Noto Sans CJK SC"/>
                <a:ea typeface="Noto Sans CJK SC"/>
                <a:cs typeface="Noto Sans CJK SC"/>
              </a:rPr>
              <a:t>生成 DID 与认证密钥</a:t>
            </a:r>
            <a:endParaRPr lang="zh-CN" sz="1300" b="0">
              <a:solidFill>
                <a:srgbClr val="5A7588"/>
              </a:solidFill>
              <a:latin typeface="Noto Sans CJK SC"/>
              <a:ea typeface="Noto Sans CJK SC"/>
              <a:cs typeface="Noto Sans CJK SC"/>
            </a:endParaRPr>
          </a:p>
        </p:txBody>
      </p:sp>
      <p:cxnSp>
        <p:nvCxnSpPr>
          <p:cNvPr id="9" name="Publication row rule 0"/>
          <p:cNvCxnSpPr/>
          <p:nvPr/>
        </p:nvCxnSpPr>
        <p:spPr>
          <a:xfrm>
            <a:off x="1353312" y="2176272"/>
            <a:ext cx="6199632"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10" name="Stage 2"/>
          <p:cNvSpPr/>
          <p:nvPr/>
        </p:nvSpPr>
        <p:spPr>
          <a:xfrm>
            <a:off x="676656" y="2286000"/>
            <a:ext cx="438912" cy="438912"/>
          </a:xfrm>
          <a:prstGeom prst="ellipse">
            <a:avLst/>
          </a:prstGeom>
          <a:solidFill>
            <a:srgbClr val="216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2 number"/>
          <p:cNvSpPr txBox="1"/>
          <p:nvPr/>
        </p:nvSpPr>
        <p:spPr>
          <a:xfrm>
            <a:off x="676656" y="2336292"/>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2</a:t>
            </a:r>
            <a:endParaRPr lang="en-US" sz="2000" b="1">
              <a:solidFill>
                <a:srgbClr val="FFFFFF"/>
              </a:solidFill>
              <a:latin typeface="Arial" panose="020B0704020202020204"/>
              <a:ea typeface="Arial" panose="020B0704020202020204"/>
              <a:cs typeface="Arial" panose="020B0704020202020204"/>
            </a:endParaRPr>
          </a:p>
        </p:txBody>
      </p:sp>
      <p:sp>
        <p:nvSpPr>
          <p:cNvPr id="12" name="Publication step 1 EN"/>
          <p:cNvSpPr txBox="1"/>
          <p:nvPr/>
        </p:nvSpPr>
        <p:spPr>
          <a:xfrm>
            <a:off x="1353312" y="2267712"/>
            <a:ext cx="6291072"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19384B"/>
                </a:solidFill>
                <a:latin typeface="Arial" panose="020B0704020202020204"/>
              </a:defRPr>
            </a:pPr>
            <a:r>
              <a:rPr lang="en-US" sz="1800" b="1">
                <a:solidFill>
                  <a:srgbClr val="19384B"/>
                </a:solidFill>
                <a:latin typeface="Arial" panose="020B0704020202020204"/>
                <a:ea typeface="Arial" panose="020B0704020202020204"/>
                <a:cs typeface="Arial" panose="020B0704020202020204"/>
              </a:rPr>
              <a:t>Create the CIMD-style metadata document</a:t>
            </a:r>
            <a:endParaRPr lang="en-US" sz="1800" b="1">
              <a:solidFill>
                <a:srgbClr val="19384B"/>
              </a:solidFill>
              <a:latin typeface="Arial" panose="020B0704020202020204"/>
              <a:ea typeface="Arial" panose="020B0704020202020204"/>
              <a:cs typeface="Arial" panose="020B0704020202020204"/>
            </a:endParaRPr>
          </a:p>
        </p:txBody>
      </p:sp>
      <p:sp>
        <p:nvSpPr>
          <p:cNvPr id="13" name="Publication step 1 ZH"/>
          <p:cNvSpPr txBox="1"/>
          <p:nvPr/>
        </p:nvSpPr>
        <p:spPr>
          <a:xfrm>
            <a:off x="1353312" y="2654808"/>
            <a:ext cx="6291072" cy="285877"/>
          </a:xfrm>
          <a:prstGeom prst="rect">
            <a:avLst/>
          </a:prstGeom>
          <a:noFill/>
        </p:spPr>
        <p:txBody>
          <a:bodyPr wrap="none" lIns="0" tIns="12700" rIns="0" bIns="0" anchor="t">
            <a:noAutofit/>
          </a:bodyPr>
          <a:lstStyle/>
          <a:p>
            <a:pPr algn="l">
              <a:lnSpc>
                <a:spcPts val="1650"/>
              </a:lnSpc>
              <a:spcBef>
                <a:spcPts val="0"/>
              </a:spcBef>
              <a:spcAft>
                <a:spcPts val="0"/>
              </a:spcAft>
              <a:defRPr sz="1300" b="0">
                <a:solidFill>
                  <a:srgbClr val="5A7588"/>
                </a:solidFill>
                <a:latin typeface="Noto Sans CJK SC"/>
              </a:defRPr>
            </a:pPr>
            <a:r>
              <a:rPr lang="zh-CN" sz="1300" b="0">
                <a:solidFill>
                  <a:srgbClr val="5A7588"/>
                </a:solidFill>
                <a:latin typeface="Noto Sans CJK SC"/>
                <a:ea typeface="Noto Sans CJK SC"/>
                <a:cs typeface="Noto Sans CJK SC"/>
              </a:rPr>
              <a:t>创建 CIMD 风格的客户端元数据文档</a:t>
            </a:r>
            <a:endParaRPr lang="zh-CN" sz="1300" b="0">
              <a:solidFill>
                <a:srgbClr val="5A7588"/>
              </a:solidFill>
              <a:latin typeface="Noto Sans CJK SC"/>
              <a:ea typeface="Noto Sans CJK SC"/>
              <a:cs typeface="Noto Sans CJK SC"/>
            </a:endParaRPr>
          </a:p>
        </p:txBody>
      </p:sp>
      <p:cxnSp>
        <p:nvCxnSpPr>
          <p:cNvPr id="14" name="Publication row rule 1"/>
          <p:cNvCxnSpPr/>
          <p:nvPr/>
        </p:nvCxnSpPr>
        <p:spPr>
          <a:xfrm>
            <a:off x="1353312" y="2926080"/>
            <a:ext cx="6199632"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15" name="Stage 3"/>
          <p:cNvSpPr/>
          <p:nvPr/>
        </p:nvSpPr>
        <p:spPr>
          <a:xfrm>
            <a:off x="676656" y="3035808"/>
            <a:ext cx="438912" cy="438912"/>
          </a:xfrm>
          <a:prstGeom prst="ellipse">
            <a:avLst/>
          </a:prstGeom>
          <a:solidFill>
            <a:srgbClr val="07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ge 3 number"/>
          <p:cNvSpPr txBox="1"/>
          <p:nvPr/>
        </p:nvSpPr>
        <p:spPr>
          <a:xfrm>
            <a:off x="676656" y="3086100"/>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3</a:t>
            </a:r>
            <a:endParaRPr lang="en-US" sz="2000" b="1">
              <a:solidFill>
                <a:srgbClr val="FFFFFF"/>
              </a:solidFill>
              <a:latin typeface="Arial" panose="020B0704020202020204"/>
              <a:ea typeface="Arial" panose="020B0704020202020204"/>
              <a:cs typeface="Arial" panose="020B0704020202020204"/>
            </a:endParaRPr>
          </a:p>
        </p:txBody>
      </p:sp>
      <p:sp>
        <p:nvSpPr>
          <p:cNvPr id="17" name="Publication step 2 EN"/>
          <p:cNvSpPr txBox="1"/>
          <p:nvPr/>
        </p:nvSpPr>
        <p:spPr>
          <a:xfrm>
            <a:off x="1353312" y="3017520"/>
            <a:ext cx="6291072"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19384B"/>
                </a:solidFill>
                <a:latin typeface="Arial" panose="020B0704020202020204"/>
              </a:defRPr>
            </a:pPr>
            <a:r>
              <a:rPr lang="en-US" sz="1800" b="1">
                <a:solidFill>
                  <a:srgbClr val="19384B"/>
                </a:solidFill>
                <a:latin typeface="Arial" panose="020B0704020202020204"/>
                <a:ea typeface="Arial" panose="020B0704020202020204"/>
                <a:cs typeface="Arial" panose="020B0704020202020204"/>
              </a:rPr>
              <a:t>Serialize the bytes and compute SHA-256</a:t>
            </a:r>
            <a:endParaRPr lang="en-US" sz="1800" b="1">
              <a:solidFill>
                <a:srgbClr val="19384B"/>
              </a:solidFill>
              <a:latin typeface="Arial" panose="020B0704020202020204"/>
              <a:ea typeface="Arial" panose="020B0704020202020204"/>
              <a:cs typeface="Arial" panose="020B0704020202020204"/>
            </a:endParaRPr>
          </a:p>
        </p:txBody>
      </p:sp>
      <p:sp>
        <p:nvSpPr>
          <p:cNvPr id="18" name="Publication step 2 ZH"/>
          <p:cNvSpPr txBox="1"/>
          <p:nvPr/>
        </p:nvSpPr>
        <p:spPr>
          <a:xfrm>
            <a:off x="1353312" y="3404616"/>
            <a:ext cx="6291072" cy="285877"/>
          </a:xfrm>
          <a:prstGeom prst="rect">
            <a:avLst/>
          </a:prstGeom>
          <a:noFill/>
        </p:spPr>
        <p:txBody>
          <a:bodyPr wrap="none" lIns="0" tIns="12700" rIns="0" bIns="0" anchor="t">
            <a:noAutofit/>
          </a:bodyPr>
          <a:lstStyle/>
          <a:p>
            <a:pPr algn="l">
              <a:lnSpc>
                <a:spcPts val="1650"/>
              </a:lnSpc>
              <a:spcBef>
                <a:spcPts val="0"/>
              </a:spcBef>
              <a:spcAft>
                <a:spcPts val="0"/>
              </a:spcAft>
              <a:defRPr sz="1300" b="0">
                <a:solidFill>
                  <a:srgbClr val="5A7588"/>
                </a:solidFill>
                <a:latin typeface="Noto Sans CJK SC"/>
              </a:defRPr>
            </a:pPr>
            <a:r>
              <a:rPr lang="zh-CN" sz="1300" b="0">
                <a:solidFill>
                  <a:srgbClr val="5A7588"/>
                </a:solidFill>
                <a:latin typeface="Noto Sans CJK SC"/>
                <a:ea typeface="Noto Sans CJK SC"/>
                <a:cs typeface="Noto Sans CJK SC"/>
              </a:rPr>
              <a:t>序列化精确字节，并计算 SHA-256</a:t>
            </a:r>
            <a:endParaRPr lang="zh-CN" sz="1300" b="0">
              <a:solidFill>
                <a:srgbClr val="5A7588"/>
              </a:solidFill>
              <a:latin typeface="Noto Sans CJK SC"/>
              <a:ea typeface="Noto Sans CJK SC"/>
              <a:cs typeface="Noto Sans CJK SC"/>
            </a:endParaRPr>
          </a:p>
        </p:txBody>
      </p:sp>
      <p:cxnSp>
        <p:nvCxnSpPr>
          <p:cNvPr id="19" name="Publication row rule 2"/>
          <p:cNvCxnSpPr/>
          <p:nvPr/>
        </p:nvCxnSpPr>
        <p:spPr>
          <a:xfrm>
            <a:off x="1353312" y="3675887"/>
            <a:ext cx="6199632"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20" name="Stage 4"/>
          <p:cNvSpPr/>
          <p:nvPr/>
        </p:nvSpPr>
        <p:spPr>
          <a:xfrm>
            <a:off x="676656" y="3785615"/>
            <a:ext cx="438912" cy="438912"/>
          </a:xfrm>
          <a:prstGeom prst="ellipse">
            <a:avLst/>
          </a:prstGeom>
          <a:solidFill>
            <a:srgbClr val="216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tage 4 number"/>
          <p:cNvSpPr txBox="1"/>
          <p:nvPr/>
        </p:nvSpPr>
        <p:spPr>
          <a:xfrm>
            <a:off x="676656" y="3835907"/>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4</a:t>
            </a:r>
            <a:endParaRPr lang="en-US" sz="2000" b="1">
              <a:solidFill>
                <a:srgbClr val="FFFFFF"/>
              </a:solidFill>
              <a:latin typeface="Arial" panose="020B0704020202020204"/>
              <a:ea typeface="Arial" panose="020B0704020202020204"/>
              <a:cs typeface="Arial" panose="020B0704020202020204"/>
            </a:endParaRPr>
          </a:p>
        </p:txBody>
      </p:sp>
      <p:sp>
        <p:nvSpPr>
          <p:cNvPr id="22" name="Publication step 3 EN"/>
          <p:cNvSpPr txBox="1"/>
          <p:nvPr/>
        </p:nvSpPr>
        <p:spPr>
          <a:xfrm>
            <a:off x="1353312" y="3767328"/>
            <a:ext cx="6291072"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19384B"/>
                </a:solidFill>
                <a:latin typeface="Arial" panose="020B0704020202020204"/>
              </a:defRPr>
            </a:pPr>
            <a:r>
              <a:rPr lang="en-US" sz="1800" b="1">
                <a:solidFill>
                  <a:srgbClr val="19384B"/>
                </a:solidFill>
                <a:latin typeface="Arial" panose="020B0704020202020204"/>
                <a:ea typeface="Arial" panose="020B0704020202020204"/>
                <a:cs typeface="Arial" panose="020B0704020202020204"/>
              </a:rPr>
              <a:t>Publish the URL and digest in the DID Document</a:t>
            </a:r>
            <a:endParaRPr lang="en-US" sz="1800" b="1">
              <a:solidFill>
                <a:srgbClr val="19384B"/>
              </a:solidFill>
              <a:latin typeface="Arial" panose="020B0704020202020204"/>
              <a:ea typeface="Arial" panose="020B0704020202020204"/>
              <a:cs typeface="Arial" panose="020B0704020202020204"/>
            </a:endParaRPr>
          </a:p>
        </p:txBody>
      </p:sp>
      <p:sp>
        <p:nvSpPr>
          <p:cNvPr id="23" name="Publication step 3 ZH"/>
          <p:cNvSpPr txBox="1"/>
          <p:nvPr/>
        </p:nvSpPr>
        <p:spPr>
          <a:xfrm>
            <a:off x="1353312" y="4154424"/>
            <a:ext cx="6291072" cy="285877"/>
          </a:xfrm>
          <a:prstGeom prst="rect">
            <a:avLst/>
          </a:prstGeom>
          <a:noFill/>
        </p:spPr>
        <p:txBody>
          <a:bodyPr wrap="none" lIns="0" tIns="12700" rIns="0" bIns="0" anchor="t">
            <a:noAutofit/>
          </a:bodyPr>
          <a:lstStyle/>
          <a:p>
            <a:pPr algn="l">
              <a:lnSpc>
                <a:spcPts val="1650"/>
              </a:lnSpc>
              <a:spcBef>
                <a:spcPts val="0"/>
              </a:spcBef>
              <a:spcAft>
                <a:spcPts val="0"/>
              </a:spcAft>
              <a:defRPr sz="1300" b="0">
                <a:solidFill>
                  <a:srgbClr val="5A7588"/>
                </a:solidFill>
                <a:latin typeface="Noto Sans CJK SC"/>
              </a:defRPr>
            </a:pPr>
            <a:r>
              <a:rPr lang="zh-CN" sz="1300" b="0">
                <a:solidFill>
                  <a:srgbClr val="5A7588"/>
                </a:solidFill>
                <a:latin typeface="Noto Sans CJK SC"/>
                <a:ea typeface="Noto Sans CJK SC"/>
                <a:cs typeface="Noto Sans CJK SC"/>
              </a:rPr>
              <a:t>在 DID 文档中发布元数据 URL 与摘要</a:t>
            </a:r>
            <a:endParaRPr lang="zh-CN" sz="1300" b="0">
              <a:solidFill>
                <a:srgbClr val="5A7588"/>
              </a:solidFill>
              <a:latin typeface="Noto Sans CJK SC"/>
              <a:ea typeface="Noto Sans CJK SC"/>
              <a:cs typeface="Noto Sans CJK SC"/>
            </a:endParaRPr>
          </a:p>
        </p:txBody>
      </p:sp>
      <p:cxnSp>
        <p:nvCxnSpPr>
          <p:cNvPr id="24" name="Publication row rule 3"/>
          <p:cNvCxnSpPr/>
          <p:nvPr/>
        </p:nvCxnSpPr>
        <p:spPr>
          <a:xfrm>
            <a:off x="1353312" y="4425696"/>
            <a:ext cx="6199632"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25" name="Stage 5"/>
          <p:cNvSpPr/>
          <p:nvPr/>
        </p:nvSpPr>
        <p:spPr>
          <a:xfrm>
            <a:off x="676656" y="4535423"/>
            <a:ext cx="438912" cy="438912"/>
          </a:xfrm>
          <a:prstGeom prst="ellipse">
            <a:avLst/>
          </a:prstGeom>
          <a:solidFill>
            <a:srgbClr val="07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5 number"/>
          <p:cNvSpPr txBox="1"/>
          <p:nvPr/>
        </p:nvSpPr>
        <p:spPr>
          <a:xfrm>
            <a:off x="676656" y="4585715"/>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5</a:t>
            </a:r>
            <a:endParaRPr lang="en-US" sz="2000" b="1">
              <a:solidFill>
                <a:srgbClr val="FFFFFF"/>
              </a:solidFill>
              <a:latin typeface="Arial" panose="020B0704020202020204"/>
              <a:ea typeface="Arial" panose="020B0704020202020204"/>
              <a:cs typeface="Arial" panose="020B0704020202020204"/>
            </a:endParaRPr>
          </a:p>
        </p:txBody>
      </p:sp>
      <p:sp>
        <p:nvSpPr>
          <p:cNvPr id="27" name="Publication step 4 EN"/>
          <p:cNvSpPr txBox="1"/>
          <p:nvPr/>
        </p:nvSpPr>
        <p:spPr>
          <a:xfrm>
            <a:off x="1353312" y="4517136"/>
            <a:ext cx="6291072"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19384B"/>
                </a:solidFill>
                <a:latin typeface="Arial" panose="020B0704020202020204"/>
              </a:defRPr>
            </a:pPr>
            <a:r>
              <a:rPr lang="en-US" sz="1800" b="1">
                <a:solidFill>
                  <a:srgbClr val="19384B"/>
                </a:solidFill>
                <a:latin typeface="Arial" panose="020B0704020202020204"/>
                <a:ea typeface="Arial" panose="020B0704020202020204"/>
                <a:cs typeface="Arial" panose="020B0704020202020204"/>
              </a:rPr>
              <a:t>Use the DID as the OAuth client_id</a:t>
            </a:r>
            <a:endParaRPr lang="en-US" sz="1800" b="1">
              <a:solidFill>
                <a:srgbClr val="19384B"/>
              </a:solidFill>
              <a:latin typeface="Arial" panose="020B0704020202020204"/>
              <a:ea typeface="Arial" panose="020B0704020202020204"/>
              <a:cs typeface="Arial" panose="020B0704020202020204"/>
            </a:endParaRPr>
          </a:p>
        </p:txBody>
      </p:sp>
      <p:sp>
        <p:nvSpPr>
          <p:cNvPr id="28" name="Publication step 4 ZH"/>
          <p:cNvSpPr txBox="1"/>
          <p:nvPr/>
        </p:nvSpPr>
        <p:spPr>
          <a:xfrm>
            <a:off x="1353312" y="4904232"/>
            <a:ext cx="6291072" cy="285877"/>
          </a:xfrm>
          <a:prstGeom prst="rect">
            <a:avLst/>
          </a:prstGeom>
          <a:noFill/>
        </p:spPr>
        <p:txBody>
          <a:bodyPr wrap="none" lIns="0" tIns="12700" rIns="0" bIns="0" anchor="t">
            <a:noAutofit/>
          </a:bodyPr>
          <a:lstStyle/>
          <a:p>
            <a:pPr algn="l">
              <a:lnSpc>
                <a:spcPts val="1650"/>
              </a:lnSpc>
              <a:spcBef>
                <a:spcPts val="0"/>
              </a:spcBef>
              <a:spcAft>
                <a:spcPts val="0"/>
              </a:spcAft>
              <a:defRPr sz="1300" b="0">
                <a:solidFill>
                  <a:srgbClr val="5A7588"/>
                </a:solidFill>
                <a:latin typeface="Noto Sans CJK SC"/>
              </a:defRPr>
            </a:pPr>
            <a:r>
              <a:rPr lang="zh-CN" sz="1300" b="0">
                <a:solidFill>
                  <a:srgbClr val="5A7588"/>
                </a:solidFill>
                <a:latin typeface="Noto Sans CJK SC"/>
                <a:ea typeface="Noto Sans CJK SC"/>
                <a:cs typeface="Noto Sans CJK SC"/>
              </a:rPr>
              <a:t>在 OAuth 请求中以 DID 作为 client_id</a:t>
            </a:r>
            <a:endParaRPr lang="zh-CN" sz="1300" b="0">
              <a:solidFill>
                <a:srgbClr val="5A7588"/>
              </a:solidFill>
              <a:latin typeface="Noto Sans CJK SC"/>
              <a:ea typeface="Noto Sans CJK SC"/>
              <a:cs typeface="Noto Sans CJK SC"/>
            </a:endParaRPr>
          </a:p>
        </p:txBody>
      </p:sp>
      <p:sp>
        <p:nvSpPr>
          <p:cNvPr id="29" name="Digest update panel"/>
          <p:cNvSpPr/>
          <p:nvPr/>
        </p:nvSpPr>
        <p:spPr>
          <a:xfrm>
            <a:off x="7909560" y="1417320"/>
            <a:ext cx="3712463" cy="3950208"/>
          </a:xfrm>
          <a:prstGeom prst="roundRect">
            <a:avLst>
              <a:gd name="adj" fmla="val 6000"/>
            </a:avLst>
          </a:prstGeom>
          <a:solidFill>
            <a:srgbClr val="ECF8F6"/>
          </a:solidFill>
          <a:ln w="11430">
            <a:solidFill>
              <a:srgbClr val="07888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0" name="Digest heading bilingual"/>
          <p:cNvSpPr txBox="1"/>
          <p:nvPr/>
        </p:nvSpPr>
        <p:spPr>
          <a:xfrm>
            <a:off x="8138160" y="1664208"/>
            <a:ext cx="3255264" cy="308610"/>
          </a:xfrm>
          <a:prstGeom prst="rect">
            <a:avLst/>
          </a:prstGeom>
          <a:noFill/>
        </p:spPr>
        <p:txBody>
          <a:bodyPr wrap="none" lIns="0" tIns="12700" rIns="0" bIns="0" anchor="t">
            <a:noAutofit/>
          </a:bodyPr>
          <a:lstStyle/>
          <a:p>
            <a:pPr algn="l">
              <a:lnSpc>
                <a:spcPts val="1830"/>
              </a:lnSpc>
              <a:spcBef>
                <a:spcPts val="0"/>
              </a:spcBef>
              <a:spcAft>
                <a:spcPts val="0"/>
              </a:spcAft>
              <a:defRPr sz="1500" b="1">
                <a:solidFill>
                  <a:srgbClr val="07888E"/>
                </a:solidFill>
                <a:latin typeface="Noto Sans CJK SC"/>
              </a:defRPr>
            </a:pPr>
            <a:r>
              <a:rPr lang="en-US" sz="1500" b="1">
                <a:solidFill>
                  <a:srgbClr val="07888E"/>
                </a:solidFill>
                <a:latin typeface="Noto Sans CJK SC"/>
                <a:ea typeface="Noto Sans CJK SC"/>
                <a:cs typeface="Noto Sans CJK SC"/>
              </a:rPr>
              <a:t>Digest rule / 摘要规则</a:t>
            </a:r>
            <a:endParaRPr lang="en-US" sz="1500" b="1">
              <a:solidFill>
                <a:srgbClr val="07888E"/>
              </a:solidFill>
              <a:latin typeface="Noto Sans CJK SC"/>
              <a:ea typeface="Noto Sans CJK SC"/>
              <a:cs typeface="Noto Sans CJK SC"/>
            </a:endParaRPr>
          </a:p>
        </p:txBody>
      </p:sp>
      <p:sp>
        <p:nvSpPr>
          <p:cNvPr id="31" name="Digest formula"/>
          <p:cNvSpPr txBox="1"/>
          <p:nvPr/>
        </p:nvSpPr>
        <p:spPr>
          <a:xfrm>
            <a:off x="8138160" y="2221992"/>
            <a:ext cx="3255264" cy="463550"/>
          </a:xfrm>
          <a:prstGeom prst="rect">
            <a:avLst/>
          </a:prstGeom>
          <a:noFill/>
        </p:spPr>
        <p:txBody>
          <a:bodyPr wrap="none" lIns="0" tIns="12700" rIns="0" bIns="0" anchor="t">
            <a:noAutofit/>
          </a:bodyPr>
          <a:lstStyle/>
          <a:p>
            <a:pPr algn="l">
              <a:lnSpc>
                <a:spcPts val="1525"/>
              </a:lnSpc>
              <a:spcBef>
                <a:spcPts val="0"/>
              </a:spcBef>
              <a:spcAft>
                <a:spcPts val="0"/>
              </a:spcAft>
              <a:defRPr sz="1250" b="0">
                <a:solidFill>
                  <a:srgbClr val="10334A"/>
                </a:solidFill>
                <a:latin typeface="Courier New" panose="02070609020205020404"/>
              </a:defRPr>
            </a:pPr>
            <a:r>
              <a:rPr lang="en-US" sz="1250" b="0">
                <a:solidFill>
                  <a:srgbClr val="10334A"/>
                </a:solidFill>
                <a:latin typeface="Courier New" panose="02070609020205020404"/>
                <a:ea typeface="Courier New" panose="02070609020205020404"/>
                <a:cs typeface="Courier New" panose="02070609020205020404"/>
              </a:rPr>
              <a:t>anp_metadata_sha256</a:t>
            </a:r>
            <a:endParaRPr lang="en-US" sz="1250" b="0">
              <a:solidFill>
                <a:srgbClr val="10334A"/>
              </a:solidFill>
              <a:latin typeface="Courier New" panose="02070609020205020404"/>
              <a:ea typeface="Courier New" panose="02070609020205020404"/>
              <a:cs typeface="Courier New" panose="02070609020205020404"/>
            </a:endParaRPr>
          </a:p>
          <a:p>
            <a:pPr algn="l">
              <a:lnSpc>
                <a:spcPts val="1525"/>
              </a:lnSpc>
              <a:spcBef>
                <a:spcPts val="0"/>
              </a:spcBef>
              <a:spcAft>
                <a:spcPts val="0"/>
              </a:spcAft>
              <a:defRPr sz="1250" b="0">
                <a:solidFill>
                  <a:srgbClr val="10334A"/>
                </a:solidFill>
                <a:latin typeface="Courier New" panose="02070609020205020404"/>
              </a:defRPr>
            </a:pPr>
            <a:r>
              <a:rPr lang="en-US" sz="1250" b="0">
                <a:solidFill>
                  <a:srgbClr val="10334A"/>
                </a:solidFill>
                <a:latin typeface="Courier New" panose="02070609020205020404"/>
                <a:ea typeface="Courier New" panose="02070609020205020404"/>
                <a:cs typeface="Courier New" panose="02070609020205020404"/>
              </a:rPr>
              <a:t>= SHA-256(metadata_bytes)</a:t>
            </a:r>
            <a:endParaRPr lang="en-US" sz="1250" b="0">
              <a:solidFill>
                <a:srgbClr val="10334A"/>
              </a:solidFill>
              <a:latin typeface="Courier New" panose="02070609020205020404"/>
              <a:ea typeface="Courier New" panose="02070609020205020404"/>
              <a:cs typeface="Courier New" panose="02070609020205020404"/>
            </a:endParaRPr>
          </a:p>
        </p:txBody>
      </p:sp>
      <p:sp>
        <p:nvSpPr>
          <p:cNvPr id="32" name="Exact bytes EN"/>
          <p:cNvSpPr txBox="1"/>
          <p:nvPr/>
        </p:nvSpPr>
        <p:spPr>
          <a:xfrm>
            <a:off x="8138160" y="2743200"/>
            <a:ext cx="3255264" cy="503834"/>
          </a:xfrm>
          <a:prstGeom prst="rect">
            <a:avLst/>
          </a:prstGeom>
          <a:noFill/>
        </p:spPr>
        <p:txBody>
          <a:bodyPr wrap="none" lIns="0" tIns="12700" rIns="0" bIns="0" anchor="t">
            <a:noAutofit/>
          </a:bodyPr>
          <a:lstStyle/>
          <a:p>
            <a:pPr algn="l">
              <a:lnSpc>
                <a:spcPts val="1685"/>
              </a:lnSpc>
              <a:spcBef>
                <a:spcPts val="0"/>
              </a:spcBef>
              <a:spcAft>
                <a:spcPts val="0"/>
              </a:spcAft>
              <a:defRPr sz="1380" b="0">
                <a:solidFill>
                  <a:srgbClr val="19384B"/>
                </a:solidFill>
                <a:latin typeface="Arial" panose="020B0704020202020204"/>
              </a:defRPr>
            </a:pPr>
            <a:r>
              <a:rPr lang="en-US" sz="1380" b="0">
                <a:solidFill>
                  <a:srgbClr val="19384B"/>
                </a:solidFill>
                <a:latin typeface="Arial" panose="020B0704020202020204"/>
                <a:ea typeface="Arial" panose="020B0704020202020204"/>
                <a:cs typeface="Arial" panose="020B0704020202020204"/>
              </a:rPr>
              <a:t>Hash the exact UTF-8 bytes.</a:t>
            </a:r>
            <a:endParaRPr lang="en-US" sz="1380" b="0">
              <a:solidFill>
                <a:srgbClr val="19384B"/>
              </a:solidFill>
              <a:latin typeface="Arial" panose="020B0704020202020204"/>
              <a:ea typeface="Arial" panose="020B0704020202020204"/>
              <a:cs typeface="Arial" panose="020B0704020202020204"/>
            </a:endParaRPr>
          </a:p>
          <a:p>
            <a:pPr algn="l">
              <a:lnSpc>
                <a:spcPts val="1685"/>
              </a:lnSpc>
              <a:spcBef>
                <a:spcPts val="0"/>
              </a:spcBef>
              <a:spcAft>
                <a:spcPts val="0"/>
              </a:spcAft>
              <a:defRPr sz="1380" b="0">
                <a:solidFill>
                  <a:srgbClr val="19384B"/>
                </a:solidFill>
                <a:latin typeface="Arial" panose="020B0704020202020204"/>
              </a:defRPr>
            </a:pPr>
            <a:r>
              <a:rPr lang="en-US" sz="1380" b="0">
                <a:solidFill>
                  <a:srgbClr val="19384B"/>
                </a:solidFill>
                <a:latin typeface="Arial" panose="020B0704020202020204"/>
                <a:ea typeface="Arial" panose="020B0704020202020204"/>
                <a:cs typeface="Arial" panose="020B0704020202020204"/>
              </a:rPr>
              <a:t>Do not reserialize or normalize.</a:t>
            </a:r>
            <a:endParaRPr lang="en-US" sz="1380" b="0">
              <a:solidFill>
                <a:srgbClr val="19384B"/>
              </a:solidFill>
              <a:latin typeface="Arial" panose="020B0704020202020204"/>
              <a:ea typeface="Arial" panose="020B0704020202020204"/>
              <a:cs typeface="Arial" panose="020B0704020202020204"/>
            </a:endParaRPr>
          </a:p>
        </p:txBody>
      </p:sp>
      <p:sp>
        <p:nvSpPr>
          <p:cNvPr id="33" name="Exact bytes ZH"/>
          <p:cNvSpPr txBox="1"/>
          <p:nvPr/>
        </p:nvSpPr>
        <p:spPr>
          <a:xfrm>
            <a:off x="8138160" y="3288182"/>
            <a:ext cx="3255264" cy="502919"/>
          </a:xfrm>
          <a:prstGeom prst="rect">
            <a:avLst/>
          </a:prstGeom>
          <a:noFill/>
        </p:spPr>
        <p:txBody>
          <a:bodyPr wrap="none" lIns="0" tIns="12700" rIns="0" bIns="0" anchor="t">
            <a:noAutofit/>
          </a:bodyPr>
          <a:lstStyle/>
          <a:p>
            <a:pPr algn="l">
              <a:lnSpc>
                <a:spcPts val="168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使用精确 UTF-8 字节；</a:t>
            </a:r>
            <a:endParaRPr lang="zh-CN" sz="1120" b="0">
              <a:solidFill>
                <a:srgbClr val="5A7588"/>
              </a:solidFill>
              <a:latin typeface="Noto Sans CJK SC"/>
              <a:ea typeface="Noto Sans CJK SC"/>
              <a:cs typeface="Noto Sans CJK SC"/>
            </a:endParaRPr>
          </a:p>
          <a:p>
            <a:pPr algn="l">
              <a:lnSpc>
                <a:spcPts val="168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不得重新序列化或规范化。</a:t>
            </a:r>
            <a:endParaRPr lang="zh-CN" sz="1120" b="0">
              <a:solidFill>
                <a:srgbClr val="5A7588"/>
              </a:solidFill>
              <a:latin typeface="Noto Sans CJK SC"/>
              <a:ea typeface="Noto Sans CJK SC"/>
              <a:cs typeface="Noto Sans CJK SC"/>
            </a:endParaRPr>
          </a:p>
        </p:txBody>
      </p:sp>
      <p:cxnSp>
        <p:nvCxnSpPr>
          <p:cNvPr id="34" name="Digest divider"/>
          <p:cNvCxnSpPr/>
          <p:nvPr/>
        </p:nvCxnSpPr>
        <p:spPr>
          <a:xfrm>
            <a:off x="8138160" y="3831336"/>
            <a:ext cx="3255264"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35" name="Update heading bilingual"/>
          <p:cNvSpPr txBox="1"/>
          <p:nvPr/>
        </p:nvSpPr>
        <p:spPr>
          <a:xfrm>
            <a:off x="8138160" y="3877056"/>
            <a:ext cx="3255264" cy="293116"/>
          </a:xfrm>
          <a:prstGeom prst="rect">
            <a:avLst/>
          </a:prstGeom>
          <a:noFill/>
        </p:spPr>
        <p:txBody>
          <a:bodyPr wrap="none" lIns="0" tIns="12700" rIns="0" bIns="0" anchor="t">
            <a:noAutofit/>
          </a:bodyPr>
          <a:lstStyle/>
          <a:p>
            <a:pPr algn="l">
              <a:lnSpc>
                <a:spcPts val="1705"/>
              </a:lnSpc>
              <a:spcBef>
                <a:spcPts val="0"/>
              </a:spcBef>
              <a:spcAft>
                <a:spcPts val="0"/>
              </a:spcAft>
              <a:defRPr sz="1400" b="1">
                <a:solidFill>
                  <a:srgbClr val="07888E"/>
                </a:solidFill>
                <a:latin typeface="Noto Sans CJK SC"/>
              </a:defRPr>
            </a:pPr>
            <a:r>
              <a:rPr lang="en-US" sz="1400" b="1">
                <a:solidFill>
                  <a:srgbClr val="07888E"/>
                </a:solidFill>
                <a:latin typeface="Noto Sans CJK SC"/>
                <a:ea typeface="Noto Sans CJK SC"/>
                <a:cs typeface="Noto Sans CJK SC"/>
              </a:rPr>
              <a:t>Update rule / 更新规则</a:t>
            </a:r>
            <a:endParaRPr lang="en-US" sz="1400" b="1">
              <a:solidFill>
                <a:srgbClr val="07888E"/>
              </a:solidFill>
              <a:latin typeface="Noto Sans CJK SC"/>
              <a:ea typeface="Noto Sans CJK SC"/>
              <a:cs typeface="Noto Sans CJK SC"/>
            </a:endParaRPr>
          </a:p>
        </p:txBody>
      </p:sp>
      <p:sp>
        <p:nvSpPr>
          <p:cNvPr id="36" name="Update body EN"/>
          <p:cNvSpPr txBox="1"/>
          <p:nvPr/>
        </p:nvSpPr>
        <p:spPr>
          <a:xfrm>
            <a:off x="8138160" y="4206240"/>
            <a:ext cx="3255264" cy="519328"/>
          </a:xfrm>
          <a:prstGeom prst="rect">
            <a:avLst/>
          </a:prstGeom>
          <a:noFill/>
        </p:spPr>
        <p:txBody>
          <a:bodyPr wrap="none" lIns="0" tIns="12700" rIns="0" bIns="0" anchor="t">
            <a:noAutofit/>
          </a:bodyPr>
          <a:lstStyle/>
          <a:p>
            <a:pPr algn="l">
              <a:lnSpc>
                <a:spcPts val="1745"/>
              </a:lnSpc>
              <a:spcBef>
                <a:spcPts val="0"/>
              </a:spcBef>
              <a:spcAft>
                <a:spcPts val="0"/>
              </a:spcAft>
              <a:defRPr sz="1430" b="0">
                <a:solidFill>
                  <a:srgbClr val="19384B"/>
                </a:solidFill>
                <a:latin typeface="Arial" panose="020B0704020202020204"/>
              </a:defRPr>
            </a:pPr>
            <a:r>
              <a:rPr lang="en-US" sz="1430" b="0">
                <a:solidFill>
                  <a:srgbClr val="19384B"/>
                </a:solidFill>
                <a:latin typeface="Arial" panose="020B0704020202020204"/>
                <a:ea typeface="Arial" panose="020B0704020202020204"/>
                <a:cs typeface="Arial" panose="020B0704020202020204"/>
              </a:rPr>
              <a:t>Changed metadata requires</a:t>
            </a:r>
            <a:endParaRPr lang="en-US" sz="1430" b="0">
              <a:solidFill>
                <a:srgbClr val="19384B"/>
              </a:solidFill>
              <a:latin typeface="Arial" panose="020B0704020202020204"/>
              <a:ea typeface="Arial" panose="020B0704020202020204"/>
              <a:cs typeface="Arial" panose="020B0704020202020204"/>
            </a:endParaRPr>
          </a:p>
          <a:p>
            <a:pPr algn="l">
              <a:lnSpc>
                <a:spcPts val="1745"/>
              </a:lnSpc>
              <a:spcBef>
                <a:spcPts val="0"/>
              </a:spcBef>
              <a:spcAft>
                <a:spcPts val="0"/>
              </a:spcAft>
              <a:defRPr sz="1430" b="0">
                <a:solidFill>
                  <a:srgbClr val="19384B"/>
                </a:solidFill>
                <a:latin typeface="Arial" panose="020B0704020202020204"/>
              </a:defRPr>
            </a:pPr>
            <a:r>
              <a:rPr lang="en-US" sz="1430" b="0">
                <a:solidFill>
                  <a:srgbClr val="19384B"/>
                </a:solidFill>
                <a:latin typeface="Arial" panose="020B0704020202020204"/>
                <a:ea typeface="Arial" panose="020B0704020202020204"/>
                <a:cs typeface="Arial" panose="020B0704020202020204"/>
              </a:rPr>
              <a:t>a new digest and DID update.</a:t>
            </a:r>
            <a:endParaRPr lang="en-US" sz="1430" b="0">
              <a:solidFill>
                <a:srgbClr val="19384B"/>
              </a:solidFill>
              <a:latin typeface="Arial" panose="020B0704020202020204"/>
              <a:ea typeface="Arial" panose="020B0704020202020204"/>
              <a:cs typeface="Arial" panose="020B0704020202020204"/>
            </a:endParaRPr>
          </a:p>
        </p:txBody>
      </p:sp>
      <p:sp>
        <p:nvSpPr>
          <p:cNvPr id="37" name="Update body ZH"/>
          <p:cNvSpPr txBox="1"/>
          <p:nvPr/>
        </p:nvSpPr>
        <p:spPr>
          <a:xfrm>
            <a:off x="8138160" y="4766716"/>
            <a:ext cx="3255264" cy="518160"/>
          </a:xfrm>
          <a:prstGeom prst="rect">
            <a:avLst/>
          </a:prstGeom>
          <a:noFill/>
        </p:spPr>
        <p:txBody>
          <a:bodyPr wrap="none" lIns="0" tIns="12700" rIns="0" bIns="0" anchor="t">
            <a:noAutofit/>
          </a:bodyPr>
          <a:lstStyle/>
          <a:p>
            <a:pPr algn="l">
              <a:lnSpc>
                <a:spcPts val="1740"/>
              </a:lnSpc>
              <a:spcBef>
                <a:spcPts val="0"/>
              </a:spcBef>
              <a:spcAft>
                <a:spcPts val="0"/>
              </a:spcAft>
              <a:defRPr sz="1160" b="0">
                <a:solidFill>
                  <a:srgbClr val="5A7588"/>
                </a:solidFill>
                <a:latin typeface="Noto Sans CJK SC"/>
              </a:defRPr>
            </a:pPr>
            <a:r>
              <a:rPr lang="zh-CN" sz="1160" b="0">
                <a:solidFill>
                  <a:srgbClr val="5A7588"/>
                </a:solidFill>
                <a:latin typeface="Noto Sans CJK SC"/>
                <a:ea typeface="Noto Sans CJK SC"/>
                <a:cs typeface="Noto Sans CJK SC"/>
              </a:rPr>
              <a:t>元数据变化后，需重新计算摘要，</a:t>
            </a:r>
            <a:endParaRPr lang="zh-CN" sz="1160" b="0">
              <a:solidFill>
                <a:srgbClr val="5A7588"/>
              </a:solidFill>
              <a:latin typeface="Noto Sans CJK SC"/>
              <a:ea typeface="Noto Sans CJK SC"/>
              <a:cs typeface="Noto Sans CJK SC"/>
            </a:endParaRPr>
          </a:p>
          <a:p>
            <a:pPr algn="l">
              <a:lnSpc>
                <a:spcPts val="1740"/>
              </a:lnSpc>
              <a:spcBef>
                <a:spcPts val="0"/>
              </a:spcBef>
              <a:spcAft>
                <a:spcPts val="0"/>
              </a:spcAft>
              <a:defRPr sz="1160" b="0">
                <a:solidFill>
                  <a:srgbClr val="5A7588"/>
                </a:solidFill>
                <a:latin typeface="Noto Sans CJK SC"/>
              </a:defRPr>
            </a:pPr>
            <a:r>
              <a:rPr lang="zh-CN" sz="1160" b="0">
                <a:solidFill>
                  <a:srgbClr val="5A7588"/>
                </a:solidFill>
                <a:latin typeface="Noto Sans CJK SC"/>
                <a:ea typeface="Noto Sans CJK SC"/>
                <a:cs typeface="Noto Sans CJK SC"/>
              </a:rPr>
              <a:t>并按 DID 方法更新 DID 文档。</a:t>
            </a:r>
            <a:endParaRPr lang="zh-CN" sz="1160" b="0">
              <a:solidFill>
                <a:srgbClr val="5A7588"/>
              </a:solidFill>
              <a:latin typeface="Noto Sans CJK SC"/>
              <a:ea typeface="Noto Sans CJK SC"/>
              <a:cs typeface="Noto Sans CJK SC"/>
            </a:endParaRPr>
          </a:p>
        </p:txBody>
      </p:sp>
      <p:sp>
        <p:nvSpPr>
          <p:cNvPr id="38"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9"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40" name="Key message EN"/>
          <p:cNvSpPr txBox="1"/>
          <p:nvPr/>
        </p:nvSpPr>
        <p:spPr>
          <a:xfrm>
            <a:off x="740664" y="5769864"/>
            <a:ext cx="10689336" cy="330301"/>
          </a:xfrm>
          <a:prstGeom prst="rect">
            <a:avLst/>
          </a:prstGeom>
          <a:noFill/>
        </p:spPr>
        <p:txBody>
          <a:bodyPr wrap="none" lIns="0" tIns="12700" rIns="0" bIns="0" anchor="t">
            <a:noAutofit/>
          </a:bodyPr>
          <a:lstStyle/>
          <a:p>
            <a:pPr algn="l">
              <a:lnSpc>
                <a:spcPts val="2000"/>
              </a:lnSpc>
              <a:spcBef>
                <a:spcPts val="0"/>
              </a:spcBef>
              <a:spcAft>
                <a:spcPts val="0"/>
              </a:spcAft>
              <a:defRPr sz="1640" b="1">
                <a:solidFill>
                  <a:srgbClr val="10334A"/>
                </a:solidFill>
                <a:latin typeface="Arial" panose="020B0704020202020204"/>
              </a:defRPr>
            </a:pPr>
            <a:r>
              <a:rPr lang="en-US" sz="1640" b="1">
                <a:solidFill>
                  <a:srgbClr val="10334A"/>
                </a:solidFill>
                <a:latin typeface="Arial" panose="020B0704020202020204"/>
                <a:ea typeface="Arial" panose="020B0704020202020204"/>
                <a:cs typeface="Arial" panose="020B0704020202020204"/>
              </a:rPr>
              <a:t>A metadata host delivers bytes; a valid DID update authorizes a new version.</a:t>
            </a:r>
            <a:endParaRPr lang="en-US" sz="1640" b="1">
              <a:solidFill>
                <a:srgbClr val="10334A"/>
              </a:solidFill>
              <a:latin typeface="Arial" panose="020B0704020202020204"/>
              <a:ea typeface="Arial" panose="020B0704020202020204"/>
              <a:cs typeface="Arial" panose="020B0704020202020204"/>
            </a:endParaRPr>
          </a:p>
        </p:txBody>
      </p:sp>
      <p:sp>
        <p:nvSpPr>
          <p:cNvPr id="41" name="Key message ZH"/>
          <p:cNvSpPr txBox="1"/>
          <p:nvPr/>
        </p:nvSpPr>
        <p:spPr>
          <a:xfrm>
            <a:off x="740664" y="611388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元数据托管方交付字节；有效的 DID 文档更新才能授权新的元数据版本。</a:t>
            </a:r>
            <a:endParaRPr lang="zh-CN" sz="1200" b="0">
              <a:solidFill>
                <a:srgbClr val="5A7588"/>
              </a:solidFill>
              <a:latin typeface="Noto Sans CJK SC"/>
              <a:ea typeface="Noto Sans CJK SC"/>
              <a:cs typeface="Noto Sans CJK SC"/>
            </a:endParaRPr>
          </a:p>
        </p:txBody>
      </p:sp>
      <p:sp>
        <p:nvSpPr>
          <p:cNvPr id="42"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43"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44"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08</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AS verification: discovery, admission and proof</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授权服务器验证：发现、准入与客户端证明</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AS verification row 0"/>
          <p:cNvSpPr/>
          <p:nvPr/>
        </p:nvSpPr>
        <p:spPr>
          <a:xfrm>
            <a:off x="566928" y="1417320"/>
            <a:ext cx="11055096" cy="1243584"/>
          </a:xfrm>
          <a:prstGeom prst="roundRect">
            <a:avLst>
              <a:gd name="adj" fmla="val 6000"/>
            </a:avLst>
          </a:prstGeom>
          <a:solidFill>
            <a:srgbClr val="ECF8F6"/>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Stage 1"/>
          <p:cNvSpPr/>
          <p:nvPr/>
        </p:nvSpPr>
        <p:spPr>
          <a:xfrm>
            <a:off x="786384" y="1737360"/>
            <a:ext cx="438912" cy="438912"/>
          </a:xfrm>
          <a:prstGeom prst="ellipse">
            <a:avLst/>
          </a:prstGeom>
          <a:solidFill>
            <a:srgbClr val="07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ge 1 number"/>
          <p:cNvSpPr txBox="1"/>
          <p:nvPr/>
        </p:nvSpPr>
        <p:spPr>
          <a:xfrm>
            <a:off x="786384" y="1787651"/>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1</a:t>
            </a:r>
            <a:endParaRPr lang="en-US" sz="2000" b="1">
              <a:solidFill>
                <a:srgbClr val="FFFFFF"/>
              </a:solidFill>
              <a:latin typeface="Arial" panose="020B0704020202020204"/>
              <a:ea typeface="Arial" panose="020B0704020202020204"/>
              <a:cs typeface="Arial" panose="020B0704020202020204"/>
            </a:endParaRPr>
          </a:p>
        </p:txBody>
      </p:sp>
      <p:sp>
        <p:nvSpPr>
          <p:cNvPr id="8" name="AS verification title 0 EN"/>
          <p:cNvSpPr txBox="1"/>
          <p:nvPr/>
        </p:nvSpPr>
        <p:spPr>
          <a:xfrm>
            <a:off x="1499616" y="1591056"/>
            <a:ext cx="2926080" cy="361289"/>
          </a:xfrm>
          <a:prstGeom prst="rect">
            <a:avLst/>
          </a:prstGeom>
          <a:noFill/>
        </p:spPr>
        <p:txBody>
          <a:bodyPr wrap="none" lIns="0" tIns="12700" rIns="0" bIns="0" anchor="t">
            <a:noAutofit/>
          </a:bodyPr>
          <a:lstStyle/>
          <a:p>
            <a:pPr algn="l">
              <a:lnSpc>
                <a:spcPts val="2245"/>
              </a:lnSpc>
              <a:spcBef>
                <a:spcPts val="0"/>
              </a:spcBef>
              <a:spcAft>
                <a:spcPts val="0"/>
              </a:spcAft>
              <a:defRPr sz="1840" b="1">
                <a:solidFill>
                  <a:srgbClr val="07888E"/>
                </a:solidFill>
                <a:latin typeface="Arial" panose="020B0704020202020204"/>
              </a:defRPr>
            </a:pPr>
            <a:r>
              <a:rPr lang="en-US" sz="1840" b="1">
                <a:solidFill>
                  <a:srgbClr val="07888E"/>
                </a:solidFill>
                <a:latin typeface="Arial" panose="020B0704020202020204"/>
                <a:ea typeface="Arial" panose="020B0704020202020204"/>
                <a:cs typeface="Arial" panose="020B0704020202020204"/>
              </a:rPr>
              <a:t>Validate the DID</a:t>
            </a:r>
            <a:endParaRPr lang="en-US" sz="1840" b="1">
              <a:solidFill>
                <a:srgbClr val="07888E"/>
              </a:solidFill>
              <a:latin typeface="Arial" panose="020B0704020202020204"/>
              <a:ea typeface="Arial" panose="020B0704020202020204"/>
              <a:cs typeface="Arial" panose="020B0704020202020204"/>
            </a:endParaRPr>
          </a:p>
        </p:txBody>
      </p:sp>
      <p:sp>
        <p:nvSpPr>
          <p:cNvPr id="9" name="AS verification title 0 ZH"/>
          <p:cNvSpPr txBox="1"/>
          <p:nvPr/>
        </p:nvSpPr>
        <p:spPr>
          <a:xfrm>
            <a:off x="1499616" y="1988921"/>
            <a:ext cx="2926080" cy="279425"/>
          </a:xfrm>
          <a:prstGeom prst="rect">
            <a:avLst/>
          </a:prstGeom>
          <a:noFill/>
        </p:spPr>
        <p:txBody>
          <a:bodyPr wrap="none" lIns="0" tIns="12700" rIns="0" bIns="0" anchor="t">
            <a:noAutofit/>
          </a:bodyPr>
          <a:lstStyle/>
          <a:p>
            <a:pPr algn="l">
              <a:lnSpc>
                <a:spcPts val="1600"/>
              </a:lnSpc>
              <a:spcBef>
                <a:spcPts val="0"/>
              </a:spcBef>
              <a:spcAft>
                <a:spcPts val="0"/>
              </a:spcAft>
              <a:defRPr sz="1260" b="0">
                <a:solidFill>
                  <a:srgbClr val="5A7588"/>
                </a:solidFill>
                <a:latin typeface="Noto Sans CJK SC"/>
              </a:defRPr>
            </a:pPr>
            <a:r>
              <a:rPr lang="zh-CN" sz="1260" b="0">
                <a:solidFill>
                  <a:srgbClr val="5A7588"/>
                </a:solidFill>
                <a:latin typeface="Noto Sans CJK SC"/>
                <a:ea typeface="Noto Sans CJK SC"/>
                <a:cs typeface="Noto Sans CJK SC"/>
              </a:rPr>
              <a:t>验证 DID</a:t>
            </a:r>
            <a:endParaRPr lang="zh-CN" sz="1260" b="0">
              <a:solidFill>
                <a:srgbClr val="5A7588"/>
              </a:solidFill>
              <a:latin typeface="Noto Sans CJK SC"/>
              <a:ea typeface="Noto Sans CJK SC"/>
              <a:cs typeface="Noto Sans CJK SC"/>
            </a:endParaRPr>
          </a:p>
        </p:txBody>
      </p:sp>
      <p:cxnSp>
        <p:nvCxnSpPr>
          <p:cNvPr id="10" name="AS verification divider 0"/>
          <p:cNvCxnSpPr/>
          <p:nvPr/>
        </p:nvCxnSpPr>
        <p:spPr>
          <a:xfrm>
            <a:off x="4562856" y="1581912"/>
            <a:ext cx="0" cy="868679"/>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11" name="AS verification detail 0 EN"/>
          <p:cNvSpPr txBox="1"/>
          <p:nvPr/>
        </p:nvSpPr>
        <p:spPr>
          <a:xfrm>
            <a:off x="4782312" y="1463040"/>
            <a:ext cx="6611112" cy="578205"/>
          </a:xfrm>
          <a:prstGeom prst="rect">
            <a:avLst/>
          </a:prstGeom>
          <a:noFill/>
        </p:spPr>
        <p:txBody>
          <a:bodyPr wrap="none" lIns="0" tIns="12700" rIns="0" bIns="0" anchor="t">
            <a:noAutofit/>
          </a:bodyPr>
          <a:lstStyle/>
          <a:p>
            <a:pPr algn="l">
              <a:lnSpc>
                <a:spcPts val="1975"/>
              </a:lnSpc>
              <a:spcBef>
                <a:spcPts val="0"/>
              </a:spcBef>
              <a:spcAft>
                <a:spcPts val="0"/>
              </a:spcAft>
              <a:defRPr sz="1620" b="0">
                <a:solidFill>
                  <a:srgbClr val="19384B"/>
                </a:solidFill>
                <a:latin typeface="Arial" panose="020B0704020202020204"/>
              </a:defRPr>
            </a:pPr>
            <a:r>
              <a:rPr lang="en-US" sz="1620" b="0">
                <a:solidFill>
                  <a:srgbClr val="19384B"/>
                </a:solidFill>
                <a:latin typeface="Arial" panose="020B0704020202020204"/>
                <a:ea typeface="Arial" panose="020B0704020202020204"/>
                <a:cs typeface="Arial" panose="020B0704020202020204"/>
              </a:rPr>
              <a:t>Resolve client_id = Agent DID. Validate the current</a:t>
            </a:r>
            <a:endParaRPr lang="en-US" sz="1620" b="0">
              <a:solidFill>
                <a:srgbClr val="19384B"/>
              </a:solidFill>
              <a:latin typeface="Arial" panose="020B0704020202020204"/>
              <a:ea typeface="Arial" panose="020B0704020202020204"/>
              <a:cs typeface="Arial" panose="020B0704020202020204"/>
            </a:endParaRPr>
          </a:p>
          <a:p>
            <a:pPr algn="l">
              <a:lnSpc>
                <a:spcPts val="1975"/>
              </a:lnSpc>
              <a:spcBef>
                <a:spcPts val="0"/>
              </a:spcBef>
              <a:spcAft>
                <a:spcPts val="0"/>
              </a:spcAft>
              <a:defRPr sz="1620" b="0">
                <a:solidFill>
                  <a:srgbClr val="19384B"/>
                </a:solidFill>
                <a:latin typeface="Arial" panose="020B0704020202020204"/>
              </a:defRPr>
            </a:pPr>
            <a:r>
              <a:rPr lang="en-US" sz="1620" b="0">
                <a:solidFill>
                  <a:srgbClr val="19384B"/>
                </a:solidFill>
                <a:latin typeface="Arial" panose="020B0704020202020204"/>
                <a:ea typeface="Arial" panose="020B0704020202020204"/>
                <a:cs typeface="Arial" panose="020B0704020202020204"/>
              </a:rPr>
              <a:t>DID Document and its authorized authentication keys.</a:t>
            </a:r>
            <a:endParaRPr lang="en-US" sz="1620" b="0">
              <a:solidFill>
                <a:srgbClr val="19384B"/>
              </a:solidFill>
              <a:latin typeface="Arial" panose="020B0704020202020204"/>
              <a:ea typeface="Arial" panose="020B0704020202020204"/>
              <a:cs typeface="Arial" panose="020B0704020202020204"/>
            </a:endParaRPr>
          </a:p>
        </p:txBody>
      </p:sp>
      <p:sp>
        <p:nvSpPr>
          <p:cNvPr id="12" name="AS verification detail 0 ZH"/>
          <p:cNvSpPr txBox="1"/>
          <p:nvPr/>
        </p:nvSpPr>
        <p:spPr>
          <a:xfrm>
            <a:off x="4782312" y="2091537"/>
            <a:ext cx="6611112" cy="541019"/>
          </a:xfrm>
          <a:prstGeom prst="rect">
            <a:avLst/>
          </a:prstGeom>
          <a:noFill/>
        </p:spPr>
        <p:txBody>
          <a:bodyPr wrap="none" lIns="0" tIns="12700" rIns="0" bIns="0" anchor="t">
            <a:noAutofit/>
          </a:bodyPr>
          <a:lstStyle/>
          <a:p>
            <a:pPr algn="l">
              <a:lnSpc>
                <a:spcPts val="1830"/>
              </a:lnSpc>
              <a:spcBef>
                <a:spcPts val="0"/>
              </a:spcBef>
              <a:spcAft>
                <a:spcPts val="0"/>
              </a:spcAft>
              <a:defRPr sz="1220" b="0">
                <a:solidFill>
                  <a:srgbClr val="5A7588"/>
                </a:solidFill>
                <a:latin typeface="Noto Sans CJK SC"/>
              </a:defRPr>
            </a:pPr>
            <a:r>
              <a:rPr lang="zh-CN" sz="1220" b="0">
                <a:solidFill>
                  <a:srgbClr val="5A7588"/>
                </a:solidFill>
                <a:latin typeface="Noto Sans CJK SC"/>
                <a:ea typeface="Noto Sans CJK SC"/>
                <a:cs typeface="Noto Sans CJK SC"/>
              </a:rPr>
              <a:t>接收 client_id = Agent DID；按对应 DID 方法验证</a:t>
            </a:r>
            <a:endParaRPr lang="zh-CN" sz="1220" b="0">
              <a:solidFill>
                <a:srgbClr val="5A7588"/>
              </a:solidFill>
              <a:latin typeface="Noto Sans CJK SC"/>
              <a:ea typeface="Noto Sans CJK SC"/>
              <a:cs typeface="Noto Sans CJK SC"/>
            </a:endParaRPr>
          </a:p>
          <a:p>
            <a:pPr algn="l">
              <a:lnSpc>
                <a:spcPts val="1830"/>
              </a:lnSpc>
              <a:spcBef>
                <a:spcPts val="0"/>
              </a:spcBef>
              <a:spcAft>
                <a:spcPts val="0"/>
              </a:spcAft>
              <a:defRPr sz="1220" b="0">
                <a:solidFill>
                  <a:srgbClr val="5A7588"/>
                </a:solidFill>
                <a:latin typeface="Noto Sans CJK SC"/>
              </a:defRPr>
            </a:pPr>
            <a:r>
              <a:rPr lang="zh-CN" sz="1220" b="0">
                <a:solidFill>
                  <a:srgbClr val="5A7588"/>
                </a:solidFill>
                <a:latin typeface="Noto Sans CJK SC"/>
                <a:ea typeface="Noto Sans CJK SC"/>
                <a:cs typeface="Noto Sans CJK SC"/>
              </a:rPr>
              <a:t>当前 DID 文档及其已授权认证密钥。</a:t>
            </a:r>
            <a:endParaRPr lang="zh-CN" sz="1220" b="0">
              <a:solidFill>
                <a:srgbClr val="5A7588"/>
              </a:solidFill>
              <a:latin typeface="Noto Sans CJK SC"/>
              <a:ea typeface="Noto Sans CJK SC"/>
              <a:cs typeface="Noto Sans CJK SC"/>
            </a:endParaRPr>
          </a:p>
        </p:txBody>
      </p:sp>
      <p:sp>
        <p:nvSpPr>
          <p:cNvPr id="13" name="AS verification row 1"/>
          <p:cNvSpPr/>
          <p:nvPr/>
        </p:nvSpPr>
        <p:spPr>
          <a:xfrm>
            <a:off x="566928" y="2743200"/>
            <a:ext cx="11055096" cy="1243584"/>
          </a:xfrm>
          <a:prstGeom prst="roundRect">
            <a:avLst>
              <a:gd name="adj" fmla="val 6000"/>
            </a:avLst>
          </a:prstGeom>
          <a:solidFill>
            <a:srgbClr val="EDF3FD"/>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Stage 2"/>
          <p:cNvSpPr/>
          <p:nvPr/>
        </p:nvSpPr>
        <p:spPr>
          <a:xfrm>
            <a:off x="786384" y="3063240"/>
            <a:ext cx="438912" cy="438912"/>
          </a:xfrm>
          <a:prstGeom prst="ellipse">
            <a:avLst/>
          </a:prstGeom>
          <a:solidFill>
            <a:srgbClr val="216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ge 2 number"/>
          <p:cNvSpPr txBox="1"/>
          <p:nvPr/>
        </p:nvSpPr>
        <p:spPr>
          <a:xfrm>
            <a:off x="786384" y="3113532"/>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2</a:t>
            </a:r>
            <a:endParaRPr lang="en-US" sz="2000" b="1">
              <a:solidFill>
                <a:srgbClr val="FFFFFF"/>
              </a:solidFill>
              <a:latin typeface="Arial" panose="020B0704020202020204"/>
              <a:ea typeface="Arial" panose="020B0704020202020204"/>
              <a:cs typeface="Arial" panose="020B0704020202020204"/>
            </a:endParaRPr>
          </a:p>
        </p:txBody>
      </p:sp>
      <p:sp>
        <p:nvSpPr>
          <p:cNvPr id="16" name="AS verification title 1 EN"/>
          <p:cNvSpPr txBox="1"/>
          <p:nvPr/>
        </p:nvSpPr>
        <p:spPr>
          <a:xfrm>
            <a:off x="1499616" y="2916936"/>
            <a:ext cx="2926080" cy="646379"/>
          </a:xfrm>
          <a:prstGeom prst="rect">
            <a:avLst/>
          </a:prstGeom>
          <a:noFill/>
        </p:spPr>
        <p:txBody>
          <a:bodyPr wrap="none" lIns="0" tIns="12700" rIns="0" bIns="0" anchor="t">
            <a:noAutofit/>
          </a:bodyPr>
          <a:lstStyle/>
          <a:p>
            <a:pPr algn="l">
              <a:lnSpc>
                <a:spcPts val="2245"/>
              </a:lnSpc>
              <a:spcBef>
                <a:spcPts val="0"/>
              </a:spcBef>
              <a:spcAft>
                <a:spcPts val="0"/>
              </a:spcAft>
              <a:defRPr sz="1840" b="1">
                <a:solidFill>
                  <a:srgbClr val="2168D5"/>
                </a:solidFill>
                <a:latin typeface="Arial" panose="020B0704020202020204"/>
              </a:defRPr>
            </a:pPr>
            <a:r>
              <a:rPr lang="en-US" sz="1840" b="1">
                <a:solidFill>
                  <a:srgbClr val="2168D5"/>
                </a:solidFill>
                <a:latin typeface="Arial" panose="020B0704020202020204"/>
                <a:ea typeface="Arial" panose="020B0704020202020204"/>
                <a:cs typeface="Arial" panose="020B0704020202020204"/>
              </a:rPr>
              <a:t>Bind metadata</a:t>
            </a:r>
            <a:endParaRPr lang="en-US" sz="1840" b="1">
              <a:solidFill>
                <a:srgbClr val="2168D5"/>
              </a:solidFill>
              <a:latin typeface="Arial" panose="020B0704020202020204"/>
              <a:ea typeface="Arial" panose="020B0704020202020204"/>
              <a:cs typeface="Arial" panose="020B0704020202020204"/>
            </a:endParaRPr>
          </a:p>
          <a:p>
            <a:pPr algn="l">
              <a:lnSpc>
                <a:spcPts val="2245"/>
              </a:lnSpc>
              <a:spcBef>
                <a:spcPts val="0"/>
              </a:spcBef>
              <a:spcAft>
                <a:spcPts val="0"/>
              </a:spcAft>
              <a:defRPr sz="1840" b="1">
                <a:solidFill>
                  <a:srgbClr val="2168D5"/>
                </a:solidFill>
                <a:latin typeface="Arial" panose="020B0704020202020204"/>
              </a:defRPr>
            </a:pPr>
            <a:r>
              <a:rPr lang="en-US" sz="1840" b="1">
                <a:solidFill>
                  <a:srgbClr val="2168D5"/>
                </a:solidFill>
                <a:latin typeface="Arial" panose="020B0704020202020204"/>
                <a:ea typeface="Arial" panose="020B0704020202020204"/>
                <a:cs typeface="Arial" panose="020B0704020202020204"/>
              </a:rPr>
              <a:t>and admit the client</a:t>
            </a:r>
            <a:endParaRPr lang="en-US" sz="1840" b="1">
              <a:solidFill>
                <a:srgbClr val="2168D5"/>
              </a:solidFill>
              <a:latin typeface="Arial" panose="020B0704020202020204"/>
              <a:ea typeface="Arial" panose="020B0704020202020204"/>
              <a:cs typeface="Arial" panose="020B0704020202020204"/>
            </a:endParaRPr>
          </a:p>
        </p:txBody>
      </p:sp>
      <p:sp>
        <p:nvSpPr>
          <p:cNvPr id="17" name="AS verification title 1 ZH"/>
          <p:cNvSpPr txBox="1"/>
          <p:nvPr/>
        </p:nvSpPr>
        <p:spPr>
          <a:xfrm>
            <a:off x="1499616" y="3599891"/>
            <a:ext cx="2926080" cy="279425"/>
          </a:xfrm>
          <a:prstGeom prst="rect">
            <a:avLst/>
          </a:prstGeom>
          <a:noFill/>
        </p:spPr>
        <p:txBody>
          <a:bodyPr wrap="none" lIns="0" tIns="12700" rIns="0" bIns="0" anchor="t">
            <a:noAutofit/>
          </a:bodyPr>
          <a:lstStyle/>
          <a:p>
            <a:pPr algn="l">
              <a:lnSpc>
                <a:spcPts val="1600"/>
              </a:lnSpc>
              <a:spcBef>
                <a:spcPts val="0"/>
              </a:spcBef>
              <a:spcAft>
                <a:spcPts val="0"/>
              </a:spcAft>
              <a:defRPr sz="1260" b="0">
                <a:solidFill>
                  <a:srgbClr val="5A7588"/>
                </a:solidFill>
                <a:latin typeface="Noto Sans CJK SC"/>
              </a:defRPr>
            </a:pPr>
            <a:r>
              <a:rPr lang="zh-CN" sz="1260" b="0">
                <a:solidFill>
                  <a:srgbClr val="5A7588"/>
                </a:solidFill>
                <a:latin typeface="Noto Sans CJK SC"/>
                <a:ea typeface="Noto Sans CJK SC"/>
                <a:cs typeface="Noto Sans CJK SC"/>
              </a:rPr>
              <a:t>绑定元数据，并完成准入</a:t>
            </a:r>
            <a:endParaRPr lang="zh-CN" sz="1260" b="0">
              <a:solidFill>
                <a:srgbClr val="5A7588"/>
              </a:solidFill>
              <a:latin typeface="Noto Sans CJK SC"/>
              <a:ea typeface="Noto Sans CJK SC"/>
              <a:cs typeface="Noto Sans CJK SC"/>
            </a:endParaRPr>
          </a:p>
        </p:txBody>
      </p:sp>
      <p:cxnSp>
        <p:nvCxnSpPr>
          <p:cNvPr id="18" name="AS verification divider 1"/>
          <p:cNvCxnSpPr/>
          <p:nvPr/>
        </p:nvCxnSpPr>
        <p:spPr>
          <a:xfrm>
            <a:off x="4562856" y="2907792"/>
            <a:ext cx="0" cy="86868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19" name="AS verification detail 1 EN"/>
          <p:cNvSpPr txBox="1"/>
          <p:nvPr/>
        </p:nvSpPr>
        <p:spPr>
          <a:xfrm>
            <a:off x="4782312" y="2788920"/>
            <a:ext cx="6611112" cy="578205"/>
          </a:xfrm>
          <a:prstGeom prst="rect">
            <a:avLst/>
          </a:prstGeom>
          <a:noFill/>
        </p:spPr>
        <p:txBody>
          <a:bodyPr wrap="none" lIns="0" tIns="12700" rIns="0" bIns="0" anchor="t">
            <a:noAutofit/>
          </a:bodyPr>
          <a:lstStyle/>
          <a:p>
            <a:pPr algn="l">
              <a:lnSpc>
                <a:spcPts val="1975"/>
              </a:lnSpc>
              <a:spcBef>
                <a:spcPts val="0"/>
              </a:spcBef>
              <a:spcAft>
                <a:spcPts val="0"/>
              </a:spcAft>
              <a:defRPr sz="1620" b="0">
                <a:solidFill>
                  <a:srgbClr val="19384B"/>
                </a:solidFill>
                <a:latin typeface="Arial" panose="020B0704020202020204"/>
              </a:defRPr>
            </a:pPr>
            <a:r>
              <a:rPr lang="en-US" sz="1620" b="0">
                <a:solidFill>
                  <a:srgbClr val="19384B"/>
                </a:solidFill>
                <a:latin typeface="Arial" panose="020B0704020202020204"/>
                <a:ea typeface="Arial" panose="020B0704020202020204"/>
                <a:cs typeface="Arial" panose="020B0704020202020204"/>
              </a:rPr>
              <a:t>Fetch metadata; check its digest and client_id.</a:t>
            </a:r>
            <a:endParaRPr lang="en-US" sz="1620" b="0">
              <a:solidFill>
                <a:srgbClr val="19384B"/>
              </a:solidFill>
              <a:latin typeface="Arial" panose="020B0704020202020204"/>
              <a:ea typeface="Arial" panose="020B0704020202020204"/>
              <a:cs typeface="Arial" panose="020B0704020202020204"/>
            </a:endParaRPr>
          </a:p>
          <a:p>
            <a:pPr algn="l">
              <a:lnSpc>
                <a:spcPts val="1975"/>
              </a:lnSpc>
              <a:spcBef>
                <a:spcPts val="0"/>
              </a:spcBef>
              <a:spcAft>
                <a:spcPts val="0"/>
              </a:spcAft>
              <a:defRPr sz="1620" b="0">
                <a:solidFill>
                  <a:srgbClr val="19384B"/>
                </a:solidFill>
                <a:latin typeface="Arial" panose="020B0704020202020204"/>
              </a:defRPr>
            </a:pPr>
            <a:r>
              <a:rPr lang="en-US" sz="1620" b="0">
                <a:solidFill>
                  <a:srgbClr val="19384B"/>
                </a:solidFill>
                <a:latin typeface="Arial" panose="020B0704020202020204"/>
                <a:ea typeface="Arial" panose="020B0704020202020204"/>
                <a:cs typeface="Arial" panose="020B0704020202020204"/>
              </a:rPr>
              <a:t>Apply callback, grant-type and client admission policy.</a:t>
            </a:r>
            <a:endParaRPr lang="en-US" sz="1620" b="0">
              <a:solidFill>
                <a:srgbClr val="19384B"/>
              </a:solidFill>
              <a:latin typeface="Arial" panose="020B0704020202020204"/>
              <a:ea typeface="Arial" panose="020B0704020202020204"/>
              <a:cs typeface="Arial" panose="020B0704020202020204"/>
            </a:endParaRPr>
          </a:p>
        </p:txBody>
      </p:sp>
      <p:sp>
        <p:nvSpPr>
          <p:cNvPr id="20" name="AS verification detail 1 ZH"/>
          <p:cNvSpPr txBox="1"/>
          <p:nvPr/>
        </p:nvSpPr>
        <p:spPr>
          <a:xfrm>
            <a:off x="4782312" y="3417417"/>
            <a:ext cx="6611112" cy="541019"/>
          </a:xfrm>
          <a:prstGeom prst="rect">
            <a:avLst/>
          </a:prstGeom>
          <a:noFill/>
        </p:spPr>
        <p:txBody>
          <a:bodyPr wrap="none" lIns="0" tIns="12700" rIns="0" bIns="0" anchor="t">
            <a:noAutofit/>
          </a:bodyPr>
          <a:lstStyle/>
          <a:p>
            <a:pPr algn="l">
              <a:lnSpc>
                <a:spcPts val="1830"/>
              </a:lnSpc>
              <a:spcBef>
                <a:spcPts val="0"/>
              </a:spcBef>
              <a:spcAft>
                <a:spcPts val="0"/>
              </a:spcAft>
              <a:defRPr sz="1220" b="0">
                <a:solidFill>
                  <a:srgbClr val="5A7588"/>
                </a:solidFill>
                <a:latin typeface="Noto Sans CJK SC"/>
              </a:defRPr>
            </a:pPr>
            <a:r>
              <a:rPr lang="zh-CN" sz="1220" b="0">
                <a:solidFill>
                  <a:srgbClr val="5A7588"/>
                </a:solidFill>
                <a:latin typeface="Noto Sans CJK SC"/>
                <a:ea typeface="Noto Sans CJK SC"/>
                <a:cs typeface="Noto Sans CJK SC"/>
              </a:rPr>
              <a:t>获取元数据，核验摘要与 client_id；</a:t>
            </a:r>
            <a:endParaRPr lang="zh-CN" sz="1220" b="0">
              <a:solidFill>
                <a:srgbClr val="5A7588"/>
              </a:solidFill>
              <a:latin typeface="Noto Sans CJK SC"/>
              <a:ea typeface="Noto Sans CJK SC"/>
              <a:cs typeface="Noto Sans CJK SC"/>
            </a:endParaRPr>
          </a:p>
          <a:p>
            <a:pPr algn="l">
              <a:lnSpc>
                <a:spcPts val="1830"/>
              </a:lnSpc>
              <a:spcBef>
                <a:spcPts val="0"/>
              </a:spcBef>
              <a:spcAft>
                <a:spcPts val="0"/>
              </a:spcAft>
              <a:defRPr sz="1220" b="0">
                <a:solidFill>
                  <a:srgbClr val="5A7588"/>
                </a:solidFill>
                <a:latin typeface="Noto Sans CJK SC"/>
              </a:defRPr>
            </a:pPr>
            <a:r>
              <a:rPr lang="zh-CN" sz="1220" b="0">
                <a:solidFill>
                  <a:srgbClr val="5A7588"/>
                </a:solidFill>
                <a:latin typeface="Noto Sans CJK SC"/>
                <a:ea typeface="Noto Sans CJK SC"/>
                <a:cs typeface="Noto Sans CJK SC"/>
              </a:rPr>
              <a:t>检查回调地址、授权类型及客户端准入策略。</a:t>
            </a:r>
            <a:endParaRPr lang="zh-CN" sz="1220" b="0">
              <a:solidFill>
                <a:srgbClr val="5A7588"/>
              </a:solidFill>
              <a:latin typeface="Noto Sans CJK SC"/>
              <a:ea typeface="Noto Sans CJK SC"/>
              <a:cs typeface="Noto Sans CJK SC"/>
            </a:endParaRPr>
          </a:p>
        </p:txBody>
      </p:sp>
      <p:sp>
        <p:nvSpPr>
          <p:cNvPr id="21" name="AS verification row 2"/>
          <p:cNvSpPr/>
          <p:nvPr/>
        </p:nvSpPr>
        <p:spPr>
          <a:xfrm>
            <a:off x="566928" y="4069080"/>
            <a:ext cx="11055096" cy="1243584"/>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22" name="Stage 3"/>
          <p:cNvSpPr/>
          <p:nvPr/>
        </p:nvSpPr>
        <p:spPr>
          <a:xfrm>
            <a:off x="786384" y="4389120"/>
            <a:ext cx="438912" cy="438912"/>
          </a:xfrm>
          <a:prstGeom prst="ellipse">
            <a:avLst/>
          </a:prstGeom>
          <a:solidFill>
            <a:srgbClr val="10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3 number"/>
          <p:cNvSpPr txBox="1"/>
          <p:nvPr/>
        </p:nvSpPr>
        <p:spPr>
          <a:xfrm>
            <a:off x="786384" y="4439412"/>
            <a:ext cx="438912" cy="386080"/>
          </a:xfrm>
          <a:prstGeom prst="rect">
            <a:avLst/>
          </a:prstGeom>
          <a:noFill/>
        </p:spPr>
        <p:txBody>
          <a:bodyPr wrap="none" lIns="0" tIns="12700" rIns="0" bIns="0" anchor="t">
            <a:noAutofit/>
          </a:bodyPr>
          <a:lstStyle/>
          <a:p>
            <a:pPr algn="ctr">
              <a:lnSpc>
                <a:spcPts val="2440"/>
              </a:lnSpc>
              <a:spcBef>
                <a:spcPts val="0"/>
              </a:spcBef>
              <a:spcAft>
                <a:spcPts val="0"/>
              </a:spcAft>
              <a:defRPr sz="2000" b="1">
                <a:solidFill>
                  <a:srgbClr val="FFFFFF"/>
                </a:solidFill>
                <a:latin typeface="Arial" panose="020B0704020202020204"/>
              </a:defRPr>
            </a:pPr>
            <a:r>
              <a:rPr lang="en-US" sz="2000" b="1">
                <a:solidFill>
                  <a:srgbClr val="FFFFFF"/>
                </a:solidFill>
                <a:latin typeface="Arial" panose="020B0704020202020204"/>
                <a:ea typeface="Arial" panose="020B0704020202020204"/>
                <a:cs typeface="Arial" panose="020B0704020202020204"/>
              </a:rPr>
              <a:t>3</a:t>
            </a:r>
            <a:endParaRPr lang="en-US" sz="2000" b="1">
              <a:solidFill>
                <a:srgbClr val="FFFFFF"/>
              </a:solidFill>
              <a:latin typeface="Arial" panose="020B0704020202020204"/>
              <a:ea typeface="Arial" panose="020B0704020202020204"/>
              <a:cs typeface="Arial" panose="020B0704020202020204"/>
            </a:endParaRPr>
          </a:p>
        </p:txBody>
      </p:sp>
      <p:sp>
        <p:nvSpPr>
          <p:cNvPr id="24" name="AS verification title 2 EN"/>
          <p:cNvSpPr txBox="1"/>
          <p:nvPr/>
        </p:nvSpPr>
        <p:spPr>
          <a:xfrm>
            <a:off x="1499616" y="4242816"/>
            <a:ext cx="2926080" cy="361289"/>
          </a:xfrm>
          <a:prstGeom prst="rect">
            <a:avLst/>
          </a:prstGeom>
          <a:noFill/>
        </p:spPr>
        <p:txBody>
          <a:bodyPr wrap="none" lIns="0" tIns="12700" rIns="0" bIns="0" anchor="t">
            <a:noAutofit/>
          </a:bodyPr>
          <a:lstStyle/>
          <a:p>
            <a:pPr algn="l">
              <a:lnSpc>
                <a:spcPts val="2245"/>
              </a:lnSpc>
              <a:spcBef>
                <a:spcPts val="0"/>
              </a:spcBef>
              <a:spcAft>
                <a:spcPts val="0"/>
              </a:spcAft>
              <a:defRPr sz="1840" b="1">
                <a:solidFill>
                  <a:srgbClr val="10334A"/>
                </a:solidFill>
                <a:latin typeface="Arial" panose="020B0704020202020204"/>
              </a:defRPr>
            </a:pPr>
            <a:r>
              <a:rPr lang="en-US" sz="1840" b="1">
                <a:solidFill>
                  <a:srgbClr val="10334A"/>
                </a:solidFill>
                <a:latin typeface="Arial" panose="020B0704020202020204"/>
                <a:ea typeface="Arial" panose="020B0704020202020204"/>
                <a:cs typeface="Arial" panose="020B0704020202020204"/>
              </a:rPr>
              <a:t>Verify client proof</a:t>
            </a:r>
            <a:endParaRPr lang="en-US" sz="1840" b="1">
              <a:solidFill>
                <a:srgbClr val="10334A"/>
              </a:solidFill>
              <a:latin typeface="Arial" panose="020B0704020202020204"/>
              <a:ea typeface="Arial" panose="020B0704020202020204"/>
              <a:cs typeface="Arial" panose="020B0704020202020204"/>
            </a:endParaRPr>
          </a:p>
        </p:txBody>
      </p:sp>
      <p:sp>
        <p:nvSpPr>
          <p:cNvPr id="25" name="AS verification title 2 ZH"/>
          <p:cNvSpPr txBox="1"/>
          <p:nvPr/>
        </p:nvSpPr>
        <p:spPr>
          <a:xfrm>
            <a:off x="1499616" y="4640681"/>
            <a:ext cx="2926080" cy="279425"/>
          </a:xfrm>
          <a:prstGeom prst="rect">
            <a:avLst/>
          </a:prstGeom>
          <a:noFill/>
        </p:spPr>
        <p:txBody>
          <a:bodyPr wrap="none" lIns="0" tIns="12700" rIns="0" bIns="0" anchor="t">
            <a:noAutofit/>
          </a:bodyPr>
          <a:lstStyle/>
          <a:p>
            <a:pPr algn="l">
              <a:lnSpc>
                <a:spcPts val="1600"/>
              </a:lnSpc>
              <a:spcBef>
                <a:spcPts val="0"/>
              </a:spcBef>
              <a:spcAft>
                <a:spcPts val="0"/>
              </a:spcAft>
              <a:defRPr sz="1260" b="0">
                <a:solidFill>
                  <a:srgbClr val="5A7588"/>
                </a:solidFill>
                <a:latin typeface="Noto Sans CJK SC"/>
              </a:defRPr>
            </a:pPr>
            <a:r>
              <a:rPr lang="zh-CN" sz="1260" b="0">
                <a:solidFill>
                  <a:srgbClr val="5A7588"/>
                </a:solidFill>
                <a:latin typeface="Noto Sans CJK SC"/>
                <a:ea typeface="Noto Sans CJK SC"/>
                <a:cs typeface="Noto Sans CJK SC"/>
              </a:rPr>
              <a:t>验证客户端证明</a:t>
            </a:r>
            <a:endParaRPr lang="zh-CN" sz="1260" b="0">
              <a:solidFill>
                <a:srgbClr val="5A7588"/>
              </a:solidFill>
              <a:latin typeface="Noto Sans CJK SC"/>
              <a:ea typeface="Noto Sans CJK SC"/>
              <a:cs typeface="Noto Sans CJK SC"/>
            </a:endParaRPr>
          </a:p>
        </p:txBody>
      </p:sp>
      <p:cxnSp>
        <p:nvCxnSpPr>
          <p:cNvPr id="26" name="AS verification divider 2"/>
          <p:cNvCxnSpPr/>
          <p:nvPr/>
        </p:nvCxnSpPr>
        <p:spPr>
          <a:xfrm>
            <a:off x="4562856" y="4233672"/>
            <a:ext cx="0" cy="86868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27" name="AS verification detail 2 EN"/>
          <p:cNvSpPr txBox="1"/>
          <p:nvPr/>
        </p:nvSpPr>
        <p:spPr>
          <a:xfrm>
            <a:off x="4782312" y="4114800"/>
            <a:ext cx="6611112" cy="578205"/>
          </a:xfrm>
          <a:prstGeom prst="rect">
            <a:avLst/>
          </a:prstGeom>
          <a:noFill/>
        </p:spPr>
        <p:txBody>
          <a:bodyPr wrap="none" lIns="0" tIns="12700" rIns="0" bIns="0" anchor="t">
            <a:noAutofit/>
          </a:bodyPr>
          <a:lstStyle/>
          <a:p>
            <a:pPr algn="l">
              <a:lnSpc>
                <a:spcPts val="1975"/>
              </a:lnSpc>
              <a:spcBef>
                <a:spcPts val="0"/>
              </a:spcBef>
              <a:spcAft>
                <a:spcPts val="0"/>
              </a:spcAft>
              <a:defRPr sz="1620" b="0">
                <a:solidFill>
                  <a:srgbClr val="19384B"/>
                </a:solidFill>
                <a:latin typeface="Arial" panose="020B0704020202020204"/>
              </a:defRPr>
            </a:pPr>
            <a:r>
              <a:rPr lang="en-US" sz="1620" b="0">
                <a:solidFill>
                  <a:srgbClr val="19384B"/>
                </a:solidFill>
                <a:latin typeface="Arial" panose="020B0704020202020204"/>
                <a:ea typeface="Arial" panose="020B0704020202020204"/>
                <a:cs typeface="Arial" panose="020B0704020202020204"/>
              </a:rPr>
              <a:t>At the token endpoint, verify a fresh private_key_jwt</a:t>
            </a:r>
            <a:endParaRPr lang="en-US" sz="1620" b="0">
              <a:solidFill>
                <a:srgbClr val="19384B"/>
              </a:solidFill>
              <a:latin typeface="Arial" panose="020B0704020202020204"/>
              <a:ea typeface="Arial" panose="020B0704020202020204"/>
              <a:cs typeface="Arial" panose="020B0704020202020204"/>
            </a:endParaRPr>
          </a:p>
          <a:p>
            <a:pPr algn="l">
              <a:lnSpc>
                <a:spcPts val="1975"/>
              </a:lnSpc>
              <a:spcBef>
                <a:spcPts val="0"/>
              </a:spcBef>
              <a:spcAft>
                <a:spcPts val="0"/>
              </a:spcAft>
              <a:defRPr sz="1620" b="0">
                <a:solidFill>
                  <a:srgbClr val="19384B"/>
                </a:solidFill>
                <a:latin typeface="Arial" panose="020B0704020202020204"/>
              </a:defRPr>
            </a:pPr>
            <a:r>
              <a:rPr lang="en-US" sz="1620" b="0">
                <a:solidFill>
                  <a:srgbClr val="19384B"/>
                </a:solidFill>
                <a:latin typeface="Arial" panose="020B0704020202020204"/>
                <a:ea typeface="Arial" panose="020B0704020202020204"/>
                <a:cs typeface="Arial" panose="020B0704020202020204"/>
              </a:rPr>
              <a:t>with the DID-authorized key; then check the grant.</a:t>
            </a:r>
            <a:endParaRPr lang="en-US" sz="1620" b="0">
              <a:solidFill>
                <a:srgbClr val="19384B"/>
              </a:solidFill>
              <a:latin typeface="Arial" panose="020B0704020202020204"/>
              <a:ea typeface="Arial" panose="020B0704020202020204"/>
              <a:cs typeface="Arial" panose="020B0704020202020204"/>
            </a:endParaRPr>
          </a:p>
        </p:txBody>
      </p:sp>
      <p:sp>
        <p:nvSpPr>
          <p:cNvPr id="28" name="AS verification detail 2 ZH"/>
          <p:cNvSpPr txBox="1"/>
          <p:nvPr/>
        </p:nvSpPr>
        <p:spPr>
          <a:xfrm>
            <a:off x="4782312" y="4743297"/>
            <a:ext cx="6611112" cy="541019"/>
          </a:xfrm>
          <a:prstGeom prst="rect">
            <a:avLst/>
          </a:prstGeom>
          <a:noFill/>
        </p:spPr>
        <p:txBody>
          <a:bodyPr wrap="none" lIns="0" tIns="12700" rIns="0" bIns="0" anchor="t">
            <a:noAutofit/>
          </a:bodyPr>
          <a:lstStyle/>
          <a:p>
            <a:pPr algn="l">
              <a:lnSpc>
                <a:spcPts val="1830"/>
              </a:lnSpc>
              <a:spcBef>
                <a:spcPts val="0"/>
              </a:spcBef>
              <a:spcAft>
                <a:spcPts val="0"/>
              </a:spcAft>
              <a:defRPr sz="1220" b="0">
                <a:solidFill>
                  <a:srgbClr val="5A7588"/>
                </a:solidFill>
                <a:latin typeface="Noto Sans CJK SC"/>
              </a:defRPr>
            </a:pPr>
            <a:r>
              <a:rPr lang="zh-CN" sz="1220" b="0">
                <a:solidFill>
                  <a:srgbClr val="5A7588"/>
                </a:solidFill>
                <a:latin typeface="Noto Sans CJK SC"/>
                <a:ea typeface="Noto Sans CJK SC"/>
                <a:cs typeface="Noto Sans CJK SC"/>
              </a:rPr>
              <a:t>在令牌端点，用 DID 授权密钥验证新的 private_key_jwt，</a:t>
            </a:r>
            <a:endParaRPr lang="zh-CN" sz="1220" b="0">
              <a:solidFill>
                <a:srgbClr val="5A7588"/>
              </a:solidFill>
              <a:latin typeface="Noto Sans CJK SC"/>
              <a:ea typeface="Noto Sans CJK SC"/>
              <a:cs typeface="Noto Sans CJK SC"/>
            </a:endParaRPr>
          </a:p>
          <a:p>
            <a:pPr algn="l">
              <a:lnSpc>
                <a:spcPts val="1830"/>
              </a:lnSpc>
              <a:spcBef>
                <a:spcPts val="0"/>
              </a:spcBef>
              <a:spcAft>
                <a:spcPts val="0"/>
              </a:spcAft>
              <a:defRPr sz="1220" b="0">
                <a:solidFill>
                  <a:srgbClr val="5A7588"/>
                </a:solidFill>
                <a:latin typeface="Noto Sans CJK SC"/>
              </a:defRPr>
            </a:pPr>
            <a:r>
              <a:rPr lang="zh-CN" sz="1220" b="0">
                <a:solidFill>
                  <a:srgbClr val="5A7588"/>
                </a:solidFill>
                <a:latin typeface="Noto Sans CJK SC"/>
                <a:ea typeface="Noto Sans CJK SC"/>
                <a:cs typeface="Noto Sans CJK SC"/>
              </a:rPr>
              <a:t>随后独立检查有效授权。</a:t>
            </a:r>
            <a:endParaRPr lang="zh-CN" sz="1220" b="0">
              <a:solidFill>
                <a:srgbClr val="5A7588"/>
              </a:solidFill>
              <a:latin typeface="Noto Sans CJK SC"/>
              <a:ea typeface="Noto Sans CJK SC"/>
              <a:cs typeface="Noto Sans CJK SC"/>
            </a:endParaRPr>
          </a:p>
        </p:txBody>
      </p:sp>
      <p:sp>
        <p:nvSpPr>
          <p:cNvPr id="29"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0"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31" name="Key message EN"/>
          <p:cNvSpPr txBox="1"/>
          <p:nvPr/>
        </p:nvSpPr>
        <p:spPr>
          <a:xfrm>
            <a:off x="740664" y="5769864"/>
            <a:ext cx="10689336" cy="327202"/>
          </a:xfrm>
          <a:prstGeom prst="rect">
            <a:avLst/>
          </a:prstGeom>
          <a:noFill/>
        </p:spPr>
        <p:txBody>
          <a:bodyPr wrap="none" lIns="0" tIns="12700" rIns="0" bIns="0" anchor="t">
            <a:noAutofit/>
          </a:bodyPr>
          <a:lstStyle/>
          <a:p>
            <a:pPr algn="l">
              <a:lnSpc>
                <a:spcPts val="1975"/>
              </a:lnSpc>
              <a:spcBef>
                <a:spcPts val="0"/>
              </a:spcBef>
              <a:spcAft>
                <a:spcPts val="0"/>
              </a:spcAft>
              <a:defRPr sz="1620" b="1">
                <a:solidFill>
                  <a:srgbClr val="10334A"/>
                </a:solidFill>
                <a:latin typeface="Arial" panose="020B0704020202020204"/>
              </a:defRPr>
            </a:pPr>
            <a:r>
              <a:rPr lang="en-US" sz="1620" b="1">
                <a:solidFill>
                  <a:srgbClr val="10334A"/>
                </a:solidFill>
                <a:latin typeface="Arial" panose="020B0704020202020204"/>
                <a:ea typeface="Arial" panose="020B0704020202020204"/>
                <a:cs typeface="Arial" panose="020B0704020202020204"/>
              </a:rPr>
              <a:t>Discovery is not client authentication; authentication is not resource authorization.</a:t>
            </a:r>
            <a:endParaRPr lang="en-US" sz="1620" b="1">
              <a:solidFill>
                <a:srgbClr val="10334A"/>
              </a:solidFill>
              <a:latin typeface="Arial" panose="020B0704020202020204"/>
              <a:ea typeface="Arial" panose="020B0704020202020204"/>
              <a:cs typeface="Arial" panose="020B0704020202020204"/>
            </a:endParaRPr>
          </a:p>
        </p:txBody>
      </p:sp>
      <p:sp>
        <p:nvSpPr>
          <p:cNvPr id="32" name="Key message ZH"/>
          <p:cNvSpPr txBox="1"/>
          <p:nvPr/>
        </p:nvSpPr>
        <p:spPr>
          <a:xfrm>
            <a:off x="740664" y="6110782"/>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元数据发现不等于客户端认证；认证成功也不等于获得资源访问权限。</a:t>
            </a:r>
            <a:endParaRPr lang="zh-CN" sz="1200" b="0">
              <a:solidFill>
                <a:srgbClr val="5A7588"/>
              </a:solidFill>
              <a:latin typeface="Noto Sans CJK SC"/>
              <a:ea typeface="Noto Sans CJK SC"/>
              <a:cs typeface="Noto Sans CJK SC"/>
            </a:endParaRPr>
          </a:p>
        </p:txBody>
      </p:sp>
      <p:sp>
        <p:nvSpPr>
          <p:cNvPr id="33"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34"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35"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09</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 EN"/>
          <p:cNvSpPr txBox="1"/>
          <p:nvPr/>
        </p:nvSpPr>
        <p:spPr>
          <a:xfrm>
            <a:off x="566928" y="338328"/>
            <a:ext cx="11045952" cy="525526"/>
          </a:xfrm>
          <a:prstGeom prst="rect">
            <a:avLst/>
          </a:prstGeom>
          <a:noFill/>
        </p:spPr>
        <p:txBody>
          <a:bodyPr wrap="none" lIns="0" tIns="12700" rIns="0" bIns="0" anchor="t">
            <a:noAutofit/>
          </a:bodyPr>
          <a:lstStyle/>
          <a:p>
            <a:pPr algn="l">
              <a:lnSpc>
                <a:spcPts val="3540"/>
              </a:lnSpc>
              <a:spcBef>
                <a:spcPts val="0"/>
              </a:spcBef>
              <a:spcAft>
                <a:spcPts val="0"/>
              </a:spcAft>
              <a:defRPr sz="2900" b="1">
                <a:solidFill>
                  <a:srgbClr val="10334A"/>
                </a:solidFill>
                <a:latin typeface="Arial" panose="020B0704020202020204"/>
              </a:defRPr>
            </a:pPr>
            <a:r>
              <a:rPr lang="en-US" sz="2900" b="1">
                <a:solidFill>
                  <a:srgbClr val="10334A"/>
                </a:solidFill>
                <a:latin typeface="Arial" panose="020B0704020202020204"/>
                <a:ea typeface="Arial" panose="020B0704020202020204"/>
                <a:cs typeface="Arial" panose="020B0704020202020204"/>
              </a:rPr>
              <a:t>What we add — and what OAuth still does</a:t>
            </a:r>
            <a:endParaRPr lang="en-US" sz="2900" b="1">
              <a:solidFill>
                <a:srgbClr val="10334A"/>
              </a:solidFill>
              <a:latin typeface="Arial" panose="020B0704020202020204"/>
              <a:ea typeface="Arial" panose="020B0704020202020204"/>
              <a:cs typeface="Arial" panose="020B0704020202020204"/>
            </a:endParaRPr>
          </a:p>
        </p:txBody>
      </p:sp>
      <p:sp>
        <p:nvSpPr>
          <p:cNvPr id="3" name="Title ZH"/>
          <p:cNvSpPr txBox="1"/>
          <p:nvPr/>
        </p:nvSpPr>
        <p:spPr>
          <a:xfrm>
            <a:off x="566928" y="905002"/>
            <a:ext cx="11045952" cy="326199"/>
          </a:xfrm>
          <a:prstGeom prst="rect">
            <a:avLst/>
          </a:prstGeom>
          <a:noFill/>
        </p:spPr>
        <p:txBody>
          <a:bodyPr wrap="none" lIns="0" tIns="12700" rIns="0" bIns="0" anchor="t">
            <a:noAutofit/>
          </a:bodyPr>
          <a:lstStyle/>
          <a:p>
            <a:pPr algn="l">
              <a:lnSpc>
                <a:spcPts val="1970"/>
              </a:lnSpc>
              <a:spcBef>
                <a:spcPts val="0"/>
              </a:spcBef>
              <a:spcAft>
                <a:spcPts val="0"/>
              </a:spcAft>
              <a:defRPr sz="1550" b="0">
                <a:solidFill>
                  <a:srgbClr val="5A7588"/>
                </a:solidFill>
                <a:latin typeface="Noto Sans CJK SC"/>
              </a:defRPr>
            </a:pPr>
            <a:r>
              <a:rPr lang="zh-CN" sz="1550" b="0">
                <a:solidFill>
                  <a:srgbClr val="5A7588"/>
                </a:solidFill>
                <a:latin typeface="Noto Sans CJK SC"/>
                <a:ea typeface="Noto Sans CJK SC"/>
                <a:cs typeface="Noto Sans CJK SC"/>
              </a:rPr>
              <a:t>我们增加什么，以及 OAuth 继续负责什么</a:t>
            </a:r>
            <a:endParaRPr lang="zh-CN" sz="1550" b="0">
              <a:solidFill>
                <a:srgbClr val="5A7588"/>
              </a:solidFill>
              <a:latin typeface="Noto Sans CJK SC"/>
              <a:ea typeface="Noto Sans CJK SC"/>
              <a:cs typeface="Noto Sans CJK SC"/>
            </a:endParaRPr>
          </a:p>
        </p:txBody>
      </p:sp>
      <p:cxnSp>
        <p:nvCxnSpPr>
          <p:cNvPr id="4" name="Title rule"/>
          <p:cNvCxnSpPr/>
          <p:nvPr/>
        </p:nvCxnSpPr>
        <p:spPr>
          <a:xfrm>
            <a:off x="566928" y="1271016"/>
            <a:ext cx="1105509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5" name="Added layer panel"/>
          <p:cNvSpPr/>
          <p:nvPr/>
        </p:nvSpPr>
        <p:spPr>
          <a:xfrm>
            <a:off x="566928" y="1426464"/>
            <a:ext cx="5404104" cy="3364992"/>
          </a:xfrm>
          <a:prstGeom prst="roundRect">
            <a:avLst>
              <a:gd name="adj" fmla="val 6000"/>
            </a:avLst>
          </a:prstGeom>
          <a:solidFill>
            <a:srgbClr val="ECF8F6"/>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Added layer title EN"/>
          <p:cNvSpPr txBox="1"/>
          <p:nvPr/>
        </p:nvSpPr>
        <p:spPr>
          <a:xfrm>
            <a:off x="804672" y="1609344"/>
            <a:ext cx="4928616"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07888E"/>
                </a:solidFill>
                <a:latin typeface="Arial" panose="020B0704020202020204"/>
              </a:defRPr>
            </a:pPr>
            <a:r>
              <a:rPr lang="en-US" sz="1800" b="1">
                <a:solidFill>
                  <a:srgbClr val="07888E"/>
                </a:solidFill>
                <a:latin typeface="Arial" panose="020B0704020202020204"/>
                <a:ea typeface="Arial" panose="020B0704020202020204"/>
                <a:cs typeface="Arial" panose="020B0704020202020204"/>
              </a:rPr>
              <a:t>DID-native client onboarding</a:t>
            </a:r>
            <a:endParaRPr lang="en-US" sz="1800" b="1">
              <a:solidFill>
                <a:srgbClr val="07888E"/>
              </a:solidFill>
              <a:latin typeface="Arial" panose="020B0704020202020204"/>
              <a:ea typeface="Arial" panose="020B0704020202020204"/>
              <a:cs typeface="Arial" panose="020B0704020202020204"/>
            </a:endParaRPr>
          </a:p>
        </p:txBody>
      </p:sp>
      <p:sp>
        <p:nvSpPr>
          <p:cNvPr id="7" name="Added layer title ZH"/>
          <p:cNvSpPr txBox="1"/>
          <p:nvPr/>
        </p:nvSpPr>
        <p:spPr>
          <a:xfrm>
            <a:off x="804672" y="2001012"/>
            <a:ext cx="492861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DID 原生客户端接入</a:t>
            </a:r>
            <a:endParaRPr lang="zh-CN" sz="1200" b="0">
              <a:solidFill>
                <a:srgbClr val="5A7588"/>
              </a:solidFill>
              <a:latin typeface="Noto Sans CJK SC"/>
              <a:ea typeface="Noto Sans CJK SC"/>
              <a:cs typeface="Noto Sans CJK SC"/>
            </a:endParaRPr>
          </a:p>
        </p:txBody>
      </p:sp>
      <p:cxnSp>
        <p:nvCxnSpPr>
          <p:cNvPr id="8" name="Added layer divider"/>
          <p:cNvCxnSpPr/>
          <p:nvPr/>
        </p:nvCxnSpPr>
        <p:spPr>
          <a:xfrm>
            <a:off x="804672" y="2304288"/>
            <a:ext cx="492861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9" name="Added layer item 0 EN"/>
          <p:cNvSpPr txBox="1"/>
          <p:nvPr/>
        </p:nvSpPr>
        <p:spPr>
          <a:xfrm>
            <a:off x="813816" y="2377440"/>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DID as a reusable client_id</a:t>
            </a:r>
            <a:endParaRPr lang="en-US" sz="1480" b="0">
              <a:solidFill>
                <a:srgbClr val="19384B"/>
              </a:solidFill>
              <a:latin typeface="Arial" panose="020B0704020202020204"/>
              <a:ea typeface="Arial" panose="020B0704020202020204"/>
              <a:cs typeface="Arial" panose="020B0704020202020204"/>
            </a:endParaRPr>
          </a:p>
        </p:txBody>
      </p:sp>
      <p:sp>
        <p:nvSpPr>
          <p:cNvPr id="10" name="Added layer item 0 ZH"/>
          <p:cNvSpPr txBox="1"/>
          <p:nvPr/>
        </p:nvSpPr>
        <p:spPr>
          <a:xfrm>
            <a:off x="813816" y="2696667"/>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DID 作为可复用的 client_id</a:t>
            </a:r>
            <a:endParaRPr lang="zh-CN" sz="1120" b="0">
              <a:solidFill>
                <a:srgbClr val="5A7588"/>
              </a:solidFill>
              <a:latin typeface="Noto Sans CJK SC"/>
              <a:ea typeface="Noto Sans CJK SC"/>
              <a:cs typeface="Noto Sans CJK SC"/>
            </a:endParaRPr>
          </a:p>
        </p:txBody>
      </p:sp>
      <p:sp>
        <p:nvSpPr>
          <p:cNvPr id="11" name="Added layer item 1 EN"/>
          <p:cNvSpPr txBox="1"/>
          <p:nvPr/>
        </p:nvSpPr>
        <p:spPr>
          <a:xfrm>
            <a:off x="813816" y="2980944"/>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Validated DID authentication keys</a:t>
            </a:r>
            <a:endParaRPr lang="en-US" sz="1480" b="0">
              <a:solidFill>
                <a:srgbClr val="19384B"/>
              </a:solidFill>
              <a:latin typeface="Arial" panose="020B0704020202020204"/>
              <a:ea typeface="Arial" panose="020B0704020202020204"/>
              <a:cs typeface="Arial" panose="020B0704020202020204"/>
            </a:endParaRPr>
          </a:p>
        </p:txBody>
      </p:sp>
      <p:sp>
        <p:nvSpPr>
          <p:cNvPr id="12" name="Added layer item 1 ZH"/>
          <p:cNvSpPr txBox="1"/>
          <p:nvPr/>
        </p:nvSpPr>
        <p:spPr>
          <a:xfrm>
            <a:off x="813816" y="3300171"/>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经验证的 DID 认证密钥</a:t>
            </a:r>
            <a:endParaRPr lang="zh-CN" sz="1120" b="0">
              <a:solidFill>
                <a:srgbClr val="5A7588"/>
              </a:solidFill>
              <a:latin typeface="Noto Sans CJK SC"/>
              <a:ea typeface="Noto Sans CJK SC"/>
              <a:cs typeface="Noto Sans CJK SC"/>
            </a:endParaRPr>
          </a:p>
        </p:txBody>
      </p:sp>
      <p:sp>
        <p:nvSpPr>
          <p:cNvPr id="13" name="Added layer item 2 EN"/>
          <p:cNvSpPr txBox="1"/>
          <p:nvPr/>
        </p:nvSpPr>
        <p:spPr>
          <a:xfrm>
            <a:off x="813816" y="3584448"/>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Self-published client metadata</a:t>
            </a:r>
            <a:endParaRPr lang="en-US" sz="1480" b="0">
              <a:solidFill>
                <a:srgbClr val="19384B"/>
              </a:solidFill>
              <a:latin typeface="Arial" panose="020B0704020202020204"/>
              <a:ea typeface="Arial" panose="020B0704020202020204"/>
              <a:cs typeface="Arial" panose="020B0704020202020204"/>
            </a:endParaRPr>
          </a:p>
        </p:txBody>
      </p:sp>
      <p:sp>
        <p:nvSpPr>
          <p:cNvPr id="14" name="Added layer item 2 ZH"/>
          <p:cNvSpPr txBox="1"/>
          <p:nvPr/>
        </p:nvSpPr>
        <p:spPr>
          <a:xfrm>
            <a:off x="813816" y="3903675"/>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客户端自发布元数据</a:t>
            </a:r>
            <a:endParaRPr lang="zh-CN" sz="1120" b="0">
              <a:solidFill>
                <a:srgbClr val="5A7588"/>
              </a:solidFill>
              <a:latin typeface="Noto Sans CJK SC"/>
              <a:ea typeface="Noto Sans CJK SC"/>
              <a:cs typeface="Noto Sans CJK SC"/>
            </a:endParaRPr>
          </a:p>
        </p:txBody>
      </p:sp>
      <p:sp>
        <p:nvSpPr>
          <p:cNvPr id="15" name="Added layer item 3 EN"/>
          <p:cNvSpPr txBox="1"/>
          <p:nvPr/>
        </p:nvSpPr>
        <p:spPr>
          <a:xfrm>
            <a:off x="813816" y="4187952"/>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URL + digest binding</a:t>
            </a:r>
            <a:endParaRPr lang="en-US" sz="1480" b="0">
              <a:solidFill>
                <a:srgbClr val="19384B"/>
              </a:solidFill>
              <a:latin typeface="Arial" panose="020B0704020202020204"/>
              <a:ea typeface="Arial" panose="020B0704020202020204"/>
              <a:cs typeface="Arial" panose="020B0704020202020204"/>
            </a:endParaRPr>
          </a:p>
        </p:txBody>
      </p:sp>
      <p:sp>
        <p:nvSpPr>
          <p:cNvPr id="16" name="Added layer item 3 ZH"/>
          <p:cNvSpPr txBox="1"/>
          <p:nvPr/>
        </p:nvSpPr>
        <p:spPr>
          <a:xfrm>
            <a:off x="813816" y="4507179"/>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URL + 摘要绑定</a:t>
            </a:r>
            <a:endParaRPr lang="zh-CN" sz="1120" b="0">
              <a:solidFill>
                <a:srgbClr val="5A7588"/>
              </a:solidFill>
              <a:latin typeface="Noto Sans CJK SC"/>
              <a:ea typeface="Noto Sans CJK SC"/>
              <a:cs typeface="Noto Sans CJK SC"/>
            </a:endParaRPr>
          </a:p>
        </p:txBody>
      </p:sp>
      <p:sp>
        <p:nvSpPr>
          <p:cNvPr id="17" name="Existing layer panel"/>
          <p:cNvSpPr/>
          <p:nvPr/>
        </p:nvSpPr>
        <p:spPr>
          <a:xfrm>
            <a:off x="6217920" y="1426464"/>
            <a:ext cx="5404104" cy="3364992"/>
          </a:xfrm>
          <a:prstGeom prst="roundRect">
            <a:avLst>
              <a:gd name="adj" fmla="val 6000"/>
            </a:avLst>
          </a:prstGeom>
          <a:solidFill>
            <a:srgbClr val="EDF3FD"/>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8" name="Existing layer title EN"/>
          <p:cNvSpPr txBox="1"/>
          <p:nvPr/>
        </p:nvSpPr>
        <p:spPr>
          <a:xfrm>
            <a:off x="6455664" y="1609344"/>
            <a:ext cx="4928616" cy="355092"/>
          </a:xfrm>
          <a:prstGeom prst="rect">
            <a:avLst/>
          </a:prstGeom>
          <a:noFill/>
        </p:spPr>
        <p:txBody>
          <a:bodyPr wrap="none" lIns="0" tIns="12700" rIns="0" bIns="0" anchor="t">
            <a:noAutofit/>
          </a:bodyPr>
          <a:lstStyle/>
          <a:p>
            <a:pPr algn="l">
              <a:lnSpc>
                <a:spcPts val="2195"/>
              </a:lnSpc>
              <a:spcBef>
                <a:spcPts val="0"/>
              </a:spcBef>
              <a:spcAft>
                <a:spcPts val="0"/>
              </a:spcAft>
              <a:defRPr sz="1800" b="1">
                <a:solidFill>
                  <a:srgbClr val="2168D5"/>
                </a:solidFill>
                <a:latin typeface="Arial" panose="020B0704020202020204"/>
              </a:defRPr>
            </a:pPr>
            <a:r>
              <a:rPr lang="en-US" sz="1800" b="1">
                <a:solidFill>
                  <a:srgbClr val="2168D5"/>
                </a:solidFill>
                <a:latin typeface="Arial" panose="020B0704020202020204"/>
                <a:ea typeface="Arial" panose="020B0704020202020204"/>
                <a:cs typeface="Arial" panose="020B0704020202020204"/>
              </a:rPr>
              <a:t>Existing OAuth capabilities</a:t>
            </a:r>
            <a:endParaRPr lang="en-US" sz="1800" b="1">
              <a:solidFill>
                <a:srgbClr val="2168D5"/>
              </a:solidFill>
              <a:latin typeface="Arial" panose="020B0704020202020204"/>
              <a:ea typeface="Arial" panose="020B0704020202020204"/>
              <a:cs typeface="Arial" panose="020B0704020202020204"/>
            </a:endParaRPr>
          </a:p>
        </p:txBody>
      </p:sp>
      <p:sp>
        <p:nvSpPr>
          <p:cNvPr id="19" name="Existing layer title ZH"/>
          <p:cNvSpPr txBox="1"/>
          <p:nvPr/>
        </p:nvSpPr>
        <p:spPr>
          <a:xfrm>
            <a:off x="6455664" y="2001012"/>
            <a:ext cx="492861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现有 OAuth 能力</a:t>
            </a:r>
            <a:endParaRPr lang="zh-CN" sz="1200" b="0">
              <a:solidFill>
                <a:srgbClr val="5A7588"/>
              </a:solidFill>
              <a:latin typeface="Noto Sans CJK SC"/>
              <a:ea typeface="Noto Sans CJK SC"/>
              <a:cs typeface="Noto Sans CJK SC"/>
            </a:endParaRPr>
          </a:p>
        </p:txBody>
      </p:sp>
      <p:cxnSp>
        <p:nvCxnSpPr>
          <p:cNvPr id="20" name="Existing layer divider"/>
          <p:cNvCxnSpPr/>
          <p:nvPr/>
        </p:nvCxnSpPr>
        <p:spPr>
          <a:xfrm>
            <a:off x="6455664" y="2304288"/>
            <a:ext cx="4928616" cy="0"/>
          </a:xfrm>
          <a:prstGeom prst="line">
            <a:avLst/>
          </a:prstGeom>
          <a:ln w="13970">
            <a:solidFill>
              <a:srgbClr val="D1DFE7"/>
            </a:solidFill>
          </a:ln>
        </p:spPr>
        <p:style>
          <a:lnRef idx="2">
            <a:schemeClr val="accent1"/>
          </a:lnRef>
          <a:fillRef idx="0">
            <a:schemeClr val="accent1"/>
          </a:fillRef>
          <a:effectRef idx="1">
            <a:schemeClr val="accent1"/>
          </a:effectRef>
          <a:fontRef idx="minor">
            <a:schemeClr val="tx1"/>
          </a:fontRef>
        </p:style>
      </p:cxnSp>
      <p:sp>
        <p:nvSpPr>
          <p:cNvPr id="21" name="Existing layer item 0 EN"/>
          <p:cNvSpPr txBox="1"/>
          <p:nvPr/>
        </p:nvSpPr>
        <p:spPr>
          <a:xfrm>
            <a:off x="6464808" y="2377440"/>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User authentication and consent</a:t>
            </a:r>
            <a:endParaRPr lang="en-US" sz="1480" b="0">
              <a:solidFill>
                <a:srgbClr val="19384B"/>
              </a:solidFill>
              <a:latin typeface="Arial" panose="020B0704020202020204"/>
              <a:ea typeface="Arial" panose="020B0704020202020204"/>
              <a:cs typeface="Arial" panose="020B0704020202020204"/>
            </a:endParaRPr>
          </a:p>
        </p:txBody>
      </p:sp>
      <p:sp>
        <p:nvSpPr>
          <p:cNvPr id="22" name="Existing layer item 0 ZH"/>
          <p:cNvSpPr txBox="1"/>
          <p:nvPr/>
        </p:nvSpPr>
        <p:spPr>
          <a:xfrm>
            <a:off x="6464808" y="2696667"/>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用户认证与同意</a:t>
            </a:r>
            <a:endParaRPr lang="zh-CN" sz="1120" b="0">
              <a:solidFill>
                <a:srgbClr val="5A7588"/>
              </a:solidFill>
              <a:latin typeface="Noto Sans CJK SC"/>
              <a:ea typeface="Noto Sans CJK SC"/>
              <a:cs typeface="Noto Sans CJK SC"/>
            </a:endParaRPr>
          </a:p>
        </p:txBody>
      </p:sp>
      <p:sp>
        <p:nvSpPr>
          <p:cNvPr id="23" name="Existing layer item 1 EN"/>
          <p:cNvSpPr txBox="1"/>
          <p:nvPr/>
        </p:nvSpPr>
        <p:spPr>
          <a:xfrm>
            <a:off x="6464808" y="2980944"/>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Authorization Code + PKCE; Client Credentials</a:t>
            </a:r>
            <a:endParaRPr lang="en-US" sz="1480" b="0">
              <a:solidFill>
                <a:srgbClr val="19384B"/>
              </a:solidFill>
              <a:latin typeface="Arial" panose="020B0704020202020204"/>
              <a:ea typeface="Arial" panose="020B0704020202020204"/>
              <a:cs typeface="Arial" panose="020B0704020202020204"/>
            </a:endParaRPr>
          </a:p>
        </p:txBody>
      </p:sp>
      <p:sp>
        <p:nvSpPr>
          <p:cNvPr id="24" name="Existing layer item 1 ZH"/>
          <p:cNvSpPr txBox="1"/>
          <p:nvPr/>
        </p:nvSpPr>
        <p:spPr>
          <a:xfrm>
            <a:off x="6464808" y="3300171"/>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授权码 + PKCE；客户端凭据模式</a:t>
            </a:r>
            <a:endParaRPr lang="zh-CN" sz="1120" b="0">
              <a:solidFill>
                <a:srgbClr val="5A7588"/>
              </a:solidFill>
              <a:latin typeface="Noto Sans CJK SC"/>
              <a:ea typeface="Noto Sans CJK SC"/>
              <a:cs typeface="Noto Sans CJK SC"/>
            </a:endParaRPr>
          </a:p>
        </p:txBody>
      </p:sp>
      <p:sp>
        <p:nvSpPr>
          <p:cNvPr id="25" name="Existing layer item 2 EN"/>
          <p:cNvSpPr txBox="1"/>
          <p:nvPr/>
        </p:nvSpPr>
        <p:spPr>
          <a:xfrm>
            <a:off x="6464808" y="3584448"/>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Scopes, access tokens and refresh tokens</a:t>
            </a:r>
            <a:endParaRPr lang="en-US" sz="1480" b="0">
              <a:solidFill>
                <a:srgbClr val="19384B"/>
              </a:solidFill>
              <a:latin typeface="Arial" panose="020B0704020202020204"/>
              <a:ea typeface="Arial" panose="020B0704020202020204"/>
              <a:cs typeface="Arial" panose="020B0704020202020204"/>
            </a:endParaRPr>
          </a:p>
        </p:txBody>
      </p:sp>
      <p:sp>
        <p:nvSpPr>
          <p:cNvPr id="26" name="Existing layer item 2 ZH"/>
          <p:cNvSpPr txBox="1"/>
          <p:nvPr/>
        </p:nvSpPr>
        <p:spPr>
          <a:xfrm>
            <a:off x="6464808" y="3903675"/>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权限范围、访问令牌与刷新令牌</a:t>
            </a:r>
            <a:endParaRPr lang="zh-CN" sz="1120" b="0">
              <a:solidFill>
                <a:srgbClr val="5A7588"/>
              </a:solidFill>
              <a:latin typeface="Noto Sans CJK SC"/>
              <a:ea typeface="Noto Sans CJK SC"/>
              <a:cs typeface="Noto Sans CJK SC"/>
            </a:endParaRPr>
          </a:p>
        </p:txBody>
      </p:sp>
      <p:sp>
        <p:nvSpPr>
          <p:cNvPr id="27" name="Existing layer item 3 EN"/>
          <p:cNvSpPr txBox="1"/>
          <p:nvPr/>
        </p:nvSpPr>
        <p:spPr>
          <a:xfrm>
            <a:off x="6464808" y="4187952"/>
            <a:ext cx="4910328" cy="305511"/>
          </a:xfrm>
          <a:prstGeom prst="rect">
            <a:avLst/>
          </a:prstGeom>
          <a:noFill/>
        </p:spPr>
        <p:txBody>
          <a:bodyPr wrap="none" lIns="0" tIns="12700" rIns="0" bIns="0" anchor="t">
            <a:noAutofit/>
          </a:bodyPr>
          <a:lstStyle/>
          <a:p>
            <a:pPr algn="l">
              <a:lnSpc>
                <a:spcPts val="1805"/>
              </a:lnSpc>
              <a:spcBef>
                <a:spcPts val="0"/>
              </a:spcBef>
              <a:spcAft>
                <a:spcPts val="0"/>
              </a:spcAft>
              <a:defRPr sz="1480" b="0">
                <a:solidFill>
                  <a:srgbClr val="19384B"/>
                </a:solidFill>
                <a:latin typeface="Arial" panose="020B0704020202020204"/>
              </a:defRPr>
            </a:pPr>
            <a:r>
              <a:rPr lang="en-US" sz="1480" b="0">
                <a:solidFill>
                  <a:srgbClr val="19384B"/>
                </a:solidFill>
                <a:latin typeface="Arial" panose="020B0704020202020204"/>
                <a:ea typeface="Arial" panose="020B0704020202020204"/>
                <a:cs typeface="Arial" panose="020B0704020202020204"/>
              </a:rPr>
              <a:t>Resource enforcement and revocation</a:t>
            </a:r>
            <a:endParaRPr lang="en-US" sz="1480" b="0">
              <a:solidFill>
                <a:srgbClr val="19384B"/>
              </a:solidFill>
              <a:latin typeface="Arial" panose="020B0704020202020204"/>
              <a:ea typeface="Arial" panose="020B0704020202020204"/>
              <a:cs typeface="Arial" panose="020B0704020202020204"/>
            </a:endParaRPr>
          </a:p>
        </p:txBody>
      </p:sp>
      <p:sp>
        <p:nvSpPr>
          <p:cNvPr id="28" name="Existing layer item 3 ZH"/>
          <p:cNvSpPr txBox="1"/>
          <p:nvPr/>
        </p:nvSpPr>
        <p:spPr>
          <a:xfrm>
            <a:off x="6464808" y="4507179"/>
            <a:ext cx="4910328" cy="256844"/>
          </a:xfrm>
          <a:prstGeom prst="rect">
            <a:avLst/>
          </a:prstGeom>
          <a:noFill/>
        </p:spPr>
        <p:txBody>
          <a:bodyPr wrap="none" lIns="0" tIns="12700" rIns="0" bIns="0" anchor="t">
            <a:noAutofit/>
          </a:bodyPr>
          <a:lstStyle/>
          <a:p>
            <a:pPr algn="l">
              <a:lnSpc>
                <a:spcPts val="1420"/>
              </a:lnSpc>
              <a:spcBef>
                <a:spcPts val="0"/>
              </a:spcBef>
              <a:spcAft>
                <a:spcPts val="0"/>
              </a:spcAft>
              <a:defRPr sz="1120" b="0">
                <a:solidFill>
                  <a:srgbClr val="5A7588"/>
                </a:solidFill>
                <a:latin typeface="Noto Sans CJK SC"/>
              </a:defRPr>
            </a:pPr>
            <a:r>
              <a:rPr lang="zh-CN" sz="1120" b="0">
                <a:solidFill>
                  <a:srgbClr val="5A7588"/>
                </a:solidFill>
                <a:latin typeface="Noto Sans CJK SC"/>
                <a:ea typeface="Noto Sans CJK SC"/>
                <a:cs typeface="Noto Sans CJK SC"/>
              </a:rPr>
              <a:t>资源权限执行与撤销</a:t>
            </a:r>
            <a:endParaRPr lang="zh-CN" sz="1120" b="0">
              <a:solidFill>
                <a:srgbClr val="5A7588"/>
              </a:solidFill>
              <a:latin typeface="Noto Sans CJK SC"/>
              <a:ea typeface="Noto Sans CJK SC"/>
              <a:cs typeface="Noto Sans CJK SC"/>
            </a:endParaRPr>
          </a:p>
        </p:txBody>
      </p:sp>
      <p:sp>
        <p:nvSpPr>
          <p:cNvPr id="29" name="Boundary panel 0"/>
          <p:cNvSpPr/>
          <p:nvPr/>
        </p:nvSpPr>
        <p:spPr>
          <a:xfrm>
            <a:off x="566928" y="4892040"/>
            <a:ext cx="3483864" cy="539496"/>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0" name="Boundary 0 EN"/>
          <p:cNvSpPr txBox="1"/>
          <p:nvPr/>
        </p:nvSpPr>
        <p:spPr>
          <a:xfrm>
            <a:off x="676656" y="4905756"/>
            <a:ext cx="3264408" cy="259029"/>
          </a:xfrm>
          <a:prstGeom prst="rect">
            <a:avLst/>
          </a:prstGeom>
          <a:noFill/>
        </p:spPr>
        <p:txBody>
          <a:bodyPr wrap="none" lIns="0" tIns="12700" rIns="0" bIns="0" anchor="t">
            <a:noAutofit/>
          </a:bodyPr>
          <a:lstStyle/>
          <a:p>
            <a:pPr algn="ctr">
              <a:lnSpc>
                <a:spcPts val="1440"/>
              </a:lnSpc>
              <a:spcBef>
                <a:spcPts val="0"/>
              </a:spcBef>
              <a:spcAft>
                <a:spcPts val="0"/>
              </a:spcAft>
              <a:defRPr sz="1180" b="1">
                <a:solidFill>
                  <a:srgbClr val="10334A"/>
                </a:solidFill>
                <a:latin typeface="Arial" panose="020B0704020202020204"/>
              </a:defRPr>
            </a:pPr>
            <a:r>
              <a:rPr lang="en-US" sz="1180" b="1">
                <a:solidFill>
                  <a:srgbClr val="10334A"/>
                </a:solidFill>
                <a:latin typeface="Arial" panose="020B0704020202020204"/>
                <a:ea typeface="Arial" panose="020B0704020202020204"/>
                <a:cs typeface="Arial" panose="020B0704020202020204"/>
              </a:rPr>
              <a:t>Discovery ≠ authentication</a:t>
            </a:r>
            <a:endParaRPr lang="en-US" sz="1180" b="1">
              <a:solidFill>
                <a:srgbClr val="10334A"/>
              </a:solidFill>
              <a:latin typeface="Arial" panose="020B0704020202020204"/>
              <a:ea typeface="Arial" panose="020B0704020202020204"/>
              <a:cs typeface="Arial" panose="020B0704020202020204"/>
            </a:endParaRPr>
          </a:p>
        </p:txBody>
      </p:sp>
      <p:sp>
        <p:nvSpPr>
          <p:cNvPr id="31" name="Boundary 0 ZH"/>
          <p:cNvSpPr txBox="1"/>
          <p:nvPr/>
        </p:nvSpPr>
        <p:spPr>
          <a:xfrm>
            <a:off x="676656" y="5169357"/>
            <a:ext cx="3264408" cy="234264"/>
          </a:xfrm>
          <a:prstGeom prst="rect">
            <a:avLst/>
          </a:prstGeom>
          <a:noFill/>
        </p:spPr>
        <p:txBody>
          <a:bodyPr wrap="none" lIns="0" tIns="12700" rIns="0" bIns="0" anchor="t">
            <a:noAutofit/>
          </a:bodyPr>
          <a:lstStyle/>
          <a:p>
            <a:pPr algn="ctr">
              <a:lnSpc>
                <a:spcPts val="1245"/>
              </a:lnSpc>
              <a:spcBef>
                <a:spcPts val="0"/>
              </a:spcBef>
              <a:spcAft>
                <a:spcPts val="0"/>
              </a:spcAft>
              <a:defRPr sz="980" b="0">
                <a:solidFill>
                  <a:srgbClr val="5A7588"/>
                </a:solidFill>
                <a:latin typeface="Noto Sans CJK SC"/>
              </a:defRPr>
            </a:pPr>
            <a:r>
              <a:rPr lang="zh-CN" sz="980" b="0">
                <a:solidFill>
                  <a:srgbClr val="5A7588"/>
                </a:solidFill>
                <a:latin typeface="Noto Sans CJK SC"/>
                <a:ea typeface="Noto Sans CJK SC"/>
                <a:cs typeface="Noto Sans CJK SC"/>
              </a:rPr>
              <a:t>元数据发现 ≠ 客户端认证</a:t>
            </a:r>
            <a:endParaRPr lang="zh-CN" sz="980" b="0">
              <a:solidFill>
                <a:srgbClr val="5A7588"/>
              </a:solidFill>
              <a:latin typeface="Noto Sans CJK SC"/>
              <a:ea typeface="Noto Sans CJK SC"/>
              <a:cs typeface="Noto Sans CJK SC"/>
            </a:endParaRPr>
          </a:p>
        </p:txBody>
      </p:sp>
      <p:sp>
        <p:nvSpPr>
          <p:cNvPr id="32" name="Boundary panel 1"/>
          <p:cNvSpPr/>
          <p:nvPr/>
        </p:nvSpPr>
        <p:spPr>
          <a:xfrm>
            <a:off x="4352544" y="4892040"/>
            <a:ext cx="3483864" cy="539496"/>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3" name="Boundary 1 EN"/>
          <p:cNvSpPr txBox="1"/>
          <p:nvPr/>
        </p:nvSpPr>
        <p:spPr>
          <a:xfrm>
            <a:off x="4462272" y="4905756"/>
            <a:ext cx="3264408" cy="259029"/>
          </a:xfrm>
          <a:prstGeom prst="rect">
            <a:avLst/>
          </a:prstGeom>
          <a:noFill/>
        </p:spPr>
        <p:txBody>
          <a:bodyPr wrap="none" lIns="0" tIns="12700" rIns="0" bIns="0" anchor="t">
            <a:noAutofit/>
          </a:bodyPr>
          <a:lstStyle/>
          <a:p>
            <a:pPr algn="ctr">
              <a:lnSpc>
                <a:spcPts val="1440"/>
              </a:lnSpc>
              <a:spcBef>
                <a:spcPts val="0"/>
              </a:spcBef>
              <a:spcAft>
                <a:spcPts val="0"/>
              </a:spcAft>
              <a:defRPr sz="1180" b="1">
                <a:solidFill>
                  <a:srgbClr val="10334A"/>
                </a:solidFill>
                <a:latin typeface="Arial" panose="020B0704020202020204"/>
              </a:defRPr>
            </a:pPr>
            <a:r>
              <a:rPr lang="en-US" sz="1180" b="1">
                <a:solidFill>
                  <a:srgbClr val="10334A"/>
                </a:solidFill>
                <a:latin typeface="Arial" panose="020B0704020202020204"/>
                <a:ea typeface="Arial" panose="020B0704020202020204"/>
                <a:cs typeface="Arial" panose="020B0704020202020204"/>
              </a:rPr>
              <a:t>Authentication ≠ permission</a:t>
            </a:r>
            <a:endParaRPr lang="en-US" sz="1180" b="1">
              <a:solidFill>
                <a:srgbClr val="10334A"/>
              </a:solidFill>
              <a:latin typeface="Arial" panose="020B0704020202020204"/>
              <a:ea typeface="Arial" panose="020B0704020202020204"/>
              <a:cs typeface="Arial" panose="020B0704020202020204"/>
            </a:endParaRPr>
          </a:p>
        </p:txBody>
      </p:sp>
      <p:sp>
        <p:nvSpPr>
          <p:cNvPr id="34" name="Boundary 1 ZH"/>
          <p:cNvSpPr txBox="1"/>
          <p:nvPr/>
        </p:nvSpPr>
        <p:spPr>
          <a:xfrm>
            <a:off x="4462272" y="5169357"/>
            <a:ext cx="3264408" cy="234264"/>
          </a:xfrm>
          <a:prstGeom prst="rect">
            <a:avLst/>
          </a:prstGeom>
          <a:noFill/>
        </p:spPr>
        <p:txBody>
          <a:bodyPr wrap="none" lIns="0" tIns="12700" rIns="0" bIns="0" anchor="t">
            <a:noAutofit/>
          </a:bodyPr>
          <a:lstStyle/>
          <a:p>
            <a:pPr algn="ctr">
              <a:lnSpc>
                <a:spcPts val="1245"/>
              </a:lnSpc>
              <a:spcBef>
                <a:spcPts val="0"/>
              </a:spcBef>
              <a:spcAft>
                <a:spcPts val="0"/>
              </a:spcAft>
              <a:defRPr sz="980" b="0">
                <a:solidFill>
                  <a:srgbClr val="5A7588"/>
                </a:solidFill>
                <a:latin typeface="Noto Sans CJK SC"/>
              </a:defRPr>
            </a:pPr>
            <a:r>
              <a:rPr lang="zh-CN" sz="980" b="0">
                <a:solidFill>
                  <a:srgbClr val="5A7588"/>
                </a:solidFill>
                <a:latin typeface="Noto Sans CJK SC"/>
                <a:ea typeface="Noto Sans CJK SC"/>
                <a:cs typeface="Noto Sans CJK SC"/>
              </a:rPr>
              <a:t>身份认证 ≠ 访问权限</a:t>
            </a:r>
            <a:endParaRPr lang="zh-CN" sz="980" b="0">
              <a:solidFill>
                <a:srgbClr val="5A7588"/>
              </a:solidFill>
              <a:latin typeface="Noto Sans CJK SC"/>
              <a:ea typeface="Noto Sans CJK SC"/>
              <a:cs typeface="Noto Sans CJK SC"/>
            </a:endParaRPr>
          </a:p>
        </p:txBody>
      </p:sp>
      <p:sp>
        <p:nvSpPr>
          <p:cNvPr id="35" name="Boundary panel 2"/>
          <p:cNvSpPr/>
          <p:nvPr/>
        </p:nvSpPr>
        <p:spPr>
          <a:xfrm>
            <a:off x="8138159" y="4892040"/>
            <a:ext cx="3483864" cy="539496"/>
          </a:xfrm>
          <a:prstGeom prst="roundRect">
            <a:avLst>
              <a:gd name="adj" fmla="val 6000"/>
            </a:avLst>
          </a:prstGeom>
          <a:solidFill>
            <a:srgbClr val="FFFFFF"/>
          </a:solidFill>
          <a:ln w="11430">
            <a:solidFill>
              <a:srgbClr val="D1DFE7"/>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6" name="Boundary 2 EN"/>
          <p:cNvSpPr txBox="1"/>
          <p:nvPr/>
        </p:nvSpPr>
        <p:spPr>
          <a:xfrm>
            <a:off x="8247887" y="4905756"/>
            <a:ext cx="3264408" cy="259029"/>
          </a:xfrm>
          <a:prstGeom prst="rect">
            <a:avLst/>
          </a:prstGeom>
          <a:noFill/>
        </p:spPr>
        <p:txBody>
          <a:bodyPr wrap="none" lIns="0" tIns="12700" rIns="0" bIns="0" anchor="t">
            <a:noAutofit/>
          </a:bodyPr>
          <a:lstStyle/>
          <a:p>
            <a:pPr algn="ctr">
              <a:lnSpc>
                <a:spcPts val="1440"/>
              </a:lnSpc>
              <a:spcBef>
                <a:spcPts val="0"/>
              </a:spcBef>
              <a:spcAft>
                <a:spcPts val="0"/>
              </a:spcAft>
              <a:defRPr sz="1180" b="1">
                <a:solidFill>
                  <a:srgbClr val="10334A"/>
                </a:solidFill>
                <a:latin typeface="Arial" panose="020B0704020202020204"/>
              </a:defRPr>
            </a:pPr>
            <a:r>
              <a:rPr lang="en-US" sz="1180" b="1">
                <a:solidFill>
                  <a:srgbClr val="10334A"/>
                </a:solidFill>
                <a:latin typeface="Arial" panose="020B0704020202020204"/>
                <a:ea typeface="Arial" panose="020B0704020202020204"/>
                <a:cs typeface="Arial" panose="020B0704020202020204"/>
              </a:rPr>
              <a:t>DID auth ≠ token binding</a:t>
            </a:r>
            <a:endParaRPr lang="en-US" sz="1180" b="1">
              <a:solidFill>
                <a:srgbClr val="10334A"/>
              </a:solidFill>
              <a:latin typeface="Arial" panose="020B0704020202020204"/>
              <a:ea typeface="Arial" panose="020B0704020202020204"/>
              <a:cs typeface="Arial" panose="020B0704020202020204"/>
            </a:endParaRPr>
          </a:p>
        </p:txBody>
      </p:sp>
      <p:sp>
        <p:nvSpPr>
          <p:cNvPr id="37" name="Boundary 2 ZH"/>
          <p:cNvSpPr txBox="1"/>
          <p:nvPr/>
        </p:nvSpPr>
        <p:spPr>
          <a:xfrm>
            <a:off x="8247887" y="5169357"/>
            <a:ext cx="3264408" cy="234264"/>
          </a:xfrm>
          <a:prstGeom prst="rect">
            <a:avLst/>
          </a:prstGeom>
          <a:noFill/>
        </p:spPr>
        <p:txBody>
          <a:bodyPr wrap="none" lIns="0" tIns="12700" rIns="0" bIns="0" anchor="t">
            <a:noAutofit/>
          </a:bodyPr>
          <a:lstStyle/>
          <a:p>
            <a:pPr algn="ctr">
              <a:lnSpc>
                <a:spcPts val="1245"/>
              </a:lnSpc>
              <a:spcBef>
                <a:spcPts val="0"/>
              </a:spcBef>
              <a:spcAft>
                <a:spcPts val="0"/>
              </a:spcAft>
              <a:defRPr sz="980" b="0">
                <a:solidFill>
                  <a:srgbClr val="5A7588"/>
                </a:solidFill>
                <a:latin typeface="Noto Sans CJK SC"/>
              </a:defRPr>
            </a:pPr>
            <a:r>
              <a:rPr lang="zh-CN" sz="980" b="0">
                <a:solidFill>
                  <a:srgbClr val="5A7588"/>
                </a:solidFill>
                <a:latin typeface="Noto Sans CJK SC"/>
                <a:ea typeface="Noto Sans CJK SC"/>
                <a:cs typeface="Noto Sans CJK SC"/>
              </a:rPr>
              <a:t>DID 认证 ≠ 令牌持有约束</a:t>
            </a:r>
            <a:endParaRPr lang="zh-CN" sz="980" b="0">
              <a:solidFill>
                <a:srgbClr val="5A7588"/>
              </a:solidFill>
              <a:latin typeface="Noto Sans CJK SC"/>
              <a:ea typeface="Noto Sans CJK SC"/>
              <a:cs typeface="Noto Sans CJK SC"/>
            </a:endParaRPr>
          </a:p>
        </p:txBody>
      </p:sp>
      <p:sp>
        <p:nvSpPr>
          <p:cNvPr id="38" name="Key message panel"/>
          <p:cNvSpPr/>
          <p:nvPr/>
        </p:nvSpPr>
        <p:spPr>
          <a:xfrm>
            <a:off x="566928" y="5458968"/>
            <a:ext cx="11055096" cy="987552"/>
          </a:xfrm>
          <a:prstGeom prst="roundRect">
            <a:avLst>
              <a:gd name="adj" fmla="val 6000"/>
            </a:avLst>
          </a:prstGeom>
          <a:solidFill>
            <a:srgbClr val="FFF4DE"/>
          </a:solidFill>
          <a:ln w="11430">
            <a:solidFill>
              <a:srgbClr val="E5AE4E"/>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9" name="Key label bilingual"/>
          <p:cNvSpPr txBox="1"/>
          <p:nvPr/>
        </p:nvSpPr>
        <p:spPr>
          <a:xfrm>
            <a:off x="740664" y="5527548"/>
            <a:ext cx="9966960" cy="223393"/>
          </a:xfrm>
          <a:prstGeom prst="rect">
            <a:avLst/>
          </a:prstGeom>
          <a:noFill/>
        </p:spPr>
        <p:txBody>
          <a:bodyPr wrap="none" lIns="0" tIns="12700" rIns="0" bIns="0" anchor="t">
            <a:noAutofit/>
          </a:bodyPr>
          <a:lstStyle/>
          <a:p>
            <a:pPr algn="l">
              <a:lnSpc>
                <a:spcPts val="1160"/>
              </a:lnSpc>
              <a:spcBef>
                <a:spcPts val="0"/>
              </a:spcBef>
              <a:spcAft>
                <a:spcPts val="0"/>
              </a:spcAft>
              <a:defRPr sz="950" b="1">
                <a:solidFill>
                  <a:srgbClr val="966318"/>
                </a:solidFill>
                <a:latin typeface="Noto Sans CJK SC"/>
              </a:defRPr>
            </a:pPr>
            <a:r>
              <a:rPr lang="en-US" sz="950" b="1">
                <a:solidFill>
                  <a:srgbClr val="966318"/>
                </a:solidFill>
                <a:latin typeface="Noto Sans CJK SC"/>
                <a:ea typeface="Noto Sans CJK SC"/>
                <a:cs typeface="Noto Sans CJK SC"/>
              </a:rPr>
              <a:t>KEY MESSAGE / 核心说明</a:t>
            </a:r>
            <a:endParaRPr lang="en-US" sz="950" b="1">
              <a:solidFill>
                <a:srgbClr val="966318"/>
              </a:solidFill>
              <a:latin typeface="Noto Sans CJK SC"/>
              <a:ea typeface="Noto Sans CJK SC"/>
              <a:cs typeface="Noto Sans CJK SC"/>
            </a:endParaRPr>
          </a:p>
        </p:txBody>
      </p:sp>
      <p:sp>
        <p:nvSpPr>
          <p:cNvPr id="40" name="Key message EN"/>
          <p:cNvSpPr txBox="1"/>
          <p:nvPr/>
        </p:nvSpPr>
        <p:spPr>
          <a:xfrm>
            <a:off x="740664" y="5769864"/>
            <a:ext cx="10689336" cy="331851"/>
          </a:xfrm>
          <a:prstGeom prst="rect">
            <a:avLst/>
          </a:prstGeom>
          <a:noFill/>
        </p:spPr>
        <p:txBody>
          <a:bodyPr wrap="none" lIns="0" tIns="12700" rIns="0" bIns="0" anchor="t">
            <a:noAutofit/>
          </a:bodyPr>
          <a:lstStyle/>
          <a:p>
            <a:pPr algn="l">
              <a:lnSpc>
                <a:spcPts val="2015"/>
              </a:lnSpc>
              <a:spcBef>
                <a:spcPts val="0"/>
              </a:spcBef>
              <a:spcAft>
                <a:spcPts val="0"/>
              </a:spcAft>
              <a:defRPr sz="1650" b="1">
                <a:solidFill>
                  <a:srgbClr val="10334A"/>
                </a:solidFill>
                <a:latin typeface="Arial" panose="020B0704020202020204"/>
              </a:defRPr>
            </a:pPr>
            <a:r>
              <a:rPr lang="en-US" sz="1650" b="1">
                <a:solidFill>
                  <a:srgbClr val="10334A"/>
                </a:solidFill>
                <a:latin typeface="Arial" panose="020B0704020202020204"/>
                <a:ea typeface="Arial" panose="020B0704020202020204"/>
                <a:cs typeface="Arial" panose="020B0704020202020204"/>
              </a:rPr>
              <a:t>DID identifies the client; metadata describes it; OAuth grants resource access.</a:t>
            </a:r>
            <a:endParaRPr lang="en-US" sz="1650" b="1">
              <a:solidFill>
                <a:srgbClr val="10334A"/>
              </a:solidFill>
              <a:latin typeface="Arial" panose="020B0704020202020204"/>
              <a:ea typeface="Arial" panose="020B0704020202020204"/>
              <a:cs typeface="Arial" panose="020B0704020202020204"/>
            </a:endParaRPr>
          </a:p>
        </p:txBody>
      </p:sp>
      <p:sp>
        <p:nvSpPr>
          <p:cNvPr id="41" name="Key message ZH"/>
          <p:cNvSpPr txBox="1"/>
          <p:nvPr/>
        </p:nvSpPr>
        <p:spPr>
          <a:xfrm>
            <a:off x="740664" y="6115431"/>
            <a:ext cx="10689336" cy="269748"/>
          </a:xfrm>
          <a:prstGeom prst="rect">
            <a:avLst/>
          </a:prstGeom>
          <a:noFill/>
        </p:spPr>
        <p:txBody>
          <a:bodyPr wrap="none" lIns="0" tIns="12700" rIns="0" bIns="0" anchor="t">
            <a:noAutofit/>
          </a:bodyPr>
          <a:lstStyle/>
          <a:p>
            <a:pPr algn="l">
              <a:lnSpc>
                <a:spcPts val="1525"/>
              </a:lnSpc>
              <a:spcBef>
                <a:spcPts val="0"/>
              </a:spcBef>
              <a:spcAft>
                <a:spcPts val="0"/>
              </a:spcAft>
              <a:defRPr sz="1200" b="0">
                <a:solidFill>
                  <a:srgbClr val="5A7588"/>
                </a:solidFill>
                <a:latin typeface="Noto Sans CJK SC"/>
              </a:defRPr>
            </a:pPr>
            <a:r>
              <a:rPr lang="zh-CN" sz="1200" b="0">
                <a:solidFill>
                  <a:srgbClr val="5A7588"/>
                </a:solidFill>
                <a:latin typeface="Noto Sans CJK SC"/>
                <a:ea typeface="Noto Sans CJK SC"/>
                <a:cs typeface="Noto Sans CJK SC"/>
              </a:rPr>
              <a:t>DID 标识客户端；元数据描述客户端；OAuth 管理资源访问授权。</a:t>
            </a:r>
            <a:endParaRPr lang="zh-CN" sz="1200" b="0">
              <a:solidFill>
                <a:srgbClr val="5A7588"/>
              </a:solidFill>
              <a:latin typeface="Noto Sans CJK SC"/>
              <a:ea typeface="Noto Sans CJK SC"/>
              <a:cs typeface="Noto Sans CJK SC"/>
            </a:endParaRPr>
          </a:p>
        </p:txBody>
      </p:sp>
      <p:sp>
        <p:nvSpPr>
          <p:cNvPr id="42" name="Footer bilingual"/>
          <p:cNvSpPr txBox="1"/>
          <p:nvPr/>
        </p:nvSpPr>
        <p:spPr>
          <a:xfrm>
            <a:off x="566928" y="6556248"/>
            <a:ext cx="365760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AI Agent Protocol / AI 智能体协议</a:t>
            </a:r>
            <a:endParaRPr lang="en-US" sz="900" b="0">
              <a:solidFill>
                <a:srgbClr val="5A7588"/>
              </a:solidFill>
              <a:latin typeface="Noto Sans CJK SC"/>
              <a:ea typeface="Noto Sans CJK SC"/>
              <a:cs typeface="Noto Sans CJK SC"/>
            </a:endParaRPr>
          </a:p>
        </p:txBody>
      </p:sp>
      <p:sp>
        <p:nvSpPr>
          <p:cNvPr id="43" name="Draft status bilingual"/>
          <p:cNvSpPr txBox="1"/>
          <p:nvPr/>
        </p:nvSpPr>
        <p:spPr>
          <a:xfrm>
            <a:off x="4389120" y="6556248"/>
            <a:ext cx="5166360" cy="215646"/>
          </a:xfrm>
          <a:prstGeom prst="rect">
            <a:avLst/>
          </a:prstGeom>
          <a:noFill/>
        </p:spPr>
        <p:txBody>
          <a:bodyPr wrap="none" lIns="0" tIns="12700" rIns="0" bIns="0" anchor="t">
            <a:noAutofit/>
          </a:bodyPr>
          <a:lstStyle/>
          <a:p>
            <a:pPr algn="l">
              <a:lnSpc>
                <a:spcPts val="1100"/>
              </a:lnSpc>
              <a:spcBef>
                <a:spcPts val="0"/>
              </a:spcBef>
              <a:spcAft>
                <a:spcPts val="0"/>
              </a:spcAft>
              <a:defRPr sz="900" b="0">
                <a:solidFill>
                  <a:srgbClr val="5A7588"/>
                </a:solidFill>
                <a:latin typeface="Noto Sans CJK SC"/>
              </a:defRPr>
            </a:pPr>
            <a:r>
              <a:rPr lang="en-US" sz="900" b="0">
                <a:solidFill>
                  <a:srgbClr val="5A7588"/>
                </a:solidFill>
                <a:latin typeface="Noto Sans CJK SC"/>
                <a:ea typeface="Noto Sans CJK SC"/>
                <a:cs typeface="Noto Sans CJK SC"/>
              </a:rPr>
              <a:t>Community discussion draft / 社区讨论稿</a:t>
            </a:r>
            <a:endParaRPr lang="en-US" sz="900" b="0">
              <a:solidFill>
                <a:srgbClr val="5A7588"/>
              </a:solidFill>
              <a:latin typeface="Noto Sans CJK SC"/>
              <a:ea typeface="Noto Sans CJK SC"/>
              <a:cs typeface="Noto Sans CJK SC"/>
            </a:endParaRPr>
          </a:p>
        </p:txBody>
      </p:sp>
      <p:sp>
        <p:nvSpPr>
          <p:cNvPr id="44" name="Slide number"/>
          <p:cNvSpPr txBox="1"/>
          <p:nvPr/>
        </p:nvSpPr>
        <p:spPr>
          <a:xfrm>
            <a:off x="11146536" y="6510528"/>
            <a:ext cx="457200" cy="262128"/>
          </a:xfrm>
          <a:prstGeom prst="rect">
            <a:avLst/>
          </a:prstGeom>
          <a:noFill/>
        </p:spPr>
        <p:txBody>
          <a:bodyPr wrap="none" lIns="0" tIns="12700" rIns="0" bIns="0" anchor="t">
            <a:noAutofit/>
          </a:bodyPr>
          <a:lstStyle/>
          <a:p>
            <a:pPr algn="r">
              <a:lnSpc>
                <a:spcPts val="1465"/>
              </a:lnSpc>
              <a:spcBef>
                <a:spcPts val="0"/>
              </a:spcBef>
              <a:spcAft>
                <a:spcPts val="0"/>
              </a:spcAft>
              <a:defRPr sz="1200" b="1">
                <a:solidFill>
                  <a:srgbClr val="2168D5"/>
                </a:solidFill>
                <a:latin typeface="Arial" panose="020B0704020202020204"/>
              </a:defRPr>
            </a:pPr>
            <a:r>
              <a:rPr lang="en-US" sz="1200" b="1">
                <a:solidFill>
                  <a:srgbClr val="2168D5"/>
                </a:solidFill>
                <a:latin typeface="Arial" panose="020B0704020202020204"/>
                <a:ea typeface="Arial" panose="020B0704020202020204"/>
                <a:cs typeface="Arial" panose="020B0704020202020204"/>
              </a:rPr>
              <a:t>10</a:t>
            </a:r>
            <a:endParaRPr lang="en-US" sz="1200" b="1">
              <a:solidFill>
                <a:srgbClr val="2168D5"/>
              </a:solidFill>
              <a:latin typeface="Arial" panose="020B0704020202020204"/>
              <a:ea typeface="Arial" panose="020B0704020202020204"/>
              <a:cs typeface="Arial" panose="020B07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45" name="图片 44" descr="ChatGPT 图像 2026年10月21日 19_43_32-1"/>
          <p:cNvPicPr>
            <a:picLocks noChangeAspect="1"/>
          </p:cNvPicPr>
          <p:nvPr/>
        </p:nvPicPr>
        <p:blipFill>
          <a:blip r:embed="rId1"/>
          <a:stretch>
            <a:fillRect/>
          </a:stretch>
        </p:blipFill>
        <p:spPr>
          <a:xfrm>
            <a:off x="3175" y="0"/>
            <a:ext cx="1218501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45" name="图片 44" descr="ChatGPT 图像 2026年10月21日 19_43_34-2"/>
          <p:cNvPicPr>
            <a:picLocks noChangeAspect="1"/>
          </p:cNvPicPr>
          <p:nvPr/>
        </p:nvPicPr>
        <p:blipFill>
          <a:blip r:embed="rId1"/>
          <a:stretch>
            <a:fillRect/>
          </a:stretch>
        </p:blipFill>
        <p:spPr>
          <a:xfrm>
            <a:off x="3175" y="0"/>
            <a:ext cx="1218501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01-title-en-000"/>
          <p:cNvSpPr txBox="1"/>
          <p:nvPr/>
        </p:nvSpPr>
        <p:spPr>
          <a:xfrm>
            <a:off x="502920" y="283464"/>
            <a:ext cx="11173968" cy="5029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700" b="1">
                <a:solidFill>
                  <a:srgbClr val="0A344B"/>
                </a:solidFill>
                <a:latin typeface="Arial" panose="020B0704020202020204"/>
                <a:ea typeface="Noto Sans CJK SC"/>
                <a:cs typeface="Arial" panose="020B0704020202020204"/>
              </a:rPr>
              <a:t>Option B: keep CIMD, add DID binding</a:t>
            </a:r>
            <a:endParaRPr lang="en-US" sz="2700" b="1">
              <a:solidFill>
                <a:srgbClr val="0A344B"/>
              </a:solidFill>
              <a:latin typeface="Arial" panose="020B0704020202020204"/>
              <a:ea typeface="Noto Sans CJK SC"/>
              <a:cs typeface="Arial" panose="020B0704020202020204"/>
            </a:endParaRPr>
          </a:p>
        </p:txBody>
      </p:sp>
      <p:sp>
        <p:nvSpPr>
          <p:cNvPr id="3" name="P01-title-cn-001"/>
          <p:cNvSpPr txBox="1"/>
          <p:nvPr/>
        </p:nvSpPr>
        <p:spPr>
          <a:xfrm>
            <a:off x="521207" y="832104"/>
            <a:ext cx="11064240" cy="28346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500" b="0">
                <a:solidFill>
                  <a:srgbClr val="577C91"/>
                </a:solidFill>
                <a:latin typeface="Noto Sans CJK SC"/>
                <a:ea typeface="Noto Sans CJK SC"/>
                <a:cs typeface="Noto Sans CJK SC"/>
              </a:rPr>
              <a:t>方案 B：保留标准 CIMD，增加 DID 绑定</a:t>
            </a:r>
            <a:endParaRPr lang="zh-CN" sz="1500" b="0">
              <a:solidFill>
                <a:srgbClr val="577C91"/>
              </a:solidFill>
              <a:latin typeface="Noto Sans CJK SC"/>
              <a:ea typeface="Noto Sans CJK SC"/>
              <a:cs typeface="Noto Sans CJK SC"/>
            </a:endParaRPr>
          </a:p>
        </p:txBody>
      </p:sp>
      <p:sp>
        <p:nvSpPr>
          <p:cNvPr id="4" name="Rectangle 3"/>
          <p:cNvSpPr/>
          <p:nvPr/>
        </p:nvSpPr>
        <p:spPr>
          <a:xfrm>
            <a:off x="502920" y="1179576"/>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02920" y="6547104"/>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01-footer-left-002"/>
          <p:cNvSpPr txBox="1"/>
          <p:nvPr/>
        </p:nvSpPr>
        <p:spPr>
          <a:xfrm>
            <a:off x="502920" y="6620256"/>
            <a:ext cx="3749039"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AI Agent Protocol / AI 智能体协议</a:t>
            </a:r>
            <a:endParaRPr lang="en-US" sz="900" b="0">
              <a:solidFill>
                <a:srgbClr val="577C91"/>
              </a:solidFill>
              <a:latin typeface="Arial" panose="020B0704020202020204"/>
              <a:ea typeface="Noto Sans CJK SC"/>
              <a:cs typeface="Arial" panose="020B0704020202020204"/>
            </a:endParaRPr>
          </a:p>
        </p:txBody>
      </p:sp>
      <p:sp>
        <p:nvSpPr>
          <p:cNvPr id="7" name="P01-footer-center-003"/>
          <p:cNvSpPr txBox="1"/>
          <p:nvPr/>
        </p:nvSpPr>
        <p:spPr>
          <a:xfrm>
            <a:off x="4581144" y="6620256"/>
            <a:ext cx="5760720"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Community discussion draft / 社区讨论稿</a:t>
            </a:r>
            <a:endParaRPr lang="en-US" sz="900" b="0">
              <a:solidFill>
                <a:srgbClr val="577C91"/>
              </a:solidFill>
              <a:latin typeface="Arial" panose="020B0704020202020204"/>
              <a:ea typeface="Noto Sans CJK SC"/>
              <a:cs typeface="Arial" panose="020B0704020202020204"/>
            </a:endParaRPr>
          </a:p>
        </p:txBody>
      </p:sp>
      <p:sp>
        <p:nvSpPr>
          <p:cNvPr id="8" name="P01-page-number-004"/>
          <p:cNvSpPr txBox="1"/>
          <p:nvPr/>
        </p:nvSpPr>
        <p:spPr>
          <a:xfrm>
            <a:off x="10744200" y="6601968"/>
            <a:ext cx="941832" cy="210312"/>
          </a:xfrm>
          <a:prstGeom prst="rect">
            <a:avLst/>
          </a:prstGeom>
          <a:noFill/>
          <a:effectLst/>
        </p:spPr>
        <p:txBody>
          <a:bodyPr vertOverflow="overflow" horzOverflow="overflow" wrap="none" lIns="0" tIns="0" rIns="0" bIns="0" anchor="t">
            <a:noAutofit/>
          </a:bodyPr>
          <a:lstStyle/>
          <a:p>
            <a:pPr algn="r">
              <a:lnSpc>
                <a:spcPct val="100000"/>
              </a:lnSpc>
              <a:spcBef>
                <a:spcPts val="0"/>
              </a:spcBef>
              <a:spcAft>
                <a:spcPts val="0"/>
              </a:spcAft>
            </a:pPr>
            <a:r>
              <a:rPr lang="en-US" sz="1100" b="1">
                <a:solidFill>
                  <a:srgbClr val="1264EC"/>
                </a:solidFill>
                <a:latin typeface="Arial" panose="020B0704020202020204"/>
                <a:ea typeface="Noto Sans CJK SC"/>
                <a:cs typeface="Arial" panose="020B0704020202020204"/>
              </a:rPr>
              <a:t>01 / 05</a:t>
            </a:r>
            <a:endParaRPr lang="en-US" sz="1100" b="1">
              <a:solidFill>
                <a:srgbClr val="1264EC"/>
              </a:solidFill>
              <a:latin typeface="Arial" panose="020B0704020202020204"/>
              <a:ea typeface="Noto Sans CJK SC"/>
              <a:cs typeface="Arial" panose="020B0704020202020204"/>
            </a:endParaRPr>
          </a:p>
        </p:txBody>
      </p:sp>
      <p:sp>
        <p:nvSpPr>
          <p:cNvPr id="9" name="P01-text-005"/>
          <p:cNvSpPr txBox="1"/>
          <p:nvPr/>
        </p:nvSpPr>
        <p:spPr>
          <a:xfrm>
            <a:off x="530352" y="1389888"/>
            <a:ext cx="11109960" cy="39319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100" b="1">
                <a:solidFill>
                  <a:srgbClr val="0A344B"/>
                </a:solidFill>
                <a:latin typeface="Arial" panose="020B0704020202020204"/>
                <a:ea typeface="Noto Sans CJK SC"/>
                <a:cs typeface="Arial" panose="020B0704020202020204"/>
              </a:rPr>
              <a:t>Keep the HTTPS client_id. Add a verifiable DID binding.</a:t>
            </a:r>
            <a:endParaRPr lang="en-US" sz="2100" b="1">
              <a:solidFill>
                <a:srgbClr val="0A344B"/>
              </a:solidFill>
              <a:latin typeface="Arial" panose="020B0704020202020204"/>
              <a:ea typeface="Noto Sans CJK SC"/>
              <a:cs typeface="Arial" panose="020B0704020202020204"/>
            </a:endParaRPr>
          </a:p>
        </p:txBody>
      </p:sp>
      <p:sp>
        <p:nvSpPr>
          <p:cNvPr id="10" name="P01-text-006"/>
          <p:cNvSpPr txBox="1"/>
          <p:nvPr/>
        </p:nvSpPr>
        <p:spPr>
          <a:xfrm>
            <a:off x="530352" y="1819656"/>
            <a:ext cx="11064240"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400" b="0">
                <a:solidFill>
                  <a:srgbClr val="577C91"/>
                </a:solidFill>
                <a:latin typeface="Noto Sans CJK SC"/>
                <a:ea typeface="Noto Sans CJK SC"/>
                <a:cs typeface="Noto Sans CJK SC"/>
              </a:rPr>
              <a:t>保留 HTTPS 类型的 client_id，增加可验证的 DID 绑定。</a:t>
            </a:r>
            <a:endParaRPr lang="zh-CN" sz="1400" b="0">
              <a:solidFill>
                <a:srgbClr val="577C91"/>
              </a:solidFill>
              <a:latin typeface="Noto Sans CJK SC"/>
              <a:ea typeface="Noto Sans CJK SC"/>
              <a:cs typeface="Noto Sans CJK SC"/>
            </a:endParaRPr>
          </a:p>
        </p:txBody>
      </p:sp>
      <p:sp>
        <p:nvSpPr>
          <p:cNvPr id="11" name="Rounded Rectangle 10"/>
          <p:cNvSpPr/>
          <p:nvPr/>
        </p:nvSpPr>
        <p:spPr>
          <a:xfrm>
            <a:off x="502920" y="2249424"/>
            <a:ext cx="3538728" cy="3072384"/>
          </a:xfrm>
          <a:prstGeom prst="roundRect">
            <a:avLst>
              <a:gd name="adj" fmla="val 4500"/>
            </a:avLst>
          </a:prstGeom>
          <a:solidFill>
            <a:srgbClr val="EAF2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530352" y="2276856"/>
            <a:ext cx="41148" cy="3008376"/>
          </a:xfrm>
          <a:prstGeom prst="rect">
            <a:avLst/>
          </a:prstGeom>
          <a:solidFill>
            <a:srgbClr val="126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01-text-007"/>
          <p:cNvSpPr txBox="1"/>
          <p:nvPr/>
        </p:nvSpPr>
        <p:spPr>
          <a:xfrm>
            <a:off x="722376" y="2441448"/>
            <a:ext cx="3099816" cy="36576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1264EC"/>
                </a:solidFill>
                <a:latin typeface="Arial" panose="020B0704020202020204"/>
                <a:ea typeface="Noto Sans CJK SC"/>
                <a:cs typeface="Arial" panose="020B0704020202020204"/>
              </a:rPr>
              <a:t>Standard CIMD</a:t>
            </a:r>
            <a:endParaRPr lang="en-US" sz="2000" b="1">
              <a:solidFill>
                <a:srgbClr val="1264EC"/>
              </a:solidFill>
              <a:latin typeface="Arial" panose="020B0704020202020204"/>
              <a:ea typeface="Noto Sans CJK SC"/>
              <a:cs typeface="Arial" panose="020B0704020202020204"/>
            </a:endParaRPr>
          </a:p>
        </p:txBody>
      </p:sp>
      <p:sp>
        <p:nvSpPr>
          <p:cNvPr id="14" name="P01-text-008"/>
          <p:cNvSpPr txBox="1"/>
          <p:nvPr/>
        </p:nvSpPr>
        <p:spPr>
          <a:xfrm>
            <a:off x="722376" y="2825496"/>
            <a:ext cx="3099816"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标准 CIMD</a:t>
            </a:r>
            <a:endParaRPr lang="zh-CN" sz="1300" b="0">
              <a:solidFill>
                <a:srgbClr val="577C91"/>
              </a:solidFill>
              <a:latin typeface="Noto Sans CJK SC"/>
              <a:ea typeface="Noto Sans CJK SC"/>
              <a:cs typeface="Noto Sans CJK SC"/>
            </a:endParaRPr>
          </a:p>
        </p:txBody>
      </p:sp>
      <p:sp>
        <p:nvSpPr>
          <p:cNvPr id="15" name="Rectangle 14"/>
          <p:cNvSpPr/>
          <p:nvPr/>
        </p:nvSpPr>
        <p:spPr>
          <a:xfrm>
            <a:off x="722376" y="3191256"/>
            <a:ext cx="3099816"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1-text-009"/>
          <p:cNvSpPr txBox="1"/>
          <p:nvPr/>
        </p:nvSpPr>
        <p:spPr>
          <a:xfrm>
            <a:off x="722376" y="3337560"/>
            <a:ext cx="3099816" cy="31089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840" b="1">
                <a:solidFill>
                  <a:srgbClr val="183C50"/>
                </a:solidFill>
                <a:latin typeface="Arial" panose="020B0704020202020204"/>
                <a:ea typeface="Noto Sans CJK SC"/>
                <a:cs typeface="Arial" panose="020B0704020202020204"/>
              </a:rPr>
              <a:t>client_id remains an</a:t>
            </a:r>
            <a:endParaRPr lang="en-US" sz="1840" b="1">
              <a:solidFill>
                <a:srgbClr val="183C50"/>
              </a:solidFill>
              <a:latin typeface="Arial" panose="020B0704020202020204"/>
              <a:ea typeface="Noto Sans CJK SC"/>
              <a:cs typeface="Arial" panose="020B0704020202020204"/>
            </a:endParaRPr>
          </a:p>
        </p:txBody>
      </p:sp>
      <p:sp>
        <p:nvSpPr>
          <p:cNvPr id="17" name="P01-text-010"/>
          <p:cNvSpPr txBox="1"/>
          <p:nvPr/>
        </p:nvSpPr>
        <p:spPr>
          <a:xfrm>
            <a:off x="722376" y="3685032"/>
            <a:ext cx="3099816" cy="31089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840" b="1">
                <a:solidFill>
                  <a:srgbClr val="183C50"/>
                </a:solidFill>
                <a:latin typeface="Arial" panose="020B0704020202020204"/>
                <a:ea typeface="Noto Sans CJK SC"/>
                <a:cs typeface="Arial" panose="020B0704020202020204"/>
              </a:rPr>
              <a:t>HTTPS metadata URL.</a:t>
            </a:r>
            <a:endParaRPr lang="en-US" sz="1840" b="1">
              <a:solidFill>
                <a:srgbClr val="183C50"/>
              </a:solidFill>
              <a:latin typeface="Arial" panose="020B0704020202020204"/>
              <a:ea typeface="Noto Sans CJK SC"/>
              <a:cs typeface="Arial" panose="020B0704020202020204"/>
            </a:endParaRPr>
          </a:p>
        </p:txBody>
      </p:sp>
      <p:sp>
        <p:nvSpPr>
          <p:cNvPr id="18" name="P01-text-011"/>
          <p:cNvSpPr txBox="1"/>
          <p:nvPr/>
        </p:nvSpPr>
        <p:spPr>
          <a:xfrm>
            <a:off x="722376" y="4087368"/>
            <a:ext cx="3099816"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80" b="0">
                <a:solidFill>
                  <a:srgbClr val="577C91"/>
                </a:solidFill>
                <a:latin typeface="Noto Sans CJK SC"/>
                <a:ea typeface="Noto Sans CJK SC"/>
                <a:cs typeface="Noto Sans CJK SC"/>
              </a:rPr>
              <a:t>client_id 保持为</a:t>
            </a:r>
            <a:endParaRPr lang="zh-CN" sz="1280" b="0">
              <a:solidFill>
                <a:srgbClr val="577C91"/>
              </a:solidFill>
              <a:latin typeface="Noto Sans CJK SC"/>
              <a:ea typeface="Noto Sans CJK SC"/>
              <a:cs typeface="Noto Sans CJK SC"/>
            </a:endParaRPr>
          </a:p>
        </p:txBody>
      </p:sp>
      <p:sp>
        <p:nvSpPr>
          <p:cNvPr id="19" name="P01-text-012"/>
          <p:cNvSpPr txBox="1"/>
          <p:nvPr/>
        </p:nvSpPr>
        <p:spPr>
          <a:xfrm>
            <a:off x="722376" y="4334256"/>
            <a:ext cx="3099816"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80" b="0">
                <a:solidFill>
                  <a:srgbClr val="577C91"/>
                </a:solidFill>
                <a:latin typeface="Noto Sans CJK SC"/>
                <a:ea typeface="Noto Sans CJK SC"/>
                <a:cs typeface="Noto Sans CJK SC"/>
              </a:rPr>
              <a:t>HTTPS 元数据文档 URL。</a:t>
            </a:r>
            <a:endParaRPr lang="zh-CN" sz="1280" b="0">
              <a:solidFill>
                <a:srgbClr val="577C91"/>
              </a:solidFill>
              <a:latin typeface="Noto Sans CJK SC"/>
              <a:ea typeface="Noto Sans CJK SC"/>
              <a:cs typeface="Noto Sans CJK SC"/>
            </a:endParaRPr>
          </a:p>
        </p:txBody>
      </p:sp>
      <p:sp>
        <p:nvSpPr>
          <p:cNvPr id="20" name="P01-text-013"/>
          <p:cNvSpPr txBox="1"/>
          <p:nvPr/>
        </p:nvSpPr>
        <p:spPr>
          <a:xfrm>
            <a:off x="722376" y="4700016"/>
            <a:ext cx="3099816"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420" b="1">
                <a:solidFill>
                  <a:srgbClr val="1264EC"/>
                </a:solidFill>
                <a:latin typeface="Arial" panose="020B0704020202020204"/>
                <a:ea typeface="Noto Sans CJK SC"/>
                <a:cs typeface="Arial" panose="020B0704020202020204"/>
              </a:rPr>
              <a:t>Metadata + JWKS</a:t>
            </a:r>
            <a:endParaRPr lang="en-US" sz="1420" b="1">
              <a:solidFill>
                <a:srgbClr val="1264EC"/>
              </a:solidFill>
              <a:latin typeface="Arial" panose="020B0704020202020204"/>
              <a:ea typeface="Noto Sans CJK SC"/>
              <a:cs typeface="Arial" panose="020B0704020202020204"/>
            </a:endParaRPr>
          </a:p>
        </p:txBody>
      </p:sp>
      <p:sp>
        <p:nvSpPr>
          <p:cNvPr id="21" name="P01-text-014"/>
          <p:cNvSpPr txBox="1"/>
          <p:nvPr/>
        </p:nvSpPr>
        <p:spPr>
          <a:xfrm>
            <a:off x="722376" y="5010912"/>
            <a:ext cx="3099816"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元数据 + 公钥集合</a:t>
            </a:r>
            <a:endParaRPr lang="zh-CN" sz="1170" b="0">
              <a:solidFill>
                <a:srgbClr val="577C91"/>
              </a:solidFill>
              <a:latin typeface="Noto Sans CJK SC"/>
              <a:ea typeface="Noto Sans CJK SC"/>
              <a:cs typeface="Noto Sans CJK SC"/>
            </a:endParaRPr>
          </a:p>
        </p:txBody>
      </p:sp>
      <p:sp>
        <p:nvSpPr>
          <p:cNvPr id="22" name="Rounded Rectangle 21"/>
          <p:cNvSpPr/>
          <p:nvPr/>
        </p:nvSpPr>
        <p:spPr>
          <a:xfrm>
            <a:off x="4325112" y="2249424"/>
            <a:ext cx="3538728" cy="3072384"/>
          </a:xfrm>
          <a:prstGeom prst="roundRect">
            <a:avLst>
              <a:gd name="adj" fmla="val 4500"/>
            </a:avLst>
          </a:prstGeom>
          <a:solidFill>
            <a:srgbClr val="E7F7F6"/>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4352544" y="2276856"/>
            <a:ext cx="41148" cy="3008376"/>
          </a:xfrm>
          <a:prstGeom prst="rect">
            <a:avLst/>
          </a:prstGeom>
          <a:solidFill>
            <a:srgbClr val="008F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P01-text-015"/>
          <p:cNvSpPr txBox="1"/>
          <p:nvPr/>
        </p:nvSpPr>
        <p:spPr>
          <a:xfrm>
            <a:off x="4544568" y="2441448"/>
            <a:ext cx="3099816" cy="36576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008F91"/>
                </a:solidFill>
                <a:latin typeface="Arial" panose="020B0704020202020204"/>
                <a:ea typeface="Noto Sans CJK SC"/>
                <a:cs typeface="Arial" panose="020B0704020202020204"/>
              </a:rPr>
              <a:t>DID binding</a:t>
            </a:r>
            <a:endParaRPr lang="en-US" sz="2000" b="1">
              <a:solidFill>
                <a:srgbClr val="008F91"/>
              </a:solidFill>
              <a:latin typeface="Arial" panose="020B0704020202020204"/>
              <a:ea typeface="Noto Sans CJK SC"/>
              <a:cs typeface="Arial" panose="020B0704020202020204"/>
            </a:endParaRPr>
          </a:p>
        </p:txBody>
      </p:sp>
      <p:sp>
        <p:nvSpPr>
          <p:cNvPr id="25" name="P01-text-016"/>
          <p:cNvSpPr txBox="1"/>
          <p:nvPr/>
        </p:nvSpPr>
        <p:spPr>
          <a:xfrm>
            <a:off x="4544568" y="2825496"/>
            <a:ext cx="3099816"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DID 绑定扩展</a:t>
            </a:r>
            <a:endParaRPr lang="zh-CN" sz="1300" b="0">
              <a:solidFill>
                <a:srgbClr val="577C91"/>
              </a:solidFill>
              <a:latin typeface="Noto Sans CJK SC"/>
              <a:ea typeface="Noto Sans CJK SC"/>
              <a:cs typeface="Noto Sans CJK SC"/>
            </a:endParaRPr>
          </a:p>
        </p:txBody>
      </p:sp>
      <p:sp>
        <p:nvSpPr>
          <p:cNvPr id="26" name="Rectangle 25"/>
          <p:cNvSpPr/>
          <p:nvPr/>
        </p:nvSpPr>
        <p:spPr>
          <a:xfrm>
            <a:off x="4544568" y="3191256"/>
            <a:ext cx="3099816"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01-text-017"/>
          <p:cNvSpPr txBox="1"/>
          <p:nvPr/>
        </p:nvSpPr>
        <p:spPr>
          <a:xfrm>
            <a:off x="4544568" y="3337560"/>
            <a:ext cx="3099816" cy="31089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840" b="1">
                <a:solidFill>
                  <a:srgbClr val="183C50"/>
                </a:solidFill>
                <a:latin typeface="Arial" panose="020B0704020202020204"/>
                <a:ea typeface="Noto Sans CJK SC"/>
                <a:cs typeface="Arial" panose="020B0704020202020204"/>
              </a:rPr>
              <a:t>Declare the DID;</a:t>
            </a:r>
            <a:endParaRPr lang="en-US" sz="1840" b="1">
              <a:solidFill>
                <a:srgbClr val="183C50"/>
              </a:solidFill>
              <a:latin typeface="Arial" panose="020B0704020202020204"/>
              <a:ea typeface="Noto Sans CJK SC"/>
              <a:cs typeface="Arial" panose="020B0704020202020204"/>
            </a:endParaRPr>
          </a:p>
        </p:txBody>
      </p:sp>
      <p:sp>
        <p:nvSpPr>
          <p:cNvPr id="28" name="P01-text-018"/>
          <p:cNvSpPr txBox="1"/>
          <p:nvPr/>
        </p:nvSpPr>
        <p:spPr>
          <a:xfrm>
            <a:off x="4544568" y="3685032"/>
            <a:ext cx="3099816" cy="31089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840" b="1">
                <a:solidFill>
                  <a:srgbClr val="183C50"/>
                </a:solidFill>
                <a:latin typeface="Arial" panose="020B0704020202020204"/>
                <a:ea typeface="Noto Sans CJK SC"/>
                <a:cs typeface="Arial" panose="020B0704020202020204"/>
              </a:rPr>
              <a:t>verify the link back.</a:t>
            </a:r>
            <a:endParaRPr lang="en-US" sz="1840" b="1">
              <a:solidFill>
                <a:srgbClr val="183C50"/>
              </a:solidFill>
              <a:latin typeface="Arial" panose="020B0704020202020204"/>
              <a:ea typeface="Noto Sans CJK SC"/>
              <a:cs typeface="Arial" panose="020B0704020202020204"/>
            </a:endParaRPr>
          </a:p>
        </p:txBody>
      </p:sp>
      <p:sp>
        <p:nvSpPr>
          <p:cNvPr id="29" name="P01-text-019"/>
          <p:cNvSpPr txBox="1"/>
          <p:nvPr/>
        </p:nvSpPr>
        <p:spPr>
          <a:xfrm>
            <a:off x="4544568" y="4087368"/>
            <a:ext cx="3099816"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80" b="0">
                <a:solidFill>
                  <a:srgbClr val="577C91"/>
                </a:solidFill>
                <a:latin typeface="Noto Sans CJK SC"/>
                <a:ea typeface="Noto Sans CJK SC"/>
                <a:cs typeface="Noto Sans CJK SC"/>
              </a:rPr>
              <a:t>元数据声明 DID；</a:t>
            </a:r>
            <a:endParaRPr lang="zh-CN" sz="1280" b="0">
              <a:solidFill>
                <a:srgbClr val="577C91"/>
              </a:solidFill>
              <a:latin typeface="Noto Sans CJK SC"/>
              <a:ea typeface="Noto Sans CJK SC"/>
              <a:cs typeface="Noto Sans CJK SC"/>
            </a:endParaRPr>
          </a:p>
        </p:txBody>
      </p:sp>
      <p:sp>
        <p:nvSpPr>
          <p:cNvPr id="30" name="P01-text-020"/>
          <p:cNvSpPr txBox="1"/>
          <p:nvPr/>
        </p:nvSpPr>
        <p:spPr>
          <a:xfrm>
            <a:off x="4544568" y="4334256"/>
            <a:ext cx="3099816"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80" b="0">
                <a:solidFill>
                  <a:srgbClr val="577C91"/>
                </a:solidFill>
                <a:latin typeface="Noto Sans CJK SC"/>
                <a:ea typeface="Noto Sans CJK SC"/>
                <a:cs typeface="Noto Sans CJK SC"/>
              </a:rPr>
              <a:t>核验 DID 的回指关系。</a:t>
            </a:r>
            <a:endParaRPr lang="zh-CN" sz="1280" b="0">
              <a:solidFill>
                <a:srgbClr val="577C91"/>
              </a:solidFill>
              <a:latin typeface="Noto Sans CJK SC"/>
              <a:ea typeface="Noto Sans CJK SC"/>
              <a:cs typeface="Noto Sans CJK SC"/>
            </a:endParaRPr>
          </a:p>
        </p:txBody>
      </p:sp>
      <p:sp>
        <p:nvSpPr>
          <p:cNvPr id="31" name="P01-text-021"/>
          <p:cNvSpPr txBox="1"/>
          <p:nvPr/>
        </p:nvSpPr>
        <p:spPr>
          <a:xfrm>
            <a:off x="4544568" y="4700016"/>
            <a:ext cx="3099816"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420" b="1">
                <a:solidFill>
                  <a:srgbClr val="008F91"/>
                </a:solidFill>
                <a:latin typeface="Arial" panose="020B0704020202020204"/>
                <a:ea typeface="Noto Sans CJK SC"/>
                <a:cs typeface="Arial" panose="020B0704020202020204"/>
              </a:rPr>
              <a:t>Verified identity evidence</a:t>
            </a:r>
            <a:endParaRPr lang="en-US" sz="1420" b="1">
              <a:solidFill>
                <a:srgbClr val="008F91"/>
              </a:solidFill>
              <a:latin typeface="Arial" panose="020B0704020202020204"/>
              <a:ea typeface="Noto Sans CJK SC"/>
              <a:cs typeface="Arial" panose="020B0704020202020204"/>
            </a:endParaRPr>
          </a:p>
        </p:txBody>
      </p:sp>
      <p:sp>
        <p:nvSpPr>
          <p:cNvPr id="32" name="P01-text-022"/>
          <p:cNvSpPr txBox="1"/>
          <p:nvPr/>
        </p:nvSpPr>
        <p:spPr>
          <a:xfrm>
            <a:off x="4544568" y="5010912"/>
            <a:ext cx="3099816"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经验证的身份依据</a:t>
            </a:r>
            <a:endParaRPr lang="zh-CN" sz="1170" b="0">
              <a:solidFill>
                <a:srgbClr val="577C91"/>
              </a:solidFill>
              <a:latin typeface="Noto Sans CJK SC"/>
              <a:ea typeface="Noto Sans CJK SC"/>
              <a:cs typeface="Noto Sans CJK SC"/>
            </a:endParaRPr>
          </a:p>
        </p:txBody>
      </p:sp>
      <p:sp>
        <p:nvSpPr>
          <p:cNvPr id="33" name="Rounded Rectangle 32"/>
          <p:cNvSpPr/>
          <p:nvPr/>
        </p:nvSpPr>
        <p:spPr>
          <a:xfrm>
            <a:off x="8147304" y="2249424"/>
            <a:ext cx="3538728" cy="3072384"/>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8174736" y="2276856"/>
            <a:ext cx="41148" cy="3008376"/>
          </a:xfrm>
          <a:prstGeom prst="rect">
            <a:avLst/>
          </a:prstGeom>
          <a:solidFill>
            <a:srgbClr val="0A344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P01-text-023"/>
          <p:cNvSpPr txBox="1"/>
          <p:nvPr/>
        </p:nvSpPr>
        <p:spPr>
          <a:xfrm>
            <a:off x="8366760" y="2441448"/>
            <a:ext cx="3099816" cy="36576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0A344B"/>
                </a:solidFill>
                <a:latin typeface="Arial" panose="020B0704020202020204"/>
                <a:ea typeface="Noto Sans CJK SC"/>
                <a:cs typeface="Arial" panose="020B0704020202020204"/>
              </a:rPr>
              <a:t>OAuth unchanged</a:t>
            </a:r>
            <a:endParaRPr lang="en-US" sz="2000" b="1">
              <a:solidFill>
                <a:srgbClr val="0A344B"/>
              </a:solidFill>
              <a:latin typeface="Arial" panose="020B0704020202020204"/>
              <a:ea typeface="Noto Sans CJK SC"/>
              <a:cs typeface="Arial" panose="020B0704020202020204"/>
            </a:endParaRPr>
          </a:p>
        </p:txBody>
      </p:sp>
      <p:sp>
        <p:nvSpPr>
          <p:cNvPr id="36" name="P01-text-024"/>
          <p:cNvSpPr txBox="1"/>
          <p:nvPr/>
        </p:nvSpPr>
        <p:spPr>
          <a:xfrm>
            <a:off x="8366760" y="2825496"/>
            <a:ext cx="3099816"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OAuth 机制不变</a:t>
            </a:r>
            <a:endParaRPr lang="zh-CN" sz="1300" b="0">
              <a:solidFill>
                <a:srgbClr val="577C91"/>
              </a:solidFill>
              <a:latin typeface="Noto Sans CJK SC"/>
              <a:ea typeface="Noto Sans CJK SC"/>
              <a:cs typeface="Noto Sans CJK SC"/>
            </a:endParaRPr>
          </a:p>
        </p:txBody>
      </p:sp>
      <p:sp>
        <p:nvSpPr>
          <p:cNvPr id="37" name="Rectangle 36"/>
          <p:cNvSpPr/>
          <p:nvPr/>
        </p:nvSpPr>
        <p:spPr>
          <a:xfrm>
            <a:off x="8366760" y="3191256"/>
            <a:ext cx="3099816"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P01-text-025"/>
          <p:cNvSpPr txBox="1"/>
          <p:nvPr/>
        </p:nvSpPr>
        <p:spPr>
          <a:xfrm>
            <a:off x="8366760" y="3337560"/>
            <a:ext cx="3099816" cy="31089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840" b="1">
                <a:solidFill>
                  <a:srgbClr val="183C50"/>
                </a:solidFill>
                <a:latin typeface="Arial" panose="020B0704020202020204"/>
                <a:ea typeface="Noto Sans CJK SC"/>
                <a:cs typeface="Arial" panose="020B0704020202020204"/>
              </a:rPr>
              <a:t>Keep consent, grants,</a:t>
            </a:r>
            <a:endParaRPr lang="en-US" sz="1840" b="1">
              <a:solidFill>
                <a:srgbClr val="183C50"/>
              </a:solidFill>
              <a:latin typeface="Arial" panose="020B0704020202020204"/>
              <a:ea typeface="Noto Sans CJK SC"/>
              <a:cs typeface="Arial" panose="020B0704020202020204"/>
            </a:endParaRPr>
          </a:p>
        </p:txBody>
      </p:sp>
      <p:sp>
        <p:nvSpPr>
          <p:cNvPr id="39" name="P01-text-026"/>
          <p:cNvSpPr txBox="1"/>
          <p:nvPr/>
        </p:nvSpPr>
        <p:spPr>
          <a:xfrm>
            <a:off x="8366760" y="3685032"/>
            <a:ext cx="3099816" cy="31089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840" b="1">
                <a:solidFill>
                  <a:srgbClr val="183C50"/>
                </a:solidFill>
                <a:latin typeface="Arial" panose="020B0704020202020204"/>
                <a:ea typeface="Noto Sans CJK SC"/>
                <a:cs typeface="Arial" panose="020B0704020202020204"/>
              </a:rPr>
              <a:t>scopes and tokens.</a:t>
            </a:r>
            <a:endParaRPr lang="en-US" sz="1840" b="1">
              <a:solidFill>
                <a:srgbClr val="183C50"/>
              </a:solidFill>
              <a:latin typeface="Arial" panose="020B0704020202020204"/>
              <a:ea typeface="Noto Sans CJK SC"/>
              <a:cs typeface="Arial" panose="020B0704020202020204"/>
            </a:endParaRPr>
          </a:p>
        </p:txBody>
      </p:sp>
      <p:sp>
        <p:nvSpPr>
          <p:cNvPr id="40" name="P01-text-027"/>
          <p:cNvSpPr txBox="1"/>
          <p:nvPr/>
        </p:nvSpPr>
        <p:spPr>
          <a:xfrm>
            <a:off x="8366760" y="4087368"/>
            <a:ext cx="3099816"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80" b="0">
                <a:solidFill>
                  <a:srgbClr val="577C91"/>
                </a:solidFill>
                <a:latin typeface="Noto Sans CJK SC"/>
                <a:ea typeface="Noto Sans CJK SC"/>
                <a:cs typeface="Noto Sans CJK SC"/>
              </a:rPr>
              <a:t>保留用户同意、授权、</a:t>
            </a:r>
            <a:endParaRPr lang="zh-CN" sz="1280" b="0">
              <a:solidFill>
                <a:srgbClr val="577C91"/>
              </a:solidFill>
              <a:latin typeface="Noto Sans CJK SC"/>
              <a:ea typeface="Noto Sans CJK SC"/>
              <a:cs typeface="Noto Sans CJK SC"/>
            </a:endParaRPr>
          </a:p>
        </p:txBody>
      </p:sp>
      <p:sp>
        <p:nvSpPr>
          <p:cNvPr id="41" name="P01-text-028"/>
          <p:cNvSpPr txBox="1"/>
          <p:nvPr/>
        </p:nvSpPr>
        <p:spPr>
          <a:xfrm>
            <a:off x="8366760" y="4334256"/>
            <a:ext cx="3099816"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80" b="0">
                <a:solidFill>
                  <a:srgbClr val="577C91"/>
                </a:solidFill>
                <a:latin typeface="Noto Sans CJK SC"/>
                <a:ea typeface="Noto Sans CJK SC"/>
                <a:cs typeface="Noto Sans CJK SC"/>
              </a:rPr>
              <a:t>权限范围与令牌。</a:t>
            </a:r>
            <a:endParaRPr lang="zh-CN" sz="1280" b="0">
              <a:solidFill>
                <a:srgbClr val="577C91"/>
              </a:solidFill>
              <a:latin typeface="Noto Sans CJK SC"/>
              <a:ea typeface="Noto Sans CJK SC"/>
              <a:cs typeface="Noto Sans CJK SC"/>
            </a:endParaRPr>
          </a:p>
        </p:txBody>
      </p:sp>
      <p:sp>
        <p:nvSpPr>
          <p:cNvPr id="42" name="P01-text-029"/>
          <p:cNvSpPr txBox="1"/>
          <p:nvPr/>
        </p:nvSpPr>
        <p:spPr>
          <a:xfrm>
            <a:off x="8366760" y="4700016"/>
            <a:ext cx="3099816"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420" b="1">
                <a:solidFill>
                  <a:srgbClr val="0A344B"/>
                </a:solidFill>
                <a:latin typeface="Arial" panose="020B0704020202020204"/>
                <a:ea typeface="Noto Sans CJK SC"/>
                <a:cs typeface="Arial" panose="020B0704020202020204"/>
              </a:rPr>
              <a:t>No automatic access</a:t>
            </a:r>
            <a:endParaRPr lang="en-US" sz="1420" b="1">
              <a:solidFill>
                <a:srgbClr val="0A344B"/>
              </a:solidFill>
              <a:latin typeface="Arial" panose="020B0704020202020204"/>
              <a:ea typeface="Noto Sans CJK SC"/>
              <a:cs typeface="Arial" panose="020B0704020202020204"/>
            </a:endParaRPr>
          </a:p>
        </p:txBody>
      </p:sp>
      <p:sp>
        <p:nvSpPr>
          <p:cNvPr id="43" name="P01-text-030"/>
          <p:cNvSpPr txBox="1"/>
          <p:nvPr/>
        </p:nvSpPr>
        <p:spPr>
          <a:xfrm>
            <a:off x="8366760" y="5010912"/>
            <a:ext cx="3099816"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不会自动授予资源权限</a:t>
            </a:r>
            <a:endParaRPr lang="zh-CN" sz="1170" b="0">
              <a:solidFill>
                <a:srgbClr val="577C91"/>
              </a:solidFill>
              <a:latin typeface="Noto Sans CJK SC"/>
              <a:ea typeface="Noto Sans CJK SC"/>
              <a:cs typeface="Noto Sans CJK SC"/>
            </a:endParaRPr>
          </a:p>
        </p:txBody>
      </p:sp>
      <p:sp>
        <p:nvSpPr>
          <p:cNvPr id="44" name="Rounded Rectangle 43"/>
          <p:cNvSpPr/>
          <p:nvPr/>
        </p:nvSpPr>
        <p:spPr>
          <a:xfrm>
            <a:off x="502920" y="5660136"/>
            <a:ext cx="11183112" cy="822960"/>
          </a:xfrm>
          <a:prstGeom prst="roundRect">
            <a:avLst>
              <a:gd name="adj" fmla="val 4500"/>
            </a:avLst>
          </a:prstGeom>
          <a:solidFill>
            <a:srgbClr val="FFF4DE"/>
          </a:solidFill>
          <a:ln w="11430">
            <a:solidFill>
              <a:srgbClr val="EBAA3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P01-key-label-031"/>
          <p:cNvSpPr txBox="1"/>
          <p:nvPr/>
        </p:nvSpPr>
        <p:spPr>
          <a:xfrm>
            <a:off x="685800" y="5742432"/>
            <a:ext cx="10835640" cy="16459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1">
                <a:solidFill>
                  <a:srgbClr val="B36A00"/>
                </a:solidFill>
                <a:latin typeface="Arial" panose="020B0704020202020204"/>
                <a:ea typeface="Noto Sans CJK SC"/>
                <a:cs typeface="Arial" panose="020B0704020202020204"/>
              </a:rPr>
              <a:t>KEY MESSAGE / 核心说明</a:t>
            </a:r>
            <a:endParaRPr lang="en-US" sz="900" b="1">
              <a:solidFill>
                <a:srgbClr val="B36A00"/>
              </a:solidFill>
              <a:latin typeface="Arial" panose="020B0704020202020204"/>
              <a:ea typeface="Noto Sans CJK SC"/>
              <a:cs typeface="Arial" panose="020B0704020202020204"/>
            </a:endParaRPr>
          </a:p>
        </p:txBody>
      </p:sp>
      <p:sp>
        <p:nvSpPr>
          <p:cNvPr id="46" name="P01-key-en-032"/>
          <p:cNvSpPr txBox="1"/>
          <p:nvPr/>
        </p:nvSpPr>
        <p:spPr>
          <a:xfrm>
            <a:off x="685800" y="5925312"/>
            <a:ext cx="10835640"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80" b="1">
                <a:solidFill>
                  <a:srgbClr val="0A344B"/>
                </a:solidFill>
                <a:latin typeface="Arial" panose="020B0704020202020204"/>
                <a:ea typeface="Noto Sans CJK SC"/>
                <a:cs typeface="Arial" panose="020B0704020202020204"/>
              </a:rPr>
              <a:t>Add DID validation without replacing the CIMD client identifier.</a:t>
            </a:r>
            <a:endParaRPr lang="en-US" sz="1780" b="1">
              <a:solidFill>
                <a:srgbClr val="0A344B"/>
              </a:solidFill>
              <a:latin typeface="Arial" panose="020B0704020202020204"/>
              <a:ea typeface="Noto Sans CJK SC"/>
              <a:cs typeface="Arial" panose="020B0704020202020204"/>
            </a:endParaRPr>
          </a:p>
        </p:txBody>
      </p:sp>
      <p:sp>
        <p:nvSpPr>
          <p:cNvPr id="47" name="P01-key-cn-033"/>
          <p:cNvSpPr txBox="1"/>
          <p:nvPr/>
        </p:nvSpPr>
        <p:spPr>
          <a:xfrm>
            <a:off x="685800" y="6236208"/>
            <a:ext cx="10835640"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20" b="0">
                <a:solidFill>
                  <a:srgbClr val="577C91"/>
                </a:solidFill>
                <a:latin typeface="Noto Sans CJK SC"/>
                <a:ea typeface="Noto Sans CJK SC"/>
                <a:cs typeface="Noto Sans CJK SC"/>
              </a:rPr>
              <a:t>增加 DID 验证，但不替换 CIMD 的客户端标识符。</a:t>
            </a:r>
            <a:endParaRPr lang="zh-CN" sz="1220" b="0">
              <a:solidFill>
                <a:srgbClr val="577C91"/>
              </a:solidFill>
              <a:latin typeface="Noto Sans CJK SC"/>
              <a:ea typeface="Noto Sans CJK SC"/>
              <a:cs typeface="Noto Sans CJK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02-title-en-034"/>
          <p:cNvSpPr txBox="1"/>
          <p:nvPr/>
        </p:nvSpPr>
        <p:spPr>
          <a:xfrm>
            <a:off x="502920" y="283464"/>
            <a:ext cx="11173968" cy="5029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700" b="1">
                <a:solidFill>
                  <a:srgbClr val="0A344B"/>
                </a:solidFill>
                <a:latin typeface="Arial" panose="020B0704020202020204"/>
                <a:ea typeface="Noto Sans CJK SC"/>
                <a:cs typeface="Arial" panose="020B0704020202020204"/>
              </a:rPr>
              <a:t>Three documents, three responsibilities</a:t>
            </a:r>
            <a:endParaRPr lang="en-US" sz="2700" b="1">
              <a:solidFill>
                <a:srgbClr val="0A344B"/>
              </a:solidFill>
              <a:latin typeface="Arial" panose="020B0704020202020204"/>
              <a:ea typeface="Noto Sans CJK SC"/>
              <a:cs typeface="Arial" panose="020B0704020202020204"/>
            </a:endParaRPr>
          </a:p>
        </p:txBody>
      </p:sp>
      <p:sp>
        <p:nvSpPr>
          <p:cNvPr id="3" name="P02-title-cn-035"/>
          <p:cNvSpPr txBox="1"/>
          <p:nvPr/>
        </p:nvSpPr>
        <p:spPr>
          <a:xfrm>
            <a:off x="521207" y="832104"/>
            <a:ext cx="11064240" cy="28346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500" b="0">
                <a:solidFill>
                  <a:srgbClr val="577C91"/>
                </a:solidFill>
                <a:latin typeface="Noto Sans CJK SC"/>
                <a:ea typeface="Noto Sans CJK SC"/>
                <a:cs typeface="Noto Sans CJK SC"/>
              </a:rPr>
              <a:t>三份文档，三类清晰职责</a:t>
            </a:r>
            <a:endParaRPr lang="zh-CN" sz="1500" b="0">
              <a:solidFill>
                <a:srgbClr val="577C91"/>
              </a:solidFill>
              <a:latin typeface="Noto Sans CJK SC"/>
              <a:ea typeface="Noto Sans CJK SC"/>
              <a:cs typeface="Noto Sans CJK SC"/>
            </a:endParaRPr>
          </a:p>
        </p:txBody>
      </p:sp>
      <p:sp>
        <p:nvSpPr>
          <p:cNvPr id="4" name="Rectangle 3"/>
          <p:cNvSpPr/>
          <p:nvPr/>
        </p:nvSpPr>
        <p:spPr>
          <a:xfrm>
            <a:off x="502920" y="1179576"/>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02920" y="6547104"/>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02-footer-left-036"/>
          <p:cNvSpPr txBox="1"/>
          <p:nvPr/>
        </p:nvSpPr>
        <p:spPr>
          <a:xfrm>
            <a:off x="502920" y="6620256"/>
            <a:ext cx="3749039"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AI Agent Protocol / AI 智能体协议</a:t>
            </a:r>
            <a:endParaRPr lang="en-US" sz="900" b="0">
              <a:solidFill>
                <a:srgbClr val="577C91"/>
              </a:solidFill>
              <a:latin typeface="Arial" panose="020B0704020202020204"/>
              <a:ea typeface="Noto Sans CJK SC"/>
              <a:cs typeface="Arial" panose="020B0704020202020204"/>
            </a:endParaRPr>
          </a:p>
        </p:txBody>
      </p:sp>
      <p:sp>
        <p:nvSpPr>
          <p:cNvPr id="7" name="P02-footer-center-037"/>
          <p:cNvSpPr txBox="1"/>
          <p:nvPr/>
        </p:nvSpPr>
        <p:spPr>
          <a:xfrm>
            <a:off x="4581144" y="6620256"/>
            <a:ext cx="5760720"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Community discussion draft / 社区讨论稿</a:t>
            </a:r>
            <a:endParaRPr lang="en-US" sz="900" b="0">
              <a:solidFill>
                <a:srgbClr val="577C91"/>
              </a:solidFill>
              <a:latin typeface="Arial" panose="020B0704020202020204"/>
              <a:ea typeface="Noto Sans CJK SC"/>
              <a:cs typeface="Arial" panose="020B0704020202020204"/>
            </a:endParaRPr>
          </a:p>
        </p:txBody>
      </p:sp>
      <p:sp>
        <p:nvSpPr>
          <p:cNvPr id="8" name="P02-page-number-038"/>
          <p:cNvSpPr txBox="1"/>
          <p:nvPr/>
        </p:nvSpPr>
        <p:spPr>
          <a:xfrm>
            <a:off x="10744200" y="6601968"/>
            <a:ext cx="941832" cy="210312"/>
          </a:xfrm>
          <a:prstGeom prst="rect">
            <a:avLst/>
          </a:prstGeom>
          <a:noFill/>
          <a:effectLst/>
        </p:spPr>
        <p:txBody>
          <a:bodyPr vertOverflow="overflow" horzOverflow="overflow" wrap="none" lIns="0" tIns="0" rIns="0" bIns="0" anchor="t">
            <a:noAutofit/>
          </a:bodyPr>
          <a:lstStyle/>
          <a:p>
            <a:pPr algn="r">
              <a:lnSpc>
                <a:spcPct val="100000"/>
              </a:lnSpc>
              <a:spcBef>
                <a:spcPts val="0"/>
              </a:spcBef>
              <a:spcAft>
                <a:spcPts val="0"/>
              </a:spcAft>
            </a:pPr>
            <a:r>
              <a:rPr lang="en-US" sz="1100" b="1">
                <a:solidFill>
                  <a:srgbClr val="1264EC"/>
                </a:solidFill>
                <a:latin typeface="Arial" panose="020B0704020202020204"/>
                <a:ea typeface="Noto Sans CJK SC"/>
                <a:cs typeface="Arial" panose="020B0704020202020204"/>
              </a:rPr>
              <a:t>02 / 05</a:t>
            </a:r>
            <a:endParaRPr lang="en-US" sz="1100" b="1">
              <a:solidFill>
                <a:srgbClr val="1264EC"/>
              </a:solidFill>
              <a:latin typeface="Arial" panose="020B0704020202020204"/>
              <a:ea typeface="Noto Sans CJK SC"/>
              <a:cs typeface="Arial" panose="020B0704020202020204"/>
            </a:endParaRPr>
          </a:p>
        </p:txBody>
      </p:sp>
      <p:sp>
        <p:nvSpPr>
          <p:cNvPr id="9" name="Rounded Rectangle 8"/>
          <p:cNvSpPr/>
          <p:nvPr/>
        </p:nvSpPr>
        <p:spPr>
          <a:xfrm>
            <a:off x="502920" y="1380744"/>
            <a:ext cx="11183112" cy="1243584"/>
          </a:xfrm>
          <a:prstGeom prst="roundRect">
            <a:avLst>
              <a:gd name="adj" fmla="val 4500"/>
            </a:avLst>
          </a:prstGeom>
          <a:solidFill>
            <a:srgbClr val="EAF2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2-text-039"/>
          <p:cNvSpPr txBox="1"/>
          <p:nvPr/>
        </p:nvSpPr>
        <p:spPr>
          <a:xfrm>
            <a:off x="758952" y="1581912"/>
            <a:ext cx="2706624" cy="37490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100" b="1">
                <a:solidFill>
                  <a:srgbClr val="1264EC"/>
                </a:solidFill>
                <a:latin typeface="Arial" panose="020B0704020202020204"/>
                <a:ea typeface="Noto Sans CJK SC"/>
                <a:cs typeface="Arial" panose="020B0704020202020204"/>
              </a:rPr>
              <a:t>CIMD metadata</a:t>
            </a:r>
            <a:endParaRPr lang="en-US" sz="2100" b="1">
              <a:solidFill>
                <a:srgbClr val="1264EC"/>
              </a:solidFill>
              <a:latin typeface="Arial" panose="020B0704020202020204"/>
              <a:ea typeface="Noto Sans CJK SC"/>
              <a:cs typeface="Arial" panose="020B0704020202020204"/>
            </a:endParaRPr>
          </a:p>
        </p:txBody>
      </p:sp>
      <p:sp>
        <p:nvSpPr>
          <p:cNvPr id="11" name="P02-text-040"/>
          <p:cNvSpPr txBox="1"/>
          <p:nvPr/>
        </p:nvSpPr>
        <p:spPr>
          <a:xfrm>
            <a:off x="758952" y="2020824"/>
            <a:ext cx="272491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40" b="0">
                <a:solidFill>
                  <a:srgbClr val="577C91"/>
                </a:solidFill>
                <a:latin typeface="Noto Sans CJK SC"/>
                <a:ea typeface="Noto Sans CJK SC"/>
                <a:cs typeface="Noto Sans CJK SC"/>
              </a:rPr>
              <a:t>CIMD 客户端元数据</a:t>
            </a:r>
            <a:endParaRPr lang="zh-CN" sz="1340" b="0">
              <a:solidFill>
                <a:srgbClr val="577C91"/>
              </a:solidFill>
              <a:latin typeface="Noto Sans CJK SC"/>
              <a:ea typeface="Noto Sans CJK SC"/>
              <a:cs typeface="Noto Sans CJK SC"/>
            </a:endParaRPr>
          </a:p>
        </p:txBody>
      </p:sp>
      <p:sp>
        <p:nvSpPr>
          <p:cNvPr id="12" name="Rectangle 11"/>
          <p:cNvSpPr/>
          <p:nvPr/>
        </p:nvSpPr>
        <p:spPr>
          <a:xfrm>
            <a:off x="3611880" y="1545336"/>
            <a:ext cx="10972" cy="877824"/>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02-text-041"/>
          <p:cNvSpPr txBox="1"/>
          <p:nvPr/>
        </p:nvSpPr>
        <p:spPr>
          <a:xfrm>
            <a:off x="3831336" y="1499616"/>
            <a:ext cx="7571231" cy="29260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50" b="0">
                <a:solidFill>
                  <a:srgbClr val="183C50"/>
                </a:solidFill>
                <a:latin typeface="Arial" panose="020B0704020202020204"/>
                <a:ea typeface="Noto Sans CJK SC"/>
                <a:cs typeface="Arial" panose="020B0704020202020204"/>
              </a:rPr>
              <a:t>Client ID, callbacks, grant types and authentication method.</a:t>
            </a:r>
            <a:endParaRPr lang="en-US" sz="1650" b="0">
              <a:solidFill>
                <a:srgbClr val="183C50"/>
              </a:solidFill>
              <a:latin typeface="Arial" panose="020B0704020202020204"/>
              <a:ea typeface="Noto Sans CJK SC"/>
              <a:cs typeface="Arial" panose="020B0704020202020204"/>
            </a:endParaRPr>
          </a:p>
        </p:txBody>
      </p:sp>
      <p:sp>
        <p:nvSpPr>
          <p:cNvPr id="14" name="P02-text-042"/>
          <p:cNvSpPr txBox="1"/>
          <p:nvPr/>
        </p:nvSpPr>
        <p:spPr>
          <a:xfrm>
            <a:off x="3831336" y="1810512"/>
            <a:ext cx="7571231"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50" b="0">
                <a:solidFill>
                  <a:srgbClr val="577C91"/>
                </a:solidFill>
                <a:latin typeface="Noto Sans CJK SC"/>
                <a:ea typeface="Noto Sans CJK SC"/>
                <a:cs typeface="Noto Sans CJK SC"/>
              </a:rPr>
              <a:t>客户端标识、回调地址、授权类型与客户端认证方式。</a:t>
            </a:r>
            <a:endParaRPr lang="zh-CN" sz="1250" b="0">
              <a:solidFill>
                <a:srgbClr val="577C91"/>
              </a:solidFill>
              <a:latin typeface="Noto Sans CJK SC"/>
              <a:ea typeface="Noto Sans CJK SC"/>
              <a:cs typeface="Noto Sans CJK SC"/>
            </a:endParaRPr>
          </a:p>
        </p:txBody>
      </p:sp>
      <p:sp>
        <p:nvSpPr>
          <p:cNvPr id="15" name="P02-text-043"/>
          <p:cNvSpPr txBox="1"/>
          <p:nvPr/>
        </p:nvSpPr>
        <p:spPr>
          <a:xfrm>
            <a:off x="3831336" y="2121408"/>
            <a:ext cx="7571231"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1264EC"/>
                </a:solidFill>
                <a:latin typeface="Arial" panose="020B0704020202020204"/>
                <a:ea typeface="Noto Sans CJK SC"/>
                <a:cs typeface="Arial" panose="020B0704020202020204"/>
              </a:rPr>
              <a:t>Describes configuration; does not grant access.</a:t>
            </a:r>
            <a:endParaRPr lang="en-US" sz="1320" b="0">
              <a:solidFill>
                <a:srgbClr val="1264EC"/>
              </a:solidFill>
              <a:latin typeface="Arial" panose="020B0704020202020204"/>
              <a:ea typeface="Noto Sans CJK SC"/>
              <a:cs typeface="Arial" panose="020B0704020202020204"/>
            </a:endParaRPr>
          </a:p>
        </p:txBody>
      </p:sp>
      <p:sp>
        <p:nvSpPr>
          <p:cNvPr id="16" name="P02-text-044"/>
          <p:cNvSpPr txBox="1"/>
          <p:nvPr/>
        </p:nvSpPr>
        <p:spPr>
          <a:xfrm>
            <a:off x="3831336" y="2359152"/>
            <a:ext cx="7571231"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30" b="0">
                <a:solidFill>
                  <a:srgbClr val="577C91"/>
                </a:solidFill>
                <a:latin typeface="Noto Sans CJK SC"/>
                <a:ea typeface="Noto Sans CJK SC"/>
                <a:cs typeface="Noto Sans CJK SC"/>
              </a:rPr>
              <a:t>描述客户端配置；不会授予资源访问权限。</a:t>
            </a:r>
            <a:endParaRPr lang="zh-CN" sz="1130" b="0">
              <a:solidFill>
                <a:srgbClr val="577C91"/>
              </a:solidFill>
              <a:latin typeface="Noto Sans CJK SC"/>
              <a:ea typeface="Noto Sans CJK SC"/>
              <a:cs typeface="Noto Sans CJK SC"/>
            </a:endParaRPr>
          </a:p>
        </p:txBody>
      </p:sp>
      <p:sp>
        <p:nvSpPr>
          <p:cNvPr id="17" name="Rounded Rectangle 16"/>
          <p:cNvSpPr/>
          <p:nvPr/>
        </p:nvSpPr>
        <p:spPr>
          <a:xfrm>
            <a:off x="502920" y="2743200"/>
            <a:ext cx="11183112" cy="1243584"/>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02-text-045"/>
          <p:cNvSpPr txBox="1"/>
          <p:nvPr/>
        </p:nvSpPr>
        <p:spPr>
          <a:xfrm>
            <a:off x="758952" y="2944368"/>
            <a:ext cx="2706624" cy="37490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100" b="1">
                <a:solidFill>
                  <a:srgbClr val="0A344B"/>
                </a:solidFill>
                <a:latin typeface="Arial" panose="020B0704020202020204"/>
                <a:ea typeface="Noto Sans CJK SC"/>
                <a:cs typeface="Arial" panose="020B0704020202020204"/>
              </a:rPr>
              <a:t>JWKS</a:t>
            </a:r>
            <a:endParaRPr lang="en-US" sz="2100" b="1">
              <a:solidFill>
                <a:srgbClr val="0A344B"/>
              </a:solidFill>
              <a:latin typeface="Arial" panose="020B0704020202020204"/>
              <a:ea typeface="Noto Sans CJK SC"/>
              <a:cs typeface="Arial" panose="020B0704020202020204"/>
            </a:endParaRPr>
          </a:p>
        </p:txBody>
      </p:sp>
      <p:sp>
        <p:nvSpPr>
          <p:cNvPr id="19" name="P02-text-046"/>
          <p:cNvSpPr txBox="1"/>
          <p:nvPr/>
        </p:nvSpPr>
        <p:spPr>
          <a:xfrm>
            <a:off x="758952" y="3383280"/>
            <a:ext cx="272491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40" b="0">
                <a:solidFill>
                  <a:srgbClr val="577C91"/>
                </a:solidFill>
                <a:latin typeface="Noto Sans CJK SC"/>
                <a:ea typeface="Noto Sans CJK SC"/>
                <a:cs typeface="Noto Sans CJK SC"/>
              </a:rPr>
              <a:t>公钥集合</a:t>
            </a:r>
            <a:endParaRPr lang="zh-CN" sz="1340" b="0">
              <a:solidFill>
                <a:srgbClr val="577C91"/>
              </a:solidFill>
              <a:latin typeface="Noto Sans CJK SC"/>
              <a:ea typeface="Noto Sans CJK SC"/>
              <a:cs typeface="Noto Sans CJK SC"/>
            </a:endParaRPr>
          </a:p>
        </p:txBody>
      </p:sp>
      <p:sp>
        <p:nvSpPr>
          <p:cNvPr id="20" name="Rectangle 19"/>
          <p:cNvSpPr/>
          <p:nvPr/>
        </p:nvSpPr>
        <p:spPr>
          <a:xfrm>
            <a:off x="3611880" y="2907792"/>
            <a:ext cx="10972" cy="877824"/>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02-text-047"/>
          <p:cNvSpPr txBox="1"/>
          <p:nvPr/>
        </p:nvSpPr>
        <p:spPr>
          <a:xfrm>
            <a:off x="3831336" y="2862072"/>
            <a:ext cx="7571231" cy="29260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50" b="0">
                <a:solidFill>
                  <a:srgbClr val="183C50"/>
                </a:solidFill>
                <a:latin typeface="Arial" panose="020B0704020202020204"/>
                <a:ea typeface="Noto Sans CJK SC"/>
                <a:cs typeface="Arial" panose="020B0704020202020204"/>
              </a:rPr>
              <a:t>Public keys for OAuth client authentication (private_key_jwt).</a:t>
            </a:r>
            <a:endParaRPr lang="en-US" sz="1650" b="0">
              <a:solidFill>
                <a:srgbClr val="183C50"/>
              </a:solidFill>
              <a:latin typeface="Arial" panose="020B0704020202020204"/>
              <a:ea typeface="Noto Sans CJK SC"/>
              <a:cs typeface="Arial" panose="020B0704020202020204"/>
            </a:endParaRPr>
          </a:p>
        </p:txBody>
      </p:sp>
      <p:sp>
        <p:nvSpPr>
          <p:cNvPr id="22" name="P02-text-048"/>
          <p:cNvSpPr txBox="1"/>
          <p:nvPr/>
        </p:nvSpPr>
        <p:spPr>
          <a:xfrm>
            <a:off x="3831336" y="3172968"/>
            <a:ext cx="7571231"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50" b="0">
                <a:solidFill>
                  <a:srgbClr val="577C91"/>
                </a:solidFill>
                <a:latin typeface="Noto Sans CJK SC"/>
                <a:ea typeface="Noto Sans CJK SC"/>
                <a:cs typeface="Noto Sans CJK SC"/>
              </a:rPr>
              <a:t>OAuth 客户端认证公钥，用于验证 private_key_jwt。</a:t>
            </a:r>
            <a:endParaRPr lang="zh-CN" sz="1250" b="0">
              <a:solidFill>
                <a:srgbClr val="577C91"/>
              </a:solidFill>
              <a:latin typeface="Noto Sans CJK SC"/>
              <a:ea typeface="Noto Sans CJK SC"/>
              <a:cs typeface="Noto Sans CJK SC"/>
            </a:endParaRPr>
          </a:p>
        </p:txBody>
      </p:sp>
      <p:sp>
        <p:nvSpPr>
          <p:cNvPr id="23" name="P02-text-049"/>
          <p:cNvSpPr txBox="1"/>
          <p:nvPr/>
        </p:nvSpPr>
        <p:spPr>
          <a:xfrm>
            <a:off x="3831336" y="3483864"/>
            <a:ext cx="7571231"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Arial" panose="020B0704020202020204"/>
                <a:ea typeface="Noto Sans CJK SC"/>
                <a:cs typeface="Arial" panose="020B0704020202020204"/>
              </a:rPr>
              <a:t>An OAuth client key is not automatically a DID or DPoP key.</a:t>
            </a:r>
            <a:endParaRPr lang="en-US" sz="1320" b="0">
              <a:solidFill>
                <a:srgbClr val="0A344B"/>
              </a:solidFill>
              <a:latin typeface="Arial" panose="020B0704020202020204"/>
              <a:ea typeface="Noto Sans CJK SC"/>
              <a:cs typeface="Arial" panose="020B0704020202020204"/>
            </a:endParaRPr>
          </a:p>
        </p:txBody>
      </p:sp>
      <p:sp>
        <p:nvSpPr>
          <p:cNvPr id="24" name="P02-text-050"/>
          <p:cNvSpPr txBox="1"/>
          <p:nvPr/>
        </p:nvSpPr>
        <p:spPr>
          <a:xfrm>
            <a:off x="3831336" y="3721608"/>
            <a:ext cx="7571231"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30" b="0">
                <a:solidFill>
                  <a:srgbClr val="577C91"/>
                </a:solidFill>
                <a:latin typeface="Noto Sans CJK SC"/>
                <a:ea typeface="Noto Sans CJK SC"/>
                <a:cs typeface="Noto Sans CJK SC"/>
              </a:rPr>
              <a:t>OAuth 客户端密钥不会自动成为 DID 密钥或 DPoP 密钥。</a:t>
            </a:r>
            <a:endParaRPr lang="zh-CN" sz="1130" b="0">
              <a:solidFill>
                <a:srgbClr val="577C91"/>
              </a:solidFill>
              <a:latin typeface="Noto Sans CJK SC"/>
              <a:ea typeface="Noto Sans CJK SC"/>
              <a:cs typeface="Noto Sans CJK SC"/>
            </a:endParaRPr>
          </a:p>
        </p:txBody>
      </p:sp>
      <p:sp>
        <p:nvSpPr>
          <p:cNvPr id="25" name="Rounded Rectangle 24"/>
          <p:cNvSpPr/>
          <p:nvPr/>
        </p:nvSpPr>
        <p:spPr>
          <a:xfrm>
            <a:off x="502920" y="4105656"/>
            <a:ext cx="11183112" cy="1243584"/>
          </a:xfrm>
          <a:prstGeom prst="roundRect">
            <a:avLst>
              <a:gd name="adj" fmla="val 4500"/>
            </a:avLst>
          </a:prstGeom>
          <a:solidFill>
            <a:srgbClr val="E7F7F6"/>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P02-text-051"/>
          <p:cNvSpPr txBox="1"/>
          <p:nvPr/>
        </p:nvSpPr>
        <p:spPr>
          <a:xfrm>
            <a:off x="758952" y="4306824"/>
            <a:ext cx="2706624" cy="37490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100" b="1">
                <a:solidFill>
                  <a:srgbClr val="008F91"/>
                </a:solidFill>
                <a:latin typeface="Arial" panose="020B0704020202020204"/>
                <a:ea typeface="Noto Sans CJK SC"/>
                <a:cs typeface="Arial" panose="020B0704020202020204"/>
              </a:rPr>
              <a:t>DID Document</a:t>
            </a:r>
            <a:endParaRPr lang="en-US" sz="2100" b="1">
              <a:solidFill>
                <a:srgbClr val="008F91"/>
              </a:solidFill>
              <a:latin typeface="Arial" panose="020B0704020202020204"/>
              <a:ea typeface="Noto Sans CJK SC"/>
              <a:cs typeface="Arial" panose="020B0704020202020204"/>
            </a:endParaRPr>
          </a:p>
        </p:txBody>
      </p:sp>
      <p:sp>
        <p:nvSpPr>
          <p:cNvPr id="27" name="P02-text-052"/>
          <p:cNvSpPr txBox="1"/>
          <p:nvPr/>
        </p:nvSpPr>
        <p:spPr>
          <a:xfrm>
            <a:off x="758952" y="4745736"/>
            <a:ext cx="272491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40" b="0">
                <a:solidFill>
                  <a:srgbClr val="577C91"/>
                </a:solidFill>
                <a:latin typeface="Noto Sans CJK SC"/>
                <a:ea typeface="Noto Sans CJK SC"/>
                <a:cs typeface="Noto Sans CJK SC"/>
              </a:rPr>
              <a:t>DID 文档</a:t>
            </a:r>
            <a:endParaRPr lang="zh-CN" sz="1340" b="0">
              <a:solidFill>
                <a:srgbClr val="577C91"/>
              </a:solidFill>
              <a:latin typeface="Noto Sans CJK SC"/>
              <a:ea typeface="Noto Sans CJK SC"/>
              <a:cs typeface="Noto Sans CJK SC"/>
            </a:endParaRPr>
          </a:p>
        </p:txBody>
      </p:sp>
      <p:sp>
        <p:nvSpPr>
          <p:cNvPr id="28" name="Rectangle 27"/>
          <p:cNvSpPr/>
          <p:nvPr/>
        </p:nvSpPr>
        <p:spPr>
          <a:xfrm>
            <a:off x="3611880" y="4270248"/>
            <a:ext cx="10972" cy="877824"/>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02-text-053"/>
          <p:cNvSpPr txBox="1"/>
          <p:nvPr/>
        </p:nvSpPr>
        <p:spPr>
          <a:xfrm>
            <a:off x="3831336" y="4224528"/>
            <a:ext cx="7571231" cy="29260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50" b="0">
                <a:solidFill>
                  <a:srgbClr val="183C50"/>
                </a:solidFill>
                <a:latin typeface="Arial" panose="020B0704020202020204"/>
                <a:ea typeface="Noto Sans CJK SC"/>
                <a:cs typeface="Arial" panose="020B0704020202020204"/>
              </a:rPr>
              <a:t>Verifiable identity, authorized keys and a link to the client URL.</a:t>
            </a:r>
            <a:endParaRPr lang="en-US" sz="1650" b="0">
              <a:solidFill>
                <a:srgbClr val="183C50"/>
              </a:solidFill>
              <a:latin typeface="Arial" panose="020B0704020202020204"/>
              <a:ea typeface="Noto Sans CJK SC"/>
              <a:cs typeface="Arial" panose="020B0704020202020204"/>
            </a:endParaRPr>
          </a:p>
        </p:txBody>
      </p:sp>
      <p:sp>
        <p:nvSpPr>
          <p:cNvPr id="30" name="P02-text-054"/>
          <p:cNvSpPr txBox="1"/>
          <p:nvPr/>
        </p:nvSpPr>
        <p:spPr>
          <a:xfrm>
            <a:off x="3831336" y="4535424"/>
            <a:ext cx="7571231" cy="22860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50" b="0">
                <a:solidFill>
                  <a:srgbClr val="577C91"/>
                </a:solidFill>
                <a:latin typeface="Noto Sans CJK SC"/>
                <a:ea typeface="Noto Sans CJK SC"/>
                <a:cs typeface="Noto Sans CJK SC"/>
              </a:rPr>
              <a:t>可验证身份、已授权密钥及与客户端 URL 的关联。</a:t>
            </a:r>
            <a:endParaRPr lang="zh-CN" sz="1250" b="0">
              <a:solidFill>
                <a:srgbClr val="577C91"/>
              </a:solidFill>
              <a:latin typeface="Noto Sans CJK SC"/>
              <a:ea typeface="Noto Sans CJK SC"/>
              <a:cs typeface="Noto Sans CJK SC"/>
            </a:endParaRPr>
          </a:p>
        </p:txBody>
      </p:sp>
      <p:sp>
        <p:nvSpPr>
          <p:cNvPr id="31" name="P02-text-055"/>
          <p:cNvSpPr txBox="1"/>
          <p:nvPr/>
        </p:nvSpPr>
        <p:spPr>
          <a:xfrm>
            <a:off x="3831336" y="4846320"/>
            <a:ext cx="7571231"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08F91"/>
                </a:solidFill>
                <a:latin typeface="Arial" panose="020B0704020202020204"/>
                <a:ea typeface="Noto Sans CJK SC"/>
                <a:cs typeface="Arial" panose="020B0704020202020204"/>
              </a:rPr>
              <a:t>DID evidence does not replace consent or resource policy.</a:t>
            </a:r>
            <a:endParaRPr lang="en-US" sz="1320" b="0">
              <a:solidFill>
                <a:srgbClr val="008F91"/>
              </a:solidFill>
              <a:latin typeface="Arial" panose="020B0704020202020204"/>
              <a:ea typeface="Noto Sans CJK SC"/>
              <a:cs typeface="Arial" panose="020B0704020202020204"/>
            </a:endParaRPr>
          </a:p>
        </p:txBody>
      </p:sp>
      <p:sp>
        <p:nvSpPr>
          <p:cNvPr id="32" name="P02-text-056"/>
          <p:cNvSpPr txBox="1"/>
          <p:nvPr/>
        </p:nvSpPr>
        <p:spPr>
          <a:xfrm>
            <a:off x="3831336" y="5084064"/>
            <a:ext cx="7571231"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30" b="0">
                <a:solidFill>
                  <a:srgbClr val="577C91"/>
                </a:solidFill>
                <a:latin typeface="Noto Sans CJK SC"/>
                <a:ea typeface="Noto Sans CJK SC"/>
                <a:cs typeface="Noto Sans CJK SC"/>
              </a:rPr>
              <a:t>DID 证据不替代用户同意或资源策略。</a:t>
            </a:r>
            <a:endParaRPr lang="zh-CN" sz="1130" b="0">
              <a:solidFill>
                <a:srgbClr val="577C91"/>
              </a:solidFill>
              <a:latin typeface="Noto Sans CJK SC"/>
              <a:ea typeface="Noto Sans CJK SC"/>
              <a:cs typeface="Noto Sans CJK SC"/>
            </a:endParaRPr>
          </a:p>
        </p:txBody>
      </p:sp>
      <p:sp>
        <p:nvSpPr>
          <p:cNvPr id="33" name="Rounded Rectangle 32"/>
          <p:cNvSpPr/>
          <p:nvPr/>
        </p:nvSpPr>
        <p:spPr>
          <a:xfrm>
            <a:off x="502920" y="5660136"/>
            <a:ext cx="11183112" cy="822960"/>
          </a:xfrm>
          <a:prstGeom prst="roundRect">
            <a:avLst>
              <a:gd name="adj" fmla="val 4500"/>
            </a:avLst>
          </a:prstGeom>
          <a:solidFill>
            <a:srgbClr val="FFF4DE"/>
          </a:solidFill>
          <a:ln w="11430">
            <a:solidFill>
              <a:srgbClr val="EBAA3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P02-key-label-057"/>
          <p:cNvSpPr txBox="1"/>
          <p:nvPr/>
        </p:nvSpPr>
        <p:spPr>
          <a:xfrm>
            <a:off x="685800" y="5742432"/>
            <a:ext cx="10835640" cy="16459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1">
                <a:solidFill>
                  <a:srgbClr val="B36A00"/>
                </a:solidFill>
                <a:latin typeface="Arial" panose="020B0704020202020204"/>
                <a:ea typeface="Noto Sans CJK SC"/>
                <a:cs typeface="Arial" panose="020B0704020202020204"/>
              </a:rPr>
              <a:t>KEY MESSAGE / 核心说明</a:t>
            </a:r>
            <a:endParaRPr lang="en-US" sz="900" b="1">
              <a:solidFill>
                <a:srgbClr val="B36A00"/>
              </a:solidFill>
              <a:latin typeface="Arial" panose="020B0704020202020204"/>
              <a:ea typeface="Noto Sans CJK SC"/>
              <a:cs typeface="Arial" panose="020B0704020202020204"/>
            </a:endParaRPr>
          </a:p>
        </p:txBody>
      </p:sp>
      <p:sp>
        <p:nvSpPr>
          <p:cNvPr id="35" name="P02-key-en-058"/>
          <p:cNvSpPr txBox="1"/>
          <p:nvPr/>
        </p:nvSpPr>
        <p:spPr>
          <a:xfrm>
            <a:off x="685800" y="5925312"/>
            <a:ext cx="10835640"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80" b="1">
                <a:solidFill>
                  <a:srgbClr val="0A344B"/>
                </a:solidFill>
                <a:latin typeface="Arial" panose="020B0704020202020204"/>
                <a:ea typeface="Noto Sans CJK SC"/>
                <a:cs typeface="Arial" panose="020B0704020202020204"/>
              </a:rPr>
              <a:t>Keep client configuration, key verification and access policy separate.</a:t>
            </a:r>
            <a:endParaRPr lang="en-US" sz="1780" b="1">
              <a:solidFill>
                <a:srgbClr val="0A344B"/>
              </a:solidFill>
              <a:latin typeface="Arial" panose="020B0704020202020204"/>
              <a:ea typeface="Noto Sans CJK SC"/>
              <a:cs typeface="Arial" panose="020B0704020202020204"/>
            </a:endParaRPr>
          </a:p>
        </p:txBody>
      </p:sp>
      <p:sp>
        <p:nvSpPr>
          <p:cNvPr id="36" name="P02-key-cn-059"/>
          <p:cNvSpPr txBox="1"/>
          <p:nvPr/>
        </p:nvSpPr>
        <p:spPr>
          <a:xfrm>
            <a:off x="685800" y="6236208"/>
            <a:ext cx="10835640"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20" b="0">
                <a:solidFill>
                  <a:srgbClr val="577C91"/>
                </a:solidFill>
                <a:latin typeface="Noto Sans CJK SC"/>
                <a:ea typeface="Noto Sans CJK SC"/>
                <a:cs typeface="Noto Sans CJK SC"/>
              </a:rPr>
              <a:t>将客户端配置、密钥核验与资源访问策略分开处理。</a:t>
            </a:r>
            <a:endParaRPr lang="zh-CN" sz="1220" b="0">
              <a:solidFill>
                <a:srgbClr val="577C91"/>
              </a:solidFill>
              <a:latin typeface="Noto Sans CJK SC"/>
              <a:ea typeface="Noto Sans CJK SC"/>
              <a:cs typeface="Noto Sans CJK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03-title-en-060"/>
          <p:cNvSpPr txBox="1"/>
          <p:nvPr/>
        </p:nvSpPr>
        <p:spPr>
          <a:xfrm>
            <a:off x="502920" y="283464"/>
            <a:ext cx="11173968" cy="5029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700" b="1">
                <a:solidFill>
                  <a:srgbClr val="0A344B"/>
                </a:solidFill>
                <a:latin typeface="Arial" panose="020B0704020202020204"/>
                <a:ea typeface="Noto Sans CJK SC"/>
                <a:cs typeface="Arial" panose="020B0704020202020204"/>
              </a:rPr>
              <a:t>Bind the client URL, DID and key</a:t>
            </a:r>
            <a:endParaRPr lang="en-US" sz="2700" b="1">
              <a:solidFill>
                <a:srgbClr val="0A344B"/>
              </a:solidFill>
              <a:latin typeface="Arial" panose="020B0704020202020204"/>
              <a:ea typeface="Noto Sans CJK SC"/>
              <a:cs typeface="Arial" panose="020B0704020202020204"/>
            </a:endParaRPr>
          </a:p>
        </p:txBody>
      </p:sp>
      <p:sp>
        <p:nvSpPr>
          <p:cNvPr id="3" name="P03-title-cn-061"/>
          <p:cNvSpPr txBox="1"/>
          <p:nvPr/>
        </p:nvSpPr>
        <p:spPr>
          <a:xfrm>
            <a:off x="521207" y="832104"/>
            <a:ext cx="11064240" cy="28346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500" b="0">
                <a:solidFill>
                  <a:srgbClr val="577C91"/>
                </a:solidFill>
                <a:latin typeface="Noto Sans CJK SC"/>
                <a:ea typeface="Noto Sans CJK SC"/>
                <a:cs typeface="Noto Sans CJK SC"/>
              </a:rPr>
              <a:t>把客户端 URL、DID 与密钥关联起来</a:t>
            </a:r>
            <a:endParaRPr lang="zh-CN" sz="1500" b="0">
              <a:solidFill>
                <a:srgbClr val="577C91"/>
              </a:solidFill>
              <a:latin typeface="Noto Sans CJK SC"/>
              <a:ea typeface="Noto Sans CJK SC"/>
              <a:cs typeface="Noto Sans CJK SC"/>
            </a:endParaRPr>
          </a:p>
        </p:txBody>
      </p:sp>
      <p:sp>
        <p:nvSpPr>
          <p:cNvPr id="4" name="Rectangle 3"/>
          <p:cNvSpPr/>
          <p:nvPr/>
        </p:nvSpPr>
        <p:spPr>
          <a:xfrm>
            <a:off x="502920" y="1179576"/>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02920" y="6547104"/>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03-footer-left-062"/>
          <p:cNvSpPr txBox="1"/>
          <p:nvPr/>
        </p:nvSpPr>
        <p:spPr>
          <a:xfrm>
            <a:off x="502920" y="6620256"/>
            <a:ext cx="3749039"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AI Agent Protocol / AI 智能体协议</a:t>
            </a:r>
            <a:endParaRPr lang="en-US" sz="900" b="0">
              <a:solidFill>
                <a:srgbClr val="577C91"/>
              </a:solidFill>
              <a:latin typeface="Arial" panose="020B0704020202020204"/>
              <a:ea typeface="Noto Sans CJK SC"/>
              <a:cs typeface="Arial" panose="020B0704020202020204"/>
            </a:endParaRPr>
          </a:p>
        </p:txBody>
      </p:sp>
      <p:sp>
        <p:nvSpPr>
          <p:cNvPr id="7" name="P03-footer-center-063"/>
          <p:cNvSpPr txBox="1"/>
          <p:nvPr/>
        </p:nvSpPr>
        <p:spPr>
          <a:xfrm>
            <a:off x="4581144" y="6620256"/>
            <a:ext cx="5760720"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Community discussion draft / 社区讨论稿</a:t>
            </a:r>
            <a:endParaRPr lang="en-US" sz="900" b="0">
              <a:solidFill>
                <a:srgbClr val="577C91"/>
              </a:solidFill>
              <a:latin typeface="Arial" panose="020B0704020202020204"/>
              <a:ea typeface="Noto Sans CJK SC"/>
              <a:cs typeface="Arial" panose="020B0704020202020204"/>
            </a:endParaRPr>
          </a:p>
        </p:txBody>
      </p:sp>
      <p:sp>
        <p:nvSpPr>
          <p:cNvPr id="8" name="P03-page-number-064"/>
          <p:cNvSpPr txBox="1"/>
          <p:nvPr/>
        </p:nvSpPr>
        <p:spPr>
          <a:xfrm>
            <a:off x="10744200" y="6601968"/>
            <a:ext cx="941832" cy="210312"/>
          </a:xfrm>
          <a:prstGeom prst="rect">
            <a:avLst/>
          </a:prstGeom>
          <a:noFill/>
          <a:effectLst/>
        </p:spPr>
        <p:txBody>
          <a:bodyPr vertOverflow="overflow" horzOverflow="overflow" wrap="none" lIns="0" tIns="0" rIns="0" bIns="0" anchor="t">
            <a:noAutofit/>
          </a:bodyPr>
          <a:lstStyle/>
          <a:p>
            <a:pPr algn="r">
              <a:lnSpc>
                <a:spcPct val="100000"/>
              </a:lnSpc>
              <a:spcBef>
                <a:spcPts val="0"/>
              </a:spcBef>
              <a:spcAft>
                <a:spcPts val="0"/>
              </a:spcAft>
            </a:pPr>
            <a:r>
              <a:rPr lang="en-US" sz="1100" b="1">
                <a:solidFill>
                  <a:srgbClr val="1264EC"/>
                </a:solidFill>
                <a:latin typeface="Arial" panose="020B0704020202020204"/>
                <a:ea typeface="Noto Sans CJK SC"/>
                <a:cs typeface="Arial" panose="020B0704020202020204"/>
              </a:rPr>
              <a:t>03 / 05</a:t>
            </a:r>
            <a:endParaRPr lang="en-US" sz="1100" b="1">
              <a:solidFill>
                <a:srgbClr val="1264EC"/>
              </a:solidFill>
              <a:latin typeface="Arial" panose="020B0704020202020204"/>
              <a:ea typeface="Noto Sans CJK SC"/>
              <a:cs typeface="Arial" panose="020B0704020202020204"/>
            </a:endParaRPr>
          </a:p>
        </p:txBody>
      </p:sp>
      <p:sp>
        <p:nvSpPr>
          <p:cNvPr id="9" name="Rounded Rectangle 8"/>
          <p:cNvSpPr/>
          <p:nvPr/>
        </p:nvSpPr>
        <p:spPr>
          <a:xfrm>
            <a:off x="502920" y="1389888"/>
            <a:ext cx="4636008" cy="3236976"/>
          </a:xfrm>
          <a:prstGeom prst="roundRect">
            <a:avLst>
              <a:gd name="adj" fmla="val 4500"/>
            </a:avLst>
          </a:prstGeom>
          <a:solidFill>
            <a:srgbClr val="EAF2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3-text-065"/>
          <p:cNvSpPr txBox="1"/>
          <p:nvPr/>
        </p:nvSpPr>
        <p:spPr>
          <a:xfrm>
            <a:off x="722376" y="1581912"/>
            <a:ext cx="4187952" cy="35661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1264EC"/>
                </a:solidFill>
                <a:latin typeface="Arial" panose="020B0704020202020204"/>
                <a:ea typeface="Noto Sans CJK SC"/>
                <a:cs typeface="Arial" panose="020B0704020202020204"/>
              </a:rPr>
              <a:t>CIMD metadata</a:t>
            </a:r>
            <a:endParaRPr lang="en-US" sz="2000" b="1">
              <a:solidFill>
                <a:srgbClr val="1264EC"/>
              </a:solidFill>
              <a:latin typeface="Arial" panose="020B0704020202020204"/>
              <a:ea typeface="Noto Sans CJK SC"/>
              <a:cs typeface="Arial" panose="020B0704020202020204"/>
            </a:endParaRPr>
          </a:p>
        </p:txBody>
      </p:sp>
      <p:sp>
        <p:nvSpPr>
          <p:cNvPr id="11" name="P03-text-066"/>
          <p:cNvSpPr txBox="1"/>
          <p:nvPr/>
        </p:nvSpPr>
        <p:spPr>
          <a:xfrm>
            <a:off x="722376" y="1965960"/>
            <a:ext cx="4187952" cy="24688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CIMD 客户端元数据</a:t>
            </a:r>
            <a:endParaRPr lang="zh-CN" sz="1300" b="0">
              <a:solidFill>
                <a:srgbClr val="577C91"/>
              </a:solidFill>
              <a:latin typeface="Noto Sans CJK SC"/>
              <a:ea typeface="Noto Sans CJK SC"/>
              <a:cs typeface="Noto Sans CJK SC"/>
            </a:endParaRPr>
          </a:p>
        </p:txBody>
      </p:sp>
      <p:sp>
        <p:nvSpPr>
          <p:cNvPr id="12" name="Rectangle 11"/>
          <p:cNvSpPr/>
          <p:nvPr/>
        </p:nvSpPr>
        <p:spPr>
          <a:xfrm>
            <a:off x="722376" y="2304288"/>
            <a:ext cx="418795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7050024" y="1389888"/>
            <a:ext cx="4636008" cy="3236976"/>
          </a:xfrm>
          <a:prstGeom prst="roundRect">
            <a:avLst>
              <a:gd name="adj" fmla="val 4500"/>
            </a:avLst>
          </a:prstGeom>
          <a:solidFill>
            <a:srgbClr val="E7F7F6"/>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P03-text-067"/>
          <p:cNvSpPr txBox="1"/>
          <p:nvPr/>
        </p:nvSpPr>
        <p:spPr>
          <a:xfrm>
            <a:off x="7269480" y="1581912"/>
            <a:ext cx="4187952" cy="35661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008F91"/>
                </a:solidFill>
                <a:latin typeface="Arial" panose="020B0704020202020204"/>
                <a:ea typeface="Noto Sans CJK SC"/>
                <a:cs typeface="Arial" panose="020B0704020202020204"/>
              </a:rPr>
              <a:t>DID Document</a:t>
            </a:r>
            <a:endParaRPr lang="en-US" sz="2000" b="1">
              <a:solidFill>
                <a:srgbClr val="008F91"/>
              </a:solidFill>
              <a:latin typeface="Arial" panose="020B0704020202020204"/>
              <a:ea typeface="Noto Sans CJK SC"/>
              <a:cs typeface="Arial" panose="020B0704020202020204"/>
            </a:endParaRPr>
          </a:p>
        </p:txBody>
      </p:sp>
      <p:sp>
        <p:nvSpPr>
          <p:cNvPr id="15" name="P03-text-068"/>
          <p:cNvSpPr txBox="1"/>
          <p:nvPr/>
        </p:nvSpPr>
        <p:spPr>
          <a:xfrm>
            <a:off x="7269480" y="1965960"/>
            <a:ext cx="4187952" cy="24688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DID 文档</a:t>
            </a:r>
            <a:endParaRPr lang="zh-CN" sz="1300" b="0">
              <a:solidFill>
                <a:srgbClr val="577C91"/>
              </a:solidFill>
              <a:latin typeface="Noto Sans CJK SC"/>
              <a:ea typeface="Noto Sans CJK SC"/>
              <a:cs typeface="Noto Sans CJK SC"/>
            </a:endParaRPr>
          </a:p>
        </p:txBody>
      </p:sp>
      <p:sp>
        <p:nvSpPr>
          <p:cNvPr id="16" name="Rectangle 15"/>
          <p:cNvSpPr/>
          <p:nvPr/>
        </p:nvSpPr>
        <p:spPr>
          <a:xfrm>
            <a:off x="7269480" y="2304288"/>
            <a:ext cx="418795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P03-text-069"/>
          <p:cNvSpPr txBox="1"/>
          <p:nvPr/>
        </p:nvSpPr>
        <p:spPr>
          <a:xfrm>
            <a:off x="740664" y="2468880"/>
            <a:ext cx="4169663"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190" b="0">
                <a:solidFill>
                  <a:srgbClr val="577C91"/>
                </a:solidFill>
                <a:latin typeface="Arial" panose="020B0704020202020204"/>
                <a:ea typeface="Noto Sans CJK SC"/>
                <a:cs typeface="Arial" panose="020B0704020202020204"/>
              </a:rPr>
              <a:t>client_id / 客户端标识</a:t>
            </a:r>
            <a:endParaRPr lang="en-US" sz="1190" b="0">
              <a:solidFill>
                <a:srgbClr val="577C91"/>
              </a:solidFill>
              <a:latin typeface="Arial" panose="020B0704020202020204"/>
              <a:ea typeface="Noto Sans CJK SC"/>
              <a:cs typeface="Arial" panose="020B0704020202020204"/>
            </a:endParaRPr>
          </a:p>
        </p:txBody>
      </p:sp>
      <p:sp>
        <p:nvSpPr>
          <p:cNvPr id="18" name="P03-text-070"/>
          <p:cNvSpPr txBox="1"/>
          <p:nvPr/>
        </p:nvSpPr>
        <p:spPr>
          <a:xfrm>
            <a:off x="740664" y="2752344"/>
            <a:ext cx="4169663"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DejaVu Sans Mono"/>
                <a:ea typeface="Noto Sans CJK SC"/>
                <a:cs typeface="DejaVu Sans Mono"/>
              </a:rPr>
              <a:t>https://agent.example/client.json</a:t>
            </a:r>
            <a:endParaRPr lang="en-US" sz="1320" b="0">
              <a:solidFill>
                <a:srgbClr val="0A344B"/>
              </a:solidFill>
              <a:latin typeface="DejaVu Sans Mono"/>
              <a:ea typeface="Noto Sans CJK SC"/>
              <a:cs typeface="DejaVu Sans Mono"/>
            </a:endParaRPr>
          </a:p>
        </p:txBody>
      </p:sp>
      <p:sp>
        <p:nvSpPr>
          <p:cNvPr id="19" name="P03-text-071"/>
          <p:cNvSpPr txBox="1"/>
          <p:nvPr/>
        </p:nvSpPr>
        <p:spPr>
          <a:xfrm>
            <a:off x="740664" y="3163824"/>
            <a:ext cx="4169663"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190" b="0">
                <a:solidFill>
                  <a:srgbClr val="577C91"/>
                </a:solidFill>
                <a:latin typeface="Arial" panose="020B0704020202020204"/>
                <a:ea typeface="Noto Sans CJK SC"/>
                <a:cs typeface="Arial" panose="020B0704020202020204"/>
              </a:rPr>
              <a:t>jwks_uri / 公钥集合地址</a:t>
            </a:r>
            <a:endParaRPr lang="en-US" sz="1190" b="0">
              <a:solidFill>
                <a:srgbClr val="577C91"/>
              </a:solidFill>
              <a:latin typeface="Arial" panose="020B0704020202020204"/>
              <a:ea typeface="Noto Sans CJK SC"/>
              <a:cs typeface="Arial" panose="020B0704020202020204"/>
            </a:endParaRPr>
          </a:p>
        </p:txBody>
      </p:sp>
      <p:sp>
        <p:nvSpPr>
          <p:cNvPr id="20" name="P03-text-072"/>
          <p:cNvSpPr txBox="1"/>
          <p:nvPr/>
        </p:nvSpPr>
        <p:spPr>
          <a:xfrm>
            <a:off x="740664" y="3447288"/>
            <a:ext cx="4169663"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DejaVu Sans Mono"/>
                <a:ea typeface="Noto Sans CJK SC"/>
                <a:cs typeface="DejaVu Sans Mono"/>
              </a:rPr>
              <a:t>https://agent.example/jwks.json</a:t>
            </a:r>
            <a:endParaRPr lang="en-US" sz="1320" b="0">
              <a:solidFill>
                <a:srgbClr val="0A344B"/>
              </a:solidFill>
              <a:latin typeface="DejaVu Sans Mono"/>
              <a:ea typeface="Noto Sans CJK SC"/>
              <a:cs typeface="DejaVu Sans Mono"/>
            </a:endParaRPr>
          </a:p>
        </p:txBody>
      </p:sp>
      <p:sp>
        <p:nvSpPr>
          <p:cNvPr id="21" name="P03-text-073"/>
          <p:cNvSpPr txBox="1"/>
          <p:nvPr/>
        </p:nvSpPr>
        <p:spPr>
          <a:xfrm>
            <a:off x="740664" y="3858768"/>
            <a:ext cx="4169663"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190" b="0">
                <a:solidFill>
                  <a:srgbClr val="577C91"/>
                </a:solidFill>
                <a:latin typeface="Arial" panose="020B0704020202020204"/>
                <a:ea typeface="Noto Sans CJK SC"/>
                <a:cs typeface="Arial" panose="020B0704020202020204"/>
              </a:rPr>
              <a:t>agent_did / 提案扩展字段</a:t>
            </a:r>
            <a:endParaRPr lang="en-US" sz="1190" b="0">
              <a:solidFill>
                <a:srgbClr val="577C91"/>
              </a:solidFill>
              <a:latin typeface="Arial" panose="020B0704020202020204"/>
              <a:ea typeface="Noto Sans CJK SC"/>
              <a:cs typeface="Arial" panose="020B0704020202020204"/>
            </a:endParaRPr>
          </a:p>
        </p:txBody>
      </p:sp>
      <p:sp>
        <p:nvSpPr>
          <p:cNvPr id="22" name="P03-text-074"/>
          <p:cNvSpPr txBox="1"/>
          <p:nvPr/>
        </p:nvSpPr>
        <p:spPr>
          <a:xfrm>
            <a:off x="740664" y="4142231"/>
            <a:ext cx="4169663"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DejaVu Sans Mono"/>
                <a:ea typeface="Noto Sans CJK SC"/>
                <a:cs typeface="DejaVu Sans Mono"/>
              </a:rPr>
              <a:t>did:example:agent123</a:t>
            </a:r>
            <a:endParaRPr lang="en-US" sz="1320" b="0">
              <a:solidFill>
                <a:srgbClr val="0A344B"/>
              </a:solidFill>
              <a:latin typeface="DejaVu Sans Mono"/>
              <a:ea typeface="Noto Sans CJK SC"/>
              <a:cs typeface="DejaVu Sans Mono"/>
            </a:endParaRPr>
          </a:p>
        </p:txBody>
      </p:sp>
      <p:sp>
        <p:nvSpPr>
          <p:cNvPr id="23" name="P03-text-075"/>
          <p:cNvSpPr txBox="1"/>
          <p:nvPr/>
        </p:nvSpPr>
        <p:spPr>
          <a:xfrm>
            <a:off x="7287768" y="2468880"/>
            <a:ext cx="4160520"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190" b="0">
                <a:solidFill>
                  <a:srgbClr val="577C91"/>
                </a:solidFill>
                <a:latin typeface="Arial" panose="020B0704020202020204"/>
                <a:ea typeface="Noto Sans CJK SC"/>
                <a:cs typeface="Arial" panose="020B0704020202020204"/>
              </a:rPr>
              <a:t>id / DID 标识符</a:t>
            </a:r>
            <a:endParaRPr lang="en-US" sz="1190" b="0">
              <a:solidFill>
                <a:srgbClr val="577C91"/>
              </a:solidFill>
              <a:latin typeface="Arial" panose="020B0704020202020204"/>
              <a:ea typeface="Noto Sans CJK SC"/>
              <a:cs typeface="Arial" panose="020B0704020202020204"/>
            </a:endParaRPr>
          </a:p>
        </p:txBody>
      </p:sp>
      <p:sp>
        <p:nvSpPr>
          <p:cNvPr id="24" name="P03-text-076"/>
          <p:cNvSpPr txBox="1"/>
          <p:nvPr/>
        </p:nvSpPr>
        <p:spPr>
          <a:xfrm>
            <a:off x="7287768" y="2752344"/>
            <a:ext cx="4160520"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DejaVu Sans Mono"/>
                <a:ea typeface="Noto Sans CJK SC"/>
                <a:cs typeface="DejaVu Sans Mono"/>
              </a:rPr>
              <a:t>did:example:agent123</a:t>
            </a:r>
            <a:endParaRPr lang="en-US" sz="1320" b="0">
              <a:solidFill>
                <a:srgbClr val="0A344B"/>
              </a:solidFill>
              <a:latin typeface="DejaVu Sans Mono"/>
              <a:ea typeface="Noto Sans CJK SC"/>
              <a:cs typeface="DejaVu Sans Mono"/>
            </a:endParaRPr>
          </a:p>
        </p:txBody>
      </p:sp>
      <p:sp>
        <p:nvSpPr>
          <p:cNvPr id="25" name="P03-text-077"/>
          <p:cNvSpPr txBox="1"/>
          <p:nvPr/>
        </p:nvSpPr>
        <p:spPr>
          <a:xfrm>
            <a:off x="7287768" y="3163824"/>
            <a:ext cx="4160520"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190" b="0">
                <a:solidFill>
                  <a:srgbClr val="577C91"/>
                </a:solidFill>
                <a:latin typeface="Arial" panose="020B0704020202020204"/>
                <a:ea typeface="Noto Sans CJK SC"/>
                <a:cs typeface="Arial" panose="020B0704020202020204"/>
              </a:rPr>
              <a:t>authentication / 认证关系</a:t>
            </a:r>
            <a:endParaRPr lang="en-US" sz="1190" b="0">
              <a:solidFill>
                <a:srgbClr val="577C91"/>
              </a:solidFill>
              <a:latin typeface="Arial" panose="020B0704020202020204"/>
              <a:ea typeface="Noto Sans CJK SC"/>
              <a:cs typeface="Arial" panose="020B0704020202020204"/>
            </a:endParaRPr>
          </a:p>
        </p:txBody>
      </p:sp>
      <p:sp>
        <p:nvSpPr>
          <p:cNvPr id="26" name="P03-text-078"/>
          <p:cNvSpPr txBox="1"/>
          <p:nvPr/>
        </p:nvSpPr>
        <p:spPr>
          <a:xfrm>
            <a:off x="7287768" y="3447288"/>
            <a:ext cx="4160520"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Arial" panose="020B0704020202020204"/>
                <a:ea typeface="Noto Sans CJK SC"/>
                <a:cs typeface="Arial" panose="020B0704020202020204"/>
              </a:rPr>
              <a:t>DID-authorized key / DID 已授权密钥</a:t>
            </a:r>
            <a:endParaRPr lang="en-US" sz="1320" b="0">
              <a:solidFill>
                <a:srgbClr val="0A344B"/>
              </a:solidFill>
              <a:latin typeface="Arial" panose="020B0704020202020204"/>
              <a:ea typeface="Noto Sans CJK SC"/>
              <a:cs typeface="Arial" panose="020B0704020202020204"/>
            </a:endParaRPr>
          </a:p>
        </p:txBody>
      </p:sp>
      <p:sp>
        <p:nvSpPr>
          <p:cNvPr id="27" name="P03-text-079"/>
          <p:cNvSpPr txBox="1"/>
          <p:nvPr/>
        </p:nvSpPr>
        <p:spPr>
          <a:xfrm>
            <a:off x="7287768" y="3858768"/>
            <a:ext cx="4160520" cy="23774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190" b="0">
                <a:solidFill>
                  <a:srgbClr val="577C91"/>
                </a:solidFill>
                <a:latin typeface="Arial" panose="020B0704020202020204"/>
                <a:ea typeface="Noto Sans CJK SC"/>
                <a:cs typeface="Arial" panose="020B0704020202020204"/>
              </a:rPr>
              <a:t>serviceEndpoint / 服务端点</a:t>
            </a:r>
            <a:endParaRPr lang="en-US" sz="1190" b="0">
              <a:solidFill>
                <a:srgbClr val="577C91"/>
              </a:solidFill>
              <a:latin typeface="Arial" panose="020B0704020202020204"/>
              <a:ea typeface="Noto Sans CJK SC"/>
              <a:cs typeface="Arial" panose="020B0704020202020204"/>
            </a:endParaRPr>
          </a:p>
        </p:txBody>
      </p:sp>
      <p:sp>
        <p:nvSpPr>
          <p:cNvPr id="28" name="P03-text-080"/>
          <p:cNvSpPr txBox="1"/>
          <p:nvPr/>
        </p:nvSpPr>
        <p:spPr>
          <a:xfrm>
            <a:off x="7287768" y="4142231"/>
            <a:ext cx="4160520"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320" b="0">
                <a:solidFill>
                  <a:srgbClr val="0A344B"/>
                </a:solidFill>
                <a:latin typeface="Arial" panose="020B0704020202020204"/>
                <a:ea typeface="Noto Sans CJK SC"/>
                <a:cs typeface="Arial" panose="020B0704020202020204"/>
              </a:rPr>
              <a:t>CIMD client_id URL / CIMD 客户端 URL</a:t>
            </a:r>
            <a:endParaRPr lang="en-US" sz="1320" b="0">
              <a:solidFill>
                <a:srgbClr val="0A344B"/>
              </a:solidFill>
              <a:latin typeface="Arial" panose="020B0704020202020204"/>
              <a:ea typeface="Noto Sans CJK SC"/>
              <a:cs typeface="Arial" panose="020B0704020202020204"/>
            </a:endParaRPr>
          </a:p>
        </p:txBody>
      </p:sp>
      <p:sp>
        <p:nvSpPr>
          <p:cNvPr id="29" name="P03-text-081"/>
          <p:cNvSpPr txBox="1"/>
          <p:nvPr/>
        </p:nvSpPr>
        <p:spPr>
          <a:xfrm>
            <a:off x="5294376" y="2240280"/>
            <a:ext cx="1591056" cy="256032"/>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300" b="1">
                <a:solidFill>
                  <a:srgbClr val="1264EC"/>
                </a:solidFill>
                <a:latin typeface="Arial" panose="020B0704020202020204"/>
                <a:ea typeface="Noto Sans CJK SC"/>
                <a:cs typeface="Arial" panose="020B0704020202020204"/>
              </a:rPr>
              <a:t>Declare DID</a:t>
            </a:r>
            <a:endParaRPr lang="en-US" sz="1300" b="1">
              <a:solidFill>
                <a:srgbClr val="1264EC"/>
              </a:solidFill>
              <a:latin typeface="Arial" panose="020B0704020202020204"/>
              <a:ea typeface="Noto Sans CJK SC"/>
              <a:cs typeface="Arial" panose="020B0704020202020204"/>
            </a:endParaRPr>
          </a:p>
        </p:txBody>
      </p:sp>
      <p:sp>
        <p:nvSpPr>
          <p:cNvPr id="30" name="P03-text-082"/>
          <p:cNvSpPr txBox="1"/>
          <p:nvPr/>
        </p:nvSpPr>
        <p:spPr>
          <a:xfrm>
            <a:off x="5294376" y="2542032"/>
            <a:ext cx="1591056" cy="219456"/>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zh-CN" sz="1170" b="0">
                <a:solidFill>
                  <a:srgbClr val="577C91"/>
                </a:solidFill>
                <a:latin typeface="Noto Sans CJK SC"/>
                <a:ea typeface="Noto Sans CJK SC"/>
                <a:cs typeface="Noto Sans CJK SC"/>
              </a:rPr>
              <a:t>声明 DID</a:t>
            </a:r>
            <a:endParaRPr lang="zh-CN" sz="1170" b="0">
              <a:solidFill>
                <a:srgbClr val="577C91"/>
              </a:solidFill>
              <a:latin typeface="Noto Sans CJK SC"/>
              <a:ea typeface="Noto Sans CJK SC"/>
              <a:cs typeface="Noto Sans CJK SC"/>
            </a:endParaRPr>
          </a:p>
        </p:txBody>
      </p:sp>
      <p:sp>
        <p:nvSpPr>
          <p:cNvPr id="31" name="Right Arrow 30"/>
          <p:cNvSpPr/>
          <p:nvPr/>
        </p:nvSpPr>
        <p:spPr>
          <a:xfrm>
            <a:off x="5184648" y="2862072"/>
            <a:ext cx="1810512" cy="210312"/>
          </a:xfrm>
          <a:prstGeom prst="rightArrow">
            <a:avLst/>
          </a:prstGeom>
          <a:solidFill>
            <a:srgbClr val="126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P03-text-083"/>
          <p:cNvSpPr txBox="1"/>
          <p:nvPr/>
        </p:nvSpPr>
        <p:spPr>
          <a:xfrm>
            <a:off x="5294376" y="3401568"/>
            <a:ext cx="1591056" cy="256032"/>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300" b="1">
                <a:solidFill>
                  <a:srgbClr val="008F91"/>
                </a:solidFill>
                <a:latin typeface="Arial" panose="020B0704020202020204"/>
                <a:ea typeface="Noto Sans CJK SC"/>
                <a:cs typeface="Arial" panose="020B0704020202020204"/>
              </a:rPr>
              <a:t>Confirm URL</a:t>
            </a:r>
            <a:endParaRPr lang="en-US" sz="1300" b="1">
              <a:solidFill>
                <a:srgbClr val="008F91"/>
              </a:solidFill>
              <a:latin typeface="Arial" panose="020B0704020202020204"/>
              <a:ea typeface="Noto Sans CJK SC"/>
              <a:cs typeface="Arial" panose="020B0704020202020204"/>
            </a:endParaRPr>
          </a:p>
        </p:txBody>
      </p:sp>
      <p:sp>
        <p:nvSpPr>
          <p:cNvPr id="33" name="P03-text-084"/>
          <p:cNvSpPr txBox="1"/>
          <p:nvPr/>
        </p:nvSpPr>
        <p:spPr>
          <a:xfrm>
            <a:off x="5294376" y="3703320"/>
            <a:ext cx="1591056" cy="219456"/>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zh-CN" sz="1170" b="0">
                <a:solidFill>
                  <a:srgbClr val="577C91"/>
                </a:solidFill>
                <a:latin typeface="Noto Sans CJK SC"/>
                <a:ea typeface="Noto Sans CJK SC"/>
                <a:cs typeface="Noto Sans CJK SC"/>
              </a:rPr>
              <a:t>确认 URL</a:t>
            </a:r>
            <a:endParaRPr lang="zh-CN" sz="1170" b="0">
              <a:solidFill>
                <a:srgbClr val="577C91"/>
              </a:solidFill>
              <a:latin typeface="Noto Sans CJK SC"/>
              <a:ea typeface="Noto Sans CJK SC"/>
              <a:cs typeface="Noto Sans CJK SC"/>
            </a:endParaRPr>
          </a:p>
        </p:txBody>
      </p:sp>
      <p:sp>
        <p:nvSpPr>
          <p:cNvPr id="34" name="Left Arrow 33"/>
          <p:cNvSpPr/>
          <p:nvPr/>
        </p:nvSpPr>
        <p:spPr>
          <a:xfrm>
            <a:off x="5184648" y="4023360"/>
            <a:ext cx="1810512" cy="210312"/>
          </a:xfrm>
          <a:prstGeom prst="leftArrow">
            <a:avLst/>
          </a:prstGeom>
          <a:solidFill>
            <a:srgbClr val="008F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502920" y="4773168"/>
            <a:ext cx="6629400" cy="713232"/>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P03-text-085"/>
          <p:cNvSpPr txBox="1"/>
          <p:nvPr/>
        </p:nvSpPr>
        <p:spPr>
          <a:xfrm>
            <a:off x="713232" y="4882896"/>
            <a:ext cx="6199632"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460" b="1">
                <a:solidFill>
                  <a:srgbClr val="0A344B"/>
                </a:solidFill>
                <a:latin typeface="Arial" panose="020B0704020202020204"/>
                <a:ea typeface="Noto Sans CJK SC"/>
                <a:cs typeface="Arial" panose="020B0704020202020204"/>
              </a:rPr>
              <a:t>Key binding: same key, or a DID-signed proof.</a:t>
            </a:r>
            <a:endParaRPr lang="en-US" sz="1460" b="1">
              <a:solidFill>
                <a:srgbClr val="0A344B"/>
              </a:solidFill>
              <a:latin typeface="Arial" panose="020B0704020202020204"/>
              <a:ea typeface="Noto Sans CJK SC"/>
              <a:cs typeface="Arial" panose="020B0704020202020204"/>
            </a:endParaRPr>
          </a:p>
        </p:txBody>
      </p:sp>
      <p:sp>
        <p:nvSpPr>
          <p:cNvPr id="37" name="P03-text-086"/>
          <p:cNvSpPr txBox="1"/>
          <p:nvPr/>
        </p:nvSpPr>
        <p:spPr>
          <a:xfrm>
            <a:off x="713232" y="5212080"/>
            <a:ext cx="6199632"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90" b="0">
                <a:solidFill>
                  <a:srgbClr val="577C91"/>
                </a:solidFill>
                <a:latin typeface="Noto Sans CJK SC"/>
                <a:ea typeface="Noto Sans CJK SC"/>
                <a:cs typeface="Noto Sans CJK SC"/>
              </a:rPr>
              <a:t>密钥绑定：复用同一公钥，或由 DID 签署绑定证明。</a:t>
            </a:r>
            <a:endParaRPr lang="zh-CN" sz="1190" b="0">
              <a:solidFill>
                <a:srgbClr val="577C91"/>
              </a:solidFill>
              <a:latin typeface="Noto Sans CJK SC"/>
              <a:ea typeface="Noto Sans CJK SC"/>
              <a:cs typeface="Noto Sans CJK SC"/>
            </a:endParaRPr>
          </a:p>
        </p:txBody>
      </p:sp>
      <p:sp>
        <p:nvSpPr>
          <p:cNvPr id="38" name="Rounded Rectangle 37"/>
          <p:cNvSpPr/>
          <p:nvPr/>
        </p:nvSpPr>
        <p:spPr>
          <a:xfrm>
            <a:off x="7296912" y="4773168"/>
            <a:ext cx="4389120" cy="713232"/>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P03-text-087"/>
          <p:cNvSpPr txBox="1"/>
          <p:nvPr/>
        </p:nvSpPr>
        <p:spPr>
          <a:xfrm>
            <a:off x="7498079" y="4882896"/>
            <a:ext cx="3986784"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220" b="1">
                <a:solidFill>
                  <a:srgbClr val="008F91"/>
                </a:solidFill>
                <a:latin typeface="Arial" panose="020B0704020202020204"/>
                <a:ea typeface="Noto Sans CJK SC"/>
                <a:cs typeface="Arial" panose="020B0704020202020204"/>
              </a:rPr>
              <a:t>Optional digest: anp_metadata_sha256</a:t>
            </a:r>
            <a:endParaRPr lang="en-US" sz="1220" b="1">
              <a:solidFill>
                <a:srgbClr val="008F91"/>
              </a:solidFill>
              <a:latin typeface="Arial" panose="020B0704020202020204"/>
              <a:ea typeface="Noto Sans CJK SC"/>
              <a:cs typeface="Arial" panose="020B0704020202020204"/>
            </a:endParaRPr>
          </a:p>
        </p:txBody>
      </p:sp>
      <p:sp>
        <p:nvSpPr>
          <p:cNvPr id="40" name="P03-text-088"/>
          <p:cNvSpPr txBox="1"/>
          <p:nvPr/>
        </p:nvSpPr>
        <p:spPr>
          <a:xfrm>
            <a:off x="7498079" y="5212080"/>
            <a:ext cx="3986784" cy="21031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20" b="0">
                <a:solidFill>
                  <a:srgbClr val="577C91"/>
                </a:solidFill>
                <a:latin typeface="Noto Sans CJK SC"/>
                <a:ea typeface="Noto Sans CJK SC"/>
                <a:cs typeface="Noto Sans CJK SC"/>
              </a:rPr>
              <a:t>可选摘要：固定 CIMD 元数据的精确字节。</a:t>
            </a:r>
            <a:endParaRPr lang="zh-CN" sz="1120" b="0">
              <a:solidFill>
                <a:srgbClr val="577C91"/>
              </a:solidFill>
              <a:latin typeface="Noto Sans CJK SC"/>
              <a:ea typeface="Noto Sans CJK SC"/>
              <a:cs typeface="Noto Sans CJK SC"/>
            </a:endParaRPr>
          </a:p>
        </p:txBody>
      </p:sp>
      <p:sp>
        <p:nvSpPr>
          <p:cNvPr id="41" name="Rounded Rectangle 40"/>
          <p:cNvSpPr/>
          <p:nvPr/>
        </p:nvSpPr>
        <p:spPr>
          <a:xfrm>
            <a:off x="502920" y="5660136"/>
            <a:ext cx="11183112" cy="822960"/>
          </a:xfrm>
          <a:prstGeom prst="roundRect">
            <a:avLst>
              <a:gd name="adj" fmla="val 4500"/>
            </a:avLst>
          </a:prstGeom>
          <a:solidFill>
            <a:srgbClr val="FFF4DE"/>
          </a:solidFill>
          <a:ln w="11430">
            <a:solidFill>
              <a:srgbClr val="EBAA3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03-key-label-089"/>
          <p:cNvSpPr txBox="1"/>
          <p:nvPr/>
        </p:nvSpPr>
        <p:spPr>
          <a:xfrm>
            <a:off x="685800" y="5742432"/>
            <a:ext cx="10835640" cy="16459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1">
                <a:solidFill>
                  <a:srgbClr val="B36A00"/>
                </a:solidFill>
                <a:latin typeface="Arial" panose="020B0704020202020204"/>
                <a:ea typeface="Noto Sans CJK SC"/>
                <a:cs typeface="Arial" panose="020B0704020202020204"/>
              </a:rPr>
              <a:t>KEY MESSAGE / 核心说明</a:t>
            </a:r>
            <a:endParaRPr lang="en-US" sz="900" b="1">
              <a:solidFill>
                <a:srgbClr val="B36A00"/>
              </a:solidFill>
              <a:latin typeface="Arial" panose="020B0704020202020204"/>
              <a:ea typeface="Noto Sans CJK SC"/>
              <a:cs typeface="Arial" panose="020B0704020202020204"/>
            </a:endParaRPr>
          </a:p>
        </p:txBody>
      </p:sp>
      <p:sp>
        <p:nvSpPr>
          <p:cNvPr id="43" name="P03-key-en-090"/>
          <p:cNvSpPr txBox="1"/>
          <p:nvPr/>
        </p:nvSpPr>
        <p:spPr>
          <a:xfrm>
            <a:off x="685800" y="5925312"/>
            <a:ext cx="10835640"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80" b="1">
                <a:solidFill>
                  <a:srgbClr val="0A344B"/>
                </a:solidFill>
                <a:latin typeface="Arial" panose="020B0704020202020204"/>
                <a:ea typeface="Noto Sans CJK SC"/>
                <a:cs typeface="Arial" panose="020B0704020202020204"/>
              </a:rPr>
              <a:t>Cross-references are claims; verify the documents and binding evidence.</a:t>
            </a:r>
            <a:endParaRPr lang="en-US" sz="1780" b="1">
              <a:solidFill>
                <a:srgbClr val="0A344B"/>
              </a:solidFill>
              <a:latin typeface="Arial" panose="020B0704020202020204"/>
              <a:ea typeface="Noto Sans CJK SC"/>
              <a:cs typeface="Arial" panose="020B0704020202020204"/>
            </a:endParaRPr>
          </a:p>
        </p:txBody>
      </p:sp>
      <p:sp>
        <p:nvSpPr>
          <p:cNvPr id="44" name="P03-key-cn-091"/>
          <p:cNvSpPr txBox="1"/>
          <p:nvPr/>
        </p:nvSpPr>
        <p:spPr>
          <a:xfrm>
            <a:off x="685800" y="6236208"/>
            <a:ext cx="10835640"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20" b="0">
                <a:solidFill>
                  <a:srgbClr val="577C91"/>
                </a:solidFill>
                <a:latin typeface="Noto Sans CJK SC"/>
                <a:ea typeface="Noto Sans CJK SC"/>
                <a:cs typeface="Noto Sans CJK SC"/>
              </a:rPr>
              <a:t>互相引用只是声明；必须验证两份文档及其绑定证据。</a:t>
            </a:r>
            <a:endParaRPr lang="zh-CN" sz="1220" b="0">
              <a:solidFill>
                <a:srgbClr val="577C91"/>
              </a:solidFill>
              <a:latin typeface="Noto Sans CJK SC"/>
              <a:ea typeface="Noto Sans CJK SC"/>
              <a:cs typeface="Noto Sans CJK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04-title-en-092"/>
          <p:cNvSpPr txBox="1"/>
          <p:nvPr/>
        </p:nvSpPr>
        <p:spPr>
          <a:xfrm>
            <a:off x="502920" y="283464"/>
            <a:ext cx="11173968" cy="5029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700" b="1">
                <a:solidFill>
                  <a:srgbClr val="0A344B"/>
                </a:solidFill>
                <a:latin typeface="Arial" panose="020B0704020202020204"/>
                <a:ea typeface="Noto Sans CJK SC"/>
                <a:cs typeface="Arial" panose="020B0704020202020204"/>
              </a:rPr>
              <a:t>First-contact validation: five independent checks</a:t>
            </a:r>
            <a:endParaRPr lang="en-US" sz="2700" b="1">
              <a:solidFill>
                <a:srgbClr val="0A344B"/>
              </a:solidFill>
              <a:latin typeface="Arial" panose="020B0704020202020204"/>
              <a:ea typeface="Noto Sans CJK SC"/>
              <a:cs typeface="Arial" panose="020B0704020202020204"/>
            </a:endParaRPr>
          </a:p>
        </p:txBody>
      </p:sp>
      <p:sp>
        <p:nvSpPr>
          <p:cNvPr id="3" name="P04-title-cn-093"/>
          <p:cNvSpPr txBox="1"/>
          <p:nvPr/>
        </p:nvSpPr>
        <p:spPr>
          <a:xfrm>
            <a:off x="521207" y="832104"/>
            <a:ext cx="11064240" cy="28346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500" b="0">
                <a:solidFill>
                  <a:srgbClr val="577C91"/>
                </a:solidFill>
                <a:latin typeface="Noto Sans CJK SC"/>
                <a:ea typeface="Noto Sans CJK SC"/>
                <a:cs typeface="Noto Sans CJK SC"/>
              </a:rPr>
              <a:t>首次接入验证：五项独立检查</a:t>
            </a:r>
            <a:endParaRPr lang="zh-CN" sz="1500" b="0">
              <a:solidFill>
                <a:srgbClr val="577C91"/>
              </a:solidFill>
              <a:latin typeface="Noto Sans CJK SC"/>
              <a:ea typeface="Noto Sans CJK SC"/>
              <a:cs typeface="Noto Sans CJK SC"/>
            </a:endParaRPr>
          </a:p>
        </p:txBody>
      </p:sp>
      <p:sp>
        <p:nvSpPr>
          <p:cNvPr id="4" name="Rectangle 3"/>
          <p:cNvSpPr/>
          <p:nvPr/>
        </p:nvSpPr>
        <p:spPr>
          <a:xfrm>
            <a:off x="502920" y="1179576"/>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02920" y="6547104"/>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04-footer-left-094"/>
          <p:cNvSpPr txBox="1"/>
          <p:nvPr/>
        </p:nvSpPr>
        <p:spPr>
          <a:xfrm>
            <a:off x="502920" y="6620256"/>
            <a:ext cx="3749039"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AI Agent Protocol / AI 智能体协议</a:t>
            </a:r>
            <a:endParaRPr lang="en-US" sz="900" b="0">
              <a:solidFill>
                <a:srgbClr val="577C91"/>
              </a:solidFill>
              <a:latin typeface="Arial" panose="020B0704020202020204"/>
              <a:ea typeface="Noto Sans CJK SC"/>
              <a:cs typeface="Arial" panose="020B0704020202020204"/>
            </a:endParaRPr>
          </a:p>
        </p:txBody>
      </p:sp>
      <p:sp>
        <p:nvSpPr>
          <p:cNvPr id="7" name="P04-footer-center-095"/>
          <p:cNvSpPr txBox="1"/>
          <p:nvPr/>
        </p:nvSpPr>
        <p:spPr>
          <a:xfrm>
            <a:off x="4581144" y="6620256"/>
            <a:ext cx="5760720"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Community discussion draft / 社区讨论稿</a:t>
            </a:r>
            <a:endParaRPr lang="en-US" sz="900" b="0">
              <a:solidFill>
                <a:srgbClr val="577C91"/>
              </a:solidFill>
              <a:latin typeface="Arial" panose="020B0704020202020204"/>
              <a:ea typeface="Noto Sans CJK SC"/>
              <a:cs typeface="Arial" panose="020B0704020202020204"/>
            </a:endParaRPr>
          </a:p>
        </p:txBody>
      </p:sp>
      <p:sp>
        <p:nvSpPr>
          <p:cNvPr id="8" name="P04-page-number-096"/>
          <p:cNvSpPr txBox="1"/>
          <p:nvPr/>
        </p:nvSpPr>
        <p:spPr>
          <a:xfrm>
            <a:off x="10744200" y="6601968"/>
            <a:ext cx="941832" cy="210312"/>
          </a:xfrm>
          <a:prstGeom prst="rect">
            <a:avLst/>
          </a:prstGeom>
          <a:noFill/>
          <a:effectLst/>
        </p:spPr>
        <p:txBody>
          <a:bodyPr vertOverflow="overflow" horzOverflow="overflow" wrap="none" lIns="0" tIns="0" rIns="0" bIns="0" anchor="t">
            <a:noAutofit/>
          </a:bodyPr>
          <a:lstStyle/>
          <a:p>
            <a:pPr algn="r">
              <a:lnSpc>
                <a:spcPct val="100000"/>
              </a:lnSpc>
              <a:spcBef>
                <a:spcPts val="0"/>
              </a:spcBef>
              <a:spcAft>
                <a:spcPts val="0"/>
              </a:spcAft>
            </a:pPr>
            <a:r>
              <a:rPr lang="en-US" sz="1100" b="1">
                <a:solidFill>
                  <a:srgbClr val="1264EC"/>
                </a:solidFill>
                <a:latin typeface="Arial" panose="020B0704020202020204"/>
                <a:ea typeface="Noto Sans CJK SC"/>
                <a:cs typeface="Arial" panose="020B0704020202020204"/>
              </a:rPr>
              <a:t>04 / 05</a:t>
            </a:r>
            <a:endParaRPr lang="en-US" sz="1100" b="1">
              <a:solidFill>
                <a:srgbClr val="1264EC"/>
              </a:solidFill>
              <a:latin typeface="Arial" panose="020B0704020202020204"/>
              <a:ea typeface="Noto Sans CJK SC"/>
              <a:cs typeface="Arial" panose="020B0704020202020204"/>
            </a:endParaRPr>
          </a:p>
        </p:txBody>
      </p:sp>
      <p:sp>
        <p:nvSpPr>
          <p:cNvPr id="9" name="Rounded Rectangle 8"/>
          <p:cNvSpPr/>
          <p:nvPr/>
        </p:nvSpPr>
        <p:spPr>
          <a:xfrm>
            <a:off x="502920" y="1335024"/>
            <a:ext cx="11183112" cy="768096"/>
          </a:xfrm>
          <a:prstGeom prst="roundRect">
            <a:avLst>
              <a:gd name="adj" fmla="val 4500"/>
            </a:avLst>
          </a:prstGeom>
          <a:solidFill>
            <a:srgbClr val="EAF2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685800" y="1517904"/>
            <a:ext cx="384048" cy="384048"/>
          </a:xfrm>
          <a:prstGeom prst="ellipse">
            <a:avLst/>
          </a:prstGeom>
          <a:solidFill>
            <a:srgbClr val="126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P04-text-097"/>
          <p:cNvSpPr txBox="1"/>
          <p:nvPr/>
        </p:nvSpPr>
        <p:spPr>
          <a:xfrm>
            <a:off x="685800" y="1568195"/>
            <a:ext cx="384048" cy="283464"/>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700" b="1">
                <a:solidFill>
                  <a:srgbClr val="FFFFFF"/>
                </a:solidFill>
                <a:latin typeface="Arial" panose="020B0704020202020204"/>
                <a:ea typeface="Noto Sans CJK SC"/>
                <a:cs typeface="Arial" panose="020B0704020202020204"/>
              </a:rPr>
              <a:t>1</a:t>
            </a:r>
            <a:endParaRPr lang="en-US" sz="1700" b="1">
              <a:solidFill>
                <a:srgbClr val="FFFFFF"/>
              </a:solidFill>
              <a:latin typeface="Arial" panose="020B0704020202020204"/>
              <a:ea typeface="Noto Sans CJK SC"/>
              <a:cs typeface="Arial" panose="020B0704020202020204"/>
            </a:endParaRPr>
          </a:p>
        </p:txBody>
      </p:sp>
      <p:sp>
        <p:nvSpPr>
          <p:cNvPr id="12" name="P04-text-098"/>
          <p:cNvSpPr txBox="1"/>
          <p:nvPr/>
        </p:nvSpPr>
        <p:spPr>
          <a:xfrm>
            <a:off x="1261872" y="1472184"/>
            <a:ext cx="2880360" cy="32004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60" b="1">
                <a:solidFill>
                  <a:srgbClr val="1264EC"/>
                </a:solidFill>
                <a:latin typeface="Arial" panose="020B0704020202020204"/>
                <a:ea typeface="Noto Sans CJK SC"/>
                <a:cs typeface="Arial" panose="020B0704020202020204"/>
              </a:rPr>
              <a:t>Receive the request</a:t>
            </a:r>
            <a:endParaRPr lang="en-US" sz="1760" b="1">
              <a:solidFill>
                <a:srgbClr val="1264EC"/>
              </a:solidFill>
              <a:latin typeface="Arial" panose="020B0704020202020204"/>
              <a:ea typeface="Noto Sans CJK SC"/>
              <a:cs typeface="Arial" panose="020B0704020202020204"/>
            </a:endParaRPr>
          </a:p>
        </p:txBody>
      </p:sp>
      <p:sp>
        <p:nvSpPr>
          <p:cNvPr id="13" name="P04-text-099"/>
          <p:cNvSpPr txBox="1"/>
          <p:nvPr/>
        </p:nvSpPr>
        <p:spPr>
          <a:xfrm>
            <a:off x="1261872" y="1819656"/>
            <a:ext cx="2880360"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接收授权请求</a:t>
            </a:r>
            <a:endParaRPr lang="zh-CN" sz="1170" b="0">
              <a:solidFill>
                <a:srgbClr val="577C91"/>
              </a:solidFill>
              <a:latin typeface="Noto Sans CJK SC"/>
              <a:ea typeface="Noto Sans CJK SC"/>
              <a:cs typeface="Noto Sans CJK SC"/>
            </a:endParaRPr>
          </a:p>
        </p:txBody>
      </p:sp>
      <p:sp>
        <p:nvSpPr>
          <p:cNvPr id="14" name="Rectangle 13"/>
          <p:cNvSpPr/>
          <p:nvPr/>
        </p:nvSpPr>
        <p:spPr>
          <a:xfrm>
            <a:off x="4215384" y="1472184"/>
            <a:ext cx="9144" cy="50292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04-text-100"/>
          <p:cNvSpPr txBox="1"/>
          <p:nvPr/>
        </p:nvSpPr>
        <p:spPr>
          <a:xfrm>
            <a:off x="4434840" y="1472184"/>
            <a:ext cx="7013448" cy="22402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30" b="0">
                <a:solidFill>
                  <a:srgbClr val="183C50"/>
                </a:solidFill>
                <a:latin typeface="Arial" panose="020B0704020202020204"/>
                <a:ea typeface="Noto Sans CJK SC"/>
                <a:cs typeface="Arial" panose="020B0704020202020204"/>
              </a:rPr>
              <a:t>client_id is the HTTPS CIMD URL.</a:t>
            </a:r>
            <a:endParaRPr lang="en-US" sz="1530" b="0">
              <a:solidFill>
                <a:srgbClr val="183C50"/>
              </a:solidFill>
              <a:latin typeface="Arial" panose="020B0704020202020204"/>
              <a:ea typeface="Noto Sans CJK SC"/>
              <a:cs typeface="Arial" panose="020B0704020202020204"/>
            </a:endParaRPr>
          </a:p>
        </p:txBody>
      </p:sp>
      <p:sp>
        <p:nvSpPr>
          <p:cNvPr id="16" name="P04-text-101"/>
          <p:cNvSpPr txBox="1"/>
          <p:nvPr/>
        </p:nvSpPr>
        <p:spPr>
          <a:xfrm>
            <a:off x="4434840" y="1819656"/>
            <a:ext cx="7013448"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授权请求中的 client_id 为 HTTPS CIMD URL。</a:t>
            </a:r>
            <a:endParaRPr lang="zh-CN" sz="1170" b="0">
              <a:solidFill>
                <a:srgbClr val="577C91"/>
              </a:solidFill>
              <a:latin typeface="Noto Sans CJK SC"/>
              <a:ea typeface="Noto Sans CJK SC"/>
              <a:cs typeface="Noto Sans CJK SC"/>
            </a:endParaRPr>
          </a:p>
        </p:txBody>
      </p:sp>
      <p:sp>
        <p:nvSpPr>
          <p:cNvPr id="17" name="Rounded Rectangle 16"/>
          <p:cNvSpPr/>
          <p:nvPr/>
        </p:nvSpPr>
        <p:spPr>
          <a:xfrm>
            <a:off x="502920" y="2194560"/>
            <a:ext cx="11183112" cy="768096"/>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685800" y="2377440"/>
            <a:ext cx="384048" cy="384048"/>
          </a:xfrm>
          <a:prstGeom prst="ellipse">
            <a:avLst/>
          </a:prstGeom>
          <a:solidFill>
            <a:srgbClr val="0A344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P04-text-102"/>
          <p:cNvSpPr txBox="1"/>
          <p:nvPr/>
        </p:nvSpPr>
        <p:spPr>
          <a:xfrm>
            <a:off x="685800" y="2427732"/>
            <a:ext cx="384048" cy="283464"/>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700" b="1">
                <a:solidFill>
                  <a:srgbClr val="FFFFFF"/>
                </a:solidFill>
                <a:latin typeface="Arial" panose="020B0704020202020204"/>
                <a:ea typeface="Noto Sans CJK SC"/>
                <a:cs typeface="Arial" panose="020B0704020202020204"/>
              </a:rPr>
              <a:t>2</a:t>
            </a:r>
            <a:endParaRPr lang="en-US" sz="1700" b="1">
              <a:solidFill>
                <a:srgbClr val="FFFFFF"/>
              </a:solidFill>
              <a:latin typeface="Arial" panose="020B0704020202020204"/>
              <a:ea typeface="Noto Sans CJK SC"/>
              <a:cs typeface="Arial" panose="020B0704020202020204"/>
            </a:endParaRPr>
          </a:p>
        </p:txBody>
      </p:sp>
      <p:sp>
        <p:nvSpPr>
          <p:cNvPr id="20" name="P04-text-103"/>
          <p:cNvSpPr txBox="1"/>
          <p:nvPr/>
        </p:nvSpPr>
        <p:spPr>
          <a:xfrm>
            <a:off x="1261872" y="2331720"/>
            <a:ext cx="2880360" cy="32004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60" b="1">
                <a:solidFill>
                  <a:srgbClr val="0A344B"/>
                </a:solidFill>
                <a:latin typeface="Arial" panose="020B0704020202020204"/>
                <a:ea typeface="Noto Sans CJK SC"/>
                <a:cs typeface="Arial" panose="020B0704020202020204"/>
              </a:rPr>
              <a:t>Validate CIMD</a:t>
            </a:r>
            <a:endParaRPr lang="en-US" sz="1760" b="1">
              <a:solidFill>
                <a:srgbClr val="0A344B"/>
              </a:solidFill>
              <a:latin typeface="Arial" panose="020B0704020202020204"/>
              <a:ea typeface="Noto Sans CJK SC"/>
              <a:cs typeface="Arial" panose="020B0704020202020204"/>
            </a:endParaRPr>
          </a:p>
        </p:txBody>
      </p:sp>
      <p:sp>
        <p:nvSpPr>
          <p:cNvPr id="21" name="P04-text-104"/>
          <p:cNvSpPr txBox="1"/>
          <p:nvPr/>
        </p:nvSpPr>
        <p:spPr>
          <a:xfrm>
            <a:off x="1261872" y="2679191"/>
            <a:ext cx="2880360"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验证 CIMD 元数据</a:t>
            </a:r>
            <a:endParaRPr lang="zh-CN" sz="1170" b="0">
              <a:solidFill>
                <a:srgbClr val="577C91"/>
              </a:solidFill>
              <a:latin typeface="Noto Sans CJK SC"/>
              <a:ea typeface="Noto Sans CJK SC"/>
              <a:cs typeface="Noto Sans CJK SC"/>
            </a:endParaRPr>
          </a:p>
        </p:txBody>
      </p:sp>
      <p:sp>
        <p:nvSpPr>
          <p:cNvPr id="22" name="Rectangle 21"/>
          <p:cNvSpPr/>
          <p:nvPr/>
        </p:nvSpPr>
        <p:spPr>
          <a:xfrm>
            <a:off x="4215384" y="2331720"/>
            <a:ext cx="9144" cy="50292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P04-text-105"/>
          <p:cNvSpPr txBox="1"/>
          <p:nvPr/>
        </p:nvSpPr>
        <p:spPr>
          <a:xfrm>
            <a:off x="4434840" y="2331720"/>
            <a:ext cx="7013448" cy="22402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30" b="0">
                <a:solidFill>
                  <a:srgbClr val="183C50"/>
                </a:solidFill>
                <a:latin typeface="Arial" panose="020B0704020202020204"/>
                <a:ea typeface="Noto Sans CJK SC"/>
                <a:cs typeface="Arial" panose="020B0704020202020204"/>
              </a:rPr>
              <a:t>Match client_id; review callbacks, grants and admission.</a:t>
            </a:r>
            <a:endParaRPr lang="en-US" sz="1530" b="0">
              <a:solidFill>
                <a:srgbClr val="183C50"/>
              </a:solidFill>
              <a:latin typeface="Arial" panose="020B0704020202020204"/>
              <a:ea typeface="Noto Sans CJK SC"/>
              <a:cs typeface="Arial" panose="020B0704020202020204"/>
            </a:endParaRPr>
          </a:p>
        </p:txBody>
      </p:sp>
      <p:sp>
        <p:nvSpPr>
          <p:cNvPr id="24" name="P04-text-106"/>
          <p:cNvSpPr txBox="1"/>
          <p:nvPr/>
        </p:nvSpPr>
        <p:spPr>
          <a:xfrm>
            <a:off x="4434840" y="2679191"/>
            <a:ext cx="7013448"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匹配 client_id，检查回调、授权类型及本地客户端准入策略。</a:t>
            </a:r>
            <a:endParaRPr lang="zh-CN" sz="1170" b="0">
              <a:solidFill>
                <a:srgbClr val="577C91"/>
              </a:solidFill>
              <a:latin typeface="Noto Sans CJK SC"/>
              <a:ea typeface="Noto Sans CJK SC"/>
              <a:cs typeface="Noto Sans CJK SC"/>
            </a:endParaRPr>
          </a:p>
        </p:txBody>
      </p:sp>
      <p:sp>
        <p:nvSpPr>
          <p:cNvPr id="25" name="Rounded Rectangle 24"/>
          <p:cNvSpPr/>
          <p:nvPr/>
        </p:nvSpPr>
        <p:spPr>
          <a:xfrm>
            <a:off x="502920" y="3054096"/>
            <a:ext cx="11183112" cy="768096"/>
          </a:xfrm>
          <a:prstGeom prst="roundRect">
            <a:avLst>
              <a:gd name="adj" fmla="val 4500"/>
            </a:avLst>
          </a:prstGeom>
          <a:solidFill>
            <a:srgbClr val="EAF2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685800" y="3236976"/>
            <a:ext cx="384048" cy="384048"/>
          </a:xfrm>
          <a:prstGeom prst="ellipse">
            <a:avLst/>
          </a:prstGeom>
          <a:solidFill>
            <a:srgbClr val="1264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04-text-107"/>
          <p:cNvSpPr txBox="1"/>
          <p:nvPr/>
        </p:nvSpPr>
        <p:spPr>
          <a:xfrm>
            <a:off x="685800" y="3287268"/>
            <a:ext cx="384048" cy="283464"/>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700" b="1">
                <a:solidFill>
                  <a:srgbClr val="FFFFFF"/>
                </a:solidFill>
                <a:latin typeface="Arial" panose="020B0704020202020204"/>
                <a:ea typeface="Noto Sans CJK SC"/>
                <a:cs typeface="Arial" panose="020B0704020202020204"/>
              </a:rPr>
              <a:t>3</a:t>
            </a:r>
            <a:endParaRPr lang="en-US" sz="1700" b="1">
              <a:solidFill>
                <a:srgbClr val="FFFFFF"/>
              </a:solidFill>
              <a:latin typeface="Arial" panose="020B0704020202020204"/>
              <a:ea typeface="Noto Sans CJK SC"/>
              <a:cs typeface="Arial" panose="020B0704020202020204"/>
            </a:endParaRPr>
          </a:p>
        </p:txBody>
      </p:sp>
      <p:sp>
        <p:nvSpPr>
          <p:cNvPr id="28" name="P04-text-108"/>
          <p:cNvSpPr txBox="1"/>
          <p:nvPr/>
        </p:nvSpPr>
        <p:spPr>
          <a:xfrm>
            <a:off x="1261872" y="3191256"/>
            <a:ext cx="2880360" cy="32004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60" b="1">
                <a:solidFill>
                  <a:srgbClr val="1264EC"/>
                </a:solidFill>
                <a:latin typeface="Arial" panose="020B0704020202020204"/>
                <a:ea typeface="Noto Sans CJK SC"/>
                <a:cs typeface="Arial" panose="020B0704020202020204"/>
              </a:rPr>
              <a:t>Verify the client</a:t>
            </a:r>
            <a:endParaRPr lang="en-US" sz="1760" b="1">
              <a:solidFill>
                <a:srgbClr val="1264EC"/>
              </a:solidFill>
              <a:latin typeface="Arial" panose="020B0704020202020204"/>
              <a:ea typeface="Noto Sans CJK SC"/>
              <a:cs typeface="Arial" panose="020B0704020202020204"/>
            </a:endParaRPr>
          </a:p>
        </p:txBody>
      </p:sp>
      <p:sp>
        <p:nvSpPr>
          <p:cNvPr id="29" name="P04-text-109"/>
          <p:cNvSpPr txBox="1"/>
          <p:nvPr/>
        </p:nvSpPr>
        <p:spPr>
          <a:xfrm>
            <a:off x="1261872" y="3538728"/>
            <a:ext cx="2880360"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验证客户端认证</a:t>
            </a:r>
            <a:endParaRPr lang="zh-CN" sz="1170" b="0">
              <a:solidFill>
                <a:srgbClr val="577C91"/>
              </a:solidFill>
              <a:latin typeface="Noto Sans CJK SC"/>
              <a:ea typeface="Noto Sans CJK SC"/>
              <a:cs typeface="Noto Sans CJK SC"/>
            </a:endParaRPr>
          </a:p>
        </p:txBody>
      </p:sp>
      <p:sp>
        <p:nvSpPr>
          <p:cNvPr id="30" name="Rectangle 29"/>
          <p:cNvSpPr/>
          <p:nvPr/>
        </p:nvSpPr>
        <p:spPr>
          <a:xfrm>
            <a:off x="4215384" y="3191256"/>
            <a:ext cx="9144" cy="50292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P04-text-110"/>
          <p:cNvSpPr txBox="1"/>
          <p:nvPr/>
        </p:nvSpPr>
        <p:spPr>
          <a:xfrm>
            <a:off x="4434840" y="3191256"/>
            <a:ext cx="7013448" cy="22402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30" b="0">
                <a:solidFill>
                  <a:srgbClr val="183C50"/>
                </a:solidFill>
                <a:latin typeface="Arial" panose="020B0704020202020204"/>
                <a:ea typeface="Noto Sans CJK SC"/>
                <a:cs typeface="Arial" panose="020B0704020202020204"/>
              </a:rPr>
              <a:t>At /token, verify fresh private_key_jwt using JWKS.</a:t>
            </a:r>
            <a:endParaRPr lang="en-US" sz="1530" b="0">
              <a:solidFill>
                <a:srgbClr val="183C50"/>
              </a:solidFill>
              <a:latin typeface="Arial" panose="020B0704020202020204"/>
              <a:ea typeface="Noto Sans CJK SC"/>
              <a:cs typeface="Arial" panose="020B0704020202020204"/>
            </a:endParaRPr>
          </a:p>
        </p:txBody>
      </p:sp>
      <p:sp>
        <p:nvSpPr>
          <p:cNvPr id="32" name="P04-text-111"/>
          <p:cNvSpPr txBox="1"/>
          <p:nvPr/>
        </p:nvSpPr>
        <p:spPr>
          <a:xfrm>
            <a:off x="4434840" y="3538728"/>
            <a:ext cx="7013448"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在令牌端点，用 JWKS 中的公钥验证新的客户端断言。</a:t>
            </a:r>
            <a:endParaRPr lang="zh-CN" sz="1170" b="0">
              <a:solidFill>
                <a:srgbClr val="577C91"/>
              </a:solidFill>
              <a:latin typeface="Noto Sans CJK SC"/>
              <a:ea typeface="Noto Sans CJK SC"/>
              <a:cs typeface="Noto Sans CJK SC"/>
            </a:endParaRPr>
          </a:p>
        </p:txBody>
      </p:sp>
      <p:sp>
        <p:nvSpPr>
          <p:cNvPr id="33" name="Rounded Rectangle 32"/>
          <p:cNvSpPr/>
          <p:nvPr/>
        </p:nvSpPr>
        <p:spPr>
          <a:xfrm>
            <a:off x="502920" y="3913631"/>
            <a:ext cx="11183112" cy="768096"/>
          </a:xfrm>
          <a:prstGeom prst="roundRect">
            <a:avLst>
              <a:gd name="adj" fmla="val 4500"/>
            </a:avLst>
          </a:prstGeom>
          <a:solidFill>
            <a:srgbClr val="E7F7F6"/>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Oval 33"/>
          <p:cNvSpPr/>
          <p:nvPr/>
        </p:nvSpPr>
        <p:spPr>
          <a:xfrm>
            <a:off x="685800" y="4096511"/>
            <a:ext cx="384048" cy="384048"/>
          </a:xfrm>
          <a:prstGeom prst="ellipse">
            <a:avLst/>
          </a:prstGeom>
          <a:solidFill>
            <a:srgbClr val="008F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P04-text-112"/>
          <p:cNvSpPr txBox="1"/>
          <p:nvPr/>
        </p:nvSpPr>
        <p:spPr>
          <a:xfrm>
            <a:off x="685800" y="4146803"/>
            <a:ext cx="384048" cy="283464"/>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700" b="1">
                <a:solidFill>
                  <a:srgbClr val="FFFFFF"/>
                </a:solidFill>
                <a:latin typeface="Arial" panose="020B0704020202020204"/>
                <a:ea typeface="Noto Sans CJK SC"/>
                <a:cs typeface="Arial" panose="020B0704020202020204"/>
              </a:rPr>
              <a:t>4</a:t>
            </a:r>
            <a:endParaRPr lang="en-US" sz="1700" b="1">
              <a:solidFill>
                <a:srgbClr val="FFFFFF"/>
              </a:solidFill>
              <a:latin typeface="Arial" panose="020B0704020202020204"/>
              <a:ea typeface="Noto Sans CJK SC"/>
              <a:cs typeface="Arial" panose="020B0704020202020204"/>
            </a:endParaRPr>
          </a:p>
        </p:txBody>
      </p:sp>
      <p:sp>
        <p:nvSpPr>
          <p:cNvPr id="36" name="P04-text-113"/>
          <p:cNvSpPr txBox="1"/>
          <p:nvPr/>
        </p:nvSpPr>
        <p:spPr>
          <a:xfrm>
            <a:off x="1261872" y="4050791"/>
            <a:ext cx="2880360" cy="32004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60" b="1">
                <a:solidFill>
                  <a:srgbClr val="008F91"/>
                </a:solidFill>
                <a:latin typeface="Arial" panose="020B0704020202020204"/>
                <a:ea typeface="Noto Sans CJK SC"/>
                <a:cs typeface="Arial" panose="020B0704020202020204"/>
              </a:rPr>
              <a:t>Validate DID binding</a:t>
            </a:r>
            <a:endParaRPr lang="en-US" sz="1760" b="1">
              <a:solidFill>
                <a:srgbClr val="008F91"/>
              </a:solidFill>
              <a:latin typeface="Arial" panose="020B0704020202020204"/>
              <a:ea typeface="Noto Sans CJK SC"/>
              <a:cs typeface="Arial" panose="020B0704020202020204"/>
            </a:endParaRPr>
          </a:p>
        </p:txBody>
      </p:sp>
      <p:sp>
        <p:nvSpPr>
          <p:cNvPr id="37" name="P04-text-114"/>
          <p:cNvSpPr txBox="1"/>
          <p:nvPr/>
        </p:nvSpPr>
        <p:spPr>
          <a:xfrm>
            <a:off x="1261872" y="4398264"/>
            <a:ext cx="2880360"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验证 DID 绑定</a:t>
            </a:r>
            <a:endParaRPr lang="zh-CN" sz="1170" b="0">
              <a:solidFill>
                <a:srgbClr val="577C91"/>
              </a:solidFill>
              <a:latin typeface="Noto Sans CJK SC"/>
              <a:ea typeface="Noto Sans CJK SC"/>
              <a:cs typeface="Noto Sans CJK SC"/>
            </a:endParaRPr>
          </a:p>
        </p:txBody>
      </p:sp>
      <p:sp>
        <p:nvSpPr>
          <p:cNvPr id="38" name="Rectangle 37"/>
          <p:cNvSpPr/>
          <p:nvPr/>
        </p:nvSpPr>
        <p:spPr>
          <a:xfrm>
            <a:off x="4215384" y="4050791"/>
            <a:ext cx="9144" cy="50292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P04-text-115"/>
          <p:cNvSpPr txBox="1"/>
          <p:nvPr/>
        </p:nvSpPr>
        <p:spPr>
          <a:xfrm>
            <a:off x="4434840" y="4050791"/>
            <a:ext cx="7013448" cy="22402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30" b="0">
                <a:solidFill>
                  <a:srgbClr val="183C50"/>
                </a:solidFill>
                <a:latin typeface="Arial" panose="020B0704020202020204"/>
                <a:ea typeface="Noto Sans CJK SC"/>
                <a:cs typeface="Arial" panose="020B0704020202020204"/>
              </a:rPr>
              <a:t>Resolve DID; check the URL link and binding evidence.</a:t>
            </a:r>
            <a:endParaRPr lang="en-US" sz="1530" b="0">
              <a:solidFill>
                <a:srgbClr val="183C50"/>
              </a:solidFill>
              <a:latin typeface="Arial" panose="020B0704020202020204"/>
              <a:ea typeface="Noto Sans CJK SC"/>
              <a:cs typeface="Arial" panose="020B0704020202020204"/>
            </a:endParaRPr>
          </a:p>
        </p:txBody>
      </p:sp>
      <p:sp>
        <p:nvSpPr>
          <p:cNvPr id="40" name="P04-text-116"/>
          <p:cNvSpPr txBox="1"/>
          <p:nvPr/>
        </p:nvSpPr>
        <p:spPr>
          <a:xfrm>
            <a:off x="4434840" y="4398264"/>
            <a:ext cx="7013448"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解析 DID，核验 URL 回指及所要求的绑定证据。</a:t>
            </a:r>
            <a:endParaRPr lang="zh-CN" sz="1170" b="0">
              <a:solidFill>
                <a:srgbClr val="577C91"/>
              </a:solidFill>
              <a:latin typeface="Noto Sans CJK SC"/>
              <a:ea typeface="Noto Sans CJK SC"/>
              <a:cs typeface="Noto Sans CJK SC"/>
            </a:endParaRPr>
          </a:p>
        </p:txBody>
      </p:sp>
      <p:sp>
        <p:nvSpPr>
          <p:cNvPr id="41" name="Rounded Rectangle 40"/>
          <p:cNvSpPr/>
          <p:nvPr/>
        </p:nvSpPr>
        <p:spPr>
          <a:xfrm>
            <a:off x="502920" y="4773168"/>
            <a:ext cx="11183112" cy="768096"/>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685800" y="4956048"/>
            <a:ext cx="384048" cy="384048"/>
          </a:xfrm>
          <a:prstGeom prst="ellipse">
            <a:avLst/>
          </a:prstGeom>
          <a:solidFill>
            <a:srgbClr val="0A344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P04-text-117"/>
          <p:cNvSpPr txBox="1"/>
          <p:nvPr/>
        </p:nvSpPr>
        <p:spPr>
          <a:xfrm>
            <a:off x="685800" y="5006340"/>
            <a:ext cx="384048" cy="283464"/>
          </a:xfrm>
          <a:prstGeom prst="rect">
            <a:avLst/>
          </a:prstGeom>
          <a:noFill/>
          <a:effectLst/>
        </p:spPr>
        <p:txBody>
          <a:bodyPr vertOverflow="overflow" horzOverflow="overflow" wrap="none" lIns="0" tIns="0" rIns="0" bIns="0" anchor="t">
            <a:noAutofit/>
          </a:bodyPr>
          <a:lstStyle/>
          <a:p>
            <a:pPr algn="ctr">
              <a:lnSpc>
                <a:spcPct val="100000"/>
              </a:lnSpc>
              <a:spcBef>
                <a:spcPts val="0"/>
              </a:spcBef>
              <a:spcAft>
                <a:spcPts val="0"/>
              </a:spcAft>
            </a:pPr>
            <a:r>
              <a:rPr lang="en-US" sz="1700" b="1">
                <a:solidFill>
                  <a:srgbClr val="FFFFFF"/>
                </a:solidFill>
                <a:latin typeface="Arial" panose="020B0704020202020204"/>
                <a:ea typeface="Noto Sans CJK SC"/>
                <a:cs typeface="Arial" panose="020B0704020202020204"/>
              </a:rPr>
              <a:t>5</a:t>
            </a:r>
            <a:endParaRPr lang="en-US" sz="1700" b="1">
              <a:solidFill>
                <a:srgbClr val="FFFFFF"/>
              </a:solidFill>
              <a:latin typeface="Arial" panose="020B0704020202020204"/>
              <a:ea typeface="Noto Sans CJK SC"/>
              <a:cs typeface="Arial" panose="020B0704020202020204"/>
            </a:endParaRPr>
          </a:p>
        </p:txBody>
      </p:sp>
      <p:sp>
        <p:nvSpPr>
          <p:cNvPr id="44" name="P04-text-118"/>
          <p:cNvSpPr txBox="1"/>
          <p:nvPr/>
        </p:nvSpPr>
        <p:spPr>
          <a:xfrm>
            <a:off x="1261872" y="4910328"/>
            <a:ext cx="2880360" cy="32004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60" b="1">
                <a:solidFill>
                  <a:srgbClr val="0A344B"/>
                </a:solidFill>
                <a:latin typeface="Arial" panose="020B0704020202020204"/>
                <a:ea typeface="Noto Sans CJK SC"/>
                <a:cs typeface="Arial" panose="020B0704020202020204"/>
              </a:rPr>
              <a:t>Authorize access</a:t>
            </a:r>
            <a:endParaRPr lang="en-US" sz="1760" b="1">
              <a:solidFill>
                <a:srgbClr val="0A344B"/>
              </a:solidFill>
              <a:latin typeface="Arial" panose="020B0704020202020204"/>
              <a:ea typeface="Noto Sans CJK SC"/>
              <a:cs typeface="Arial" panose="020B0704020202020204"/>
            </a:endParaRPr>
          </a:p>
        </p:txBody>
      </p:sp>
      <p:sp>
        <p:nvSpPr>
          <p:cNvPr id="45" name="P04-text-119"/>
          <p:cNvSpPr txBox="1"/>
          <p:nvPr/>
        </p:nvSpPr>
        <p:spPr>
          <a:xfrm>
            <a:off x="1261872" y="5257800"/>
            <a:ext cx="2880360" cy="21945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决定资源访问权限</a:t>
            </a:r>
            <a:endParaRPr lang="zh-CN" sz="1170" b="0">
              <a:solidFill>
                <a:srgbClr val="577C91"/>
              </a:solidFill>
              <a:latin typeface="Noto Sans CJK SC"/>
              <a:ea typeface="Noto Sans CJK SC"/>
              <a:cs typeface="Noto Sans CJK SC"/>
            </a:endParaRPr>
          </a:p>
        </p:txBody>
      </p:sp>
      <p:sp>
        <p:nvSpPr>
          <p:cNvPr id="46" name="Rectangle 45"/>
          <p:cNvSpPr/>
          <p:nvPr/>
        </p:nvSpPr>
        <p:spPr>
          <a:xfrm>
            <a:off x="4215384" y="4910328"/>
            <a:ext cx="9144" cy="50292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P04-text-120"/>
          <p:cNvSpPr txBox="1"/>
          <p:nvPr/>
        </p:nvSpPr>
        <p:spPr>
          <a:xfrm>
            <a:off x="4434840" y="4910328"/>
            <a:ext cx="7013448" cy="22402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30" b="0">
                <a:solidFill>
                  <a:srgbClr val="183C50"/>
                </a:solidFill>
                <a:latin typeface="Arial" panose="020B0704020202020204"/>
                <a:ea typeface="Noto Sans CJK SC"/>
                <a:cs typeface="Arial" panose="020B0704020202020204"/>
              </a:rPr>
              <a:t>Check consent, grants, scope, resource and token policy.</a:t>
            </a:r>
            <a:endParaRPr lang="en-US" sz="1530" b="0">
              <a:solidFill>
                <a:srgbClr val="183C50"/>
              </a:solidFill>
              <a:latin typeface="Arial" panose="020B0704020202020204"/>
              <a:ea typeface="Noto Sans CJK SC"/>
              <a:cs typeface="Arial" panose="020B0704020202020204"/>
            </a:endParaRPr>
          </a:p>
        </p:txBody>
      </p:sp>
      <p:sp>
        <p:nvSpPr>
          <p:cNvPr id="48" name="P04-text-121"/>
          <p:cNvSpPr txBox="1"/>
          <p:nvPr/>
        </p:nvSpPr>
        <p:spPr>
          <a:xfrm>
            <a:off x="4434840" y="5257800"/>
            <a:ext cx="7013448"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评估同意、授权、范围、目标资源及令牌有效期与撤销策略。</a:t>
            </a:r>
            <a:endParaRPr lang="zh-CN" sz="1170" b="0">
              <a:solidFill>
                <a:srgbClr val="577C91"/>
              </a:solidFill>
              <a:latin typeface="Noto Sans CJK SC"/>
              <a:ea typeface="Noto Sans CJK SC"/>
              <a:cs typeface="Noto Sans CJK SC"/>
            </a:endParaRPr>
          </a:p>
        </p:txBody>
      </p:sp>
      <p:sp>
        <p:nvSpPr>
          <p:cNvPr id="49" name="Rounded Rectangle 48"/>
          <p:cNvSpPr/>
          <p:nvPr/>
        </p:nvSpPr>
        <p:spPr>
          <a:xfrm>
            <a:off x="502920" y="5660136"/>
            <a:ext cx="11183112" cy="822960"/>
          </a:xfrm>
          <a:prstGeom prst="roundRect">
            <a:avLst>
              <a:gd name="adj" fmla="val 4500"/>
            </a:avLst>
          </a:prstGeom>
          <a:solidFill>
            <a:srgbClr val="FFF4DE"/>
          </a:solidFill>
          <a:ln w="11430">
            <a:solidFill>
              <a:srgbClr val="EBAA3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04-key-label-122"/>
          <p:cNvSpPr txBox="1"/>
          <p:nvPr/>
        </p:nvSpPr>
        <p:spPr>
          <a:xfrm>
            <a:off x="685800" y="5742432"/>
            <a:ext cx="10835640" cy="16459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1">
                <a:solidFill>
                  <a:srgbClr val="B36A00"/>
                </a:solidFill>
                <a:latin typeface="Arial" panose="020B0704020202020204"/>
                <a:ea typeface="Noto Sans CJK SC"/>
                <a:cs typeface="Arial" panose="020B0704020202020204"/>
              </a:rPr>
              <a:t>KEY MESSAGE / 核心说明</a:t>
            </a:r>
            <a:endParaRPr lang="en-US" sz="900" b="1">
              <a:solidFill>
                <a:srgbClr val="B36A00"/>
              </a:solidFill>
              <a:latin typeface="Arial" panose="020B0704020202020204"/>
              <a:ea typeface="Noto Sans CJK SC"/>
              <a:cs typeface="Arial" panose="020B0704020202020204"/>
            </a:endParaRPr>
          </a:p>
        </p:txBody>
      </p:sp>
      <p:sp>
        <p:nvSpPr>
          <p:cNvPr id="51" name="P04-key-en-123"/>
          <p:cNvSpPr txBox="1"/>
          <p:nvPr/>
        </p:nvSpPr>
        <p:spPr>
          <a:xfrm>
            <a:off x="685800" y="5925312"/>
            <a:ext cx="10835640"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80" b="1">
                <a:solidFill>
                  <a:srgbClr val="0A344B"/>
                </a:solidFill>
                <a:latin typeface="Arial" panose="020B0704020202020204"/>
                <a:ea typeface="Noto Sans CJK SC"/>
                <a:cs typeface="Arial" panose="020B0704020202020204"/>
              </a:rPr>
              <a:t>Discovery, client proof, DID binding and resource permission are separate.</a:t>
            </a:r>
            <a:endParaRPr lang="en-US" sz="1780" b="1">
              <a:solidFill>
                <a:srgbClr val="0A344B"/>
              </a:solidFill>
              <a:latin typeface="Arial" panose="020B0704020202020204"/>
              <a:ea typeface="Noto Sans CJK SC"/>
              <a:cs typeface="Arial" panose="020B0704020202020204"/>
            </a:endParaRPr>
          </a:p>
        </p:txBody>
      </p:sp>
      <p:sp>
        <p:nvSpPr>
          <p:cNvPr id="52" name="P04-key-cn-124"/>
          <p:cNvSpPr txBox="1"/>
          <p:nvPr/>
        </p:nvSpPr>
        <p:spPr>
          <a:xfrm>
            <a:off x="685800" y="6236208"/>
            <a:ext cx="10835640"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20" b="0">
                <a:solidFill>
                  <a:srgbClr val="577C91"/>
                </a:solidFill>
                <a:latin typeface="Noto Sans CJK SC"/>
                <a:ea typeface="Noto Sans CJK SC"/>
                <a:cs typeface="Noto Sans CJK SC"/>
              </a:rPr>
              <a:t>发现、客户端证明、DID 绑定和资源权限，需要分别判断。</a:t>
            </a:r>
            <a:endParaRPr lang="zh-CN" sz="1220" b="0">
              <a:solidFill>
                <a:srgbClr val="577C91"/>
              </a:solidFill>
              <a:latin typeface="Noto Sans CJK SC"/>
              <a:ea typeface="Noto Sans CJK SC"/>
              <a:cs typeface="Noto Sans CJK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05-title-en-125"/>
          <p:cNvSpPr txBox="1"/>
          <p:nvPr/>
        </p:nvSpPr>
        <p:spPr>
          <a:xfrm>
            <a:off x="502920" y="283464"/>
            <a:ext cx="11173968" cy="5029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700" b="1">
                <a:solidFill>
                  <a:srgbClr val="0A344B"/>
                </a:solidFill>
                <a:latin typeface="Arial" panose="020B0704020202020204"/>
                <a:ea typeface="Noto Sans CJK SC"/>
                <a:cs typeface="Arial" panose="020B0704020202020204"/>
              </a:rPr>
              <a:t>Interoperability and rollout</a:t>
            </a:r>
            <a:endParaRPr lang="en-US" sz="2700" b="1">
              <a:solidFill>
                <a:srgbClr val="0A344B"/>
              </a:solidFill>
              <a:latin typeface="Arial" panose="020B0704020202020204"/>
              <a:ea typeface="Noto Sans CJK SC"/>
              <a:cs typeface="Arial" panose="020B0704020202020204"/>
            </a:endParaRPr>
          </a:p>
        </p:txBody>
      </p:sp>
      <p:sp>
        <p:nvSpPr>
          <p:cNvPr id="3" name="P05-title-cn-126"/>
          <p:cNvSpPr txBox="1"/>
          <p:nvPr/>
        </p:nvSpPr>
        <p:spPr>
          <a:xfrm>
            <a:off x="521207" y="832104"/>
            <a:ext cx="11064240" cy="28346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500" b="0">
                <a:solidFill>
                  <a:srgbClr val="577C91"/>
                </a:solidFill>
                <a:latin typeface="Noto Sans CJK SC"/>
                <a:ea typeface="Noto Sans CJK SC"/>
                <a:cs typeface="Noto Sans CJK SC"/>
              </a:rPr>
              <a:t>互操作与落地路径</a:t>
            </a:r>
            <a:endParaRPr lang="zh-CN" sz="1500" b="0">
              <a:solidFill>
                <a:srgbClr val="577C91"/>
              </a:solidFill>
              <a:latin typeface="Noto Sans CJK SC"/>
              <a:ea typeface="Noto Sans CJK SC"/>
              <a:cs typeface="Noto Sans CJK SC"/>
            </a:endParaRPr>
          </a:p>
        </p:txBody>
      </p:sp>
      <p:sp>
        <p:nvSpPr>
          <p:cNvPr id="4" name="Rectangle 3"/>
          <p:cNvSpPr/>
          <p:nvPr/>
        </p:nvSpPr>
        <p:spPr>
          <a:xfrm>
            <a:off x="502920" y="1179576"/>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02920" y="6547104"/>
            <a:ext cx="11183112" cy="10160"/>
          </a:xfrm>
          <a:prstGeom prst="rect">
            <a:avLst/>
          </a:prstGeom>
          <a:solidFill>
            <a:srgbClr val="D0E0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P05-footer-left-127"/>
          <p:cNvSpPr txBox="1"/>
          <p:nvPr/>
        </p:nvSpPr>
        <p:spPr>
          <a:xfrm>
            <a:off x="502920" y="6620256"/>
            <a:ext cx="3749039"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AI Agent Protocol / AI 智能体协议</a:t>
            </a:r>
            <a:endParaRPr lang="en-US" sz="900" b="0">
              <a:solidFill>
                <a:srgbClr val="577C91"/>
              </a:solidFill>
              <a:latin typeface="Arial" panose="020B0704020202020204"/>
              <a:ea typeface="Noto Sans CJK SC"/>
              <a:cs typeface="Arial" panose="020B0704020202020204"/>
            </a:endParaRPr>
          </a:p>
        </p:txBody>
      </p:sp>
      <p:sp>
        <p:nvSpPr>
          <p:cNvPr id="7" name="P05-footer-center-128"/>
          <p:cNvSpPr txBox="1"/>
          <p:nvPr/>
        </p:nvSpPr>
        <p:spPr>
          <a:xfrm>
            <a:off x="4581144" y="6620256"/>
            <a:ext cx="5760720" cy="17373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0">
                <a:solidFill>
                  <a:srgbClr val="577C91"/>
                </a:solidFill>
                <a:latin typeface="Arial" panose="020B0704020202020204"/>
                <a:ea typeface="Noto Sans CJK SC"/>
                <a:cs typeface="Arial" panose="020B0704020202020204"/>
              </a:rPr>
              <a:t>Community discussion draft / 社区讨论稿</a:t>
            </a:r>
            <a:endParaRPr lang="en-US" sz="900" b="0">
              <a:solidFill>
                <a:srgbClr val="577C91"/>
              </a:solidFill>
              <a:latin typeface="Arial" panose="020B0704020202020204"/>
              <a:ea typeface="Noto Sans CJK SC"/>
              <a:cs typeface="Arial" panose="020B0704020202020204"/>
            </a:endParaRPr>
          </a:p>
        </p:txBody>
      </p:sp>
      <p:sp>
        <p:nvSpPr>
          <p:cNvPr id="8" name="P05-page-number-129"/>
          <p:cNvSpPr txBox="1"/>
          <p:nvPr/>
        </p:nvSpPr>
        <p:spPr>
          <a:xfrm>
            <a:off x="10744200" y="6601968"/>
            <a:ext cx="941832" cy="210312"/>
          </a:xfrm>
          <a:prstGeom prst="rect">
            <a:avLst/>
          </a:prstGeom>
          <a:noFill/>
          <a:effectLst/>
        </p:spPr>
        <p:txBody>
          <a:bodyPr vertOverflow="overflow" horzOverflow="overflow" wrap="none" lIns="0" tIns="0" rIns="0" bIns="0" anchor="t">
            <a:noAutofit/>
          </a:bodyPr>
          <a:lstStyle/>
          <a:p>
            <a:pPr algn="r">
              <a:lnSpc>
                <a:spcPct val="100000"/>
              </a:lnSpc>
              <a:spcBef>
                <a:spcPts val="0"/>
              </a:spcBef>
              <a:spcAft>
                <a:spcPts val="0"/>
              </a:spcAft>
            </a:pPr>
            <a:r>
              <a:rPr lang="en-US" sz="1100" b="1">
                <a:solidFill>
                  <a:srgbClr val="1264EC"/>
                </a:solidFill>
                <a:latin typeface="Arial" panose="020B0704020202020204"/>
                <a:ea typeface="Noto Sans CJK SC"/>
                <a:cs typeface="Arial" panose="020B0704020202020204"/>
              </a:rPr>
              <a:t>05 / 05</a:t>
            </a:r>
            <a:endParaRPr lang="en-US" sz="1100" b="1">
              <a:solidFill>
                <a:srgbClr val="1264EC"/>
              </a:solidFill>
              <a:latin typeface="Arial" panose="020B0704020202020204"/>
              <a:ea typeface="Noto Sans CJK SC"/>
              <a:cs typeface="Arial" panose="020B0704020202020204"/>
            </a:endParaRPr>
          </a:p>
        </p:txBody>
      </p:sp>
      <p:sp>
        <p:nvSpPr>
          <p:cNvPr id="9" name="Rounded Rectangle 8"/>
          <p:cNvSpPr/>
          <p:nvPr/>
        </p:nvSpPr>
        <p:spPr>
          <a:xfrm>
            <a:off x="502920" y="1389888"/>
            <a:ext cx="5468112" cy="2048256"/>
          </a:xfrm>
          <a:prstGeom prst="roundRect">
            <a:avLst>
              <a:gd name="adj" fmla="val 4500"/>
            </a:avLst>
          </a:prstGeom>
          <a:solidFill>
            <a:srgbClr val="EAF2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5-text-130"/>
          <p:cNvSpPr txBox="1"/>
          <p:nvPr/>
        </p:nvSpPr>
        <p:spPr>
          <a:xfrm>
            <a:off x="722376" y="1563624"/>
            <a:ext cx="5020056" cy="36576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1264EC"/>
                </a:solidFill>
                <a:latin typeface="Arial" panose="020B0704020202020204"/>
                <a:ea typeface="Noto Sans CJK SC"/>
                <a:cs typeface="Arial" panose="020B0704020202020204"/>
              </a:rPr>
              <a:t>Standard CIMD server</a:t>
            </a:r>
            <a:endParaRPr lang="en-US" sz="2000" b="1">
              <a:solidFill>
                <a:srgbClr val="1264EC"/>
              </a:solidFill>
              <a:latin typeface="Arial" panose="020B0704020202020204"/>
              <a:ea typeface="Noto Sans CJK SC"/>
              <a:cs typeface="Arial" panose="020B0704020202020204"/>
            </a:endParaRPr>
          </a:p>
        </p:txBody>
      </p:sp>
      <p:sp>
        <p:nvSpPr>
          <p:cNvPr id="11" name="P05-text-131"/>
          <p:cNvSpPr txBox="1"/>
          <p:nvPr/>
        </p:nvSpPr>
        <p:spPr>
          <a:xfrm>
            <a:off x="722376" y="1947672"/>
            <a:ext cx="5020056" cy="24688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标准 CIMD 授权服务器</a:t>
            </a:r>
            <a:endParaRPr lang="zh-CN" sz="1300" b="0">
              <a:solidFill>
                <a:srgbClr val="577C91"/>
              </a:solidFill>
              <a:latin typeface="Noto Sans CJK SC"/>
              <a:ea typeface="Noto Sans CJK SC"/>
              <a:cs typeface="Noto Sans CJK SC"/>
            </a:endParaRPr>
          </a:p>
        </p:txBody>
      </p:sp>
      <p:sp>
        <p:nvSpPr>
          <p:cNvPr id="12" name="P05-text-132"/>
          <p:cNvSpPr txBox="1"/>
          <p:nvPr/>
        </p:nvSpPr>
        <p:spPr>
          <a:xfrm>
            <a:off x="722376" y="2276856"/>
            <a:ext cx="5020056"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40" b="0">
                <a:solidFill>
                  <a:srgbClr val="183C50"/>
                </a:solidFill>
                <a:latin typeface="Arial" panose="020B0704020202020204"/>
                <a:ea typeface="Noto Sans CJK SC"/>
                <a:cs typeface="Arial" panose="020B0704020202020204"/>
              </a:rPr>
              <a:t>URL client_id; metadata + JWKS.</a:t>
            </a:r>
            <a:endParaRPr lang="en-US" sz="1640" b="0">
              <a:solidFill>
                <a:srgbClr val="183C50"/>
              </a:solidFill>
              <a:latin typeface="Arial" panose="020B0704020202020204"/>
              <a:ea typeface="Noto Sans CJK SC"/>
              <a:cs typeface="Arial" panose="020B0704020202020204"/>
            </a:endParaRPr>
          </a:p>
        </p:txBody>
      </p:sp>
      <p:sp>
        <p:nvSpPr>
          <p:cNvPr id="13" name="P05-text-133"/>
          <p:cNvSpPr txBox="1"/>
          <p:nvPr/>
        </p:nvSpPr>
        <p:spPr>
          <a:xfrm>
            <a:off x="722376" y="2560320"/>
            <a:ext cx="5020056"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40" b="0">
                <a:solidFill>
                  <a:srgbClr val="183C50"/>
                </a:solidFill>
                <a:latin typeface="Arial" panose="020B0704020202020204"/>
                <a:ea typeface="Noto Sans CJK SC"/>
                <a:cs typeface="Arial" panose="020B0704020202020204"/>
              </a:rPr>
              <a:t>No DID validation is implied.</a:t>
            </a:r>
            <a:endParaRPr lang="en-US" sz="1640" b="0">
              <a:solidFill>
                <a:srgbClr val="183C50"/>
              </a:solidFill>
              <a:latin typeface="Arial" panose="020B0704020202020204"/>
              <a:ea typeface="Noto Sans CJK SC"/>
              <a:cs typeface="Arial" panose="020B0704020202020204"/>
            </a:endParaRPr>
          </a:p>
        </p:txBody>
      </p:sp>
      <p:sp>
        <p:nvSpPr>
          <p:cNvPr id="14" name="P05-text-134"/>
          <p:cNvSpPr txBox="1"/>
          <p:nvPr/>
        </p:nvSpPr>
        <p:spPr>
          <a:xfrm>
            <a:off x="722376" y="2926080"/>
            <a:ext cx="5020056"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90" b="0">
                <a:solidFill>
                  <a:srgbClr val="577C91"/>
                </a:solidFill>
                <a:latin typeface="Noto Sans CJK SC"/>
                <a:ea typeface="Noto Sans CJK SC"/>
                <a:cs typeface="Noto Sans CJK SC"/>
              </a:rPr>
              <a:t>使用 URL client_id、元数据与 JWKS；</a:t>
            </a:r>
            <a:endParaRPr lang="zh-CN" sz="1190" b="0">
              <a:solidFill>
                <a:srgbClr val="577C91"/>
              </a:solidFill>
              <a:latin typeface="Noto Sans CJK SC"/>
              <a:ea typeface="Noto Sans CJK SC"/>
              <a:cs typeface="Noto Sans CJK SC"/>
            </a:endParaRPr>
          </a:p>
        </p:txBody>
      </p:sp>
      <p:sp>
        <p:nvSpPr>
          <p:cNvPr id="15" name="P05-text-135"/>
          <p:cNvSpPr txBox="1"/>
          <p:nvPr/>
        </p:nvSpPr>
        <p:spPr>
          <a:xfrm>
            <a:off x="722376" y="3136392"/>
            <a:ext cx="5020056"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90" b="0">
                <a:solidFill>
                  <a:srgbClr val="577C91"/>
                </a:solidFill>
                <a:latin typeface="Noto Sans CJK SC"/>
                <a:ea typeface="Noto Sans CJK SC"/>
                <a:cs typeface="Noto Sans CJK SC"/>
              </a:rPr>
              <a:t>不意味着完成了 DID 验证。</a:t>
            </a:r>
            <a:endParaRPr lang="zh-CN" sz="1190" b="0">
              <a:solidFill>
                <a:srgbClr val="577C91"/>
              </a:solidFill>
              <a:latin typeface="Noto Sans CJK SC"/>
              <a:ea typeface="Noto Sans CJK SC"/>
              <a:cs typeface="Noto Sans CJK SC"/>
            </a:endParaRPr>
          </a:p>
        </p:txBody>
      </p:sp>
      <p:sp>
        <p:nvSpPr>
          <p:cNvPr id="16" name="Rounded Rectangle 15"/>
          <p:cNvSpPr/>
          <p:nvPr/>
        </p:nvSpPr>
        <p:spPr>
          <a:xfrm>
            <a:off x="6217920" y="1389888"/>
            <a:ext cx="5468112" cy="2048256"/>
          </a:xfrm>
          <a:prstGeom prst="roundRect">
            <a:avLst>
              <a:gd name="adj" fmla="val 4500"/>
            </a:avLst>
          </a:prstGeom>
          <a:solidFill>
            <a:srgbClr val="E7F7F6"/>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P05-text-136"/>
          <p:cNvSpPr txBox="1"/>
          <p:nvPr/>
        </p:nvSpPr>
        <p:spPr>
          <a:xfrm>
            <a:off x="6437376" y="1563624"/>
            <a:ext cx="5020056" cy="36576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2000" b="1">
                <a:solidFill>
                  <a:srgbClr val="008F91"/>
                </a:solidFill>
                <a:latin typeface="Arial" panose="020B0704020202020204"/>
                <a:ea typeface="Noto Sans CJK SC"/>
                <a:cs typeface="Arial" panose="020B0704020202020204"/>
              </a:rPr>
              <a:t>ANP-aware CIMD server</a:t>
            </a:r>
            <a:endParaRPr lang="en-US" sz="2000" b="1">
              <a:solidFill>
                <a:srgbClr val="008F91"/>
              </a:solidFill>
              <a:latin typeface="Arial" panose="020B0704020202020204"/>
              <a:ea typeface="Noto Sans CJK SC"/>
              <a:cs typeface="Arial" panose="020B0704020202020204"/>
            </a:endParaRPr>
          </a:p>
        </p:txBody>
      </p:sp>
      <p:sp>
        <p:nvSpPr>
          <p:cNvPr id="18" name="P05-text-137"/>
          <p:cNvSpPr txBox="1"/>
          <p:nvPr/>
        </p:nvSpPr>
        <p:spPr>
          <a:xfrm>
            <a:off x="6437376" y="1947672"/>
            <a:ext cx="5020056" cy="24688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300" b="0">
                <a:solidFill>
                  <a:srgbClr val="577C91"/>
                </a:solidFill>
                <a:latin typeface="Noto Sans CJK SC"/>
                <a:ea typeface="Noto Sans CJK SC"/>
                <a:cs typeface="Noto Sans CJK SC"/>
              </a:rPr>
              <a:t>支持 ANP 的 CIMD 授权服务器</a:t>
            </a:r>
            <a:endParaRPr lang="zh-CN" sz="1300" b="0">
              <a:solidFill>
                <a:srgbClr val="577C91"/>
              </a:solidFill>
              <a:latin typeface="Noto Sans CJK SC"/>
              <a:ea typeface="Noto Sans CJK SC"/>
              <a:cs typeface="Noto Sans CJK SC"/>
            </a:endParaRPr>
          </a:p>
        </p:txBody>
      </p:sp>
      <p:sp>
        <p:nvSpPr>
          <p:cNvPr id="19" name="P05-text-138"/>
          <p:cNvSpPr txBox="1"/>
          <p:nvPr/>
        </p:nvSpPr>
        <p:spPr>
          <a:xfrm>
            <a:off x="6437376" y="2276856"/>
            <a:ext cx="5020056"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40" b="0">
                <a:solidFill>
                  <a:srgbClr val="183C50"/>
                </a:solidFill>
                <a:latin typeface="Arial" panose="020B0704020202020204"/>
                <a:ea typeface="Noto Sans CJK SC"/>
                <a:cs typeface="Arial" panose="020B0704020202020204"/>
              </a:rPr>
              <a:t>Standard checks, plus DID binding.</a:t>
            </a:r>
            <a:endParaRPr lang="en-US" sz="1640" b="0">
              <a:solidFill>
                <a:srgbClr val="183C50"/>
              </a:solidFill>
              <a:latin typeface="Arial" panose="020B0704020202020204"/>
              <a:ea typeface="Noto Sans CJK SC"/>
              <a:cs typeface="Arial" panose="020B0704020202020204"/>
            </a:endParaRPr>
          </a:p>
        </p:txBody>
      </p:sp>
      <p:sp>
        <p:nvSpPr>
          <p:cNvPr id="20" name="P05-text-139"/>
          <p:cNvSpPr txBox="1"/>
          <p:nvPr/>
        </p:nvSpPr>
        <p:spPr>
          <a:xfrm>
            <a:off x="6437376" y="2560320"/>
            <a:ext cx="5020056" cy="265176"/>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40" b="0">
                <a:solidFill>
                  <a:srgbClr val="183C50"/>
                </a:solidFill>
                <a:latin typeface="Arial" panose="020B0704020202020204"/>
                <a:ea typeface="Noto Sans CJK SC"/>
                <a:cs typeface="Arial" panose="020B0704020202020204"/>
              </a:rPr>
              <a:t>Admission may use verified DID.</a:t>
            </a:r>
            <a:endParaRPr lang="en-US" sz="1640" b="0">
              <a:solidFill>
                <a:srgbClr val="183C50"/>
              </a:solidFill>
              <a:latin typeface="Arial" panose="020B0704020202020204"/>
              <a:ea typeface="Noto Sans CJK SC"/>
              <a:cs typeface="Arial" panose="020B0704020202020204"/>
            </a:endParaRPr>
          </a:p>
        </p:txBody>
      </p:sp>
      <p:sp>
        <p:nvSpPr>
          <p:cNvPr id="21" name="P05-text-140"/>
          <p:cNvSpPr txBox="1"/>
          <p:nvPr/>
        </p:nvSpPr>
        <p:spPr>
          <a:xfrm>
            <a:off x="6437376" y="2926080"/>
            <a:ext cx="5020056"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90" b="0">
                <a:solidFill>
                  <a:srgbClr val="577C91"/>
                </a:solidFill>
                <a:latin typeface="Noto Sans CJK SC"/>
                <a:ea typeface="Noto Sans CJK SC"/>
                <a:cs typeface="Noto Sans CJK SC"/>
              </a:rPr>
              <a:t>标准检查之外，增加 DID 绑定验证；</a:t>
            </a:r>
            <a:endParaRPr lang="zh-CN" sz="1190" b="0">
              <a:solidFill>
                <a:srgbClr val="577C91"/>
              </a:solidFill>
              <a:latin typeface="Noto Sans CJK SC"/>
              <a:ea typeface="Noto Sans CJK SC"/>
              <a:cs typeface="Noto Sans CJK SC"/>
            </a:endParaRPr>
          </a:p>
        </p:txBody>
      </p:sp>
      <p:sp>
        <p:nvSpPr>
          <p:cNvPr id="22" name="P05-text-141"/>
          <p:cNvSpPr txBox="1"/>
          <p:nvPr/>
        </p:nvSpPr>
        <p:spPr>
          <a:xfrm>
            <a:off x="6437376" y="3136392"/>
            <a:ext cx="5020056"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90" b="0">
                <a:solidFill>
                  <a:srgbClr val="577C91"/>
                </a:solidFill>
                <a:latin typeface="Noto Sans CJK SC"/>
                <a:ea typeface="Noto Sans CJK SC"/>
                <a:cs typeface="Noto Sans CJK SC"/>
              </a:rPr>
              <a:t>可将经验证的 DID 用于准入决策。</a:t>
            </a:r>
            <a:endParaRPr lang="zh-CN" sz="1190" b="0">
              <a:solidFill>
                <a:srgbClr val="577C91"/>
              </a:solidFill>
              <a:latin typeface="Noto Sans CJK SC"/>
              <a:ea typeface="Noto Sans CJK SC"/>
              <a:cs typeface="Noto Sans CJK SC"/>
            </a:endParaRPr>
          </a:p>
        </p:txBody>
      </p:sp>
      <p:sp>
        <p:nvSpPr>
          <p:cNvPr id="23" name="P05-text-142"/>
          <p:cNvSpPr txBox="1"/>
          <p:nvPr/>
        </p:nvSpPr>
        <p:spPr>
          <a:xfrm>
            <a:off x="521207" y="3639312"/>
            <a:ext cx="11064240" cy="329184"/>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650" b="1">
                <a:solidFill>
                  <a:srgbClr val="0A344B"/>
                </a:solidFill>
                <a:latin typeface="Arial" panose="020B0704020202020204"/>
                <a:ea typeface="Noto Sans CJK SC"/>
                <a:cs typeface="Arial" panose="020B0704020202020204"/>
              </a:rPr>
              <a:t>Staged rollout / 分阶段落地</a:t>
            </a:r>
            <a:endParaRPr lang="en-US" sz="1650" b="1">
              <a:solidFill>
                <a:srgbClr val="0A344B"/>
              </a:solidFill>
              <a:latin typeface="Arial" panose="020B0704020202020204"/>
              <a:ea typeface="Noto Sans CJK SC"/>
              <a:cs typeface="Arial" panose="020B0704020202020204"/>
            </a:endParaRPr>
          </a:p>
        </p:txBody>
      </p:sp>
      <p:sp>
        <p:nvSpPr>
          <p:cNvPr id="24" name="Rounded Rectangle 23"/>
          <p:cNvSpPr/>
          <p:nvPr/>
        </p:nvSpPr>
        <p:spPr>
          <a:xfrm>
            <a:off x="502920" y="4023360"/>
            <a:ext cx="3538728" cy="1517904"/>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P05-text-143"/>
          <p:cNvSpPr txBox="1"/>
          <p:nvPr/>
        </p:nvSpPr>
        <p:spPr>
          <a:xfrm>
            <a:off x="704088" y="4151376"/>
            <a:ext cx="3136392" cy="21031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050" b="1">
                <a:solidFill>
                  <a:srgbClr val="1264EC"/>
                </a:solidFill>
                <a:latin typeface="Arial" panose="020B0704020202020204"/>
                <a:ea typeface="Noto Sans CJK SC"/>
                <a:cs typeface="Arial" panose="020B0704020202020204"/>
              </a:rPr>
              <a:t>PHASE 1 / 阶段 1</a:t>
            </a:r>
            <a:endParaRPr lang="en-US" sz="1050" b="1">
              <a:solidFill>
                <a:srgbClr val="1264EC"/>
              </a:solidFill>
              <a:latin typeface="Arial" panose="020B0704020202020204"/>
              <a:ea typeface="Noto Sans CJK SC"/>
              <a:cs typeface="Arial" panose="020B0704020202020204"/>
            </a:endParaRPr>
          </a:p>
        </p:txBody>
      </p:sp>
      <p:sp>
        <p:nvSpPr>
          <p:cNvPr id="26" name="P05-text-144"/>
          <p:cNvSpPr txBox="1"/>
          <p:nvPr/>
        </p:nvSpPr>
        <p:spPr>
          <a:xfrm>
            <a:off x="704088" y="4462272"/>
            <a:ext cx="313639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50" b="1">
                <a:solidFill>
                  <a:srgbClr val="183C50"/>
                </a:solidFill>
                <a:latin typeface="Arial" panose="020B0704020202020204"/>
                <a:ea typeface="Noto Sans CJK SC"/>
                <a:cs typeface="Arial" panose="020B0704020202020204"/>
              </a:rPr>
              <a:t>Publish agent_did</a:t>
            </a:r>
            <a:endParaRPr lang="en-US" sz="1550" b="1">
              <a:solidFill>
                <a:srgbClr val="183C50"/>
              </a:solidFill>
              <a:latin typeface="Arial" panose="020B0704020202020204"/>
              <a:ea typeface="Noto Sans CJK SC"/>
              <a:cs typeface="Arial" panose="020B0704020202020204"/>
            </a:endParaRPr>
          </a:p>
        </p:txBody>
      </p:sp>
      <p:sp>
        <p:nvSpPr>
          <p:cNvPr id="27" name="P05-text-145"/>
          <p:cNvSpPr txBox="1"/>
          <p:nvPr/>
        </p:nvSpPr>
        <p:spPr>
          <a:xfrm>
            <a:off x="704088" y="4718304"/>
            <a:ext cx="313639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50" b="1">
                <a:solidFill>
                  <a:srgbClr val="183C50"/>
                </a:solidFill>
                <a:latin typeface="Arial" panose="020B0704020202020204"/>
                <a:ea typeface="Noto Sans CJK SC"/>
                <a:cs typeface="Arial" panose="020B0704020202020204"/>
              </a:rPr>
              <a:t>in CIMD metadata.</a:t>
            </a:r>
            <a:endParaRPr lang="en-US" sz="1550" b="1">
              <a:solidFill>
                <a:srgbClr val="183C50"/>
              </a:solidFill>
              <a:latin typeface="Arial" panose="020B0704020202020204"/>
              <a:ea typeface="Noto Sans CJK SC"/>
              <a:cs typeface="Arial" panose="020B0704020202020204"/>
            </a:endParaRPr>
          </a:p>
        </p:txBody>
      </p:sp>
      <p:sp>
        <p:nvSpPr>
          <p:cNvPr id="28" name="P05-text-146"/>
          <p:cNvSpPr txBox="1"/>
          <p:nvPr/>
        </p:nvSpPr>
        <p:spPr>
          <a:xfrm>
            <a:off x="704088" y="5038344"/>
            <a:ext cx="3136392"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在 CIMD 元数据中</a:t>
            </a:r>
            <a:endParaRPr lang="zh-CN" sz="1170" b="0">
              <a:solidFill>
                <a:srgbClr val="577C91"/>
              </a:solidFill>
              <a:latin typeface="Noto Sans CJK SC"/>
              <a:ea typeface="Noto Sans CJK SC"/>
              <a:cs typeface="Noto Sans CJK SC"/>
            </a:endParaRPr>
          </a:p>
        </p:txBody>
      </p:sp>
      <p:sp>
        <p:nvSpPr>
          <p:cNvPr id="29" name="P05-text-147"/>
          <p:cNvSpPr txBox="1"/>
          <p:nvPr/>
        </p:nvSpPr>
        <p:spPr>
          <a:xfrm>
            <a:off x="704088" y="5244083"/>
            <a:ext cx="3136392"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发布 agent_did。</a:t>
            </a:r>
            <a:endParaRPr lang="zh-CN" sz="1170" b="0">
              <a:solidFill>
                <a:srgbClr val="577C91"/>
              </a:solidFill>
              <a:latin typeface="Noto Sans CJK SC"/>
              <a:ea typeface="Noto Sans CJK SC"/>
              <a:cs typeface="Noto Sans CJK SC"/>
            </a:endParaRPr>
          </a:p>
        </p:txBody>
      </p:sp>
      <p:sp>
        <p:nvSpPr>
          <p:cNvPr id="30" name="Rounded Rectangle 29"/>
          <p:cNvSpPr/>
          <p:nvPr/>
        </p:nvSpPr>
        <p:spPr>
          <a:xfrm>
            <a:off x="4325112" y="4023360"/>
            <a:ext cx="3538728" cy="1517904"/>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P05-text-148"/>
          <p:cNvSpPr txBox="1"/>
          <p:nvPr/>
        </p:nvSpPr>
        <p:spPr>
          <a:xfrm>
            <a:off x="4526279" y="4151376"/>
            <a:ext cx="3136392" cy="21031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050" b="1">
                <a:solidFill>
                  <a:srgbClr val="1264EC"/>
                </a:solidFill>
                <a:latin typeface="Arial" panose="020B0704020202020204"/>
                <a:ea typeface="Noto Sans CJK SC"/>
                <a:cs typeface="Arial" panose="020B0704020202020204"/>
              </a:rPr>
              <a:t>PHASE 2 / 阶段 2</a:t>
            </a:r>
            <a:endParaRPr lang="en-US" sz="1050" b="1">
              <a:solidFill>
                <a:srgbClr val="1264EC"/>
              </a:solidFill>
              <a:latin typeface="Arial" panose="020B0704020202020204"/>
              <a:ea typeface="Noto Sans CJK SC"/>
              <a:cs typeface="Arial" panose="020B0704020202020204"/>
            </a:endParaRPr>
          </a:p>
        </p:txBody>
      </p:sp>
      <p:sp>
        <p:nvSpPr>
          <p:cNvPr id="32" name="P05-text-149"/>
          <p:cNvSpPr txBox="1"/>
          <p:nvPr/>
        </p:nvSpPr>
        <p:spPr>
          <a:xfrm>
            <a:off x="4526279" y="4462272"/>
            <a:ext cx="313639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50" b="1">
                <a:solidFill>
                  <a:srgbClr val="183C50"/>
                </a:solidFill>
                <a:latin typeface="Arial" panose="020B0704020202020204"/>
                <a:ea typeface="Noto Sans CJK SC"/>
                <a:cs typeface="Arial" panose="020B0704020202020204"/>
              </a:rPr>
              <a:t>Add the DID</a:t>
            </a:r>
            <a:endParaRPr lang="en-US" sz="1550" b="1">
              <a:solidFill>
                <a:srgbClr val="183C50"/>
              </a:solidFill>
              <a:latin typeface="Arial" panose="020B0704020202020204"/>
              <a:ea typeface="Noto Sans CJK SC"/>
              <a:cs typeface="Arial" panose="020B0704020202020204"/>
            </a:endParaRPr>
          </a:p>
        </p:txBody>
      </p:sp>
      <p:sp>
        <p:nvSpPr>
          <p:cNvPr id="33" name="P05-text-150"/>
          <p:cNvSpPr txBox="1"/>
          <p:nvPr/>
        </p:nvSpPr>
        <p:spPr>
          <a:xfrm>
            <a:off x="4526279" y="4718304"/>
            <a:ext cx="313639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50" b="1">
                <a:solidFill>
                  <a:srgbClr val="183C50"/>
                </a:solidFill>
                <a:latin typeface="Arial" panose="020B0704020202020204"/>
                <a:ea typeface="Noto Sans CJK SC"/>
                <a:cs typeface="Arial" panose="020B0704020202020204"/>
              </a:rPr>
              <a:t>back-reference.</a:t>
            </a:r>
            <a:endParaRPr lang="en-US" sz="1550" b="1">
              <a:solidFill>
                <a:srgbClr val="183C50"/>
              </a:solidFill>
              <a:latin typeface="Arial" panose="020B0704020202020204"/>
              <a:ea typeface="Noto Sans CJK SC"/>
              <a:cs typeface="Arial" panose="020B0704020202020204"/>
            </a:endParaRPr>
          </a:p>
        </p:txBody>
      </p:sp>
      <p:sp>
        <p:nvSpPr>
          <p:cNvPr id="34" name="P05-text-151"/>
          <p:cNvSpPr txBox="1"/>
          <p:nvPr/>
        </p:nvSpPr>
        <p:spPr>
          <a:xfrm>
            <a:off x="4526279" y="5038344"/>
            <a:ext cx="3136392"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在 DID 文档中</a:t>
            </a:r>
            <a:endParaRPr lang="zh-CN" sz="1170" b="0">
              <a:solidFill>
                <a:srgbClr val="577C91"/>
              </a:solidFill>
              <a:latin typeface="Noto Sans CJK SC"/>
              <a:ea typeface="Noto Sans CJK SC"/>
              <a:cs typeface="Noto Sans CJK SC"/>
            </a:endParaRPr>
          </a:p>
        </p:txBody>
      </p:sp>
      <p:sp>
        <p:nvSpPr>
          <p:cNvPr id="35" name="P05-text-152"/>
          <p:cNvSpPr txBox="1"/>
          <p:nvPr/>
        </p:nvSpPr>
        <p:spPr>
          <a:xfrm>
            <a:off x="4526279" y="5244083"/>
            <a:ext cx="3136392"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回指 CIMD URL。</a:t>
            </a:r>
            <a:endParaRPr lang="zh-CN" sz="1170" b="0">
              <a:solidFill>
                <a:srgbClr val="577C91"/>
              </a:solidFill>
              <a:latin typeface="Noto Sans CJK SC"/>
              <a:ea typeface="Noto Sans CJK SC"/>
              <a:cs typeface="Noto Sans CJK SC"/>
            </a:endParaRPr>
          </a:p>
        </p:txBody>
      </p:sp>
      <p:sp>
        <p:nvSpPr>
          <p:cNvPr id="36" name="Rounded Rectangle 35"/>
          <p:cNvSpPr/>
          <p:nvPr/>
        </p:nvSpPr>
        <p:spPr>
          <a:xfrm>
            <a:off x="8147304" y="4023360"/>
            <a:ext cx="3538728" cy="1517904"/>
          </a:xfrm>
          <a:prstGeom prst="roundRect">
            <a:avLst>
              <a:gd name="adj" fmla="val 4500"/>
            </a:avLst>
          </a:prstGeom>
          <a:solidFill>
            <a:srgbClr val="FFFFFF"/>
          </a:solidFill>
          <a:ln w="11430">
            <a:solidFill>
              <a:srgbClr val="D0E0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P05-text-153"/>
          <p:cNvSpPr txBox="1"/>
          <p:nvPr/>
        </p:nvSpPr>
        <p:spPr>
          <a:xfrm>
            <a:off x="8348472" y="4151376"/>
            <a:ext cx="3136392" cy="21031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050" b="1">
                <a:solidFill>
                  <a:srgbClr val="008F91"/>
                </a:solidFill>
                <a:latin typeface="Arial" panose="020B0704020202020204"/>
                <a:ea typeface="Noto Sans CJK SC"/>
                <a:cs typeface="Arial" panose="020B0704020202020204"/>
              </a:rPr>
              <a:t>PHASE 3 / 阶段 3</a:t>
            </a:r>
            <a:endParaRPr lang="en-US" sz="1050" b="1">
              <a:solidFill>
                <a:srgbClr val="008F91"/>
              </a:solidFill>
              <a:latin typeface="Arial" panose="020B0704020202020204"/>
              <a:ea typeface="Noto Sans CJK SC"/>
              <a:cs typeface="Arial" panose="020B0704020202020204"/>
            </a:endParaRPr>
          </a:p>
        </p:txBody>
      </p:sp>
      <p:sp>
        <p:nvSpPr>
          <p:cNvPr id="38" name="P05-text-154"/>
          <p:cNvSpPr txBox="1"/>
          <p:nvPr/>
        </p:nvSpPr>
        <p:spPr>
          <a:xfrm>
            <a:off x="8348472" y="4462272"/>
            <a:ext cx="313639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50" b="1">
                <a:solidFill>
                  <a:srgbClr val="183C50"/>
                </a:solidFill>
                <a:latin typeface="Arial" panose="020B0704020202020204"/>
                <a:ea typeface="Noto Sans CJK SC"/>
                <a:cs typeface="Arial" panose="020B0704020202020204"/>
              </a:rPr>
              <a:t>Specify proof, updates,</a:t>
            </a:r>
            <a:endParaRPr lang="en-US" sz="1550" b="1">
              <a:solidFill>
                <a:srgbClr val="183C50"/>
              </a:solidFill>
              <a:latin typeface="Arial" panose="020B0704020202020204"/>
              <a:ea typeface="Noto Sans CJK SC"/>
              <a:cs typeface="Arial" panose="020B0704020202020204"/>
            </a:endParaRPr>
          </a:p>
        </p:txBody>
      </p:sp>
      <p:sp>
        <p:nvSpPr>
          <p:cNvPr id="39" name="P05-text-155"/>
          <p:cNvSpPr txBox="1"/>
          <p:nvPr/>
        </p:nvSpPr>
        <p:spPr>
          <a:xfrm>
            <a:off x="8348472" y="4718304"/>
            <a:ext cx="3136392" cy="25603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550" b="1">
                <a:solidFill>
                  <a:srgbClr val="183C50"/>
                </a:solidFill>
                <a:latin typeface="Arial" panose="020B0704020202020204"/>
                <a:ea typeface="Noto Sans CJK SC"/>
                <a:cs typeface="Arial" panose="020B0704020202020204"/>
              </a:rPr>
              <a:t>migration and revocation.</a:t>
            </a:r>
            <a:endParaRPr lang="en-US" sz="1550" b="1">
              <a:solidFill>
                <a:srgbClr val="183C50"/>
              </a:solidFill>
              <a:latin typeface="Arial" panose="020B0704020202020204"/>
              <a:ea typeface="Noto Sans CJK SC"/>
              <a:cs typeface="Arial" panose="020B0704020202020204"/>
            </a:endParaRPr>
          </a:p>
        </p:txBody>
      </p:sp>
      <p:sp>
        <p:nvSpPr>
          <p:cNvPr id="40" name="P05-text-156"/>
          <p:cNvSpPr txBox="1"/>
          <p:nvPr/>
        </p:nvSpPr>
        <p:spPr>
          <a:xfrm>
            <a:off x="8348472" y="5038344"/>
            <a:ext cx="3136392"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明确证明、更新、</a:t>
            </a:r>
            <a:endParaRPr lang="zh-CN" sz="1170" b="0">
              <a:solidFill>
                <a:srgbClr val="577C91"/>
              </a:solidFill>
              <a:latin typeface="Noto Sans CJK SC"/>
              <a:ea typeface="Noto Sans CJK SC"/>
              <a:cs typeface="Noto Sans CJK SC"/>
            </a:endParaRPr>
          </a:p>
        </p:txBody>
      </p:sp>
      <p:sp>
        <p:nvSpPr>
          <p:cNvPr id="41" name="P05-text-157"/>
          <p:cNvSpPr txBox="1"/>
          <p:nvPr/>
        </p:nvSpPr>
        <p:spPr>
          <a:xfrm>
            <a:off x="8348472" y="5244083"/>
            <a:ext cx="3136392"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170" b="0">
                <a:solidFill>
                  <a:srgbClr val="577C91"/>
                </a:solidFill>
                <a:latin typeface="Noto Sans CJK SC"/>
                <a:ea typeface="Noto Sans CJK SC"/>
                <a:cs typeface="Noto Sans CJK SC"/>
              </a:rPr>
              <a:t>迁移与撤销规则。</a:t>
            </a:r>
            <a:endParaRPr lang="zh-CN" sz="1170" b="0">
              <a:solidFill>
                <a:srgbClr val="577C91"/>
              </a:solidFill>
              <a:latin typeface="Noto Sans CJK SC"/>
              <a:ea typeface="Noto Sans CJK SC"/>
              <a:cs typeface="Noto Sans CJK SC"/>
            </a:endParaRPr>
          </a:p>
        </p:txBody>
      </p:sp>
      <p:sp>
        <p:nvSpPr>
          <p:cNvPr id="42" name="Rounded Rectangle 41"/>
          <p:cNvSpPr/>
          <p:nvPr/>
        </p:nvSpPr>
        <p:spPr>
          <a:xfrm>
            <a:off x="502920" y="5660136"/>
            <a:ext cx="11183112" cy="822960"/>
          </a:xfrm>
          <a:prstGeom prst="roundRect">
            <a:avLst>
              <a:gd name="adj" fmla="val 4500"/>
            </a:avLst>
          </a:prstGeom>
          <a:solidFill>
            <a:srgbClr val="FFF4DE"/>
          </a:solidFill>
          <a:ln w="11430">
            <a:solidFill>
              <a:srgbClr val="EBAA3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P05-key-label-158"/>
          <p:cNvSpPr txBox="1"/>
          <p:nvPr/>
        </p:nvSpPr>
        <p:spPr>
          <a:xfrm>
            <a:off x="685800" y="5742432"/>
            <a:ext cx="10835640" cy="164592"/>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900" b="1">
                <a:solidFill>
                  <a:srgbClr val="B36A00"/>
                </a:solidFill>
                <a:latin typeface="Arial" panose="020B0704020202020204"/>
                <a:ea typeface="Noto Sans CJK SC"/>
                <a:cs typeface="Arial" panose="020B0704020202020204"/>
              </a:rPr>
              <a:t>KEY MESSAGE / 核心说明</a:t>
            </a:r>
            <a:endParaRPr lang="en-US" sz="900" b="1">
              <a:solidFill>
                <a:srgbClr val="B36A00"/>
              </a:solidFill>
              <a:latin typeface="Arial" panose="020B0704020202020204"/>
              <a:ea typeface="Noto Sans CJK SC"/>
              <a:cs typeface="Arial" panose="020B0704020202020204"/>
            </a:endParaRPr>
          </a:p>
        </p:txBody>
      </p:sp>
      <p:sp>
        <p:nvSpPr>
          <p:cNvPr id="44" name="P05-key-en-159"/>
          <p:cNvSpPr txBox="1"/>
          <p:nvPr/>
        </p:nvSpPr>
        <p:spPr>
          <a:xfrm>
            <a:off x="685800" y="5925312"/>
            <a:ext cx="10835640" cy="274320"/>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en-US" sz="1780" b="1">
                <a:solidFill>
                  <a:srgbClr val="0A344B"/>
                </a:solidFill>
                <a:latin typeface="Arial" panose="020B0704020202020204"/>
                <a:ea typeface="Noto Sans CJK SC"/>
                <a:cs typeface="Arial" panose="020B0704020202020204"/>
              </a:rPr>
              <a:t>Keep “DID as client_id” in a separate DID-native profile.</a:t>
            </a:r>
            <a:endParaRPr lang="en-US" sz="1780" b="1">
              <a:solidFill>
                <a:srgbClr val="0A344B"/>
              </a:solidFill>
              <a:latin typeface="Arial" panose="020B0704020202020204"/>
              <a:ea typeface="Noto Sans CJK SC"/>
              <a:cs typeface="Arial" panose="020B0704020202020204"/>
            </a:endParaRPr>
          </a:p>
        </p:txBody>
      </p:sp>
      <p:sp>
        <p:nvSpPr>
          <p:cNvPr id="45" name="P05-key-cn-160"/>
          <p:cNvSpPr txBox="1"/>
          <p:nvPr/>
        </p:nvSpPr>
        <p:spPr>
          <a:xfrm>
            <a:off x="685800" y="6236208"/>
            <a:ext cx="10835640" cy="201168"/>
          </a:xfrm>
          <a:prstGeom prst="rect">
            <a:avLst/>
          </a:prstGeom>
          <a:noFill/>
          <a:effectLst/>
        </p:spPr>
        <p:txBody>
          <a:bodyPr vertOverflow="overflow" horzOverflow="overflow" wrap="none" lIns="0" tIns="0" rIns="0" bIns="0" anchor="t">
            <a:noAutofit/>
          </a:bodyPr>
          <a:lstStyle/>
          <a:p>
            <a:pPr algn="l">
              <a:lnSpc>
                <a:spcPct val="100000"/>
              </a:lnSpc>
              <a:spcBef>
                <a:spcPts val="0"/>
              </a:spcBef>
              <a:spcAft>
                <a:spcPts val="0"/>
              </a:spcAft>
            </a:pPr>
            <a:r>
              <a:rPr lang="zh-CN" sz="1220" b="0">
                <a:solidFill>
                  <a:srgbClr val="577C91"/>
                </a:solidFill>
                <a:latin typeface="Noto Sans CJK SC"/>
                <a:ea typeface="Noto Sans CJK SC"/>
                <a:cs typeface="Noto Sans CJK SC"/>
              </a:rPr>
              <a:t>“DID 直接作为 client_id”保留为独立的 DID 原生 Profile。</a:t>
            </a:r>
            <a:endParaRPr lang="zh-CN" sz="1220" b="0">
              <a:solidFill>
                <a:srgbClr val="577C91"/>
              </a:solidFill>
              <a:latin typeface="Noto Sans CJK SC"/>
              <a:ea typeface="Noto Sans CJK SC"/>
              <a:cs typeface="Noto Sans CJK S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10758</Words>
  <Application>WPS 文字</Application>
  <PresentationFormat>On-screen Show (16:9)</PresentationFormat>
  <Paragraphs>881</Paragraphs>
  <Slides>17</Slides>
  <Notes>10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17</vt:i4>
      </vt:variant>
    </vt:vector>
  </HeadingPairs>
  <TitlesOfParts>
    <vt:vector size="36" baseType="lpstr">
      <vt:lpstr>Arial</vt:lpstr>
      <vt:lpstr>宋体</vt:lpstr>
      <vt:lpstr>Wingdings</vt:lpstr>
      <vt:lpstr>Arial</vt:lpstr>
      <vt:lpstr>Noto Sans CJK SC</vt:lpstr>
      <vt:lpstr>苹方-简</vt:lpstr>
      <vt:lpstr>Courier New</vt:lpstr>
      <vt:lpstr>Noto Sans</vt:lpstr>
      <vt:lpstr>微软雅黑</vt:lpstr>
      <vt:lpstr>汉仪旗黑</vt:lpstr>
      <vt:lpstr>宋体</vt:lpstr>
      <vt:lpstr>Arial Unicode MS</vt:lpstr>
      <vt:lpstr>汉仪书宋二KW</vt:lpstr>
      <vt:lpstr>DejaVu Sans Mono</vt:lpstr>
      <vt:lpstr>等线</vt:lpstr>
      <vt:lpstr>汉仪中等线KW</vt:lpstr>
      <vt:lpstr>Thonburi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AI Agent Protocol Community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Authorization Proposal — DID and CIMD</dc:title>
  <dc:creator>OpenAI</dc:creator>
  <dc:description>Layout revision: separate English and Chinese text frames; explicit line breaks; no automatic text fitting.</dc:description>
  <dc:subject>Bilingual proposal with fixed, non-overlapping English-primary layout</dc:subject>
  <cp:lastModifiedBy>hangzhou-VC</cp:lastModifiedBy>
  <cp:revision>7</cp:revision>
  <dcterms:created xsi:type="dcterms:W3CDTF">2026-10-22T02:56:27Z</dcterms:created>
  <dcterms:modified xsi:type="dcterms:W3CDTF">2026-10-22T02:56:27Z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7DBA35DC6D6E61627BA5D86A8B5DEFA7_42</vt:lpwstr>
  </property>
  <property fmtid="{D5CDD505-2E9C-101B-9397-08002B2CF9AE}" pid="3" name="KSOProductBuildVer">
    <vt:lpwstr>2052-6.12.0.8899</vt:lpwstr>
  </property>
</Properties>
</file>