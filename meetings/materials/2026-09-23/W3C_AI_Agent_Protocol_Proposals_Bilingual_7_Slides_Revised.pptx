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ENGLISH</a:t>
            </a:r>
          </a:p>
          <a:p>
            <a:r>
              <a:t>We are proposing three extensions to the existing DID-based HTTP identity layer. The first separates stream setup from content verification and retains only HTTPS baseline protection and final whole-stream verification. The second adds a server DID proof so authentication is mutual. The third is an open discussion on combining DID and OAuth, with the explicit goal of reusing OAuth authorization for DID-based agents.</a:t>
            </a:r>
          </a:p>
          <a:p/>
          <a:p>
            <a:r>
              <a:t>演讲备注 — 中文</a:t>
            </a:r>
          </a:p>
          <a:p>
            <a:r>
              <a:t>今天分享三个扩展方向：第一，将开流认证与内容验证分开，仅保留 HTTPS 基础模式和结束时整体校验；第二，增加服务端 DID 响应证明，实现双向认证；第三，开放讨论 DID 与 OAuth 的结合，让基于 DID 的智能体复用 OAuth 授权。前两项讨论技术方向，第三项暂不预设详细协议。</a:t>
            </a:r>
          </a:p>
          <a:p/>
          <a:p>
            <a:r>
              <a:t>SOURCE BASIS</a:t>
            </a:r>
          </a:p>
          <a:p>
            <a:r>
              <a:t>Edited from the supplied six-slide bilingual presentation and the approved three-proposal discussion text. No new repository audit was performed for this editorial revision.</a:t>
            </a:r>
          </a:p>
          <a:p>
            <a:r>
              <a:t>https://github.com/w3c-cg/ai-agent-protocol/blob/main/protocol.html</a:t>
            </a:r>
          </a:p>
          <a:p>
            <a:r>
              <a:t>https://github.com/w3c-cg/ai-agent-protocol/blob/main/agent-identity.html</a:t>
            </a:r>
          </a:p>
          <a:p>
            <a:r>
              <a:t>https://www.rfc-editor.org/rfc/rfc9421</a:t>
            </a:r>
          </a:p>
          <a:p>
            <a:r>
              <a:t>https://www.rfc-editor.org/rfc/rfc9530</a:t>
            </a:r>
          </a:p>
          <a:p>
            <a:r>
              <a:t>https://www.rfc-editor.org/rfc/rfc6749</a:t>
            </a:r>
          </a:p>
          <a:p/>
          <a:p>
            <a:r>
              <a:t>STATUS</a:t>
            </a:r>
          </a:p>
          <a:p>
            <a:r>
              <a:t>Proposals for community discussion; not adopted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ENGLISH</a:t>
            </a:r>
          </a:p>
          <a:p>
            <a:r>
              <a:t>A complete, known request can still use the current signature and digest rules even when the server returns SSE. The unresolved case is a body that does not yet exist in full. We must distinguish identity proof at setup from whole-stream integrity, and define lifetime, reconnection and downgrade behavior. This proposal does not require replacing HTTP Message Signatures or inventing a new signature algorithm.</a:t>
            </a:r>
          </a:p>
          <a:p/>
          <a:p>
            <a:r>
              <a:t>演讲备注 — 中文</a:t>
            </a:r>
          </a:p>
          <a:p>
            <a:r>
              <a:t>完整请求返回流式响应，本身并不需要重做请求签名。真正的问题是未知长度正文无法提前计算最终摘要。同时，开流时的身份认证和内容完整性是不同的保证；授权有效期、断线重连和安全模式降级也必须明确。我们沿用现有 HTTP 签名基础，不另造签名算法。</a:t>
            </a:r>
          </a:p>
          <a:p/>
          <a:p>
            <a:r>
              <a:t>SOURCE BASIS</a:t>
            </a:r>
          </a:p>
          <a:p>
            <a:r>
              <a:t>Edited from the supplied six-slide bilingual presentation and the approved three-proposal discussion text. No new repository audit was performed for this editorial revision.</a:t>
            </a:r>
          </a:p>
          <a:p>
            <a:r>
              <a:t>https://github.com/w3c-cg/ai-agent-protocol/blob/main/agent-identity.html</a:t>
            </a:r>
          </a:p>
          <a:p>
            <a:r>
              <a:t>https://www.rfc-editor.org/rfc/rfc9421</a:t>
            </a:r>
          </a:p>
          <a:p>
            <a:r>
              <a:t>https://www.rfc-editor.org/rfc/rfc9530</a:t>
            </a:r>
          </a:p>
          <a:p/>
          <a:p>
            <a:r>
              <a:t>STATUS</a:t>
            </a:r>
          </a:p>
          <a:p>
            <a:r>
              <a:t>Proposals for community discussion; not adopted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ENGLISH</a:t>
            </a:r>
          </a:p>
          <a:p>
            <a:r>
              <a:t>We retain only two modes. For known request content, reuse the current signature. For unknown-length streams, authenticate a complete initialization request or a constrained context first; do not silently omit required body verification from the ordinary profile. The baseline uses HTTPS after authentication and authorization. For finite streams requiring whole-stream proof, calculate a digest incrementally and sign the final digest together with the stream context. Integrity is confirmed only after final verification. Buffer or stage data, and delay irreversible actions that rely on this guarantee. A trailer is only one possible delivery option and must be supported by the full path. Define stream authorization expiry separately from request freshness, authenticate reconnections afresh and prevent silent mode downgrades.</a:t>
            </a:r>
          </a:p>
          <a:p/>
          <a:p>
            <a:r>
              <a:t>演讲备注 — 中文</a:t>
            </a:r>
          </a:p>
          <a:p>
            <a:r>
              <a:t>这一版只保留两种模式。普通完整请求继续复用现有签名；未知长度流先完成开流认证，不能仅删除现行完整请求的正文摘要要求。基础模式依赖 HTTPS 保护传输；增强模式面向有限流，在传输中增量计算摘要，并在结束时对摘要和流上下文签名。只有最终校验通过，才确认整体完整性；依赖该保证的不可逆操作应推迟。HTTP 尾部字段只是可选传递方式之一，需要确认完整链路支持。流授权期限与开流请求的新鲜度应分别定义，重连重新认证，并禁止静默降级。</a:t>
            </a:r>
          </a:p>
          <a:p/>
          <a:p>
            <a:r>
              <a:t>SOURCE BASIS</a:t>
            </a:r>
          </a:p>
          <a:p>
            <a:r>
              <a:t>Edited from the supplied six-slide bilingual presentation and the approved three-proposal discussion text. No new repository audit was performed for this editorial revision.</a:t>
            </a:r>
          </a:p>
          <a:p>
            <a:r>
              <a:t>https://github.com/w3c-cg/ai-agent-protocol/blob/main/agent-identity.html</a:t>
            </a:r>
          </a:p>
          <a:p>
            <a:r>
              <a:t>https://www.rfc-editor.org/rfc/rfc9421</a:t>
            </a:r>
          </a:p>
          <a:p>
            <a:r>
              <a:t>https://www.rfc-editor.org/rfc/rfc9530</a:t>
            </a:r>
          </a:p>
          <a:p/>
          <a:p>
            <a:r>
              <a:t>STATUS</a:t>
            </a:r>
          </a:p>
          <a:p>
            <a:r>
              <a:t>Proposals for community discussion; not adopted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ENGLISH</a:t>
            </a:r>
          </a:p>
          <a:p>
            <a:r>
              <a:t>The server is not unauthenticated today: HTTPS already authenticates its service endpoint. The missing property is proof that the peer controls the expected Agent DID. A generic reusable identity statement is not sufficient: the proof must relate to this particular request, both participants and a fresh challenge. We also need one consistent approach for ordinary responses and stream setup, while retaining HTTPS.</a:t>
            </a:r>
          </a:p>
          <a:p/>
          <a:p>
            <a:r>
              <a:t>演讲备注 — 中文</a:t>
            </a:r>
          </a:p>
          <a:p>
            <a:r>
              <a:t>不能说现有服务端完全没有认证，HTTPS 已经验证服务端点。本提案要补充的是预期 Agent DID 的控制权证明。仅提供一份可重复使用的身份声明不够，还要关联本次请求、双方身份与新鲜挑战，并统一普通响应和流式会话建立的验证规则，同时继续使用 HTTPS。</a:t>
            </a:r>
          </a:p>
          <a:p/>
          <a:p>
            <a:r>
              <a:t>SOURCE BASIS</a:t>
            </a:r>
          </a:p>
          <a:p>
            <a:r>
              <a:t>Edited from the supplied six-slide bilingual presentation and the approved three-proposal discussion text. No new repository audit was performed for this editorial revision.</a:t>
            </a:r>
          </a:p>
          <a:p>
            <a:r>
              <a:t>https://github.com/w3c-cg/ai-agent-protocol/blob/main/agent-identity.html</a:t>
            </a:r>
          </a:p>
          <a:p>
            <a:r>
              <a:t>https://www.rfc-editor.org/rfc/rfc9421</a:t>
            </a:r>
          </a:p>
          <a:p/>
          <a:p>
            <a:r>
              <a:t>STATUS</a:t>
            </a:r>
          </a:p>
          <a:p>
            <a:r>
              <a:t>Proposals for community discussion; not adopted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ENGLISH</a:t>
            </a:r>
          </a:p>
          <a:p>
            <a:r>
              <a:t>Use the existing HTTP Message Signatures framework for both requests and responses. A sends a signed request and fresh challenge. B validates identity, signature and authorization, then signs a response proof. Bind relevant original-request components, both identities and their roles, the challenge, and necessary response content or stream context. A must verify an expected DID obtained from configuration or a validated discovery relationship, not an arbitrary DID supplied by B. No reverse connection is required. If mutual authentication is required, missing or invalid server proof fails. The opening proof does not certify every later stream byte; use the two modes from Proposal 1 for stream content.</a:t>
            </a:r>
          </a:p>
          <a:p/>
          <a:p>
            <a:r>
              <a:t>演讲备注 — 中文</a:t>
            </a:r>
          </a:p>
          <a:p>
            <a:r>
              <a:t>复用现有 HTTP 消息签名体系，让双方分别签署请求与响应。响应证明绑定原请求中的必要组件、双方身份与角色、新鲜挑战，以及响应正文或流上下文。客户端应通过配置或已验证的发现关系确定预期服务端 DID，不能接受任意自报 DID。不需要反向连接；明确要求双向认证时，证明缺失或无效必须失败。开流证明本身不证明全部后续内容，流内容保护使用提案一保留的两种模式。</a:t>
            </a:r>
          </a:p>
          <a:p/>
          <a:p>
            <a:r>
              <a:t>SOURCE BASIS</a:t>
            </a:r>
          </a:p>
          <a:p>
            <a:r>
              <a:t>Edited from the supplied six-slide bilingual presentation and the approved three-proposal discussion text. No new repository audit was performed for this editorial revision.</a:t>
            </a:r>
          </a:p>
          <a:p>
            <a:r>
              <a:t>https://github.com/w3c-cg/ai-agent-protocol/blob/main/agent-identity.html</a:t>
            </a:r>
          </a:p>
          <a:p>
            <a:r>
              <a:t>https://www.rfc-editor.org/rfc/rfc9421</a:t>
            </a:r>
          </a:p>
          <a:p/>
          <a:p>
            <a:r>
              <a:t>STATUS</a:t>
            </a:r>
          </a:p>
          <a:p>
            <a:r>
              <a:t>Proposals for community discussion; not adopted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ENGLISH</a:t>
            </a:r>
          </a:p>
          <a:p>
            <a:r>
              <a:t>DID establishes an agent identity but does not supply user delegation or resource permissions by itself. We need to distinguish the authorizing party and acting agent, define what is permitted and for how long, and establish a link to an existing authorization framework. The question is how to reuse OAuth for agents identified by DIDs, rather than create a competing authorization system. This remains an open discussion.</a:t>
            </a:r>
          </a:p>
          <a:p/>
          <a:p>
            <a:r>
              <a:t>演讲备注 — 中文</a:t>
            </a:r>
          </a:p>
          <a:p>
            <a:r>
              <a:t>DID 解决身份验证，但不自动解决用户委托与资源权限。我们需要区分授权者和执行者，明确访问资源、操作范围及有效期，并建立与既有授权体系的关联。重点是让 DID 身份复用 OAuth，而不是另起一套与 OAuth 竞争的授权系统。第三个提案仍然保持开放讨论定位。</a:t>
            </a:r>
          </a:p>
          <a:p/>
          <a:p>
            <a:r>
              <a:t>SOURCE BASIS</a:t>
            </a:r>
          </a:p>
          <a:p>
            <a:r>
              <a:t>Edited from the supplied six-slide bilingual presentation and the approved three-proposal discussion text. No new repository audit was performed for this editorial revision.</a:t>
            </a:r>
          </a:p>
          <a:p>
            <a:r>
              <a:t>https://github.com/w3c-cg/ai-agent-protocol/blob/main/agent-identity.html</a:t>
            </a:r>
          </a:p>
          <a:p>
            <a:r>
              <a:t>https://www.rfc-editor.org/rfc/rfc6749</a:t>
            </a:r>
          </a:p>
          <a:p/>
          <a:p>
            <a:r>
              <a:t>STATUS</a:t>
            </a:r>
          </a:p>
          <a:p>
            <a:r>
              <a:t>Proposals for community discussion; not adopted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 ENGLISH</a:t>
            </a:r>
          </a:p>
          <a:p>
            <a:r>
              <a:t>Our explicit goal is to explore combining the DID and OAuth specifications so that agents using DID identities can reuse OAuth authorization. DID supplies a verifiable identity and proof of key control; OAuth supplies consent or policy-based authorization, scopes and limited tokens. The mapping between a DID identity and an OAuth client is the part we would like to discuss, not a completed integration. Start with a shared role model and one minimal interoperable example. We are not fixing registration, token format, key binding, or multi-level delegation today, and we do not require verifiable credentials as a prerequisite.</a:t>
            </a:r>
          </a:p>
          <a:p/>
          <a:p>
            <a:r>
              <a:t>演讲备注 — 中文</a:t>
            </a:r>
          </a:p>
          <a:p>
            <a:r>
              <a:t>最后明确我们的目标：尝试把 DID 和 OAuth 两套规范结合起来，让使用 DID 身份的智能体能够复用 OAuth 的授权能力。DID 提供身份和密钥控制证明，OAuth 提供用户同意或策略授权、权限范围与受限令牌。DID 与 OAuth 客户端的具体关联方式仍待社区讨论，不应表述为已经完成的互操作能力。本次先形成角色关系与一个最小互操作示例，不预设注册、令牌格式、密钥绑定、多级委托，也不要求 VC 作为前置条件。</a:t>
            </a:r>
          </a:p>
          <a:p/>
          <a:p>
            <a:r>
              <a:t>SOURCE BASIS</a:t>
            </a:r>
          </a:p>
          <a:p>
            <a:r>
              <a:t>Edited from the supplied six-slide bilingual presentation and the approved three-proposal discussion text. No new repository audit was performed for this editorial revision.</a:t>
            </a:r>
          </a:p>
          <a:p>
            <a:r>
              <a:t>https://github.com/w3c-cg/ai-agent-protocol/blob/main/agent-identity.html</a:t>
            </a:r>
          </a:p>
          <a:p>
            <a:r>
              <a:t>https://www.rfc-editor.org/rfc/rfc6749</a:t>
            </a:r>
          </a:p>
          <a:p/>
          <a:p>
            <a:r>
              <a:t>STATUS</a:t>
            </a:r>
          </a:p>
          <a:p>
            <a:r>
              <a:t>Proposals for community discussion; not adopted requirements.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nel"/>
          <p:cNvSpPr/>
          <p:nvPr/>
        </p:nvSpPr>
        <p:spPr>
          <a:xfrm>
            <a:off x="0" y="0"/>
            <a:ext cx="12191999" cy="59436"/>
          </a:xfrm>
          <a:prstGeom prst="rect">
            <a:avLst/>
          </a:prstGeom>
          <a:solidFill>
            <a:srgbClr val="006E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
          <p:cNvSpPr txBox="1"/>
          <p:nvPr/>
        </p:nvSpPr>
        <p:spPr>
          <a:xfrm>
            <a:off x="585216" y="274320"/>
            <a:ext cx="8686800" cy="228600"/>
          </a:xfrm>
          <a:prstGeom prst="rect">
            <a:avLst/>
          </a:prstGeom>
          <a:noFill/>
          <a:effectLst/>
        </p:spPr>
        <p:txBody>
          <a:bodyPr wrap="none" lIns="0" rIns="0" tIns="0" bIns="0" anchor="t">
            <a:noAutofit/>
          </a:bodyPr>
          <a:lstStyle/>
          <a:p>
            <a:pPr algn="l">
              <a:lnSpc>
                <a:spcPts val="1219"/>
              </a:lnSpc>
              <a:spcBef>
                <a:spcPts val="0"/>
              </a:spcBef>
              <a:spcAft>
                <a:spcPts val="0"/>
              </a:spcAft>
            </a:pPr>
            <a:r>
              <a:rPr sz="1060" b="1" lang="en-US">
                <a:solidFill>
                  <a:srgbClr val="006EB5"/>
                </a:solidFill>
                <a:latin typeface="Arial"/>
                <a:ea typeface="Microsoft YaHei"/>
              </a:rPr>
              <a:t>W3C AI AGENT PROTOCOL COMMUNITY GROUP / 社区组</a:t>
            </a:r>
          </a:p>
        </p:txBody>
      </p:sp>
      <p:sp>
        <p:nvSpPr>
          <p:cNvPr id="4" name="Panel"/>
          <p:cNvSpPr/>
          <p:nvPr/>
        </p:nvSpPr>
        <p:spPr>
          <a:xfrm>
            <a:off x="9384791" y="246888"/>
            <a:ext cx="2221992" cy="365760"/>
          </a:xfrm>
          <a:prstGeom prst="roundRect">
            <a:avLst>
              <a:gd name="adj" fmla="val 7000"/>
            </a:avLst>
          </a:prstGeom>
          <a:solidFill>
            <a:srgbClr val="ED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
          <p:cNvSpPr txBox="1"/>
          <p:nvPr/>
        </p:nvSpPr>
        <p:spPr>
          <a:xfrm>
            <a:off x="9457943" y="314553"/>
            <a:ext cx="2075688" cy="201168"/>
          </a:xfrm>
          <a:prstGeom prst="rect">
            <a:avLst/>
          </a:prstGeom>
          <a:noFill/>
          <a:effectLst/>
        </p:spPr>
        <p:txBody>
          <a:bodyPr wrap="none" lIns="0" rIns="0" tIns="0" bIns="0" anchor="t">
            <a:noAutofit/>
          </a:bodyPr>
          <a:lstStyle/>
          <a:p>
            <a:pPr algn="ctr">
              <a:lnSpc>
                <a:spcPts val="1161"/>
              </a:lnSpc>
              <a:spcBef>
                <a:spcPts val="0"/>
              </a:spcBef>
              <a:spcAft>
                <a:spcPts val="0"/>
              </a:spcAft>
            </a:pPr>
            <a:r>
              <a:rPr sz="1010" b="1" lang="en-US">
                <a:solidFill>
                  <a:srgbClr val="006EB5"/>
                </a:solidFill>
                <a:latin typeface="Arial"/>
                <a:ea typeface="Microsoft YaHei"/>
              </a:rPr>
              <a:t>OVERVIEW / 总体提案</a:t>
            </a:r>
          </a:p>
        </p:txBody>
      </p:sp>
      <p:sp>
        <p:nvSpPr>
          <p:cNvPr id="6" name="English title"/>
          <p:cNvSpPr txBox="1"/>
          <p:nvPr/>
        </p:nvSpPr>
        <p:spPr>
          <a:xfrm>
            <a:off x="585216" y="841248"/>
            <a:ext cx="11021567" cy="493776"/>
          </a:xfrm>
          <a:prstGeom prst="rect">
            <a:avLst/>
          </a:prstGeom>
          <a:noFill/>
          <a:effectLst/>
        </p:spPr>
        <p:txBody>
          <a:bodyPr wrap="none" lIns="0" rIns="0" tIns="0" bIns="0" anchor="t">
            <a:noAutofit/>
          </a:bodyPr>
          <a:lstStyle/>
          <a:p>
            <a:pPr algn="l">
              <a:lnSpc>
                <a:spcPts val="3454"/>
              </a:lnSpc>
              <a:spcBef>
                <a:spcPts val="0"/>
              </a:spcBef>
              <a:spcAft>
                <a:spcPts val="0"/>
              </a:spcAft>
            </a:pPr>
            <a:r>
              <a:rPr sz="3140" b="1" lang="en-US">
                <a:solidFill>
                  <a:srgbClr val="193249"/>
                </a:solidFill>
                <a:latin typeface="Arial"/>
                <a:ea typeface="Microsoft YaHei"/>
              </a:rPr>
              <a:t>Three proposals for agent interaction</a:t>
            </a:r>
          </a:p>
        </p:txBody>
      </p:sp>
      <p:sp>
        <p:nvSpPr>
          <p:cNvPr id="7" name="Chinese title"/>
          <p:cNvSpPr txBox="1"/>
          <p:nvPr/>
        </p:nvSpPr>
        <p:spPr>
          <a:xfrm>
            <a:off x="585216" y="1371600"/>
            <a:ext cx="11021567" cy="365760"/>
          </a:xfrm>
          <a:prstGeom prst="rect">
            <a:avLst/>
          </a:prstGeom>
          <a:noFill/>
          <a:effectLst/>
        </p:spPr>
        <p:txBody>
          <a:bodyPr wrap="none" lIns="0" rIns="0" tIns="0" bIns="0" anchor="t">
            <a:noAutofit/>
          </a:bodyPr>
          <a:lstStyle/>
          <a:p>
            <a:pPr algn="l">
              <a:lnSpc>
                <a:spcPts val="2392"/>
              </a:lnSpc>
              <a:spcBef>
                <a:spcPts val="0"/>
              </a:spcBef>
              <a:spcAft>
                <a:spcPts val="0"/>
              </a:spcAft>
            </a:pPr>
            <a:r>
              <a:rPr sz="2080" b="0" lang="zh-CN">
                <a:solidFill>
                  <a:srgbClr val="52677D"/>
                </a:solidFill>
                <a:latin typeface="Microsoft YaHei"/>
                <a:ea typeface="Microsoft YaHei"/>
              </a:rPr>
              <a:t>智能体交互的三项协议提案</a:t>
            </a:r>
          </a:p>
        </p:txBody>
      </p:sp>
      <p:cxnSp>
        <p:nvCxnSpPr>
          <p:cNvPr id="8" name="Connector 7"/>
          <p:cNvCxnSpPr/>
          <p:nvPr/>
        </p:nvCxnSpPr>
        <p:spPr>
          <a:xfrm>
            <a:off x="585216" y="6400800"/>
            <a:ext cx="11021567" cy="0"/>
          </a:xfrm>
          <a:prstGeom prst="line">
            <a:avLst/>
          </a:prstGeom>
          <a:ln w="889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9" name="Text"/>
          <p:cNvSpPr txBox="1"/>
          <p:nvPr/>
        </p:nvSpPr>
        <p:spPr>
          <a:xfrm>
            <a:off x="585216" y="6505956"/>
            <a:ext cx="8595360" cy="192024"/>
          </a:xfrm>
          <a:prstGeom prst="rect">
            <a:avLst/>
          </a:prstGeom>
          <a:noFill/>
          <a:effectLst/>
        </p:spPr>
        <p:txBody>
          <a:bodyPr wrap="none" lIns="0" rIns="0" tIns="0" bIns="0" anchor="t">
            <a:noAutofit/>
          </a:bodyPr>
          <a:lstStyle/>
          <a:p>
            <a:pPr algn="l">
              <a:lnSpc>
                <a:spcPts val="1080"/>
              </a:lnSpc>
              <a:spcBef>
                <a:spcPts val="0"/>
              </a:spcBef>
              <a:spcAft>
                <a:spcPts val="0"/>
              </a:spcAft>
            </a:pPr>
            <a:r>
              <a:rPr sz="940" b="0" lang="en-US">
                <a:solidFill>
                  <a:srgbClr val="52677D"/>
                </a:solidFill>
                <a:latin typeface="Arial"/>
                <a:ea typeface="Microsoft YaHei"/>
              </a:rPr>
              <a:t>W3C AI Agent Protocol CG  ·  Discussion draft / 讨论稿</a:t>
            </a:r>
          </a:p>
        </p:txBody>
      </p:sp>
      <p:sp>
        <p:nvSpPr>
          <p:cNvPr id="10" name="Text"/>
          <p:cNvSpPr txBox="1"/>
          <p:nvPr/>
        </p:nvSpPr>
        <p:spPr>
          <a:xfrm>
            <a:off x="10890504" y="6487668"/>
            <a:ext cx="694944" cy="228600"/>
          </a:xfrm>
          <a:prstGeom prst="rect">
            <a:avLst/>
          </a:prstGeom>
          <a:noFill/>
          <a:effectLst/>
        </p:spPr>
        <p:txBody>
          <a:bodyPr wrap="none" lIns="0" rIns="0" tIns="0" bIns="0" anchor="t">
            <a:noAutofit/>
          </a:bodyPr>
          <a:lstStyle/>
          <a:p>
            <a:pPr algn="r">
              <a:lnSpc>
                <a:spcPts val="1299"/>
              </a:lnSpc>
              <a:spcBef>
                <a:spcPts val="0"/>
              </a:spcBef>
              <a:spcAft>
                <a:spcPts val="0"/>
              </a:spcAft>
            </a:pPr>
            <a:r>
              <a:rPr sz="1130" b="1" lang="en-US">
                <a:solidFill>
                  <a:srgbClr val="006EB5"/>
                </a:solidFill>
                <a:latin typeface="Arial"/>
                <a:ea typeface="Microsoft YaHei"/>
              </a:rPr>
              <a:t>01 / 07</a:t>
            </a:r>
          </a:p>
        </p:txBody>
      </p:sp>
      <p:sp>
        <p:nvSpPr>
          <p:cNvPr id="11" name="Panel"/>
          <p:cNvSpPr/>
          <p:nvPr/>
        </p:nvSpPr>
        <p:spPr>
          <a:xfrm>
            <a:off x="585216" y="1947672"/>
            <a:ext cx="11021567" cy="1362456"/>
          </a:xfrm>
          <a:prstGeom prst="roundRect">
            <a:avLst>
              <a:gd name="adj" fmla="val 7000"/>
            </a:avLst>
          </a:prstGeom>
          <a:solidFill>
            <a:srgbClr val="ED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anel"/>
          <p:cNvSpPr/>
          <p:nvPr/>
        </p:nvSpPr>
        <p:spPr>
          <a:xfrm>
            <a:off x="585216" y="1947672"/>
            <a:ext cx="32004" cy="1362456"/>
          </a:xfrm>
          <a:prstGeom prst="rect">
            <a:avLst/>
          </a:prstGeom>
          <a:solidFill>
            <a:srgbClr val="006E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
          <p:cNvSpPr txBox="1"/>
          <p:nvPr/>
        </p:nvSpPr>
        <p:spPr>
          <a:xfrm>
            <a:off x="740664" y="2103120"/>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006EB5"/>
                </a:solidFill>
                <a:latin typeface="Arial"/>
                <a:ea typeface="Microsoft YaHei"/>
              </a:rPr>
              <a:t>01</a:t>
            </a:r>
          </a:p>
        </p:txBody>
      </p:sp>
      <p:sp>
        <p:nvSpPr>
          <p:cNvPr id="14" name="Row heading EN"/>
          <p:cNvSpPr txBox="1"/>
          <p:nvPr/>
        </p:nvSpPr>
        <p:spPr>
          <a:xfrm>
            <a:off x="1133856" y="2112264"/>
            <a:ext cx="2258568" cy="311912"/>
          </a:xfrm>
          <a:prstGeom prst="rect">
            <a:avLst/>
          </a:prstGeom>
          <a:noFill/>
          <a:effectLst/>
        </p:spPr>
        <p:txBody>
          <a:bodyPr wrap="none" lIns="0" rIns="0" tIns="0" bIns="0" anchor="t">
            <a:noAutofit/>
          </a:bodyPr>
          <a:lstStyle/>
          <a:p>
            <a:pPr algn="l">
              <a:lnSpc>
                <a:spcPts val="2112"/>
              </a:lnSpc>
              <a:spcBef>
                <a:spcPts val="0"/>
              </a:spcBef>
              <a:spcAft>
                <a:spcPts val="0"/>
              </a:spcAft>
            </a:pPr>
            <a:r>
              <a:rPr sz="1920" b="1" lang="en-US">
                <a:solidFill>
                  <a:srgbClr val="193249"/>
                </a:solidFill>
                <a:latin typeface="Arial"/>
                <a:ea typeface="Microsoft YaHei"/>
              </a:rPr>
              <a:t>Streaming HTTP</a:t>
            </a:r>
          </a:p>
        </p:txBody>
      </p:sp>
      <p:sp>
        <p:nvSpPr>
          <p:cNvPr id="15" name="Row heading ZH"/>
          <p:cNvSpPr txBox="1"/>
          <p:nvPr/>
        </p:nvSpPr>
        <p:spPr>
          <a:xfrm>
            <a:off x="1133856" y="2524760"/>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006EB5"/>
                </a:solidFill>
                <a:latin typeface="Microsoft YaHei"/>
                <a:ea typeface="Microsoft YaHei"/>
              </a:rPr>
              <a:t>流式 HTTP 认证</a:t>
            </a:r>
          </a:p>
        </p:txBody>
      </p:sp>
      <p:sp>
        <p:nvSpPr>
          <p:cNvPr id="16" name="Reading paragraph EN"/>
          <p:cNvSpPr txBox="1"/>
          <p:nvPr/>
        </p:nvSpPr>
        <p:spPr>
          <a:xfrm>
            <a:off x="3730752" y="2103120"/>
            <a:ext cx="7656575" cy="559104"/>
          </a:xfrm>
          <a:prstGeom prst="rect">
            <a:avLst/>
          </a:prstGeom>
          <a:noFill/>
          <a:effectLst/>
        </p:spPr>
        <p:txBody>
          <a:bodyPr wrap="none" lIns="0" rIns="0" tIns="0" bIns="0" anchor="t">
            <a:noAutofit/>
          </a:bodyPr>
          <a:lstStyle/>
          <a:p>
            <a:pPr algn="l">
              <a:lnSpc>
                <a:spcPts val="2029"/>
              </a:lnSpc>
              <a:spcBef>
                <a:spcPts val="0"/>
              </a:spcBef>
              <a:spcAft>
                <a:spcPts val="0"/>
              </a:spcAft>
            </a:pPr>
            <a:r>
              <a:rPr sz="1780" b="0" lang="en-US">
                <a:solidFill>
                  <a:srgbClr val="24394E"/>
                </a:solidFill>
                <a:latin typeface="Arial"/>
                <a:ea typeface="Microsoft YaHei"/>
              </a:rPr>
              <a:t>Separate stream setup from content verification. Keep two modes: HTTPS</a:t>
            </a:r>
            <a:br/>
            <a:r>
              <a:rPr sz="1780" b="0" lang="en-US">
                <a:solidFill>
                  <a:srgbClr val="24394E"/>
                </a:solidFill>
                <a:latin typeface="Arial"/>
                <a:ea typeface="Microsoft YaHei"/>
              </a:rPr>
              <a:t>transport protection and a final signed digest for finite streams.</a:t>
            </a:r>
          </a:p>
        </p:txBody>
      </p:sp>
      <p:sp>
        <p:nvSpPr>
          <p:cNvPr id="17" name="Reading paragraph ZH"/>
          <p:cNvSpPr txBox="1"/>
          <p:nvPr/>
        </p:nvSpPr>
        <p:spPr>
          <a:xfrm>
            <a:off x="3730752" y="2735376"/>
            <a:ext cx="7656575" cy="517245"/>
          </a:xfrm>
          <a:prstGeom prst="rect">
            <a:avLst/>
          </a:prstGeom>
          <a:noFill/>
          <a:effectLst/>
        </p:spPr>
        <p:txBody>
          <a:bodyPr wrap="none" lIns="0" rIns="0" tIns="0" bIns="0" anchor="t">
            <a:noAutofit/>
          </a:bodyPr>
          <a:lstStyle/>
          <a:p>
            <a:pPr algn="l">
              <a:lnSpc>
                <a:spcPts val="1864"/>
              </a:lnSpc>
              <a:spcBef>
                <a:spcPts val="0"/>
              </a:spcBef>
              <a:spcAft>
                <a:spcPts val="0"/>
              </a:spcAft>
            </a:pPr>
            <a:r>
              <a:rPr sz="1580" b="0" lang="zh-CN">
                <a:solidFill>
                  <a:srgbClr val="52677D"/>
                </a:solidFill>
                <a:latin typeface="Microsoft YaHei"/>
                <a:ea typeface="Microsoft YaHei"/>
              </a:rPr>
              <a:t>将开流认证与内容验证分开。仅保留两种模式：HTTPS 传输保护，以及有限流结束时</a:t>
            </a:r>
            <a:br/>
            <a:r>
              <a:rPr sz="1580" b="0" lang="zh-CN">
                <a:solidFill>
                  <a:srgbClr val="52677D"/>
                </a:solidFill>
                <a:latin typeface="Microsoft YaHei"/>
                <a:ea typeface="Microsoft YaHei"/>
              </a:rPr>
              <a:t>的签名摘要校验。</a:t>
            </a:r>
          </a:p>
        </p:txBody>
      </p:sp>
      <p:cxnSp>
        <p:nvCxnSpPr>
          <p:cNvPr id="18" name="Connector 17"/>
          <p:cNvCxnSpPr/>
          <p:nvPr/>
        </p:nvCxnSpPr>
        <p:spPr>
          <a:xfrm>
            <a:off x="3502152" y="2112264"/>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19" name="Panel"/>
          <p:cNvSpPr/>
          <p:nvPr/>
        </p:nvSpPr>
        <p:spPr>
          <a:xfrm>
            <a:off x="585216" y="3401568"/>
            <a:ext cx="11021567" cy="1362456"/>
          </a:xfrm>
          <a:prstGeom prst="roundRect">
            <a:avLst>
              <a:gd name="adj" fmla="val 7000"/>
            </a:avLst>
          </a:prstGeom>
          <a:solidFill>
            <a:srgbClr val="EC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Panel"/>
          <p:cNvSpPr/>
          <p:nvPr/>
        </p:nvSpPr>
        <p:spPr>
          <a:xfrm>
            <a:off x="585216" y="3401568"/>
            <a:ext cx="32004" cy="1362456"/>
          </a:xfrm>
          <a:prstGeom prst="rect">
            <a:avLst/>
          </a:prstGeom>
          <a:solidFill>
            <a:srgbClr val="008C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
          <p:cNvSpPr txBox="1"/>
          <p:nvPr/>
        </p:nvSpPr>
        <p:spPr>
          <a:xfrm>
            <a:off x="740664" y="3557015"/>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008C91"/>
                </a:solidFill>
                <a:latin typeface="Arial"/>
                <a:ea typeface="Microsoft YaHei"/>
              </a:rPr>
              <a:t>02</a:t>
            </a:r>
          </a:p>
        </p:txBody>
      </p:sp>
      <p:sp>
        <p:nvSpPr>
          <p:cNvPr id="22" name="Row heading EN"/>
          <p:cNvSpPr txBox="1"/>
          <p:nvPr/>
        </p:nvSpPr>
        <p:spPr>
          <a:xfrm>
            <a:off x="1133856" y="3566160"/>
            <a:ext cx="2258568" cy="311912"/>
          </a:xfrm>
          <a:prstGeom prst="rect">
            <a:avLst/>
          </a:prstGeom>
          <a:noFill/>
          <a:effectLst/>
        </p:spPr>
        <p:txBody>
          <a:bodyPr wrap="none" lIns="0" rIns="0" tIns="0" bIns="0" anchor="t">
            <a:noAutofit/>
          </a:bodyPr>
          <a:lstStyle/>
          <a:p>
            <a:pPr algn="l">
              <a:lnSpc>
                <a:spcPts val="2112"/>
              </a:lnSpc>
              <a:spcBef>
                <a:spcPts val="0"/>
              </a:spcBef>
              <a:spcAft>
                <a:spcPts val="0"/>
              </a:spcAft>
            </a:pPr>
            <a:r>
              <a:rPr sz="1920" b="1" lang="en-US">
                <a:solidFill>
                  <a:srgbClr val="193249"/>
                </a:solidFill>
                <a:latin typeface="Arial"/>
                <a:ea typeface="Microsoft YaHei"/>
              </a:rPr>
              <a:t>Mutual DID</a:t>
            </a:r>
          </a:p>
        </p:txBody>
      </p:sp>
      <p:sp>
        <p:nvSpPr>
          <p:cNvPr id="23" name="Row heading ZH"/>
          <p:cNvSpPr txBox="1"/>
          <p:nvPr/>
        </p:nvSpPr>
        <p:spPr>
          <a:xfrm>
            <a:off x="1133856" y="3978656"/>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008C91"/>
                </a:solidFill>
                <a:latin typeface="Microsoft YaHei"/>
                <a:ea typeface="Microsoft YaHei"/>
              </a:rPr>
              <a:t>双向 DID 认证</a:t>
            </a:r>
          </a:p>
        </p:txBody>
      </p:sp>
      <p:sp>
        <p:nvSpPr>
          <p:cNvPr id="24" name="Reading paragraph EN"/>
          <p:cNvSpPr txBox="1"/>
          <p:nvPr/>
        </p:nvSpPr>
        <p:spPr>
          <a:xfrm>
            <a:off x="3730752" y="3557015"/>
            <a:ext cx="7656575" cy="559104"/>
          </a:xfrm>
          <a:prstGeom prst="rect">
            <a:avLst/>
          </a:prstGeom>
          <a:noFill/>
          <a:effectLst/>
        </p:spPr>
        <p:txBody>
          <a:bodyPr wrap="none" lIns="0" rIns="0" tIns="0" bIns="0" anchor="t">
            <a:noAutofit/>
          </a:bodyPr>
          <a:lstStyle/>
          <a:p>
            <a:pPr algn="l">
              <a:lnSpc>
                <a:spcPts val="2029"/>
              </a:lnSpc>
              <a:spcBef>
                <a:spcPts val="0"/>
              </a:spcBef>
              <a:spcAft>
                <a:spcPts val="0"/>
              </a:spcAft>
            </a:pPr>
            <a:r>
              <a:rPr sz="1780" b="0" lang="en-US">
                <a:solidFill>
                  <a:srgbClr val="24394E"/>
                </a:solidFill>
                <a:latin typeface="Arial"/>
                <a:ea typeface="Microsoft YaHei"/>
              </a:rPr>
              <a:t>Add a server DID response proof, so both agents can verify their peer’s</a:t>
            </a:r>
            <a:br/>
            <a:r>
              <a:rPr sz="1780" b="0" lang="en-US">
                <a:solidFill>
                  <a:srgbClr val="24394E"/>
                </a:solidFill>
                <a:latin typeface="Arial"/>
                <a:ea typeface="Microsoft YaHei"/>
              </a:rPr>
              <a:t>identity and link the proof to this request.</a:t>
            </a:r>
          </a:p>
        </p:txBody>
      </p:sp>
      <p:sp>
        <p:nvSpPr>
          <p:cNvPr id="25" name="Reading paragraph ZH"/>
          <p:cNvSpPr txBox="1"/>
          <p:nvPr/>
        </p:nvSpPr>
        <p:spPr>
          <a:xfrm>
            <a:off x="3730752" y="4189272"/>
            <a:ext cx="7656575" cy="517245"/>
          </a:xfrm>
          <a:prstGeom prst="rect">
            <a:avLst/>
          </a:prstGeom>
          <a:noFill/>
          <a:effectLst/>
        </p:spPr>
        <p:txBody>
          <a:bodyPr wrap="none" lIns="0" rIns="0" tIns="0" bIns="0" anchor="t">
            <a:noAutofit/>
          </a:bodyPr>
          <a:lstStyle/>
          <a:p>
            <a:pPr algn="l">
              <a:lnSpc>
                <a:spcPts val="1864"/>
              </a:lnSpc>
              <a:spcBef>
                <a:spcPts val="0"/>
              </a:spcBef>
              <a:spcAft>
                <a:spcPts val="0"/>
              </a:spcAft>
            </a:pPr>
            <a:r>
              <a:rPr sz="1580" b="0" lang="zh-CN">
                <a:solidFill>
                  <a:srgbClr val="52677D"/>
                </a:solidFill>
                <a:latin typeface="Microsoft YaHei"/>
                <a:ea typeface="Microsoft YaHei"/>
              </a:rPr>
              <a:t>增加服务端 DID 响应证明，让双方都能验证交互对象的身份，并确认该证明对应本次</a:t>
            </a:r>
            <a:br/>
            <a:r>
              <a:rPr sz="1580" b="0" lang="zh-CN">
                <a:solidFill>
                  <a:srgbClr val="52677D"/>
                </a:solidFill>
                <a:latin typeface="Microsoft YaHei"/>
                <a:ea typeface="Microsoft YaHei"/>
              </a:rPr>
              <a:t>请求。</a:t>
            </a:r>
          </a:p>
        </p:txBody>
      </p:sp>
      <p:cxnSp>
        <p:nvCxnSpPr>
          <p:cNvPr id="26" name="Connector 25"/>
          <p:cNvCxnSpPr/>
          <p:nvPr/>
        </p:nvCxnSpPr>
        <p:spPr>
          <a:xfrm>
            <a:off x="3502152" y="3566160"/>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27" name="Panel"/>
          <p:cNvSpPr/>
          <p:nvPr/>
        </p:nvSpPr>
        <p:spPr>
          <a:xfrm>
            <a:off x="585216" y="4855464"/>
            <a:ext cx="11021567" cy="1362456"/>
          </a:xfrm>
          <a:prstGeom prst="roundRect">
            <a:avLst>
              <a:gd name="adj" fmla="val 7000"/>
            </a:avLst>
          </a:prstGeom>
          <a:solidFill>
            <a:srgbClr val="F4F0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Panel"/>
          <p:cNvSpPr/>
          <p:nvPr/>
        </p:nvSpPr>
        <p:spPr>
          <a:xfrm>
            <a:off x="585216" y="4855464"/>
            <a:ext cx="32004" cy="1362456"/>
          </a:xfrm>
          <a:prstGeom prst="rect">
            <a:avLst/>
          </a:prstGeom>
          <a:solidFill>
            <a:srgbClr val="7855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
          <p:cNvSpPr txBox="1"/>
          <p:nvPr/>
        </p:nvSpPr>
        <p:spPr>
          <a:xfrm>
            <a:off x="740664" y="5010912"/>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7855B5"/>
                </a:solidFill>
                <a:latin typeface="Arial"/>
                <a:ea typeface="Microsoft YaHei"/>
              </a:rPr>
              <a:t>03</a:t>
            </a:r>
          </a:p>
        </p:txBody>
      </p:sp>
      <p:sp>
        <p:nvSpPr>
          <p:cNvPr id="30" name="Row heading EN"/>
          <p:cNvSpPr txBox="1"/>
          <p:nvPr/>
        </p:nvSpPr>
        <p:spPr>
          <a:xfrm>
            <a:off x="1133856" y="5020056"/>
            <a:ext cx="2258568" cy="311912"/>
          </a:xfrm>
          <a:prstGeom prst="rect">
            <a:avLst/>
          </a:prstGeom>
          <a:noFill/>
          <a:effectLst/>
        </p:spPr>
        <p:txBody>
          <a:bodyPr wrap="none" lIns="0" rIns="0" tIns="0" bIns="0" anchor="t">
            <a:noAutofit/>
          </a:bodyPr>
          <a:lstStyle/>
          <a:p>
            <a:pPr algn="l">
              <a:lnSpc>
                <a:spcPts val="2112"/>
              </a:lnSpc>
              <a:spcBef>
                <a:spcPts val="0"/>
              </a:spcBef>
              <a:spcAft>
                <a:spcPts val="0"/>
              </a:spcAft>
            </a:pPr>
            <a:r>
              <a:rPr sz="1920" b="1" lang="en-US">
                <a:solidFill>
                  <a:srgbClr val="193249"/>
                </a:solidFill>
                <a:latin typeface="Arial"/>
                <a:ea typeface="Microsoft YaHei"/>
              </a:rPr>
              <a:t>DID + OAuth</a:t>
            </a:r>
          </a:p>
        </p:txBody>
      </p:sp>
      <p:sp>
        <p:nvSpPr>
          <p:cNvPr id="31" name="Row heading ZH"/>
          <p:cNvSpPr txBox="1"/>
          <p:nvPr/>
        </p:nvSpPr>
        <p:spPr>
          <a:xfrm>
            <a:off x="1133856" y="5432552"/>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7855B5"/>
                </a:solidFill>
                <a:latin typeface="Microsoft YaHei"/>
                <a:ea typeface="Microsoft YaHei"/>
              </a:rPr>
              <a:t>DID 与 OAuth 授权</a:t>
            </a:r>
          </a:p>
        </p:txBody>
      </p:sp>
      <p:sp>
        <p:nvSpPr>
          <p:cNvPr id="32" name="Reading paragraph EN"/>
          <p:cNvSpPr txBox="1"/>
          <p:nvPr/>
        </p:nvSpPr>
        <p:spPr>
          <a:xfrm>
            <a:off x="3730752" y="5010912"/>
            <a:ext cx="7656575" cy="559104"/>
          </a:xfrm>
          <a:prstGeom prst="rect">
            <a:avLst/>
          </a:prstGeom>
          <a:noFill/>
          <a:effectLst/>
        </p:spPr>
        <p:txBody>
          <a:bodyPr wrap="none" lIns="0" rIns="0" tIns="0" bIns="0" anchor="t">
            <a:noAutofit/>
          </a:bodyPr>
          <a:lstStyle/>
          <a:p>
            <a:pPr algn="l">
              <a:lnSpc>
                <a:spcPts val="2029"/>
              </a:lnSpc>
              <a:spcBef>
                <a:spcPts val="0"/>
              </a:spcBef>
              <a:spcAft>
                <a:spcPts val="0"/>
              </a:spcAft>
            </a:pPr>
            <a:r>
              <a:rPr sz="1780" b="0" lang="en-US">
                <a:solidFill>
                  <a:srgbClr val="24394E"/>
                </a:solidFill>
                <a:latin typeface="Arial"/>
                <a:ea typeface="Microsoft YaHei"/>
              </a:rPr>
              <a:t>Combine DID and OAuth so DID-based agents can reuse OAuth</a:t>
            </a:r>
            <a:br/>
            <a:r>
              <a:rPr sz="1780" b="0" lang="en-US">
                <a:solidFill>
                  <a:srgbClr val="24394E"/>
                </a:solidFill>
                <a:latin typeface="Arial"/>
                <a:ea typeface="Microsoft YaHei"/>
              </a:rPr>
              <a:t>authorization. Keep the integration model open for community discussion.</a:t>
            </a:r>
          </a:p>
        </p:txBody>
      </p:sp>
      <p:sp>
        <p:nvSpPr>
          <p:cNvPr id="33" name="Reading paragraph ZH"/>
          <p:cNvSpPr txBox="1"/>
          <p:nvPr/>
        </p:nvSpPr>
        <p:spPr>
          <a:xfrm>
            <a:off x="3730752" y="5643168"/>
            <a:ext cx="7656575" cy="517245"/>
          </a:xfrm>
          <a:prstGeom prst="rect">
            <a:avLst/>
          </a:prstGeom>
          <a:noFill/>
          <a:effectLst/>
        </p:spPr>
        <p:txBody>
          <a:bodyPr wrap="none" lIns="0" rIns="0" tIns="0" bIns="0" anchor="t">
            <a:noAutofit/>
          </a:bodyPr>
          <a:lstStyle/>
          <a:p>
            <a:pPr algn="l">
              <a:lnSpc>
                <a:spcPts val="1864"/>
              </a:lnSpc>
              <a:spcBef>
                <a:spcPts val="0"/>
              </a:spcBef>
              <a:spcAft>
                <a:spcPts val="0"/>
              </a:spcAft>
            </a:pPr>
            <a:r>
              <a:rPr sz="1580" b="0" lang="zh-CN">
                <a:solidFill>
                  <a:srgbClr val="52677D"/>
                </a:solidFill>
                <a:latin typeface="Microsoft YaHei"/>
                <a:ea typeface="Microsoft YaHei"/>
              </a:rPr>
              <a:t>探索将 DID 与 OAuth 两套规范结合，让使用 DID 身份的智能体复用 OAuth 授权；具体</a:t>
            </a:r>
            <a:br/>
            <a:r>
              <a:rPr sz="1580" b="0" lang="zh-CN">
                <a:solidFill>
                  <a:srgbClr val="52677D"/>
                </a:solidFill>
                <a:latin typeface="Microsoft YaHei"/>
                <a:ea typeface="Microsoft YaHei"/>
              </a:rPr>
              <a:t>结合方式保持开放讨论。</a:t>
            </a:r>
          </a:p>
        </p:txBody>
      </p:sp>
      <p:cxnSp>
        <p:nvCxnSpPr>
          <p:cNvPr id="34" name="Connector 33"/>
          <p:cNvCxnSpPr/>
          <p:nvPr/>
        </p:nvCxnSpPr>
        <p:spPr>
          <a:xfrm>
            <a:off x="3502152" y="5020056"/>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nel"/>
          <p:cNvSpPr/>
          <p:nvPr/>
        </p:nvSpPr>
        <p:spPr>
          <a:xfrm>
            <a:off x="0" y="0"/>
            <a:ext cx="12191999" cy="59436"/>
          </a:xfrm>
          <a:prstGeom prst="rect">
            <a:avLst/>
          </a:prstGeom>
          <a:solidFill>
            <a:srgbClr val="006E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
          <p:cNvSpPr txBox="1"/>
          <p:nvPr/>
        </p:nvSpPr>
        <p:spPr>
          <a:xfrm>
            <a:off x="585216" y="274320"/>
            <a:ext cx="8686800" cy="228600"/>
          </a:xfrm>
          <a:prstGeom prst="rect">
            <a:avLst/>
          </a:prstGeom>
          <a:noFill/>
          <a:effectLst/>
        </p:spPr>
        <p:txBody>
          <a:bodyPr wrap="none" lIns="0" rIns="0" tIns="0" bIns="0" anchor="t">
            <a:noAutofit/>
          </a:bodyPr>
          <a:lstStyle/>
          <a:p>
            <a:pPr algn="l">
              <a:lnSpc>
                <a:spcPts val="1219"/>
              </a:lnSpc>
              <a:spcBef>
                <a:spcPts val="0"/>
              </a:spcBef>
              <a:spcAft>
                <a:spcPts val="0"/>
              </a:spcAft>
            </a:pPr>
            <a:r>
              <a:rPr sz="1060" b="1" lang="en-US">
                <a:solidFill>
                  <a:srgbClr val="006EB5"/>
                </a:solidFill>
                <a:latin typeface="Arial"/>
                <a:ea typeface="Microsoft YaHei"/>
              </a:rPr>
              <a:t>PROPOSAL 01 / 提案一  ·  STREAMING HTTP / 流式 HTTP</a:t>
            </a:r>
          </a:p>
        </p:txBody>
      </p:sp>
      <p:sp>
        <p:nvSpPr>
          <p:cNvPr id="4" name="Panel"/>
          <p:cNvSpPr/>
          <p:nvPr/>
        </p:nvSpPr>
        <p:spPr>
          <a:xfrm>
            <a:off x="9384791" y="246888"/>
            <a:ext cx="2221992" cy="365760"/>
          </a:xfrm>
          <a:prstGeom prst="roundRect">
            <a:avLst>
              <a:gd name="adj" fmla="val 7000"/>
            </a:avLst>
          </a:prstGeom>
          <a:solidFill>
            <a:srgbClr val="ED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
          <p:cNvSpPr txBox="1"/>
          <p:nvPr/>
        </p:nvSpPr>
        <p:spPr>
          <a:xfrm>
            <a:off x="9457943" y="314553"/>
            <a:ext cx="2075688" cy="201168"/>
          </a:xfrm>
          <a:prstGeom prst="rect">
            <a:avLst/>
          </a:prstGeom>
          <a:noFill/>
          <a:effectLst/>
        </p:spPr>
        <p:txBody>
          <a:bodyPr wrap="none" lIns="0" rIns="0" tIns="0" bIns="0" anchor="t">
            <a:noAutofit/>
          </a:bodyPr>
          <a:lstStyle/>
          <a:p>
            <a:pPr algn="ctr">
              <a:lnSpc>
                <a:spcPts val="1161"/>
              </a:lnSpc>
              <a:spcBef>
                <a:spcPts val="0"/>
              </a:spcBef>
              <a:spcAft>
                <a:spcPts val="0"/>
              </a:spcAft>
            </a:pPr>
            <a:r>
              <a:rPr sz="1010" b="1" lang="en-US">
                <a:solidFill>
                  <a:srgbClr val="006EB5"/>
                </a:solidFill>
                <a:latin typeface="Arial"/>
                <a:ea typeface="Microsoft YaHei"/>
              </a:rPr>
              <a:t>PROBLEM / 当前问题</a:t>
            </a:r>
          </a:p>
        </p:txBody>
      </p:sp>
      <p:sp>
        <p:nvSpPr>
          <p:cNvPr id="6" name="English title"/>
          <p:cNvSpPr txBox="1"/>
          <p:nvPr/>
        </p:nvSpPr>
        <p:spPr>
          <a:xfrm>
            <a:off x="585216" y="841248"/>
            <a:ext cx="11021567" cy="493776"/>
          </a:xfrm>
          <a:prstGeom prst="rect">
            <a:avLst/>
          </a:prstGeom>
          <a:noFill/>
          <a:effectLst/>
        </p:spPr>
        <p:txBody>
          <a:bodyPr wrap="none" lIns="0" rIns="0" tIns="0" bIns="0" anchor="t">
            <a:noAutofit/>
          </a:bodyPr>
          <a:lstStyle/>
          <a:p>
            <a:pPr algn="l">
              <a:lnSpc>
                <a:spcPts val="3454"/>
              </a:lnSpc>
              <a:spcBef>
                <a:spcPts val="0"/>
              </a:spcBef>
              <a:spcAft>
                <a:spcPts val="0"/>
              </a:spcAft>
            </a:pPr>
            <a:r>
              <a:rPr sz="3140" b="1" lang="en-US">
                <a:solidFill>
                  <a:srgbClr val="193249"/>
                </a:solidFill>
                <a:latin typeface="Arial"/>
                <a:ea typeface="Microsoft YaHei"/>
              </a:rPr>
              <a:t>Streaming HTTP: the current gaps</a:t>
            </a:r>
          </a:p>
        </p:txBody>
      </p:sp>
      <p:sp>
        <p:nvSpPr>
          <p:cNvPr id="7" name="Chinese title"/>
          <p:cNvSpPr txBox="1"/>
          <p:nvPr/>
        </p:nvSpPr>
        <p:spPr>
          <a:xfrm>
            <a:off x="585216" y="1371600"/>
            <a:ext cx="11021567" cy="365760"/>
          </a:xfrm>
          <a:prstGeom prst="rect">
            <a:avLst/>
          </a:prstGeom>
          <a:noFill/>
          <a:effectLst/>
        </p:spPr>
        <p:txBody>
          <a:bodyPr wrap="none" lIns="0" rIns="0" tIns="0" bIns="0" anchor="t">
            <a:noAutofit/>
          </a:bodyPr>
          <a:lstStyle/>
          <a:p>
            <a:pPr algn="l">
              <a:lnSpc>
                <a:spcPts val="2392"/>
              </a:lnSpc>
              <a:spcBef>
                <a:spcPts val="0"/>
              </a:spcBef>
              <a:spcAft>
                <a:spcPts val="0"/>
              </a:spcAft>
            </a:pPr>
            <a:r>
              <a:rPr sz="2080" b="0" lang="zh-CN">
                <a:solidFill>
                  <a:srgbClr val="52677D"/>
                </a:solidFill>
                <a:latin typeface="Microsoft YaHei"/>
                <a:ea typeface="Microsoft YaHei"/>
              </a:rPr>
              <a:t>流式 HTTP 身份认证：当前问题</a:t>
            </a:r>
          </a:p>
        </p:txBody>
      </p:sp>
      <p:cxnSp>
        <p:nvCxnSpPr>
          <p:cNvPr id="8" name="Connector 7"/>
          <p:cNvCxnSpPr/>
          <p:nvPr/>
        </p:nvCxnSpPr>
        <p:spPr>
          <a:xfrm>
            <a:off x="585216" y="6400800"/>
            <a:ext cx="11021567" cy="0"/>
          </a:xfrm>
          <a:prstGeom prst="line">
            <a:avLst/>
          </a:prstGeom>
          <a:ln w="889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9" name="Text"/>
          <p:cNvSpPr txBox="1"/>
          <p:nvPr/>
        </p:nvSpPr>
        <p:spPr>
          <a:xfrm>
            <a:off x="585216" y="6505956"/>
            <a:ext cx="8595360" cy="192024"/>
          </a:xfrm>
          <a:prstGeom prst="rect">
            <a:avLst/>
          </a:prstGeom>
          <a:noFill/>
          <a:effectLst/>
        </p:spPr>
        <p:txBody>
          <a:bodyPr wrap="none" lIns="0" rIns="0" tIns="0" bIns="0" anchor="t">
            <a:noAutofit/>
          </a:bodyPr>
          <a:lstStyle/>
          <a:p>
            <a:pPr algn="l">
              <a:lnSpc>
                <a:spcPts val="1080"/>
              </a:lnSpc>
              <a:spcBef>
                <a:spcPts val="0"/>
              </a:spcBef>
              <a:spcAft>
                <a:spcPts val="0"/>
              </a:spcAft>
            </a:pPr>
            <a:r>
              <a:rPr sz="940" b="0" lang="en-US">
                <a:solidFill>
                  <a:srgbClr val="52677D"/>
                </a:solidFill>
                <a:latin typeface="Arial"/>
                <a:ea typeface="Microsoft YaHei"/>
              </a:rPr>
              <a:t>W3C AI Agent Protocol CG  ·  Discussion draft / 讨论稿</a:t>
            </a:r>
          </a:p>
        </p:txBody>
      </p:sp>
      <p:sp>
        <p:nvSpPr>
          <p:cNvPr id="10" name="Text"/>
          <p:cNvSpPr txBox="1"/>
          <p:nvPr/>
        </p:nvSpPr>
        <p:spPr>
          <a:xfrm>
            <a:off x="8439912" y="6505956"/>
            <a:ext cx="2194560" cy="192024"/>
          </a:xfrm>
          <a:prstGeom prst="rect">
            <a:avLst/>
          </a:prstGeom>
          <a:noFill/>
          <a:effectLst/>
        </p:spPr>
        <p:txBody>
          <a:bodyPr wrap="none" lIns="0" rIns="0" tIns="0" bIns="0" anchor="t">
            <a:noAutofit/>
          </a:bodyPr>
          <a:lstStyle/>
          <a:p>
            <a:pPr algn="r">
              <a:lnSpc>
                <a:spcPts val="1069"/>
              </a:lnSpc>
              <a:spcBef>
                <a:spcPts val="0"/>
              </a:spcBef>
              <a:spcAft>
                <a:spcPts val="0"/>
              </a:spcAft>
            </a:pPr>
            <a:r>
              <a:rPr sz="930" b="0" lang="en-US">
                <a:solidFill>
                  <a:srgbClr val="52677D"/>
                </a:solidFill>
                <a:latin typeface="Arial"/>
                <a:ea typeface="Microsoft YaHei"/>
              </a:rPr>
              <a:t>Refs: identity, 9421, 9530</a:t>
            </a:r>
          </a:p>
        </p:txBody>
      </p:sp>
      <p:sp>
        <p:nvSpPr>
          <p:cNvPr id="11" name="Text"/>
          <p:cNvSpPr txBox="1"/>
          <p:nvPr/>
        </p:nvSpPr>
        <p:spPr>
          <a:xfrm>
            <a:off x="10890504" y="6487668"/>
            <a:ext cx="694944" cy="228600"/>
          </a:xfrm>
          <a:prstGeom prst="rect">
            <a:avLst/>
          </a:prstGeom>
          <a:noFill/>
          <a:effectLst/>
        </p:spPr>
        <p:txBody>
          <a:bodyPr wrap="none" lIns="0" rIns="0" tIns="0" bIns="0" anchor="t">
            <a:noAutofit/>
          </a:bodyPr>
          <a:lstStyle/>
          <a:p>
            <a:pPr algn="r">
              <a:lnSpc>
                <a:spcPts val="1299"/>
              </a:lnSpc>
              <a:spcBef>
                <a:spcPts val="0"/>
              </a:spcBef>
              <a:spcAft>
                <a:spcPts val="0"/>
              </a:spcAft>
            </a:pPr>
            <a:r>
              <a:rPr sz="1130" b="1" lang="en-US">
                <a:solidFill>
                  <a:srgbClr val="006EB5"/>
                </a:solidFill>
                <a:latin typeface="Arial"/>
                <a:ea typeface="Microsoft YaHei"/>
              </a:rPr>
              <a:t>02 / 07</a:t>
            </a:r>
          </a:p>
        </p:txBody>
      </p:sp>
      <p:sp>
        <p:nvSpPr>
          <p:cNvPr id="12" name="Panel"/>
          <p:cNvSpPr/>
          <p:nvPr/>
        </p:nvSpPr>
        <p:spPr>
          <a:xfrm>
            <a:off x="585216" y="1947672"/>
            <a:ext cx="11021567" cy="1362456"/>
          </a:xfrm>
          <a:prstGeom prst="roundRect">
            <a:avLst>
              <a:gd name="adj" fmla="val 7000"/>
            </a:avLst>
          </a:prstGeom>
          <a:solidFill>
            <a:srgbClr val="ED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anel"/>
          <p:cNvSpPr/>
          <p:nvPr/>
        </p:nvSpPr>
        <p:spPr>
          <a:xfrm>
            <a:off x="585216" y="1947672"/>
            <a:ext cx="32004" cy="1362456"/>
          </a:xfrm>
          <a:prstGeom prst="rect">
            <a:avLst/>
          </a:prstGeom>
          <a:solidFill>
            <a:srgbClr val="006E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
          <p:cNvSpPr txBox="1"/>
          <p:nvPr/>
        </p:nvSpPr>
        <p:spPr>
          <a:xfrm>
            <a:off x="740664" y="2103120"/>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006EB5"/>
                </a:solidFill>
                <a:latin typeface="Arial"/>
                <a:ea typeface="Microsoft YaHei"/>
              </a:rPr>
              <a:t>01</a:t>
            </a:r>
          </a:p>
        </p:txBody>
      </p:sp>
      <p:sp>
        <p:nvSpPr>
          <p:cNvPr id="15" name="Row heading EN"/>
          <p:cNvSpPr txBox="1"/>
          <p:nvPr/>
        </p:nvSpPr>
        <p:spPr>
          <a:xfrm>
            <a:off x="1133856" y="2112264"/>
            <a:ext cx="2258568" cy="309118"/>
          </a:xfrm>
          <a:prstGeom prst="rect">
            <a:avLst/>
          </a:prstGeom>
          <a:noFill/>
          <a:effectLst/>
        </p:spPr>
        <p:txBody>
          <a:bodyPr wrap="none" lIns="0" rIns="0" tIns="0" bIns="0" anchor="t">
            <a:noAutofit/>
          </a:bodyPr>
          <a:lstStyle/>
          <a:p>
            <a:pPr algn="l">
              <a:lnSpc>
                <a:spcPts val="2090"/>
              </a:lnSpc>
              <a:spcBef>
                <a:spcPts val="0"/>
              </a:spcBef>
              <a:spcAft>
                <a:spcPts val="0"/>
              </a:spcAft>
            </a:pPr>
            <a:r>
              <a:rPr sz="1900" b="1" lang="en-US">
                <a:solidFill>
                  <a:srgbClr val="193249"/>
                </a:solidFill>
                <a:latin typeface="Arial"/>
                <a:ea typeface="Microsoft YaHei"/>
              </a:rPr>
              <a:t>No final digest yet</a:t>
            </a:r>
          </a:p>
        </p:txBody>
      </p:sp>
      <p:sp>
        <p:nvSpPr>
          <p:cNvPr id="16" name="Row heading ZH"/>
          <p:cNvSpPr txBox="1"/>
          <p:nvPr/>
        </p:nvSpPr>
        <p:spPr>
          <a:xfrm>
            <a:off x="1133856" y="2521966"/>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006EB5"/>
                </a:solidFill>
                <a:latin typeface="Microsoft YaHei"/>
                <a:ea typeface="Microsoft YaHei"/>
              </a:rPr>
              <a:t>最终摘要尚不可得</a:t>
            </a:r>
          </a:p>
        </p:txBody>
      </p:sp>
      <p:sp>
        <p:nvSpPr>
          <p:cNvPr id="17" name="Reading paragraph EN"/>
          <p:cNvSpPr txBox="1"/>
          <p:nvPr/>
        </p:nvSpPr>
        <p:spPr>
          <a:xfrm>
            <a:off x="3730752" y="2103120"/>
            <a:ext cx="7656575" cy="556209"/>
          </a:xfrm>
          <a:prstGeom prst="rect">
            <a:avLst/>
          </a:prstGeom>
          <a:noFill/>
          <a:effectLst/>
        </p:spPr>
        <p:txBody>
          <a:bodyPr wrap="none" lIns="0" rIns="0" tIns="0" bIns="0" anchor="t">
            <a:noAutofit/>
          </a:bodyPr>
          <a:lstStyle/>
          <a:p>
            <a:pPr algn="l">
              <a:lnSpc>
                <a:spcPts val="2017"/>
              </a:lnSpc>
              <a:spcBef>
                <a:spcPts val="0"/>
              </a:spcBef>
              <a:spcAft>
                <a:spcPts val="0"/>
              </a:spcAft>
            </a:pPr>
            <a:r>
              <a:rPr sz="1770" b="0" lang="en-US">
                <a:solidFill>
                  <a:srgbClr val="24394E"/>
                </a:solidFill>
                <a:latin typeface="Arial"/>
                <a:ea typeface="Microsoft YaHei"/>
              </a:rPr>
              <a:t>Known requests can still be signed before a streamed response.</a:t>
            </a:r>
            <a:br/>
            <a:r>
              <a:rPr sz="1770" b="0" lang="en-US">
                <a:solidFill>
                  <a:srgbClr val="24394E"/>
                </a:solidFill>
                <a:latin typeface="Arial"/>
                <a:ea typeface="Microsoft YaHei"/>
              </a:rPr>
              <a:t>Unknown-length streams have no final digest when transmission starts.</a:t>
            </a:r>
          </a:p>
        </p:txBody>
      </p:sp>
      <p:sp>
        <p:nvSpPr>
          <p:cNvPr id="18" name="Reading paragraph ZH"/>
          <p:cNvSpPr txBox="1"/>
          <p:nvPr/>
        </p:nvSpPr>
        <p:spPr>
          <a:xfrm>
            <a:off x="3730752" y="2732481"/>
            <a:ext cx="7656575" cy="514248"/>
          </a:xfrm>
          <a:prstGeom prst="rect">
            <a:avLst/>
          </a:prstGeom>
          <a:noFill/>
          <a:effectLst/>
        </p:spPr>
        <p:txBody>
          <a:bodyPr wrap="none" lIns="0" rIns="0" tIns="0" bIns="0" anchor="t">
            <a:noAutofit/>
          </a:bodyPr>
          <a:lstStyle/>
          <a:p>
            <a:pPr algn="l">
              <a:lnSpc>
                <a:spcPts val="1852"/>
              </a:lnSpc>
              <a:spcBef>
                <a:spcPts val="0"/>
              </a:spcBef>
              <a:spcAft>
                <a:spcPts val="0"/>
              </a:spcAft>
            </a:pPr>
            <a:r>
              <a:rPr sz="1570" b="0" lang="zh-CN">
                <a:solidFill>
                  <a:srgbClr val="52677D"/>
                </a:solidFill>
                <a:latin typeface="Microsoft YaHei"/>
                <a:ea typeface="Microsoft YaHei"/>
              </a:rPr>
              <a:t>完整请求返回流式响应时，现有签名仍然适用。但未知长度流开始发送时，正文尚未生</a:t>
            </a:r>
            <a:br/>
            <a:r>
              <a:rPr sz="1570" b="0" lang="zh-CN">
                <a:solidFill>
                  <a:srgbClr val="52677D"/>
                </a:solidFill>
                <a:latin typeface="Microsoft YaHei"/>
                <a:ea typeface="Microsoft YaHei"/>
              </a:rPr>
              <a:t>成完整，无法提前计算最终摘要。</a:t>
            </a:r>
          </a:p>
        </p:txBody>
      </p:sp>
      <p:cxnSp>
        <p:nvCxnSpPr>
          <p:cNvPr id="19" name="Connector 18"/>
          <p:cNvCxnSpPr/>
          <p:nvPr/>
        </p:nvCxnSpPr>
        <p:spPr>
          <a:xfrm>
            <a:off x="3502152" y="2112264"/>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20" name="Panel"/>
          <p:cNvSpPr/>
          <p:nvPr/>
        </p:nvSpPr>
        <p:spPr>
          <a:xfrm>
            <a:off x="585216" y="3401568"/>
            <a:ext cx="11021567" cy="1362456"/>
          </a:xfrm>
          <a:prstGeom prst="roundRect">
            <a:avLst>
              <a:gd name="adj" fmla="val 7000"/>
            </a:avLst>
          </a:prstGeom>
          <a:solidFill>
            <a:srgbClr val="ED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Panel"/>
          <p:cNvSpPr/>
          <p:nvPr/>
        </p:nvSpPr>
        <p:spPr>
          <a:xfrm>
            <a:off x="585216" y="3401568"/>
            <a:ext cx="32004" cy="1362456"/>
          </a:xfrm>
          <a:prstGeom prst="rect">
            <a:avLst/>
          </a:prstGeom>
          <a:solidFill>
            <a:srgbClr val="006E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
          <p:cNvSpPr txBox="1"/>
          <p:nvPr/>
        </p:nvSpPr>
        <p:spPr>
          <a:xfrm>
            <a:off x="740664" y="3557015"/>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006EB5"/>
                </a:solidFill>
                <a:latin typeface="Arial"/>
                <a:ea typeface="Microsoft YaHei"/>
              </a:rPr>
              <a:t>02</a:t>
            </a:r>
          </a:p>
        </p:txBody>
      </p:sp>
      <p:sp>
        <p:nvSpPr>
          <p:cNvPr id="23" name="Row heading EN"/>
          <p:cNvSpPr txBox="1"/>
          <p:nvPr/>
        </p:nvSpPr>
        <p:spPr>
          <a:xfrm>
            <a:off x="1133856" y="3566160"/>
            <a:ext cx="2258568" cy="309118"/>
          </a:xfrm>
          <a:prstGeom prst="rect">
            <a:avLst/>
          </a:prstGeom>
          <a:noFill/>
          <a:effectLst/>
        </p:spPr>
        <p:txBody>
          <a:bodyPr wrap="none" lIns="0" rIns="0" tIns="0" bIns="0" anchor="t">
            <a:noAutofit/>
          </a:bodyPr>
          <a:lstStyle/>
          <a:p>
            <a:pPr algn="l">
              <a:lnSpc>
                <a:spcPts val="2090"/>
              </a:lnSpc>
              <a:spcBef>
                <a:spcPts val="0"/>
              </a:spcBef>
              <a:spcAft>
                <a:spcPts val="0"/>
              </a:spcAft>
            </a:pPr>
            <a:r>
              <a:rPr sz="1900" b="1" lang="en-US">
                <a:solidFill>
                  <a:srgbClr val="193249"/>
                </a:solidFill>
                <a:latin typeface="Arial"/>
                <a:ea typeface="Microsoft YaHei"/>
              </a:rPr>
              <a:t>Identity ≠ integrity</a:t>
            </a:r>
          </a:p>
        </p:txBody>
      </p:sp>
      <p:sp>
        <p:nvSpPr>
          <p:cNvPr id="24" name="Row heading ZH"/>
          <p:cNvSpPr txBox="1"/>
          <p:nvPr/>
        </p:nvSpPr>
        <p:spPr>
          <a:xfrm>
            <a:off x="1133856" y="3975862"/>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006EB5"/>
                </a:solidFill>
                <a:latin typeface="Microsoft YaHei"/>
                <a:ea typeface="Microsoft YaHei"/>
              </a:rPr>
              <a:t>认证不等于完整性</a:t>
            </a:r>
          </a:p>
        </p:txBody>
      </p:sp>
      <p:sp>
        <p:nvSpPr>
          <p:cNvPr id="25" name="Reading paragraph EN"/>
          <p:cNvSpPr txBox="1"/>
          <p:nvPr/>
        </p:nvSpPr>
        <p:spPr>
          <a:xfrm>
            <a:off x="3730752" y="3557015"/>
            <a:ext cx="7656575" cy="556209"/>
          </a:xfrm>
          <a:prstGeom prst="rect">
            <a:avLst/>
          </a:prstGeom>
          <a:noFill/>
          <a:effectLst/>
        </p:spPr>
        <p:txBody>
          <a:bodyPr wrap="none" lIns="0" rIns="0" tIns="0" bIns="0" anchor="t">
            <a:noAutofit/>
          </a:bodyPr>
          <a:lstStyle/>
          <a:p>
            <a:pPr algn="l">
              <a:lnSpc>
                <a:spcPts val="2017"/>
              </a:lnSpc>
              <a:spcBef>
                <a:spcPts val="0"/>
              </a:spcBef>
              <a:spcAft>
                <a:spcPts val="0"/>
              </a:spcAft>
            </a:pPr>
            <a:r>
              <a:rPr sz="1770" b="0" lang="en-US">
                <a:solidFill>
                  <a:srgbClr val="24394E"/>
                </a:solidFill>
                <a:latin typeface="Arial"/>
                <a:ea typeface="Microsoft YaHei"/>
              </a:rPr>
              <a:t>A valid opening request proves who initiated the stream. It does not, by</a:t>
            </a:r>
            <a:br/>
            <a:r>
              <a:rPr sz="1770" b="0" lang="en-US">
                <a:solidFill>
                  <a:srgbClr val="24394E"/>
                </a:solidFill>
                <a:latin typeface="Arial"/>
                <a:ea typeface="Microsoft YaHei"/>
              </a:rPr>
              <a:t>itself, provide a signed integrity proof for all later content.</a:t>
            </a:r>
          </a:p>
        </p:txBody>
      </p:sp>
      <p:sp>
        <p:nvSpPr>
          <p:cNvPr id="26" name="Reading paragraph ZH"/>
          <p:cNvSpPr txBox="1"/>
          <p:nvPr/>
        </p:nvSpPr>
        <p:spPr>
          <a:xfrm>
            <a:off x="3730752" y="4186377"/>
            <a:ext cx="7656575" cy="514248"/>
          </a:xfrm>
          <a:prstGeom prst="rect">
            <a:avLst/>
          </a:prstGeom>
          <a:noFill/>
          <a:effectLst/>
        </p:spPr>
        <p:txBody>
          <a:bodyPr wrap="none" lIns="0" rIns="0" tIns="0" bIns="0" anchor="t">
            <a:noAutofit/>
          </a:bodyPr>
          <a:lstStyle/>
          <a:p>
            <a:pPr algn="l">
              <a:lnSpc>
                <a:spcPts val="1852"/>
              </a:lnSpc>
              <a:spcBef>
                <a:spcPts val="0"/>
              </a:spcBef>
              <a:spcAft>
                <a:spcPts val="0"/>
              </a:spcAft>
            </a:pPr>
            <a:r>
              <a:rPr sz="1570" b="0" lang="zh-CN">
                <a:solidFill>
                  <a:srgbClr val="52677D"/>
                </a:solidFill>
                <a:latin typeface="Microsoft YaHei"/>
                <a:ea typeface="Microsoft YaHei"/>
              </a:rPr>
              <a:t>开流请求验证成功，说明发起者通过了身份认证，但并不等于后续整条流已经获得应用</a:t>
            </a:r>
            <a:br/>
            <a:r>
              <a:rPr sz="1570" b="0" lang="zh-CN">
                <a:solidFill>
                  <a:srgbClr val="52677D"/>
                </a:solidFill>
                <a:latin typeface="Microsoft YaHei"/>
                <a:ea typeface="Microsoft YaHei"/>
              </a:rPr>
              <a:t>层签名保护；需要明确各模式的保证。</a:t>
            </a:r>
          </a:p>
        </p:txBody>
      </p:sp>
      <p:cxnSp>
        <p:nvCxnSpPr>
          <p:cNvPr id="27" name="Connector 26"/>
          <p:cNvCxnSpPr/>
          <p:nvPr/>
        </p:nvCxnSpPr>
        <p:spPr>
          <a:xfrm>
            <a:off x="3502152" y="3566160"/>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28" name="Panel"/>
          <p:cNvSpPr/>
          <p:nvPr/>
        </p:nvSpPr>
        <p:spPr>
          <a:xfrm>
            <a:off x="585216" y="4855464"/>
            <a:ext cx="11021567" cy="1362456"/>
          </a:xfrm>
          <a:prstGeom prst="roundRect">
            <a:avLst>
              <a:gd name="adj" fmla="val 7000"/>
            </a:avLst>
          </a:prstGeom>
          <a:solidFill>
            <a:srgbClr val="ED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Panel"/>
          <p:cNvSpPr/>
          <p:nvPr/>
        </p:nvSpPr>
        <p:spPr>
          <a:xfrm>
            <a:off x="585216" y="4855464"/>
            <a:ext cx="32004" cy="1362456"/>
          </a:xfrm>
          <a:prstGeom prst="rect">
            <a:avLst/>
          </a:prstGeom>
          <a:solidFill>
            <a:srgbClr val="006E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
          <p:cNvSpPr txBox="1"/>
          <p:nvPr/>
        </p:nvSpPr>
        <p:spPr>
          <a:xfrm>
            <a:off x="740664" y="5010912"/>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006EB5"/>
                </a:solidFill>
                <a:latin typeface="Arial"/>
                <a:ea typeface="Microsoft YaHei"/>
              </a:rPr>
              <a:t>03</a:t>
            </a:r>
          </a:p>
        </p:txBody>
      </p:sp>
      <p:sp>
        <p:nvSpPr>
          <p:cNvPr id="31" name="Row heading EN"/>
          <p:cNvSpPr txBox="1"/>
          <p:nvPr/>
        </p:nvSpPr>
        <p:spPr>
          <a:xfrm>
            <a:off x="1133856" y="5020056"/>
            <a:ext cx="2258568" cy="309118"/>
          </a:xfrm>
          <a:prstGeom prst="rect">
            <a:avLst/>
          </a:prstGeom>
          <a:noFill/>
          <a:effectLst/>
        </p:spPr>
        <p:txBody>
          <a:bodyPr wrap="none" lIns="0" rIns="0" tIns="0" bIns="0" anchor="t">
            <a:noAutofit/>
          </a:bodyPr>
          <a:lstStyle/>
          <a:p>
            <a:pPr algn="l">
              <a:lnSpc>
                <a:spcPts val="2090"/>
              </a:lnSpc>
              <a:spcBef>
                <a:spcPts val="0"/>
              </a:spcBef>
              <a:spcAft>
                <a:spcPts val="0"/>
              </a:spcAft>
            </a:pPr>
            <a:r>
              <a:rPr sz="1900" b="1" lang="en-US">
                <a:solidFill>
                  <a:srgbClr val="193249"/>
                </a:solidFill>
                <a:latin typeface="Arial"/>
                <a:ea typeface="Microsoft YaHei"/>
              </a:rPr>
              <a:t>Stream lifecycle</a:t>
            </a:r>
          </a:p>
        </p:txBody>
      </p:sp>
      <p:sp>
        <p:nvSpPr>
          <p:cNvPr id="32" name="Row heading ZH"/>
          <p:cNvSpPr txBox="1"/>
          <p:nvPr/>
        </p:nvSpPr>
        <p:spPr>
          <a:xfrm>
            <a:off x="1133856" y="5429758"/>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006EB5"/>
                </a:solidFill>
                <a:latin typeface="Microsoft YaHei"/>
                <a:ea typeface="Microsoft YaHei"/>
              </a:rPr>
              <a:t>流生命周期</a:t>
            </a:r>
          </a:p>
        </p:txBody>
      </p:sp>
      <p:sp>
        <p:nvSpPr>
          <p:cNvPr id="33" name="Reading paragraph EN"/>
          <p:cNvSpPr txBox="1"/>
          <p:nvPr/>
        </p:nvSpPr>
        <p:spPr>
          <a:xfrm>
            <a:off x="3730752" y="5010912"/>
            <a:ext cx="7656575" cy="556209"/>
          </a:xfrm>
          <a:prstGeom prst="rect">
            <a:avLst/>
          </a:prstGeom>
          <a:noFill/>
          <a:effectLst/>
        </p:spPr>
        <p:txBody>
          <a:bodyPr wrap="none" lIns="0" rIns="0" tIns="0" bIns="0" anchor="t">
            <a:noAutofit/>
          </a:bodyPr>
          <a:lstStyle/>
          <a:p>
            <a:pPr algn="l">
              <a:lnSpc>
                <a:spcPts val="2017"/>
              </a:lnSpc>
              <a:spcBef>
                <a:spcPts val="0"/>
              </a:spcBef>
              <a:spcAft>
                <a:spcPts val="0"/>
              </a:spcAft>
            </a:pPr>
            <a:r>
              <a:rPr sz="1770" b="0" lang="en-US">
                <a:solidFill>
                  <a:srgbClr val="24394E"/>
                </a:solidFill>
                <a:latin typeface="Arial"/>
                <a:ea typeface="Microsoft YaHei"/>
              </a:rPr>
              <a:t>A stream may run for a long time or reconnect after failure. Define</a:t>
            </a:r>
            <a:br/>
            <a:r>
              <a:rPr sz="1770" b="0" lang="en-US">
                <a:solidFill>
                  <a:srgbClr val="24394E"/>
                </a:solidFill>
                <a:latin typeface="Arial"/>
                <a:ea typeface="Microsoft YaHei"/>
              </a:rPr>
              <a:t>authorization expiry, fresh authentication and downgrade prevention.</a:t>
            </a:r>
          </a:p>
        </p:txBody>
      </p:sp>
      <p:sp>
        <p:nvSpPr>
          <p:cNvPr id="34" name="Reading paragraph ZH"/>
          <p:cNvSpPr txBox="1"/>
          <p:nvPr/>
        </p:nvSpPr>
        <p:spPr>
          <a:xfrm>
            <a:off x="3730752" y="5640273"/>
            <a:ext cx="7656575" cy="514248"/>
          </a:xfrm>
          <a:prstGeom prst="rect">
            <a:avLst/>
          </a:prstGeom>
          <a:noFill/>
          <a:effectLst/>
        </p:spPr>
        <p:txBody>
          <a:bodyPr wrap="none" lIns="0" rIns="0" tIns="0" bIns="0" anchor="t">
            <a:noAutofit/>
          </a:bodyPr>
          <a:lstStyle/>
          <a:p>
            <a:pPr algn="l">
              <a:lnSpc>
                <a:spcPts val="1852"/>
              </a:lnSpc>
              <a:spcBef>
                <a:spcPts val="0"/>
              </a:spcBef>
              <a:spcAft>
                <a:spcPts val="0"/>
              </a:spcAft>
            </a:pPr>
            <a:r>
              <a:rPr sz="1570" b="0" lang="zh-CN">
                <a:solidFill>
                  <a:srgbClr val="52677D"/>
                </a:solidFill>
                <a:latin typeface="Microsoft YaHei"/>
                <a:ea typeface="Microsoft YaHei"/>
              </a:rPr>
              <a:t>数据流可能持续很久，也可能断线后恢复。需要明确授权何时到期、重连如何重新认</a:t>
            </a:r>
            <a:br/>
            <a:r>
              <a:rPr sz="1570" b="0" lang="zh-CN">
                <a:solidFill>
                  <a:srgbClr val="52677D"/>
                </a:solidFill>
                <a:latin typeface="Microsoft YaHei"/>
                <a:ea typeface="Microsoft YaHei"/>
              </a:rPr>
              <a:t>证，以及如何防止安全模式被静默降级。</a:t>
            </a:r>
          </a:p>
        </p:txBody>
      </p:sp>
      <p:cxnSp>
        <p:nvCxnSpPr>
          <p:cNvPr id="35" name="Connector 34"/>
          <p:cNvCxnSpPr/>
          <p:nvPr/>
        </p:nvCxnSpPr>
        <p:spPr>
          <a:xfrm>
            <a:off x="3502152" y="5020056"/>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nel"/>
          <p:cNvSpPr/>
          <p:nvPr/>
        </p:nvSpPr>
        <p:spPr>
          <a:xfrm>
            <a:off x="0" y="0"/>
            <a:ext cx="12191999" cy="59436"/>
          </a:xfrm>
          <a:prstGeom prst="rect">
            <a:avLst/>
          </a:prstGeom>
          <a:solidFill>
            <a:srgbClr val="006E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
          <p:cNvSpPr txBox="1"/>
          <p:nvPr/>
        </p:nvSpPr>
        <p:spPr>
          <a:xfrm>
            <a:off x="585216" y="274320"/>
            <a:ext cx="8686800" cy="228600"/>
          </a:xfrm>
          <a:prstGeom prst="rect">
            <a:avLst/>
          </a:prstGeom>
          <a:noFill/>
          <a:effectLst/>
        </p:spPr>
        <p:txBody>
          <a:bodyPr wrap="none" lIns="0" rIns="0" tIns="0" bIns="0" anchor="t">
            <a:noAutofit/>
          </a:bodyPr>
          <a:lstStyle/>
          <a:p>
            <a:pPr algn="l">
              <a:lnSpc>
                <a:spcPts val="1219"/>
              </a:lnSpc>
              <a:spcBef>
                <a:spcPts val="0"/>
              </a:spcBef>
              <a:spcAft>
                <a:spcPts val="0"/>
              </a:spcAft>
            </a:pPr>
            <a:r>
              <a:rPr sz="1060" b="1" lang="en-US">
                <a:solidFill>
                  <a:srgbClr val="006EB5"/>
                </a:solidFill>
                <a:latin typeface="Arial"/>
                <a:ea typeface="Microsoft YaHei"/>
              </a:rPr>
              <a:t>PROPOSAL 01 / 提案一  ·  STREAMING HTTP / 流式 HTTP</a:t>
            </a:r>
          </a:p>
        </p:txBody>
      </p:sp>
      <p:sp>
        <p:nvSpPr>
          <p:cNvPr id="4" name="Panel"/>
          <p:cNvSpPr/>
          <p:nvPr/>
        </p:nvSpPr>
        <p:spPr>
          <a:xfrm>
            <a:off x="9384791" y="246888"/>
            <a:ext cx="2221992" cy="365760"/>
          </a:xfrm>
          <a:prstGeom prst="roundRect">
            <a:avLst>
              <a:gd name="adj" fmla="val 7000"/>
            </a:avLst>
          </a:prstGeom>
          <a:solidFill>
            <a:srgbClr val="ED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
          <p:cNvSpPr txBox="1"/>
          <p:nvPr/>
        </p:nvSpPr>
        <p:spPr>
          <a:xfrm>
            <a:off x="9457943" y="314553"/>
            <a:ext cx="2075688" cy="201168"/>
          </a:xfrm>
          <a:prstGeom prst="rect">
            <a:avLst/>
          </a:prstGeom>
          <a:noFill/>
          <a:effectLst/>
        </p:spPr>
        <p:txBody>
          <a:bodyPr wrap="none" lIns="0" rIns="0" tIns="0" bIns="0" anchor="t">
            <a:noAutofit/>
          </a:bodyPr>
          <a:lstStyle/>
          <a:p>
            <a:pPr algn="ctr">
              <a:lnSpc>
                <a:spcPts val="1161"/>
              </a:lnSpc>
              <a:spcBef>
                <a:spcPts val="0"/>
              </a:spcBef>
              <a:spcAft>
                <a:spcPts val="0"/>
              </a:spcAft>
            </a:pPr>
            <a:r>
              <a:rPr sz="1010" b="1" lang="en-US">
                <a:solidFill>
                  <a:srgbClr val="006EB5"/>
                </a:solidFill>
                <a:latin typeface="Arial"/>
                <a:ea typeface="Microsoft YaHei"/>
              </a:rPr>
              <a:t>DIRECTION / 解决方向</a:t>
            </a:r>
          </a:p>
        </p:txBody>
      </p:sp>
      <p:sp>
        <p:nvSpPr>
          <p:cNvPr id="6" name="English title"/>
          <p:cNvSpPr txBox="1"/>
          <p:nvPr/>
        </p:nvSpPr>
        <p:spPr>
          <a:xfrm>
            <a:off x="585216" y="841248"/>
            <a:ext cx="11021567" cy="493776"/>
          </a:xfrm>
          <a:prstGeom prst="rect">
            <a:avLst/>
          </a:prstGeom>
          <a:noFill/>
          <a:effectLst/>
        </p:spPr>
        <p:txBody>
          <a:bodyPr wrap="none" lIns="0" rIns="0" tIns="0" bIns="0" anchor="t">
            <a:noAutofit/>
          </a:bodyPr>
          <a:lstStyle/>
          <a:p>
            <a:pPr algn="l">
              <a:lnSpc>
                <a:spcPts val="3454"/>
              </a:lnSpc>
              <a:spcBef>
                <a:spcPts val="0"/>
              </a:spcBef>
              <a:spcAft>
                <a:spcPts val="0"/>
              </a:spcAft>
            </a:pPr>
            <a:r>
              <a:rPr sz="3140" b="1" lang="en-US">
                <a:solidFill>
                  <a:srgbClr val="193249"/>
                </a:solidFill>
                <a:latin typeface="Arial"/>
                <a:ea typeface="Microsoft YaHei"/>
              </a:rPr>
              <a:t>Separate setup from content verification</a:t>
            </a:r>
          </a:p>
        </p:txBody>
      </p:sp>
      <p:sp>
        <p:nvSpPr>
          <p:cNvPr id="7" name="Chinese title"/>
          <p:cNvSpPr txBox="1"/>
          <p:nvPr/>
        </p:nvSpPr>
        <p:spPr>
          <a:xfrm>
            <a:off x="585216" y="1371600"/>
            <a:ext cx="11021567" cy="365760"/>
          </a:xfrm>
          <a:prstGeom prst="rect">
            <a:avLst/>
          </a:prstGeom>
          <a:noFill/>
          <a:effectLst/>
        </p:spPr>
        <p:txBody>
          <a:bodyPr wrap="none" lIns="0" rIns="0" tIns="0" bIns="0" anchor="t">
            <a:noAutofit/>
          </a:bodyPr>
          <a:lstStyle/>
          <a:p>
            <a:pPr algn="l">
              <a:lnSpc>
                <a:spcPts val="2392"/>
              </a:lnSpc>
              <a:spcBef>
                <a:spcPts val="0"/>
              </a:spcBef>
              <a:spcAft>
                <a:spcPts val="0"/>
              </a:spcAft>
            </a:pPr>
            <a:r>
              <a:rPr sz="2080" b="0" lang="zh-CN">
                <a:solidFill>
                  <a:srgbClr val="52677D"/>
                </a:solidFill>
                <a:latin typeface="Microsoft YaHei"/>
                <a:ea typeface="Microsoft YaHei"/>
              </a:rPr>
              <a:t>将开流认证与内容验证分开：只保留两种模式</a:t>
            </a:r>
          </a:p>
        </p:txBody>
      </p:sp>
      <p:cxnSp>
        <p:nvCxnSpPr>
          <p:cNvPr id="8" name="Connector 7"/>
          <p:cNvCxnSpPr/>
          <p:nvPr/>
        </p:nvCxnSpPr>
        <p:spPr>
          <a:xfrm>
            <a:off x="585216" y="6400800"/>
            <a:ext cx="11021567" cy="0"/>
          </a:xfrm>
          <a:prstGeom prst="line">
            <a:avLst/>
          </a:prstGeom>
          <a:ln w="889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9" name="Text"/>
          <p:cNvSpPr txBox="1"/>
          <p:nvPr/>
        </p:nvSpPr>
        <p:spPr>
          <a:xfrm>
            <a:off x="585216" y="6505956"/>
            <a:ext cx="8595360" cy="192024"/>
          </a:xfrm>
          <a:prstGeom prst="rect">
            <a:avLst/>
          </a:prstGeom>
          <a:noFill/>
          <a:effectLst/>
        </p:spPr>
        <p:txBody>
          <a:bodyPr wrap="none" lIns="0" rIns="0" tIns="0" bIns="0" anchor="t">
            <a:noAutofit/>
          </a:bodyPr>
          <a:lstStyle/>
          <a:p>
            <a:pPr algn="l">
              <a:lnSpc>
                <a:spcPts val="1080"/>
              </a:lnSpc>
              <a:spcBef>
                <a:spcPts val="0"/>
              </a:spcBef>
              <a:spcAft>
                <a:spcPts val="0"/>
              </a:spcAft>
            </a:pPr>
            <a:r>
              <a:rPr sz="940" b="0" lang="en-US">
                <a:solidFill>
                  <a:srgbClr val="52677D"/>
                </a:solidFill>
                <a:latin typeface="Arial"/>
                <a:ea typeface="Microsoft YaHei"/>
              </a:rPr>
              <a:t>W3C AI Agent Protocol CG  ·  Discussion draft / 讨论稿</a:t>
            </a:r>
          </a:p>
        </p:txBody>
      </p:sp>
      <p:sp>
        <p:nvSpPr>
          <p:cNvPr id="10" name="Text"/>
          <p:cNvSpPr txBox="1"/>
          <p:nvPr/>
        </p:nvSpPr>
        <p:spPr>
          <a:xfrm>
            <a:off x="8439912" y="6505956"/>
            <a:ext cx="2194560" cy="192024"/>
          </a:xfrm>
          <a:prstGeom prst="rect">
            <a:avLst/>
          </a:prstGeom>
          <a:noFill/>
          <a:effectLst/>
        </p:spPr>
        <p:txBody>
          <a:bodyPr wrap="none" lIns="0" rIns="0" tIns="0" bIns="0" anchor="t">
            <a:noAutofit/>
          </a:bodyPr>
          <a:lstStyle/>
          <a:p>
            <a:pPr algn="r">
              <a:lnSpc>
                <a:spcPts val="1069"/>
              </a:lnSpc>
              <a:spcBef>
                <a:spcPts val="0"/>
              </a:spcBef>
              <a:spcAft>
                <a:spcPts val="0"/>
              </a:spcAft>
            </a:pPr>
            <a:r>
              <a:rPr sz="930" b="0" lang="en-US">
                <a:solidFill>
                  <a:srgbClr val="52677D"/>
                </a:solidFill>
                <a:latin typeface="Arial"/>
                <a:ea typeface="Microsoft YaHei"/>
              </a:rPr>
              <a:t>Refs: identity, 9421, 9530</a:t>
            </a:r>
          </a:p>
        </p:txBody>
      </p:sp>
      <p:sp>
        <p:nvSpPr>
          <p:cNvPr id="11" name="Text"/>
          <p:cNvSpPr txBox="1"/>
          <p:nvPr/>
        </p:nvSpPr>
        <p:spPr>
          <a:xfrm>
            <a:off x="10890504" y="6487668"/>
            <a:ext cx="694944" cy="228600"/>
          </a:xfrm>
          <a:prstGeom prst="rect">
            <a:avLst/>
          </a:prstGeom>
          <a:noFill/>
          <a:effectLst/>
        </p:spPr>
        <p:txBody>
          <a:bodyPr wrap="none" lIns="0" rIns="0" tIns="0" bIns="0" anchor="t">
            <a:noAutofit/>
          </a:bodyPr>
          <a:lstStyle/>
          <a:p>
            <a:pPr algn="r">
              <a:lnSpc>
                <a:spcPts val="1299"/>
              </a:lnSpc>
              <a:spcBef>
                <a:spcPts val="0"/>
              </a:spcBef>
              <a:spcAft>
                <a:spcPts val="0"/>
              </a:spcAft>
            </a:pPr>
            <a:r>
              <a:rPr sz="1130" b="1" lang="en-US">
                <a:solidFill>
                  <a:srgbClr val="006EB5"/>
                </a:solidFill>
                <a:latin typeface="Arial"/>
                <a:ea typeface="Microsoft YaHei"/>
              </a:rPr>
              <a:t>03 / 07</a:t>
            </a:r>
          </a:p>
        </p:txBody>
      </p:sp>
      <p:sp>
        <p:nvSpPr>
          <p:cNvPr id="12" name="Panel"/>
          <p:cNvSpPr/>
          <p:nvPr/>
        </p:nvSpPr>
        <p:spPr>
          <a:xfrm>
            <a:off x="585216" y="1828800"/>
            <a:ext cx="11021567" cy="621792"/>
          </a:xfrm>
          <a:prstGeom prst="roundRect">
            <a:avLst>
              <a:gd name="adj" fmla="val 7000"/>
            </a:avLst>
          </a:prstGeom>
          <a:solidFill>
            <a:srgbClr val="ED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Lead English"/>
          <p:cNvSpPr txBox="1"/>
          <p:nvPr/>
        </p:nvSpPr>
        <p:spPr>
          <a:xfrm>
            <a:off x="749808" y="1920240"/>
            <a:ext cx="10692383" cy="265176"/>
          </a:xfrm>
          <a:prstGeom prst="rect">
            <a:avLst/>
          </a:prstGeom>
          <a:noFill/>
          <a:effectLst/>
        </p:spPr>
        <p:txBody>
          <a:bodyPr wrap="none" lIns="0" rIns="0" tIns="0" bIns="0" anchor="t">
            <a:noAutofit/>
          </a:bodyPr>
          <a:lstStyle/>
          <a:p>
            <a:pPr algn="l">
              <a:lnSpc>
                <a:spcPts val="1942"/>
              </a:lnSpc>
              <a:spcBef>
                <a:spcPts val="0"/>
              </a:spcBef>
              <a:spcAft>
                <a:spcPts val="0"/>
              </a:spcAft>
            </a:pPr>
            <a:r>
              <a:rPr sz="1750" b="1" lang="en-US">
                <a:solidFill>
                  <a:srgbClr val="193249"/>
                </a:solidFill>
                <a:latin typeface="Arial"/>
                <a:ea typeface="Microsoft YaHei"/>
              </a:rPr>
              <a:t>Reuse signed requests for known content; authenticate setup first for unknown-length streams.</a:t>
            </a:r>
          </a:p>
        </p:txBody>
      </p:sp>
      <p:sp>
        <p:nvSpPr>
          <p:cNvPr id="14" name="Lead Chinese"/>
          <p:cNvSpPr txBox="1"/>
          <p:nvPr/>
        </p:nvSpPr>
        <p:spPr>
          <a:xfrm>
            <a:off x="749808" y="2203704"/>
            <a:ext cx="10692383" cy="219456"/>
          </a:xfrm>
          <a:prstGeom prst="rect">
            <a:avLst/>
          </a:prstGeom>
          <a:noFill/>
          <a:effectLst/>
        </p:spPr>
        <p:txBody>
          <a:bodyPr wrap="none" lIns="0" rIns="0" tIns="0" bIns="0" anchor="t">
            <a:noAutofit/>
          </a:bodyPr>
          <a:lstStyle/>
          <a:p>
            <a:pPr algn="l">
              <a:lnSpc>
                <a:spcPts val="1628"/>
              </a:lnSpc>
              <a:spcBef>
                <a:spcPts val="0"/>
              </a:spcBef>
              <a:spcAft>
                <a:spcPts val="0"/>
              </a:spcAft>
            </a:pPr>
            <a:r>
              <a:rPr sz="1480" b="0" lang="zh-CN">
                <a:solidFill>
                  <a:srgbClr val="52677D"/>
                </a:solidFill>
                <a:latin typeface="Microsoft YaHei"/>
                <a:ea typeface="Microsoft YaHei"/>
              </a:rPr>
              <a:t>完整请求复用既有签名；未知长度流先通过初始化请求或受限认证上下文完成开流认证。</a:t>
            </a:r>
          </a:p>
        </p:txBody>
      </p:sp>
      <p:sp>
        <p:nvSpPr>
          <p:cNvPr id="15" name="Panel"/>
          <p:cNvSpPr/>
          <p:nvPr/>
        </p:nvSpPr>
        <p:spPr>
          <a:xfrm>
            <a:off x="585216" y="2560320"/>
            <a:ext cx="5391911" cy="3209544"/>
          </a:xfrm>
          <a:prstGeom prst="roundRect">
            <a:avLst>
              <a:gd name="adj" fmla="val 7000"/>
            </a:avLst>
          </a:prstGeom>
          <a:solidFill>
            <a:srgbClr val="ED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anel"/>
          <p:cNvSpPr/>
          <p:nvPr/>
        </p:nvSpPr>
        <p:spPr>
          <a:xfrm>
            <a:off x="585216" y="2560320"/>
            <a:ext cx="5391911" cy="32004"/>
          </a:xfrm>
          <a:prstGeom prst="rect">
            <a:avLst/>
          </a:prstGeom>
          <a:solidFill>
            <a:srgbClr val="006E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
          <p:cNvSpPr txBox="1"/>
          <p:nvPr/>
        </p:nvSpPr>
        <p:spPr>
          <a:xfrm>
            <a:off x="795528" y="2724912"/>
            <a:ext cx="4971287" cy="210312"/>
          </a:xfrm>
          <a:prstGeom prst="rect">
            <a:avLst/>
          </a:prstGeom>
          <a:noFill/>
          <a:effectLst/>
        </p:spPr>
        <p:txBody>
          <a:bodyPr wrap="none" lIns="0" rIns="0" tIns="0" bIns="0" anchor="t">
            <a:noAutofit/>
          </a:bodyPr>
          <a:lstStyle/>
          <a:p>
            <a:pPr algn="l">
              <a:lnSpc>
                <a:spcPts val="1253"/>
              </a:lnSpc>
              <a:spcBef>
                <a:spcPts val="0"/>
              </a:spcBef>
              <a:spcAft>
                <a:spcPts val="0"/>
              </a:spcAft>
            </a:pPr>
            <a:r>
              <a:rPr sz="1090" b="1" lang="en-US">
                <a:solidFill>
                  <a:srgbClr val="006EB5"/>
                </a:solidFill>
                <a:latin typeface="Arial"/>
                <a:ea typeface="Microsoft YaHei"/>
              </a:rPr>
              <a:t>BASELINE / 基础模式</a:t>
            </a:r>
          </a:p>
        </p:txBody>
      </p:sp>
      <p:sp>
        <p:nvSpPr>
          <p:cNvPr id="18" name="Mode heading EN"/>
          <p:cNvSpPr txBox="1"/>
          <p:nvPr/>
        </p:nvSpPr>
        <p:spPr>
          <a:xfrm>
            <a:off x="795528" y="3054096"/>
            <a:ext cx="4971287" cy="356616"/>
          </a:xfrm>
          <a:prstGeom prst="rect">
            <a:avLst/>
          </a:prstGeom>
          <a:noFill/>
          <a:effectLst/>
        </p:spPr>
        <p:txBody>
          <a:bodyPr wrap="none" lIns="0" rIns="0" tIns="0" bIns="0" anchor="t">
            <a:noAutofit/>
          </a:bodyPr>
          <a:lstStyle/>
          <a:p>
            <a:pPr algn="l">
              <a:lnSpc>
                <a:spcPts val="2415"/>
              </a:lnSpc>
              <a:spcBef>
                <a:spcPts val="0"/>
              </a:spcBef>
              <a:spcAft>
                <a:spcPts val="0"/>
              </a:spcAft>
            </a:pPr>
            <a:r>
              <a:rPr sz="2100" b="1" lang="en-US">
                <a:solidFill>
                  <a:srgbClr val="193249"/>
                </a:solidFill>
                <a:latin typeface="Arial"/>
                <a:ea typeface="Microsoft YaHei"/>
              </a:rPr>
              <a:t>HTTPS transport protection</a:t>
            </a:r>
          </a:p>
        </p:txBody>
      </p:sp>
      <p:sp>
        <p:nvSpPr>
          <p:cNvPr id="19" name="Text"/>
          <p:cNvSpPr txBox="1"/>
          <p:nvPr/>
        </p:nvSpPr>
        <p:spPr>
          <a:xfrm>
            <a:off x="795528" y="3447287"/>
            <a:ext cx="4971287" cy="283464"/>
          </a:xfrm>
          <a:prstGeom prst="rect">
            <a:avLst/>
          </a:prstGeom>
          <a:noFill/>
          <a:effectLst/>
        </p:spPr>
        <p:txBody>
          <a:bodyPr wrap="none" lIns="0" rIns="0" tIns="0" bIns="0" anchor="t">
            <a:noAutofit/>
          </a:bodyPr>
          <a:lstStyle/>
          <a:p>
            <a:pPr algn="l">
              <a:lnSpc>
                <a:spcPts val="2035"/>
              </a:lnSpc>
              <a:spcBef>
                <a:spcPts val="0"/>
              </a:spcBef>
              <a:spcAft>
                <a:spcPts val="0"/>
              </a:spcAft>
            </a:pPr>
            <a:r>
              <a:rPr sz="1770" b="1" lang="zh-CN">
                <a:solidFill>
                  <a:srgbClr val="006EB5"/>
                </a:solidFill>
                <a:latin typeface="Microsoft YaHei"/>
                <a:ea typeface="Microsoft YaHei"/>
              </a:rPr>
              <a:t>HTTPS 传输保护</a:t>
            </a:r>
          </a:p>
        </p:txBody>
      </p:sp>
      <p:sp>
        <p:nvSpPr>
          <p:cNvPr id="20" name="Mode paragraph EN"/>
          <p:cNvSpPr txBox="1"/>
          <p:nvPr/>
        </p:nvSpPr>
        <p:spPr>
          <a:xfrm>
            <a:off x="795528" y="3758183"/>
            <a:ext cx="4971287" cy="1068730"/>
          </a:xfrm>
          <a:prstGeom prst="rect">
            <a:avLst/>
          </a:prstGeom>
          <a:noFill/>
          <a:effectLst/>
        </p:spPr>
        <p:txBody>
          <a:bodyPr wrap="none" lIns="0" rIns="0" tIns="0" bIns="0" anchor="t">
            <a:noAutofit/>
          </a:bodyPr>
          <a:lstStyle/>
          <a:p>
            <a:pPr algn="l">
              <a:lnSpc>
                <a:spcPts val="2017"/>
              </a:lnSpc>
              <a:spcBef>
                <a:spcPts val="0"/>
              </a:spcBef>
              <a:spcAft>
                <a:spcPts val="0"/>
              </a:spcAft>
            </a:pPr>
            <a:r>
              <a:rPr sz="1770" b="0" lang="en-US">
                <a:solidFill>
                  <a:srgbClr val="24394E"/>
                </a:solidFill>
                <a:latin typeface="Arial"/>
                <a:ea typeface="Microsoft YaHei"/>
              </a:rPr>
              <a:t>Authenticate and check permissions first. HTTPS</a:t>
            </a:r>
            <a:br/>
            <a:r>
              <a:rPr sz="1770" b="0" lang="en-US">
                <a:solidFill>
                  <a:srgbClr val="24394E"/>
                </a:solidFill>
                <a:latin typeface="Arial"/>
                <a:ea typeface="Microsoft YaHei"/>
              </a:rPr>
              <a:t>protects transport; this mode does not add an</a:t>
            </a:r>
            <a:br/>
            <a:r>
              <a:rPr sz="1770" b="0" lang="en-US">
                <a:solidFill>
                  <a:srgbClr val="24394E"/>
                </a:solidFill>
                <a:latin typeface="Arial"/>
                <a:ea typeface="Microsoft YaHei"/>
              </a:rPr>
              <a:t>application-level signature over the complete</a:t>
            </a:r>
            <a:br/>
            <a:r>
              <a:rPr sz="1770" b="0" lang="en-US">
                <a:solidFill>
                  <a:srgbClr val="24394E"/>
                </a:solidFill>
                <a:latin typeface="Arial"/>
                <a:ea typeface="Microsoft YaHei"/>
              </a:rPr>
              <a:t>stream.</a:t>
            </a:r>
          </a:p>
        </p:txBody>
      </p:sp>
      <p:sp>
        <p:nvSpPr>
          <p:cNvPr id="21" name="Mode paragraph ZH"/>
          <p:cNvSpPr txBox="1"/>
          <p:nvPr/>
        </p:nvSpPr>
        <p:spPr>
          <a:xfrm>
            <a:off x="795528" y="4900066"/>
            <a:ext cx="4971287" cy="761491"/>
          </a:xfrm>
          <a:prstGeom prst="rect">
            <a:avLst/>
          </a:prstGeom>
          <a:noFill/>
          <a:effectLst/>
        </p:spPr>
        <p:txBody>
          <a:bodyPr wrap="none" lIns="0" rIns="0" tIns="0" bIns="0" anchor="t">
            <a:noAutofit/>
          </a:bodyPr>
          <a:lstStyle/>
          <a:p>
            <a:pPr algn="l">
              <a:lnSpc>
                <a:spcPts val="1884"/>
              </a:lnSpc>
              <a:spcBef>
                <a:spcPts val="0"/>
              </a:spcBef>
              <a:spcAft>
                <a:spcPts val="0"/>
              </a:spcAft>
            </a:pPr>
            <a:r>
              <a:rPr sz="1570" b="0" lang="zh-CN">
                <a:solidFill>
                  <a:srgbClr val="52677D"/>
                </a:solidFill>
                <a:latin typeface="Microsoft YaHei"/>
                <a:ea typeface="Microsoft YaHei"/>
              </a:rPr>
              <a:t>开流前完成身份认证与权限检查，再由 HTTPS 提供传输</a:t>
            </a:r>
            <a:br/>
            <a:r>
              <a:rPr sz="1570" b="0" lang="zh-CN">
                <a:solidFill>
                  <a:srgbClr val="52677D"/>
                </a:solidFill>
                <a:latin typeface="Microsoft YaHei"/>
                <a:ea typeface="Microsoft YaHei"/>
              </a:rPr>
              <a:t>保护。该模式不额外提供覆盖整条流的应用层签名证</a:t>
            </a:r>
            <a:br/>
            <a:r>
              <a:rPr sz="1570" b="0" lang="zh-CN">
                <a:solidFill>
                  <a:srgbClr val="52677D"/>
                </a:solidFill>
                <a:latin typeface="Microsoft YaHei"/>
                <a:ea typeface="Microsoft YaHei"/>
              </a:rPr>
              <a:t>明，适合只需要传输层保护的场景。</a:t>
            </a:r>
          </a:p>
        </p:txBody>
      </p:sp>
      <p:sp>
        <p:nvSpPr>
          <p:cNvPr id="22" name="Panel"/>
          <p:cNvSpPr/>
          <p:nvPr/>
        </p:nvSpPr>
        <p:spPr>
          <a:xfrm>
            <a:off x="6214871" y="2560320"/>
            <a:ext cx="5391911" cy="3209544"/>
          </a:xfrm>
          <a:prstGeom prst="roundRect">
            <a:avLst>
              <a:gd name="adj" fmla="val 7000"/>
            </a:avLst>
          </a:prstGeom>
          <a:solidFill>
            <a:srgbClr val="ED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Panel"/>
          <p:cNvSpPr/>
          <p:nvPr/>
        </p:nvSpPr>
        <p:spPr>
          <a:xfrm>
            <a:off x="6214871" y="2560320"/>
            <a:ext cx="5391911" cy="32004"/>
          </a:xfrm>
          <a:prstGeom prst="rect">
            <a:avLst/>
          </a:prstGeom>
          <a:solidFill>
            <a:srgbClr val="006E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
          <p:cNvSpPr txBox="1"/>
          <p:nvPr/>
        </p:nvSpPr>
        <p:spPr>
          <a:xfrm>
            <a:off x="6425183" y="2724912"/>
            <a:ext cx="4971287" cy="210312"/>
          </a:xfrm>
          <a:prstGeom prst="rect">
            <a:avLst/>
          </a:prstGeom>
          <a:noFill/>
          <a:effectLst/>
        </p:spPr>
        <p:txBody>
          <a:bodyPr wrap="none" lIns="0" rIns="0" tIns="0" bIns="0" anchor="t">
            <a:noAutofit/>
          </a:bodyPr>
          <a:lstStyle/>
          <a:p>
            <a:pPr algn="l">
              <a:lnSpc>
                <a:spcPts val="1253"/>
              </a:lnSpc>
              <a:spcBef>
                <a:spcPts val="0"/>
              </a:spcBef>
              <a:spcAft>
                <a:spcPts val="0"/>
              </a:spcAft>
            </a:pPr>
            <a:r>
              <a:rPr sz="1090" b="1" lang="en-US">
                <a:solidFill>
                  <a:srgbClr val="006EB5"/>
                </a:solidFill>
                <a:latin typeface="Arial"/>
                <a:ea typeface="Microsoft YaHei"/>
              </a:rPr>
              <a:t>ENHANCED / 增强模式</a:t>
            </a:r>
          </a:p>
        </p:txBody>
      </p:sp>
      <p:sp>
        <p:nvSpPr>
          <p:cNvPr id="25" name="Mode heading EN"/>
          <p:cNvSpPr txBox="1"/>
          <p:nvPr/>
        </p:nvSpPr>
        <p:spPr>
          <a:xfrm>
            <a:off x="6425183" y="3054096"/>
            <a:ext cx="4971287" cy="356616"/>
          </a:xfrm>
          <a:prstGeom prst="rect">
            <a:avLst/>
          </a:prstGeom>
          <a:noFill/>
          <a:effectLst/>
        </p:spPr>
        <p:txBody>
          <a:bodyPr wrap="none" lIns="0" rIns="0" tIns="0" bIns="0" anchor="t">
            <a:noAutofit/>
          </a:bodyPr>
          <a:lstStyle/>
          <a:p>
            <a:pPr algn="l">
              <a:lnSpc>
                <a:spcPts val="2415"/>
              </a:lnSpc>
              <a:spcBef>
                <a:spcPts val="0"/>
              </a:spcBef>
              <a:spcAft>
                <a:spcPts val="0"/>
              </a:spcAft>
            </a:pPr>
            <a:r>
              <a:rPr sz="2100" b="1" lang="en-US">
                <a:solidFill>
                  <a:srgbClr val="193249"/>
                </a:solidFill>
                <a:latin typeface="Arial"/>
                <a:ea typeface="Microsoft YaHei"/>
              </a:rPr>
              <a:t>Verify the complete stream at the end</a:t>
            </a:r>
          </a:p>
        </p:txBody>
      </p:sp>
      <p:sp>
        <p:nvSpPr>
          <p:cNvPr id="26" name="Text"/>
          <p:cNvSpPr txBox="1"/>
          <p:nvPr/>
        </p:nvSpPr>
        <p:spPr>
          <a:xfrm>
            <a:off x="6425183" y="3447287"/>
            <a:ext cx="4971287" cy="283464"/>
          </a:xfrm>
          <a:prstGeom prst="rect">
            <a:avLst/>
          </a:prstGeom>
          <a:noFill/>
          <a:effectLst/>
        </p:spPr>
        <p:txBody>
          <a:bodyPr wrap="none" lIns="0" rIns="0" tIns="0" bIns="0" anchor="t">
            <a:noAutofit/>
          </a:bodyPr>
          <a:lstStyle/>
          <a:p>
            <a:pPr algn="l">
              <a:lnSpc>
                <a:spcPts val="2035"/>
              </a:lnSpc>
              <a:spcBef>
                <a:spcPts val="0"/>
              </a:spcBef>
              <a:spcAft>
                <a:spcPts val="0"/>
              </a:spcAft>
            </a:pPr>
            <a:r>
              <a:rPr sz="1770" b="1" lang="zh-CN">
                <a:solidFill>
                  <a:srgbClr val="006EB5"/>
                </a:solidFill>
                <a:latin typeface="Microsoft YaHei"/>
                <a:ea typeface="Microsoft YaHei"/>
              </a:rPr>
              <a:t>结束时整体校验</a:t>
            </a:r>
          </a:p>
        </p:txBody>
      </p:sp>
      <p:sp>
        <p:nvSpPr>
          <p:cNvPr id="27" name="Mode paragraph EN"/>
          <p:cNvSpPr txBox="1"/>
          <p:nvPr/>
        </p:nvSpPr>
        <p:spPr>
          <a:xfrm>
            <a:off x="6425183" y="3758183"/>
            <a:ext cx="4971287" cy="1068730"/>
          </a:xfrm>
          <a:prstGeom prst="rect">
            <a:avLst/>
          </a:prstGeom>
          <a:noFill/>
          <a:effectLst/>
        </p:spPr>
        <p:txBody>
          <a:bodyPr wrap="none" lIns="0" rIns="0" tIns="0" bIns="0" anchor="t">
            <a:noAutofit/>
          </a:bodyPr>
          <a:lstStyle/>
          <a:p>
            <a:pPr algn="l">
              <a:lnSpc>
                <a:spcPts val="2017"/>
              </a:lnSpc>
              <a:spcBef>
                <a:spcPts val="0"/>
              </a:spcBef>
              <a:spcAft>
                <a:spcPts val="0"/>
              </a:spcAft>
            </a:pPr>
            <a:r>
              <a:rPr sz="1770" b="0" lang="en-US">
                <a:solidFill>
                  <a:srgbClr val="24394E"/>
                </a:solidFill>
                <a:latin typeface="Arial"/>
                <a:ea typeface="Microsoft YaHei"/>
              </a:rPr>
              <a:t>For finite streams, hash data during transmission</a:t>
            </a:r>
            <a:br/>
            <a:r>
              <a:rPr sz="1770" b="0" lang="en-US">
                <a:solidFill>
                  <a:srgbClr val="24394E"/>
                </a:solidFill>
                <a:latin typeface="Arial"/>
                <a:ea typeface="Microsoft YaHei"/>
              </a:rPr>
              <a:t>and sign the final digest with the stream context.</a:t>
            </a:r>
            <a:br/>
            <a:r>
              <a:rPr sz="1770" b="0" lang="en-US">
                <a:solidFill>
                  <a:srgbClr val="24394E"/>
                </a:solidFill>
                <a:latin typeface="Arial"/>
                <a:ea typeface="Microsoft YaHei"/>
              </a:rPr>
              <a:t>Verify before relying on whole-stream integrity for</a:t>
            </a:r>
            <a:br/>
            <a:r>
              <a:rPr sz="1770" b="0" lang="en-US">
                <a:solidFill>
                  <a:srgbClr val="24394E"/>
                </a:solidFill>
                <a:latin typeface="Arial"/>
                <a:ea typeface="Microsoft YaHei"/>
              </a:rPr>
              <a:t>irreversible actions.</a:t>
            </a:r>
          </a:p>
        </p:txBody>
      </p:sp>
      <p:sp>
        <p:nvSpPr>
          <p:cNvPr id="28" name="Mode paragraph ZH"/>
          <p:cNvSpPr txBox="1"/>
          <p:nvPr/>
        </p:nvSpPr>
        <p:spPr>
          <a:xfrm>
            <a:off x="6425183" y="4900066"/>
            <a:ext cx="4971287" cy="761491"/>
          </a:xfrm>
          <a:prstGeom prst="rect">
            <a:avLst/>
          </a:prstGeom>
          <a:noFill/>
          <a:effectLst/>
        </p:spPr>
        <p:txBody>
          <a:bodyPr wrap="none" lIns="0" rIns="0" tIns="0" bIns="0" anchor="t">
            <a:noAutofit/>
          </a:bodyPr>
          <a:lstStyle/>
          <a:p>
            <a:pPr algn="l">
              <a:lnSpc>
                <a:spcPts val="1884"/>
              </a:lnSpc>
              <a:spcBef>
                <a:spcPts val="0"/>
              </a:spcBef>
              <a:spcAft>
                <a:spcPts val="0"/>
              </a:spcAft>
            </a:pPr>
            <a:r>
              <a:rPr sz="1570" b="0" lang="zh-CN">
                <a:solidFill>
                  <a:srgbClr val="52677D"/>
                </a:solidFill>
                <a:latin typeface="Microsoft YaHei"/>
                <a:ea typeface="Microsoft YaHei"/>
              </a:rPr>
              <a:t>面向有限流，传输时增量计算摘要，结束后对最终摘要</a:t>
            </a:r>
            <a:br/>
            <a:r>
              <a:rPr sz="1570" b="0" lang="zh-CN">
                <a:solidFill>
                  <a:srgbClr val="52677D"/>
                </a:solidFill>
                <a:latin typeface="Microsoft YaHei"/>
                <a:ea typeface="Microsoft YaHei"/>
              </a:rPr>
              <a:t>及流上下文签名。只有验证成功后，才确认整体完整</a:t>
            </a:r>
            <a:br/>
            <a:r>
              <a:rPr sz="1570" b="0" lang="zh-CN">
                <a:solidFill>
                  <a:srgbClr val="52677D"/>
                </a:solidFill>
                <a:latin typeface="Microsoft YaHei"/>
                <a:ea typeface="Microsoft YaHei"/>
              </a:rPr>
              <a:t>性；依赖该保证的不可逆操作应延后。</a:t>
            </a:r>
          </a:p>
        </p:txBody>
      </p:sp>
      <p:sp>
        <p:nvSpPr>
          <p:cNvPr id="29" name="Panel"/>
          <p:cNvSpPr/>
          <p:nvPr/>
        </p:nvSpPr>
        <p:spPr>
          <a:xfrm>
            <a:off x="585216" y="5843016"/>
            <a:ext cx="11021567" cy="502920"/>
          </a:xfrm>
          <a:prstGeom prst="roundRect">
            <a:avLst>
              <a:gd name="adj" fmla="val 7000"/>
            </a:avLst>
          </a:prstGeom>
          <a:solidFill>
            <a:srgbClr val="ED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
          <p:cNvSpPr txBox="1"/>
          <p:nvPr/>
        </p:nvSpPr>
        <p:spPr>
          <a:xfrm>
            <a:off x="749808" y="5875020"/>
            <a:ext cx="10692383" cy="256032"/>
          </a:xfrm>
          <a:prstGeom prst="rect">
            <a:avLst/>
          </a:prstGeom>
          <a:noFill/>
          <a:effectLst/>
        </p:spPr>
        <p:txBody>
          <a:bodyPr wrap="none" lIns="0" rIns="0" tIns="0" bIns="0" anchor="t">
            <a:noAutofit/>
          </a:bodyPr>
          <a:lstStyle/>
          <a:p>
            <a:pPr algn="l">
              <a:lnSpc>
                <a:spcPts val="1885"/>
              </a:lnSpc>
              <a:spcBef>
                <a:spcPts val="0"/>
              </a:spcBef>
              <a:spcAft>
                <a:spcPts val="0"/>
              </a:spcAft>
            </a:pPr>
            <a:r>
              <a:rPr sz="1639" b="1" lang="en-US">
                <a:solidFill>
                  <a:srgbClr val="006EB5"/>
                </a:solidFill>
                <a:latin typeface="Arial"/>
                <a:ea typeface="Microsoft YaHei"/>
              </a:rPr>
              <a:t>Set an expiry policy, re-authenticate on reconnect, and reject silent downgrades.</a:t>
            </a:r>
          </a:p>
        </p:txBody>
      </p:sp>
      <p:sp>
        <p:nvSpPr>
          <p:cNvPr id="31" name="Text"/>
          <p:cNvSpPr txBox="1"/>
          <p:nvPr/>
        </p:nvSpPr>
        <p:spPr>
          <a:xfrm>
            <a:off x="749808" y="6112764"/>
            <a:ext cx="10692383" cy="210312"/>
          </a:xfrm>
          <a:prstGeom prst="rect">
            <a:avLst/>
          </a:prstGeom>
          <a:noFill/>
          <a:effectLst/>
        </p:spPr>
        <p:txBody>
          <a:bodyPr wrap="none" lIns="0" rIns="0" tIns="0" bIns="0" anchor="t">
            <a:noAutofit/>
          </a:bodyPr>
          <a:lstStyle/>
          <a:p>
            <a:pPr algn="l">
              <a:lnSpc>
                <a:spcPts val="1621"/>
              </a:lnSpc>
              <a:spcBef>
                <a:spcPts val="0"/>
              </a:spcBef>
              <a:spcAft>
                <a:spcPts val="0"/>
              </a:spcAft>
            </a:pPr>
            <a:r>
              <a:rPr sz="1410" b="0" lang="zh-CN">
                <a:solidFill>
                  <a:srgbClr val="52677D"/>
                </a:solidFill>
                <a:latin typeface="Microsoft YaHei"/>
                <a:ea typeface="Microsoft YaHei"/>
              </a:rPr>
              <a:t>统一明确有效期策略；重连重新认证；要求增强模式时不得静默降级。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nel"/>
          <p:cNvSpPr/>
          <p:nvPr/>
        </p:nvSpPr>
        <p:spPr>
          <a:xfrm>
            <a:off x="0" y="0"/>
            <a:ext cx="12191999" cy="59436"/>
          </a:xfrm>
          <a:prstGeom prst="rect">
            <a:avLst/>
          </a:prstGeom>
          <a:solidFill>
            <a:srgbClr val="008C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
          <p:cNvSpPr txBox="1"/>
          <p:nvPr/>
        </p:nvSpPr>
        <p:spPr>
          <a:xfrm>
            <a:off x="585216" y="274320"/>
            <a:ext cx="8686800" cy="228600"/>
          </a:xfrm>
          <a:prstGeom prst="rect">
            <a:avLst/>
          </a:prstGeom>
          <a:noFill/>
          <a:effectLst/>
        </p:spPr>
        <p:txBody>
          <a:bodyPr wrap="none" lIns="0" rIns="0" tIns="0" bIns="0" anchor="t">
            <a:noAutofit/>
          </a:bodyPr>
          <a:lstStyle/>
          <a:p>
            <a:pPr algn="l">
              <a:lnSpc>
                <a:spcPts val="1219"/>
              </a:lnSpc>
              <a:spcBef>
                <a:spcPts val="0"/>
              </a:spcBef>
              <a:spcAft>
                <a:spcPts val="0"/>
              </a:spcAft>
            </a:pPr>
            <a:r>
              <a:rPr sz="1060" b="1" lang="en-US">
                <a:solidFill>
                  <a:srgbClr val="008C91"/>
                </a:solidFill>
                <a:latin typeface="Arial"/>
                <a:ea typeface="Microsoft YaHei"/>
              </a:rPr>
              <a:t>PROPOSAL 02 / 提案二  ·  MUTUAL DID AUTHENTICATION / 双向 DID 认证</a:t>
            </a:r>
          </a:p>
        </p:txBody>
      </p:sp>
      <p:sp>
        <p:nvSpPr>
          <p:cNvPr id="4" name="Panel"/>
          <p:cNvSpPr/>
          <p:nvPr/>
        </p:nvSpPr>
        <p:spPr>
          <a:xfrm>
            <a:off x="9384791" y="246888"/>
            <a:ext cx="2221992" cy="365760"/>
          </a:xfrm>
          <a:prstGeom prst="roundRect">
            <a:avLst>
              <a:gd name="adj" fmla="val 7000"/>
            </a:avLst>
          </a:prstGeom>
          <a:solidFill>
            <a:srgbClr val="EC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
          <p:cNvSpPr txBox="1"/>
          <p:nvPr/>
        </p:nvSpPr>
        <p:spPr>
          <a:xfrm>
            <a:off x="9457943" y="314553"/>
            <a:ext cx="2075688" cy="201168"/>
          </a:xfrm>
          <a:prstGeom prst="rect">
            <a:avLst/>
          </a:prstGeom>
          <a:noFill/>
          <a:effectLst/>
        </p:spPr>
        <p:txBody>
          <a:bodyPr wrap="none" lIns="0" rIns="0" tIns="0" bIns="0" anchor="t">
            <a:noAutofit/>
          </a:bodyPr>
          <a:lstStyle/>
          <a:p>
            <a:pPr algn="ctr">
              <a:lnSpc>
                <a:spcPts val="1161"/>
              </a:lnSpc>
              <a:spcBef>
                <a:spcPts val="0"/>
              </a:spcBef>
              <a:spcAft>
                <a:spcPts val="0"/>
              </a:spcAft>
            </a:pPr>
            <a:r>
              <a:rPr sz="1010" b="1" lang="en-US">
                <a:solidFill>
                  <a:srgbClr val="008C91"/>
                </a:solidFill>
                <a:latin typeface="Arial"/>
                <a:ea typeface="Microsoft YaHei"/>
              </a:rPr>
              <a:t>PROBLEM / 当前问题</a:t>
            </a:r>
          </a:p>
        </p:txBody>
      </p:sp>
      <p:sp>
        <p:nvSpPr>
          <p:cNvPr id="6" name="English title"/>
          <p:cNvSpPr txBox="1"/>
          <p:nvPr/>
        </p:nvSpPr>
        <p:spPr>
          <a:xfrm>
            <a:off x="585216" y="841248"/>
            <a:ext cx="11021567" cy="493776"/>
          </a:xfrm>
          <a:prstGeom prst="rect">
            <a:avLst/>
          </a:prstGeom>
          <a:noFill/>
          <a:effectLst/>
        </p:spPr>
        <p:txBody>
          <a:bodyPr wrap="none" lIns="0" rIns="0" tIns="0" bIns="0" anchor="t">
            <a:noAutofit/>
          </a:bodyPr>
          <a:lstStyle/>
          <a:p>
            <a:pPr algn="l">
              <a:lnSpc>
                <a:spcPts val="3454"/>
              </a:lnSpc>
              <a:spcBef>
                <a:spcPts val="0"/>
              </a:spcBef>
              <a:spcAft>
                <a:spcPts val="0"/>
              </a:spcAft>
            </a:pPr>
            <a:r>
              <a:rPr sz="3140" b="1" lang="en-US">
                <a:solidFill>
                  <a:srgbClr val="193249"/>
                </a:solidFill>
                <a:latin typeface="Arial"/>
                <a:ea typeface="Microsoft YaHei"/>
              </a:rPr>
              <a:t>The client needs proof of the server’s DID</a:t>
            </a:r>
          </a:p>
        </p:txBody>
      </p:sp>
      <p:sp>
        <p:nvSpPr>
          <p:cNvPr id="7" name="Chinese title"/>
          <p:cNvSpPr txBox="1"/>
          <p:nvPr/>
        </p:nvSpPr>
        <p:spPr>
          <a:xfrm>
            <a:off x="585216" y="1371600"/>
            <a:ext cx="11021567" cy="365760"/>
          </a:xfrm>
          <a:prstGeom prst="rect">
            <a:avLst/>
          </a:prstGeom>
          <a:noFill/>
          <a:effectLst/>
        </p:spPr>
        <p:txBody>
          <a:bodyPr wrap="none" lIns="0" rIns="0" tIns="0" bIns="0" anchor="t">
            <a:noAutofit/>
          </a:bodyPr>
          <a:lstStyle/>
          <a:p>
            <a:pPr algn="l">
              <a:lnSpc>
                <a:spcPts val="2392"/>
              </a:lnSpc>
              <a:spcBef>
                <a:spcPts val="0"/>
              </a:spcBef>
              <a:spcAft>
                <a:spcPts val="0"/>
              </a:spcAft>
            </a:pPr>
            <a:r>
              <a:rPr sz="2080" b="0" lang="zh-CN">
                <a:solidFill>
                  <a:srgbClr val="52677D"/>
                </a:solidFill>
                <a:latin typeface="Microsoft YaHei"/>
                <a:ea typeface="Microsoft YaHei"/>
              </a:rPr>
              <a:t>双向 DID 身份认证：当前缺少什么</a:t>
            </a:r>
          </a:p>
        </p:txBody>
      </p:sp>
      <p:cxnSp>
        <p:nvCxnSpPr>
          <p:cNvPr id="8" name="Connector 7"/>
          <p:cNvCxnSpPr/>
          <p:nvPr/>
        </p:nvCxnSpPr>
        <p:spPr>
          <a:xfrm>
            <a:off x="585216" y="6400800"/>
            <a:ext cx="11021567" cy="0"/>
          </a:xfrm>
          <a:prstGeom prst="line">
            <a:avLst/>
          </a:prstGeom>
          <a:ln w="889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9" name="Text"/>
          <p:cNvSpPr txBox="1"/>
          <p:nvPr/>
        </p:nvSpPr>
        <p:spPr>
          <a:xfrm>
            <a:off x="585216" y="6505956"/>
            <a:ext cx="8595360" cy="192024"/>
          </a:xfrm>
          <a:prstGeom prst="rect">
            <a:avLst/>
          </a:prstGeom>
          <a:noFill/>
          <a:effectLst/>
        </p:spPr>
        <p:txBody>
          <a:bodyPr wrap="none" lIns="0" rIns="0" tIns="0" bIns="0" anchor="t">
            <a:noAutofit/>
          </a:bodyPr>
          <a:lstStyle/>
          <a:p>
            <a:pPr algn="l">
              <a:lnSpc>
                <a:spcPts val="1080"/>
              </a:lnSpc>
              <a:spcBef>
                <a:spcPts val="0"/>
              </a:spcBef>
              <a:spcAft>
                <a:spcPts val="0"/>
              </a:spcAft>
            </a:pPr>
            <a:r>
              <a:rPr sz="940" b="0" lang="en-US">
                <a:solidFill>
                  <a:srgbClr val="52677D"/>
                </a:solidFill>
                <a:latin typeface="Arial"/>
                <a:ea typeface="Microsoft YaHei"/>
              </a:rPr>
              <a:t>W3C AI Agent Protocol CG  ·  Discussion draft / 讨论稿</a:t>
            </a:r>
          </a:p>
        </p:txBody>
      </p:sp>
      <p:sp>
        <p:nvSpPr>
          <p:cNvPr id="10" name="Text"/>
          <p:cNvSpPr txBox="1"/>
          <p:nvPr/>
        </p:nvSpPr>
        <p:spPr>
          <a:xfrm>
            <a:off x="8439912" y="6505956"/>
            <a:ext cx="2194560" cy="192024"/>
          </a:xfrm>
          <a:prstGeom prst="rect">
            <a:avLst/>
          </a:prstGeom>
          <a:noFill/>
          <a:effectLst/>
        </p:spPr>
        <p:txBody>
          <a:bodyPr wrap="none" lIns="0" rIns="0" tIns="0" bIns="0" anchor="t">
            <a:noAutofit/>
          </a:bodyPr>
          <a:lstStyle/>
          <a:p>
            <a:pPr algn="r">
              <a:lnSpc>
                <a:spcPts val="1069"/>
              </a:lnSpc>
              <a:spcBef>
                <a:spcPts val="0"/>
              </a:spcBef>
              <a:spcAft>
                <a:spcPts val="0"/>
              </a:spcAft>
            </a:pPr>
            <a:r>
              <a:rPr sz="930" b="0" lang="en-US">
                <a:solidFill>
                  <a:srgbClr val="52677D"/>
                </a:solidFill>
                <a:latin typeface="Arial"/>
                <a:ea typeface="Microsoft YaHei"/>
              </a:rPr>
              <a:t>Refs: identity, 9421</a:t>
            </a:r>
          </a:p>
        </p:txBody>
      </p:sp>
      <p:sp>
        <p:nvSpPr>
          <p:cNvPr id="11" name="Text"/>
          <p:cNvSpPr txBox="1"/>
          <p:nvPr/>
        </p:nvSpPr>
        <p:spPr>
          <a:xfrm>
            <a:off x="10890504" y="6487668"/>
            <a:ext cx="694944" cy="228600"/>
          </a:xfrm>
          <a:prstGeom prst="rect">
            <a:avLst/>
          </a:prstGeom>
          <a:noFill/>
          <a:effectLst/>
        </p:spPr>
        <p:txBody>
          <a:bodyPr wrap="none" lIns="0" rIns="0" tIns="0" bIns="0" anchor="t">
            <a:noAutofit/>
          </a:bodyPr>
          <a:lstStyle/>
          <a:p>
            <a:pPr algn="r">
              <a:lnSpc>
                <a:spcPts val="1299"/>
              </a:lnSpc>
              <a:spcBef>
                <a:spcPts val="0"/>
              </a:spcBef>
              <a:spcAft>
                <a:spcPts val="0"/>
              </a:spcAft>
            </a:pPr>
            <a:r>
              <a:rPr sz="1130" b="1" lang="en-US">
                <a:solidFill>
                  <a:srgbClr val="008C91"/>
                </a:solidFill>
                <a:latin typeface="Arial"/>
                <a:ea typeface="Microsoft YaHei"/>
              </a:rPr>
              <a:t>04 / 07</a:t>
            </a:r>
          </a:p>
        </p:txBody>
      </p:sp>
      <p:sp>
        <p:nvSpPr>
          <p:cNvPr id="12" name="Panel"/>
          <p:cNvSpPr/>
          <p:nvPr/>
        </p:nvSpPr>
        <p:spPr>
          <a:xfrm>
            <a:off x="585216" y="1947672"/>
            <a:ext cx="11021567" cy="1362456"/>
          </a:xfrm>
          <a:prstGeom prst="roundRect">
            <a:avLst>
              <a:gd name="adj" fmla="val 7000"/>
            </a:avLst>
          </a:prstGeom>
          <a:solidFill>
            <a:srgbClr val="EC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anel"/>
          <p:cNvSpPr/>
          <p:nvPr/>
        </p:nvSpPr>
        <p:spPr>
          <a:xfrm>
            <a:off x="585216" y="1947672"/>
            <a:ext cx="32004" cy="1362456"/>
          </a:xfrm>
          <a:prstGeom prst="rect">
            <a:avLst/>
          </a:prstGeom>
          <a:solidFill>
            <a:srgbClr val="008C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
          <p:cNvSpPr txBox="1"/>
          <p:nvPr/>
        </p:nvSpPr>
        <p:spPr>
          <a:xfrm>
            <a:off x="740664" y="2103120"/>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008C91"/>
                </a:solidFill>
                <a:latin typeface="Arial"/>
                <a:ea typeface="Microsoft YaHei"/>
              </a:rPr>
              <a:t>01</a:t>
            </a:r>
          </a:p>
        </p:txBody>
      </p:sp>
      <p:sp>
        <p:nvSpPr>
          <p:cNvPr id="15" name="Row heading EN"/>
          <p:cNvSpPr txBox="1"/>
          <p:nvPr/>
        </p:nvSpPr>
        <p:spPr>
          <a:xfrm>
            <a:off x="1133856" y="2112264"/>
            <a:ext cx="2258568" cy="309118"/>
          </a:xfrm>
          <a:prstGeom prst="rect">
            <a:avLst/>
          </a:prstGeom>
          <a:noFill/>
          <a:effectLst/>
        </p:spPr>
        <p:txBody>
          <a:bodyPr wrap="none" lIns="0" rIns="0" tIns="0" bIns="0" anchor="t">
            <a:noAutofit/>
          </a:bodyPr>
          <a:lstStyle/>
          <a:p>
            <a:pPr algn="l">
              <a:lnSpc>
                <a:spcPts val="2090"/>
              </a:lnSpc>
              <a:spcBef>
                <a:spcPts val="0"/>
              </a:spcBef>
              <a:spcAft>
                <a:spcPts val="0"/>
              </a:spcAft>
            </a:pPr>
            <a:r>
              <a:rPr sz="1900" b="1" lang="en-US">
                <a:solidFill>
                  <a:srgbClr val="193249"/>
                </a:solidFill>
                <a:latin typeface="Arial"/>
                <a:ea typeface="Microsoft YaHei"/>
              </a:rPr>
              <a:t>Server DID proof</a:t>
            </a:r>
          </a:p>
        </p:txBody>
      </p:sp>
      <p:sp>
        <p:nvSpPr>
          <p:cNvPr id="16" name="Row heading ZH"/>
          <p:cNvSpPr txBox="1"/>
          <p:nvPr/>
        </p:nvSpPr>
        <p:spPr>
          <a:xfrm>
            <a:off x="1133856" y="2521966"/>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008C91"/>
                </a:solidFill>
                <a:latin typeface="Microsoft YaHei"/>
                <a:ea typeface="Microsoft YaHei"/>
              </a:rPr>
              <a:t>服务端 DID 证明</a:t>
            </a:r>
          </a:p>
        </p:txBody>
      </p:sp>
      <p:sp>
        <p:nvSpPr>
          <p:cNvPr id="17" name="Reading paragraph EN"/>
          <p:cNvSpPr txBox="1"/>
          <p:nvPr/>
        </p:nvSpPr>
        <p:spPr>
          <a:xfrm>
            <a:off x="3730752" y="2103120"/>
            <a:ext cx="7656575" cy="556209"/>
          </a:xfrm>
          <a:prstGeom prst="rect">
            <a:avLst/>
          </a:prstGeom>
          <a:noFill/>
          <a:effectLst/>
        </p:spPr>
        <p:txBody>
          <a:bodyPr wrap="none" lIns="0" rIns="0" tIns="0" bIns="0" anchor="t">
            <a:noAutofit/>
          </a:bodyPr>
          <a:lstStyle/>
          <a:p>
            <a:pPr algn="l">
              <a:lnSpc>
                <a:spcPts val="2017"/>
              </a:lnSpc>
              <a:spcBef>
                <a:spcPts val="0"/>
              </a:spcBef>
              <a:spcAft>
                <a:spcPts val="0"/>
              </a:spcAft>
            </a:pPr>
            <a:r>
              <a:rPr sz="1770" b="0" lang="en-US">
                <a:solidFill>
                  <a:srgbClr val="24394E"/>
                </a:solidFill>
                <a:latin typeface="Arial"/>
                <a:ea typeface="Microsoft YaHei"/>
              </a:rPr>
              <a:t>HTTPS authenticates the endpoint, not control of the expected Agent DID.</a:t>
            </a:r>
            <a:br/>
            <a:r>
              <a:rPr sz="1770" b="0" lang="en-US">
                <a:solidFill>
                  <a:srgbClr val="24394E"/>
                </a:solidFill>
                <a:latin typeface="Arial"/>
                <a:ea typeface="Microsoft YaHei"/>
              </a:rPr>
              <a:t>The client needs an explicit server-side DID response proof.</a:t>
            </a:r>
          </a:p>
        </p:txBody>
      </p:sp>
      <p:sp>
        <p:nvSpPr>
          <p:cNvPr id="18" name="Reading paragraph ZH"/>
          <p:cNvSpPr txBox="1"/>
          <p:nvPr/>
        </p:nvSpPr>
        <p:spPr>
          <a:xfrm>
            <a:off x="3730752" y="2732481"/>
            <a:ext cx="7656575" cy="514248"/>
          </a:xfrm>
          <a:prstGeom prst="rect">
            <a:avLst/>
          </a:prstGeom>
          <a:noFill/>
          <a:effectLst/>
        </p:spPr>
        <p:txBody>
          <a:bodyPr wrap="none" lIns="0" rIns="0" tIns="0" bIns="0" anchor="t">
            <a:noAutofit/>
          </a:bodyPr>
          <a:lstStyle/>
          <a:p>
            <a:pPr algn="l">
              <a:lnSpc>
                <a:spcPts val="1852"/>
              </a:lnSpc>
              <a:spcBef>
                <a:spcPts val="0"/>
              </a:spcBef>
              <a:spcAft>
                <a:spcPts val="0"/>
              </a:spcAft>
            </a:pPr>
            <a:r>
              <a:rPr sz="1570" b="0" lang="zh-CN">
                <a:solidFill>
                  <a:srgbClr val="52677D"/>
                </a:solidFill>
                <a:latin typeface="Microsoft YaHei"/>
                <a:ea typeface="Microsoft YaHei"/>
              </a:rPr>
              <a:t>HTTPS 已验证服务端点，但它本身不证明对方控制预期的 Agent DID。客户端还需要</a:t>
            </a:r>
            <a:br/>
            <a:r>
              <a:rPr sz="1570" b="0" lang="zh-CN">
                <a:solidFill>
                  <a:srgbClr val="52677D"/>
                </a:solidFill>
                <a:latin typeface="Microsoft YaHei"/>
                <a:ea typeface="Microsoft YaHei"/>
              </a:rPr>
              <a:t>服务端提供明确的 DID 响应证明。</a:t>
            </a:r>
          </a:p>
        </p:txBody>
      </p:sp>
      <p:cxnSp>
        <p:nvCxnSpPr>
          <p:cNvPr id="19" name="Connector 18"/>
          <p:cNvCxnSpPr/>
          <p:nvPr/>
        </p:nvCxnSpPr>
        <p:spPr>
          <a:xfrm>
            <a:off x="3502152" y="2112264"/>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20" name="Panel"/>
          <p:cNvSpPr/>
          <p:nvPr/>
        </p:nvSpPr>
        <p:spPr>
          <a:xfrm>
            <a:off x="585216" y="3401568"/>
            <a:ext cx="11021567" cy="1362456"/>
          </a:xfrm>
          <a:prstGeom prst="roundRect">
            <a:avLst>
              <a:gd name="adj" fmla="val 7000"/>
            </a:avLst>
          </a:prstGeom>
          <a:solidFill>
            <a:srgbClr val="EC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Panel"/>
          <p:cNvSpPr/>
          <p:nvPr/>
        </p:nvSpPr>
        <p:spPr>
          <a:xfrm>
            <a:off x="585216" y="3401568"/>
            <a:ext cx="32004" cy="1362456"/>
          </a:xfrm>
          <a:prstGeom prst="rect">
            <a:avLst/>
          </a:prstGeom>
          <a:solidFill>
            <a:srgbClr val="008C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
          <p:cNvSpPr txBox="1"/>
          <p:nvPr/>
        </p:nvSpPr>
        <p:spPr>
          <a:xfrm>
            <a:off x="740664" y="3557015"/>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008C91"/>
                </a:solidFill>
                <a:latin typeface="Arial"/>
                <a:ea typeface="Microsoft YaHei"/>
              </a:rPr>
              <a:t>02</a:t>
            </a:r>
          </a:p>
        </p:txBody>
      </p:sp>
      <p:sp>
        <p:nvSpPr>
          <p:cNvPr id="23" name="Row heading EN"/>
          <p:cNvSpPr txBox="1"/>
          <p:nvPr/>
        </p:nvSpPr>
        <p:spPr>
          <a:xfrm>
            <a:off x="1133856" y="3566160"/>
            <a:ext cx="2258568" cy="309118"/>
          </a:xfrm>
          <a:prstGeom prst="rect">
            <a:avLst/>
          </a:prstGeom>
          <a:noFill/>
          <a:effectLst/>
        </p:spPr>
        <p:txBody>
          <a:bodyPr wrap="none" lIns="0" rIns="0" tIns="0" bIns="0" anchor="t">
            <a:noAutofit/>
          </a:bodyPr>
          <a:lstStyle/>
          <a:p>
            <a:pPr algn="l">
              <a:lnSpc>
                <a:spcPts val="2090"/>
              </a:lnSpc>
              <a:spcBef>
                <a:spcPts val="0"/>
              </a:spcBef>
              <a:spcAft>
                <a:spcPts val="0"/>
              </a:spcAft>
            </a:pPr>
            <a:r>
              <a:rPr sz="1900" b="1" lang="en-US">
                <a:solidFill>
                  <a:srgbClr val="193249"/>
                </a:solidFill>
                <a:latin typeface="Arial"/>
                <a:ea typeface="Microsoft YaHei"/>
              </a:rPr>
              <a:t>Request binding</a:t>
            </a:r>
          </a:p>
        </p:txBody>
      </p:sp>
      <p:sp>
        <p:nvSpPr>
          <p:cNvPr id="24" name="Row heading ZH"/>
          <p:cNvSpPr txBox="1"/>
          <p:nvPr/>
        </p:nvSpPr>
        <p:spPr>
          <a:xfrm>
            <a:off x="1133856" y="3975862"/>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008C91"/>
                </a:solidFill>
                <a:latin typeface="Microsoft YaHei"/>
                <a:ea typeface="Microsoft YaHei"/>
              </a:rPr>
              <a:t>与本次请求绑定</a:t>
            </a:r>
          </a:p>
        </p:txBody>
      </p:sp>
      <p:sp>
        <p:nvSpPr>
          <p:cNvPr id="25" name="Reading paragraph EN"/>
          <p:cNvSpPr txBox="1"/>
          <p:nvPr/>
        </p:nvSpPr>
        <p:spPr>
          <a:xfrm>
            <a:off x="3730752" y="3557015"/>
            <a:ext cx="7656575" cy="556209"/>
          </a:xfrm>
          <a:prstGeom prst="rect">
            <a:avLst/>
          </a:prstGeom>
          <a:noFill/>
          <a:effectLst/>
        </p:spPr>
        <p:txBody>
          <a:bodyPr wrap="none" lIns="0" rIns="0" tIns="0" bIns="0" anchor="t">
            <a:noAutofit/>
          </a:bodyPr>
          <a:lstStyle/>
          <a:p>
            <a:pPr algn="l">
              <a:lnSpc>
                <a:spcPts val="2017"/>
              </a:lnSpc>
              <a:spcBef>
                <a:spcPts val="0"/>
              </a:spcBef>
              <a:spcAft>
                <a:spcPts val="0"/>
              </a:spcAft>
            </a:pPr>
            <a:r>
              <a:rPr sz="1770" b="0" lang="en-US">
                <a:solidFill>
                  <a:srgbClr val="24394E"/>
                </a:solidFill>
                <a:latin typeface="Arial"/>
                <a:ea typeface="Microsoft YaHei"/>
              </a:rPr>
              <a:t>A reusable proof of server identity is not enough. The client must know that</a:t>
            </a:r>
            <a:br/>
            <a:r>
              <a:rPr sz="1770" b="0" lang="en-US">
                <a:solidFill>
                  <a:srgbClr val="24394E"/>
                </a:solidFill>
                <a:latin typeface="Arial"/>
                <a:ea typeface="Microsoft YaHei"/>
              </a:rPr>
              <a:t>the response belongs to this request and to these two participants.</a:t>
            </a:r>
          </a:p>
        </p:txBody>
      </p:sp>
      <p:sp>
        <p:nvSpPr>
          <p:cNvPr id="26" name="Reading paragraph ZH"/>
          <p:cNvSpPr txBox="1"/>
          <p:nvPr/>
        </p:nvSpPr>
        <p:spPr>
          <a:xfrm>
            <a:off x="3730752" y="4186377"/>
            <a:ext cx="7656575" cy="514248"/>
          </a:xfrm>
          <a:prstGeom prst="rect">
            <a:avLst/>
          </a:prstGeom>
          <a:noFill/>
          <a:effectLst/>
        </p:spPr>
        <p:txBody>
          <a:bodyPr wrap="none" lIns="0" rIns="0" tIns="0" bIns="0" anchor="t">
            <a:noAutofit/>
          </a:bodyPr>
          <a:lstStyle/>
          <a:p>
            <a:pPr algn="l">
              <a:lnSpc>
                <a:spcPts val="1852"/>
              </a:lnSpc>
              <a:spcBef>
                <a:spcPts val="0"/>
              </a:spcBef>
              <a:spcAft>
                <a:spcPts val="0"/>
              </a:spcAft>
            </a:pPr>
            <a:r>
              <a:rPr sz="1570" b="0" lang="zh-CN">
                <a:solidFill>
                  <a:srgbClr val="52677D"/>
                </a:solidFill>
                <a:latin typeface="Microsoft YaHei"/>
                <a:ea typeface="Microsoft YaHei"/>
              </a:rPr>
              <a:t>只证明服务端曾经控制某个 DID 还不够。客户端需要确认：该响应确实对应本次请</a:t>
            </a:r>
            <a:br/>
            <a:r>
              <a:rPr sz="1570" b="0" lang="zh-CN">
                <a:solidFill>
                  <a:srgbClr val="52677D"/>
                </a:solidFill>
                <a:latin typeface="Microsoft YaHei"/>
                <a:ea typeface="Microsoft YaHei"/>
              </a:rPr>
              <a:t>求，也确实用于当前这两个通信主体之间。</a:t>
            </a:r>
          </a:p>
        </p:txBody>
      </p:sp>
      <p:cxnSp>
        <p:nvCxnSpPr>
          <p:cNvPr id="27" name="Connector 26"/>
          <p:cNvCxnSpPr/>
          <p:nvPr/>
        </p:nvCxnSpPr>
        <p:spPr>
          <a:xfrm>
            <a:off x="3502152" y="3566160"/>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28" name="Panel"/>
          <p:cNvSpPr/>
          <p:nvPr/>
        </p:nvSpPr>
        <p:spPr>
          <a:xfrm>
            <a:off x="585216" y="4855464"/>
            <a:ext cx="11021567" cy="1362456"/>
          </a:xfrm>
          <a:prstGeom prst="roundRect">
            <a:avLst>
              <a:gd name="adj" fmla="val 7000"/>
            </a:avLst>
          </a:prstGeom>
          <a:solidFill>
            <a:srgbClr val="EC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Panel"/>
          <p:cNvSpPr/>
          <p:nvPr/>
        </p:nvSpPr>
        <p:spPr>
          <a:xfrm>
            <a:off x="585216" y="4855464"/>
            <a:ext cx="32004" cy="1362456"/>
          </a:xfrm>
          <a:prstGeom prst="rect">
            <a:avLst/>
          </a:prstGeom>
          <a:solidFill>
            <a:srgbClr val="008C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
          <p:cNvSpPr txBox="1"/>
          <p:nvPr/>
        </p:nvSpPr>
        <p:spPr>
          <a:xfrm>
            <a:off x="740664" y="5010912"/>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008C91"/>
                </a:solidFill>
                <a:latin typeface="Arial"/>
                <a:ea typeface="Microsoft YaHei"/>
              </a:rPr>
              <a:t>03</a:t>
            </a:r>
          </a:p>
        </p:txBody>
      </p:sp>
      <p:sp>
        <p:nvSpPr>
          <p:cNvPr id="31" name="Row heading EN"/>
          <p:cNvSpPr txBox="1"/>
          <p:nvPr/>
        </p:nvSpPr>
        <p:spPr>
          <a:xfrm>
            <a:off x="1133856" y="5020056"/>
            <a:ext cx="2258568" cy="309118"/>
          </a:xfrm>
          <a:prstGeom prst="rect">
            <a:avLst/>
          </a:prstGeom>
          <a:noFill/>
          <a:effectLst/>
        </p:spPr>
        <p:txBody>
          <a:bodyPr wrap="none" lIns="0" rIns="0" tIns="0" bIns="0" anchor="t">
            <a:noAutofit/>
          </a:bodyPr>
          <a:lstStyle/>
          <a:p>
            <a:pPr algn="l">
              <a:lnSpc>
                <a:spcPts val="2090"/>
              </a:lnSpc>
              <a:spcBef>
                <a:spcPts val="0"/>
              </a:spcBef>
              <a:spcAft>
                <a:spcPts val="0"/>
              </a:spcAft>
            </a:pPr>
            <a:r>
              <a:rPr sz="1900" b="1" lang="en-US">
                <a:solidFill>
                  <a:srgbClr val="193249"/>
                </a:solidFill>
                <a:latin typeface="Arial"/>
                <a:ea typeface="Microsoft YaHei"/>
              </a:rPr>
              <a:t>Freshness rules</a:t>
            </a:r>
          </a:p>
        </p:txBody>
      </p:sp>
      <p:sp>
        <p:nvSpPr>
          <p:cNvPr id="32" name="Row heading ZH"/>
          <p:cNvSpPr txBox="1"/>
          <p:nvPr/>
        </p:nvSpPr>
        <p:spPr>
          <a:xfrm>
            <a:off x="1133856" y="5429758"/>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008C91"/>
                </a:solidFill>
                <a:latin typeface="Microsoft YaHei"/>
                <a:ea typeface="Microsoft YaHei"/>
              </a:rPr>
              <a:t>新鲜度与适用范围</a:t>
            </a:r>
          </a:p>
        </p:txBody>
      </p:sp>
      <p:sp>
        <p:nvSpPr>
          <p:cNvPr id="33" name="Reading paragraph EN"/>
          <p:cNvSpPr txBox="1"/>
          <p:nvPr/>
        </p:nvSpPr>
        <p:spPr>
          <a:xfrm>
            <a:off x="3730752" y="5010912"/>
            <a:ext cx="7656575" cy="556209"/>
          </a:xfrm>
          <a:prstGeom prst="rect">
            <a:avLst/>
          </a:prstGeom>
          <a:noFill/>
          <a:effectLst/>
        </p:spPr>
        <p:txBody>
          <a:bodyPr wrap="none" lIns="0" rIns="0" tIns="0" bIns="0" anchor="t">
            <a:noAutofit/>
          </a:bodyPr>
          <a:lstStyle/>
          <a:p>
            <a:pPr algn="l">
              <a:lnSpc>
                <a:spcPts val="2017"/>
              </a:lnSpc>
              <a:spcBef>
                <a:spcPts val="0"/>
              </a:spcBef>
              <a:spcAft>
                <a:spcPts val="0"/>
              </a:spcAft>
            </a:pPr>
            <a:r>
              <a:rPr sz="1770" b="0" lang="en-US">
                <a:solidFill>
                  <a:srgbClr val="24394E"/>
                </a:solidFill>
                <a:latin typeface="Arial"/>
                <a:ea typeface="Microsoft YaHei"/>
              </a:rPr>
              <a:t>We still need shared rules to reject replayed proofs and cover ordinary</a:t>
            </a:r>
            <a:br/>
            <a:r>
              <a:rPr sz="1770" b="0" lang="en-US">
                <a:solidFill>
                  <a:srgbClr val="24394E"/>
                </a:solidFill>
                <a:latin typeface="Arial"/>
                <a:ea typeface="Microsoft YaHei"/>
              </a:rPr>
              <a:t>responses and stream setup, while retaining HTTPS.</a:t>
            </a:r>
          </a:p>
        </p:txBody>
      </p:sp>
      <p:sp>
        <p:nvSpPr>
          <p:cNvPr id="34" name="Reading paragraph ZH"/>
          <p:cNvSpPr txBox="1"/>
          <p:nvPr/>
        </p:nvSpPr>
        <p:spPr>
          <a:xfrm>
            <a:off x="3730752" y="5640273"/>
            <a:ext cx="7656575" cy="514248"/>
          </a:xfrm>
          <a:prstGeom prst="rect">
            <a:avLst/>
          </a:prstGeom>
          <a:noFill/>
          <a:effectLst/>
        </p:spPr>
        <p:txBody>
          <a:bodyPr wrap="none" lIns="0" rIns="0" tIns="0" bIns="0" anchor="t">
            <a:noAutofit/>
          </a:bodyPr>
          <a:lstStyle/>
          <a:p>
            <a:pPr algn="l">
              <a:lnSpc>
                <a:spcPts val="1852"/>
              </a:lnSpc>
              <a:spcBef>
                <a:spcPts val="0"/>
              </a:spcBef>
              <a:spcAft>
                <a:spcPts val="0"/>
              </a:spcAft>
            </a:pPr>
            <a:r>
              <a:rPr sz="1570" b="0" lang="zh-CN">
                <a:solidFill>
                  <a:srgbClr val="52677D"/>
                </a:solidFill>
                <a:latin typeface="Microsoft YaHei"/>
                <a:ea typeface="Microsoft YaHei"/>
              </a:rPr>
              <a:t>需要明确如何拒绝旧证明重放，并为普通响应与流式会话建立提供一致的服务端身份验</a:t>
            </a:r>
            <a:br/>
            <a:r>
              <a:rPr sz="1570" b="0" lang="zh-CN">
                <a:solidFill>
                  <a:srgbClr val="52677D"/>
                </a:solidFill>
                <a:latin typeface="Microsoft YaHei"/>
                <a:ea typeface="Microsoft YaHei"/>
              </a:rPr>
              <a:t>证方式，同时保留 HTTPS 保护。</a:t>
            </a:r>
          </a:p>
        </p:txBody>
      </p:sp>
      <p:cxnSp>
        <p:nvCxnSpPr>
          <p:cNvPr id="35" name="Connector 34"/>
          <p:cNvCxnSpPr/>
          <p:nvPr/>
        </p:nvCxnSpPr>
        <p:spPr>
          <a:xfrm>
            <a:off x="3502152" y="5020056"/>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nel"/>
          <p:cNvSpPr/>
          <p:nvPr/>
        </p:nvSpPr>
        <p:spPr>
          <a:xfrm>
            <a:off x="0" y="0"/>
            <a:ext cx="12191999" cy="59436"/>
          </a:xfrm>
          <a:prstGeom prst="rect">
            <a:avLst/>
          </a:prstGeom>
          <a:solidFill>
            <a:srgbClr val="008C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
          <p:cNvSpPr txBox="1"/>
          <p:nvPr/>
        </p:nvSpPr>
        <p:spPr>
          <a:xfrm>
            <a:off x="585216" y="274320"/>
            <a:ext cx="8686800" cy="228600"/>
          </a:xfrm>
          <a:prstGeom prst="rect">
            <a:avLst/>
          </a:prstGeom>
          <a:noFill/>
          <a:effectLst/>
        </p:spPr>
        <p:txBody>
          <a:bodyPr wrap="none" lIns="0" rIns="0" tIns="0" bIns="0" anchor="t">
            <a:noAutofit/>
          </a:bodyPr>
          <a:lstStyle/>
          <a:p>
            <a:pPr algn="l">
              <a:lnSpc>
                <a:spcPts val="1219"/>
              </a:lnSpc>
              <a:spcBef>
                <a:spcPts val="0"/>
              </a:spcBef>
              <a:spcAft>
                <a:spcPts val="0"/>
              </a:spcAft>
            </a:pPr>
            <a:r>
              <a:rPr sz="1060" b="1" lang="en-US">
                <a:solidFill>
                  <a:srgbClr val="008C91"/>
                </a:solidFill>
                <a:latin typeface="Arial"/>
                <a:ea typeface="Microsoft YaHei"/>
              </a:rPr>
              <a:t>PROPOSAL 02 / 提案二  ·  MUTUAL DID AUTHENTICATION / 双向 DID 认证</a:t>
            </a:r>
          </a:p>
        </p:txBody>
      </p:sp>
      <p:sp>
        <p:nvSpPr>
          <p:cNvPr id="4" name="Panel"/>
          <p:cNvSpPr/>
          <p:nvPr/>
        </p:nvSpPr>
        <p:spPr>
          <a:xfrm>
            <a:off x="9384791" y="246888"/>
            <a:ext cx="2221992" cy="365760"/>
          </a:xfrm>
          <a:prstGeom prst="roundRect">
            <a:avLst>
              <a:gd name="adj" fmla="val 7000"/>
            </a:avLst>
          </a:prstGeom>
          <a:solidFill>
            <a:srgbClr val="EC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
          <p:cNvSpPr txBox="1"/>
          <p:nvPr/>
        </p:nvSpPr>
        <p:spPr>
          <a:xfrm>
            <a:off x="9457943" y="314553"/>
            <a:ext cx="2075688" cy="201168"/>
          </a:xfrm>
          <a:prstGeom prst="rect">
            <a:avLst/>
          </a:prstGeom>
          <a:noFill/>
          <a:effectLst/>
        </p:spPr>
        <p:txBody>
          <a:bodyPr wrap="none" lIns="0" rIns="0" tIns="0" bIns="0" anchor="t">
            <a:noAutofit/>
          </a:bodyPr>
          <a:lstStyle/>
          <a:p>
            <a:pPr algn="ctr">
              <a:lnSpc>
                <a:spcPts val="1161"/>
              </a:lnSpc>
              <a:spcBef>
                <a:spcPts val="0"/>
              </a:spcBef>
              <a:spcAft>
                <a:spcPts val="0"/>
              </a:spcAft>
            </a:pPr>
            <a:r>
              <a:rPr sz="1010" b="1" lang="en-US">
                <a:solidFill>
                  <a:srgbClr val="008C91"/>
                </a:solidFill>
                <a:latin typeface="Arial"/>
                <a:ea typeface="Microsoft YaHei"/>
              </a:rPr>
              <a:t>DIRECTION / 解决方向</a:t>
            </a:r>
          </a:p>
        </p:txBody>
      </p:sp>
      <p:sp>
        <p:nvSpPr>
          <p:cNvPr id="6" name="English title"/>
          <p:cNvSpPr txBox="1"/>
          <p:nvPr/>
        </p:nvSpPr>
        <p:spPr>
          <a:xfrm>
            <a:off x="585216" y="841248"/>
            <a:ext cx="11021567" cy="493776"/>
          </a:xfrm>
          <a:prstGeom prst="rect">
            <a:avLst/>
          </a:prstGeom>
          <a:noFill/>
          <a:effectLst/>
        </p:spPr>
        <p:txBody>
          <a:bodyPr wrap="none" lIns="0" rIns="0" tIns="0" bIns="0" anchor="t">
            <a:noAutofit/>
          </a:bodyPr>
          <a:lstStyle/>
          <a:p>
            <a:pPr algn="l">
              <a:lnSpc>
                <a:spcPts val="3454"/>
              </a:lnSpc>
              <a:spcBef>
                <a:spcPts val="0"/>
              </a:spcBef>
              <a:spcAft>
                <a:spcPts val="0"/>
              </a:spcAft>
            </a:pPr>
            <a:r>
              <a:rPr sz="3140" b="1" lang="en-US">
                <a:solidFill>
                  <a:srgbClr val="193249"/>
                </a:solidFill>
                <a:latin typeface="Arial"/>
                <a:ea typeface="Microsoft YaHei"/>
              </a:rPr>
              <a:t>Sign the request. Sign the response.</a:t>
            </a:r>
          </a:p>
        </p:txBody>
      </p:sp>
      <p:sp>
        <p:nvSpPr>
          <p:cNvPr id="7" name="Chinese title"/>
          <p:cNvSpPr txBox="1"/>
          <p:nvPr/>
        </p:nvSpPr>
        <p:spPr>
          <a:xfrm>
            <a:off x="585216" y="1371600"/>
            <a:ext cx="11021567" cy="365760"/>
          </a:xfrm>
          <a:prstGeom prst="rect">
            <a:avLst/>
          </a:prstGeom>
          <a:noFill/>
          <a:effectLst/>
        </p:spPr>
        <p:txBody>
          <a:bodyPr wrap="none" lIns="0" rIns="0" tIns="0" bIns="0" anchor="t">
            <a:noAutofit/>
          </a:bodyPr>
          <a:lstStyle/>
          <a:p>
            <a:pPr algn="l">
              <a:lnSpc>
                <a:spcPts val="2392"/>
              </a:lnSpc>
              <a:spcBef>
                <a:spcPts val="0"/>
              </a:spcBef>
              <a:spcAft>
                <a:spcPts val="0"/>
              </a:spcAft>
            </a:pPr>
            <a:r>
              <a:rPr sz="2080" b="0" lang="zh-CN">
                <a:solidFill>
                  <a:srgbClr val="52677D"/>
                </a:solidFill>
                <a:latin typeface="Microsoft YaHei"/>
                <a:ea typeface="Microsoft YaHei"/>
              </a:rPr>
              <a:t>请求与响应分别签名，实现双向 DID 认证</a:t>
            </a:r>
          </a:p>
        </p:txBody>
      </p:sp>
      <p:cxnSp>
        <p:nvCxnSpPr>
          <p:cNvPr id="8" name="Connector 7"/>
          <p:cNvCxnSpPr/>
          <p:nvPr/>
        </p:nvCxnSpPr>
        <p:spPr>
          <a:xfrm>
            <a:off x="585216" y="6400800"/>
            <a:ext cx="11021567" cy="0"/>
          </a:xfrm>
          <a:prstGeom prst="line">
            <a:avLst/>
          </a:prstGeom>
          <a:ln w="889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9" name="Text"/>
          <p:cNvSpPr txBox="1"/>
          <p:nvPr/>
        </p:nvSpPr>
        <p:spPr>
          <a:xfrm>
            <a:off x="585216" y="6505956"/>
            <a:ext cx="8595360" cy="192024"/>
          </a:xfrm>
          <a:prstGeom prst="rect">
            <a:avLst/>
          </a:prstGeom>
          <a:noFill/>
          <a:effectLst/>
        </p:spPr>
        <p:txBody>
          <a:bodyPr wrap="none" lIns="0" rIns="0" tIns="0" bIns="0" anchor="t">
            <a:noAutofit/>
          </a:bodyPr>
          <a:lstStyle/>
          <a:p>
            <a:pPr algn="l">
              <a:lnSpc>
                <a:spcPts val="1080"/>
              </a:lnSpc>
              <a:spcBef>
                <a:spcPts val="0"/>
              </a:spcBef>
              <a:spcAft>
                <a:spcPts val="0"/>
              </a:spcAft>
            </a:pPr>
            <a:r>
              <a:rPr sz="940" b="0" lang="en-US">
                <a:solidFill>
                  <a:srgbClr val="52677D"/>
                </a:solidFill>
                <a:latin typeface="Arial"/>
                <a:ea typeface="Microsoft YaHei"/>
              </a:rPr>
              <a:t>W3C AI Agent Protocol CG  ·  Discussion draft / 讨论稿</a:t>
            </a:r>
          </a:p>
        </p:txBody>
      </p:sp>
      <p:sp>
        <p:nvSpPr>
          <p:cNvPr id="10" name="Text"/>
          <p:cNvSpPr txBox="1"/>
          <p:nvPr/>
        </p:nvSpPr>
        <p:spPr>
          <a:xfrm>
            <a:off x="8439912" y="6505956"/>
            <a:ext cx="2194560" cy="192024"/>
          </a:xfrm>
          <a:prstGeom prst="rect">
            <a:avLst/>
          </a:prstGeom>
          <a:noFill/>
          <a:effectLst/>
        </p:spPr>
        <p:txBody>
          <a:bodyPr wrap="none" lIns="0" rIns="0" tIns="0" bIns="0" anchor="t">
            <a:noAutofit/>
          </a:bodyPr>
          <a:lstStyle/>
          <a:p>
            <a:pPr algn="r">
              <a:lnSpc>
                <a:spcPts val="1069"/>
              </a:lnSpc>
              <a:spcBef>
                <a:spcPts val="0"/>
              </a:spcBef>
              <a:spcAft>
                <a:spcPts val="0"/>
              </a:spcAft>
            </a:pPr>
            <a:r>
              <a:rPr sz="930" b="0" lang="en-US">
                <a:solidFill>
                  <a:srgbClr val="52677D"/>
                </a:solidFill>
                <a:latin typeface="Arial"/>
                <a:ea typeface="Microsoft YaHei"/>
              </a:rPr>
              <a:t>Refs: identity, 9421</a:t>
            </a:r>
          </a:p>
        </p:txBody>
      </p:sp>
      <p:sp>
        <p:nvSpPr>
          <p:cNvPr id="11" name="Text"/>
          <p:cNvSpPr txBox="1"/>
          <p:nvPr/>
        </p:nvSpPr>
        <p:spPr>
          <a:xfrm>
            <a:off x="10890504" y="6487668"/>
            <a:ext cx="694944" cy="228600"/>
          </a:xfrm>
          <a:prstGeom prst="rect">
            <a:avLst/>
          </a:prstGeom>
          <a:noFill/>
          <a:effectLst/>
        </p:spPr>
        <p:txBody>
          <a:bodyPr wrap="none" lIns="0" rIns="0" tIns="0" bIns="0" anchor="t">
            <a:noAutofit/>
          </a:bodyPr>
          <a:lstStyle/>
          <a:p>
            <a:pPr algn="r">
              <a:lnSpc>
                <a:spcPts val="1299"/>
              </a:lnSpc>
              <a:spcBef>
                <a:spcPts val="0"/>
              </a:spcBef>
              <a:spcAft>
                <a:spcPts val="0"/>
              </a:spcAft>
            </a:pPr>
            <a:r>
              <a:rPr sz="1130" b="1" lang="en-US">
                <a:solidFill>
                  <a:srgbClr val="008C91"/>
                </a:solidFill>
                <a:latin typeface="Arial"/>
                <a:ea typeface="Microsoft YaHei"/>
              </a:rPr>
              <a:t>05 / 07</a:t>
            </a:r>
          </a:p>
        </p:txBody>
      </p:sp>
      <p:sp>
        <p:nvSpPr>
          <p:cNvPr id="12" name="Panel"/>
          <p:cNvSpPr/>
          <p:nvPr/>
        </p:nvSpPr>
        <p:spPr>
          <a:xfrm>
            <a:off x="585216" y="1947672"/>
            <a:ext cx="11021567" cy="1362456"/>
          </a:xfrm>
          <a:prstGeom prst="roundRect">
            <a:avLst>
              <a:gd name="adj" fmla="val 7000"/>
            </a:avLst>
          </a:prstGeom>
          <a:solidFill>
            <a:srgbClr val="EC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anel"/>
          <p:cNvSpPr/>
          <p:nvPr/>
        </p:nvSpPr>
        <p:spPr>
          <a:xfrm>
            <a:off x="585216" y="1947672"/>
            <a:ext cx="32004" cy="1362456"/>
          </a:xfrm>
          <a:prstGeom prst="rect">
            <a:avLst/>
          </a:prstGeom>
          <a:solidFill>
            <a:srgbClr val="008C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
          <p:cNvSpPr txBox="1"/>
          <p:nvPr/>
        </p:nvSpPr>
        <p:spPr>
          <a:xfrm>
            <a:off x="740664" y="2103120"/>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008C91"/>
                </a:solidFill>
                <a:latin typeface="Arial"/>
                <a:ea typeface="Microsoft YaHei"/>
              </a:rPr>
              <a:t>01</a:t>
            </a:r>
          </a:p>
        </p:txBody>
      </p:sp>
      <p:sp>
        <p:nvSpPr>
          <p:cNvPr id="15" name="Row heading EN"/>
          <p:cNvSpPr txBox="1"/>
          <p:nvPr/>
        </p:nvSpPr>
        <p:spPr>
          <a:xfrm>
            <a:off x="1133856" y="2112264"/>
            <a:ext cx="2258568" cy="309118"/>
          </a:xfrm>
          <a:prstGeom prst="rect">
            <a:avLst/>
          </a:prstGeom>
          <a:noFill/>
          <a:effectLst/>
        </p:spPr>
        <p:txBody>
          <a:bodyPr wrap="none" lIns="0" rIns="0" tIns="0" bIns="0" anchor="t">
            <a:noAutofit/>
          </a:bodyPr>
          <a:lstStyle/>
          <a:p>
            <a:pPr algn="l">
              <a:lnSpc>
                <a:spcPts val="2090"/>
              </a:lnSpc>
              <a:spcBef>
                <a:spcPts val="0"/>
              </a:spcBef>
              <a:spcAft>
                <a:spcPts val="0"/>
              </a:spcAft>
            </a:pPr>
            <a:r>
              <a:rPr sz="1900" b="1" lang="en-US">
                <a:solidFill>
                  <a:srgbClr val="193249"/>
                </a:solidFill>
                <a:latin typeface="Arial"/>
                <a:ea typeface="Microsoft YaHei"/>
              </a:rPr>
              <a:t>A signs; B verifies</a:t>
            </a:r>
          </a:p>
        </p:txBody>
      </p:sp>
      <p:sp>
        <p:nvSpPr>
          <p:cNvPr id="16" name="Row heading ZH"/>
          <p:cNvSpPr txBox="1"/>
          <p:nvPr/>
        </p:nvSpPr>
        <p:spPr>
          <a:xfrm>
            <a:off x="1133856" y="2521966"/>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008C91"/>
                </a:solidFill>
                <a:latin typeface="Microsoft YaHei"/>
                <a:ea typeface="Microsoft YaHei"/>
              </a:rPr>
              <a:t>A 签名，B 验证</a:t>
            </a:r>
          </a:p>
        </p:txBody>
      </p:sp>
      <p:sp>
        <p:nvSpPr>
          <p:cNvPr id="17" name="Reading paragraph EN"/>
          <p:cNvSpPr txBox="1"/>
          <p:nvPr/>
        </p:nvSpPr>
        <p:spPr>
          <a:xfrm>
            <a:off x="3730752" y="2103120"/>
            <a:ext cx="7656575" cy="550418"/>
          </a:xfrm>
          <a:prstGeom prst="rect">
            <a:avLst/>
          </a:prstGeom>
          <a:noFill/>
          <a:effectLst/>
        </p:spPr>
        <p:txBody>
          <a:bodyPr wrap="none" lIns="0" rIns="0" tIns="0" bIns="0" anchor="t">
            <a:noAutofit/>
          </a:bodyPr>
          <a:lstStyle/>
          <a:p>
            <a:pPr algn="l">
              <a:lnSpc>
                <a:spcPts val="1995"/>
              </a:lnSpc>
              <a:spcBef>
                <a:spcPts val="0"/>
              </a:spcBef>
              <a:spcAft>
                <a:spcPts val="0"/>
              </a:spcAft>
            </a:pPr>
            <a:r>
              <a:rPr sz="1750" b="0" lang="en-US">
                <a:solidFill>
                  <a:srgbClr val="24394E"/>
                </a:solidFill>
                <a:latin typeface="Arial"/>
                <a:ea typeface="Microsoft YaHei"/>
              </a:rPr>
              <a:t>A signs the request with a fresh challenge. B verifies A’s DID, the request</a:t>
            </a:r>
            <a:br/>
            <a:r>
              <a:rPr sz="1750" b="0" lang="en-US">
                <a:solidFill>
                  <a:srgbClr val="24394E"/>
                </a:solidFill>
                <a:latin typeface="Arial"/>
                <a:ea typeface="Microsoft YaHei"/>
              </a:rPr>
              <a:t>signature and the required permissions before responding.</a:t>
            </a:r>
          </a:p>
        </p:txBody>
      </p:sp>
      <p:sp>
        <p:nvSpPr>
          <p:cNvPr id="18" name="Reading paragraph ZH"/>
          <p:cNvSpPr txBox="1"/>
          <p:nvPr/>
        </p:nvSpPr>
        <p:spPr>
          <a:xfrm>
            <a:off x="3730752" y="2726690"/>
            <a:ext cx="7656575" cy="278968"/>
          </a:xfrm>
          <a:prstGeom prst="rect">
            <a:avLst/>
          </a:prstGeom>
          <a:noFill/>
          <a:effectLst/>
        </p:spPr>
        <p:txBody>
          <a:bodyPr wrap="none" lIns="0" rIns="0" tIns="0" bIns="0" anchor="t">
            <a:noAutofit/>
          </a:bodyPr>
          <a:lstStyle/>
          <a:p>
            <a:pPr algn="l">
              <a:lnSpc>
                <a:spcPts val="1852"/>
              </a:lnSpc>
              <a:spcBef>
                <a:spcPts val="0"/>
              </a:spcBef>
              <a:spcAft>
                <a:spcPts val="0"/>
              </a:spcAft>
            </a:pPr>
            <a:r>
              <a:rPr sz="1570" b="0" lang="zh-CN">
                <a:solidFill>
                  <a:srgbClr val="52677D"/>
                </a:solidFill>
                <a:latin typeface="Microsoft YaHei"/>
                <a:ea typeface="Microsoft YaHei"/>
              </a:rPr>
              <a:t>A 对请求和新鲜挑战签名；B 验证 A 的 DID、请求签名与访问权限，再生成响应。</a:t>
            </a:r>
          </a:p>
        </p:txBody>
      </p:sp>
      <p:cxnSp>
        <p:nvCxnSpPr>
          <p:cNvPr id="19" name="Connector 18"/>
          <p:cNvCxnSpPr/>
          <p:nvPr/>
        </p:nvCxnSpPr>
        <p:spPr>
          <a:xfrm>
            <a:off x="3502152" y="2112264"/>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20" name="Panel"/>
          <p:cNvSpPr/>
          <p:nvPr/>
        </p:nvSpPr>
        <p:spPr>
          <a:xfrm>
            <a:off x="585216" y="3401568"/>
            <a:ext cx="11021567" cy="1362456"/>
          </a:xfrm>
          <a:prstGeom prst="roundRect">
            <a:avLst>
              <a:gd name="adj" fmla="val 7000"/>
            </a:avLst>
          </a:prstGeom>
          <a:solidFill>
            <a:srgbClr val="EC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Panel"/>
          <p:cNvSpPr/>
          <p:nvPr/>
        </p:nvSpPr>
        <p:spPr>
          <a:xfrm>
            <a:off x="585216" y="3401568"/>
            <a:ext cx="32004" cy="1362456"/>
          </a:xfrm>
          <a:prstGeom prst="rect">
            <a:avLst/>
          </a:prstGeom>
          <a:solidFill>
            <a:srgbClr val="008C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
          <p:cNvSpPr txBox="1"/>
          <p:nvPr/>
        </p:nvSpPr>
        <p:spPr>
          <a:xfrm>
            <a:off x="740664" y="3557015"/>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008C91"/>
                </a:solidFill>
                <a:latin typeface="Arial"/>
                <a:ea typeface="Microsoft YaHei"/>
              </a:rPr>
              <a:t>02</a:t>
            </a:r>
          </a:p>
        </p:txBody>
      </p:sp>
      <p:sp>
        <p:nvSpPr>
          <p:cNvPr id="23" name="Row heading EN"/>
          <p:cNvSpPr txBox="1"/>
          <p:nvPr/>
        </p:nvSpPr>
        <p:spPr>
          <a:xfrm>
            <a:off x="1133856" y="3566160"/>
            <a:ext cx="2258568" cy="574548"/>
          </a:xfrm>
          <a:prstGeom prst="rect">
            <a:avLst/>
          </a:prstGeom>
          <a:noFill/>
          <a:effectLst/>
        </p:spPr>
        <p:txBody>
          <a:bodyPr wrap="none" lIns="0" rIns="0" tIns="0" bIns="0" anchor="t">
            <a:noAutofit/>
          </a:bodyPr>
          <a:lstStyle/>
          <a:p>
            <a:pPr algn="l">
              <a:lnSpc>
                <a:spcPts val="2090"/>
              </a:lnSpc>
              <a:spcBef>
                <a:spcPts val="0"/>
              </a:spcBef>
              <a:spcAft>
                <a:spcPts val="0"/>
              </a:spcAft>
            </a:pPr>
            <a:r>
              <a:rPr sz="1900" b="1" lang="en-US">
                <a:solidFill>
                  <a:srgbClr val="193249"/>
                </a:solidFill>
                <a:latin typeface="Arial"/>
                <a:ea typeface="Microsoft YaHei"/>
              </a:rPr>
              <a:t>B signs a</a:t>
            </a:r>
            <a:br/>
            <a:r>
              <a:rPr sz="1900" b="1" lang="en-US">
                <a:solidFill>
                  <a:srgbClr val="193249"/>
                </a:solidFill>
                <a:latin typeface="Arial"/>
                <a:ea typeface="Microsoft YaHei"/>
              </a:rPr>
              <a:t>response</a:t>
            </a:r>
          </a:p>
        </p:txBody>
      </p:sp>
      <p:sp>
        <p:nvSpPr>
          <p:cNvPr id="24" name="Row heading ZH"/>
          <p:cNvSpPr txBox="1"/>
          <p:nvPr/>
        </p:nvSpPr>
        <p:spPr>
          <a:xfrm>
            <a:off x="1133856" y="4241291"/>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008C91"/>
                </a:solidFill>
                <a:latin typeface="Microsoft YaHei"/>
                <a:ea typeface="Microsoft YaHei"/>
              </a:rPr>
              <a:t>B 签署响应</a:t>
            </a:r>
          </a:p>
        </p:txBody>
      </p:sp>
      <p:sp>
        <p:nvSpPr>
          <p:cNvPr id="25" name="Reading paragraph EN"/>
          <p:cNvSpPr txBox="1"/>
          <p:nvPr/>
        </p:nvSpPr>
        <p:spPr>
          <a:xfrm>
            <a:off x="3730752" y="3557015"/>
            <a:ext cx="7656575" cy="550418"/>
          </a:xfrm>
          <a:prstGeom prst="rect">
            <a:avLst/>
          </a:prstGeom>
          <a:noFill/>
          <a:effectLst/>
        </p:spPr>
        <p:txBody>
          <a:bodyPr wrap="none" lIns="0" rIns="0" tIns="0" bIns="0" anchor="t">
            <a:noAutofit/>
          </a:bodyPr>
          <a:lstStyle/>
          <a:p>
            <a:pPr algn="l">
              <a:lnSpc>
                <a:spcPts val="1995"/>
              </a:lnSpc>
              <a:spcBef>
                <a:spcPts val="0"/>
              </a:spcBef>
              <a:spcAft>
                <a:spcPts val="0"/>
              </a:spcAft>
            </a:pPr>
            <a:r>
              <a:rPr sz="1750" b="0" lang="en-US">
                <a:solidFill>
                  <a:srgbClr val="24394E"/>
                </a:solidFill>
                <a:latin typeface="Arial"/>
                <a:ea typeface="Microsoft YaHei"/>
              </a:rPr>
              <a:t>B signs the response and binds it to the original request, both identities and</a:t>
            </a:r>
            <a:br/>
            <a:r>
              <a:rPr sz="1750" b="0" lang="en-US">
                <a:solidFill>
                  <a:srgbClr val="24394E"/>
                </a:solidFill>
                <a:latin typeface="Arial"/>
                <a:ea typeface="Microsoft YaHei"/>
              </a:rPr>
              <a:t>the challenge, covering the response content or stream context.</a:t>
            </a:r>
          </a:p>
        </p:txBody>
      </p:sp>
      <p:sp>
        <p:nvSpPr>
          <p:cNvPr id="26" name="Reading paragraph ZH"/>
          <p:cNvSpPr txBox="1"/>
          <p:nvPr/>
        </p:nvSpPr>
        <p:spPr>
          <a:xfrm>
            <a:off x="3730752" y="4180585"/>
            <a:ext cx="7656575" cy="514248"/>
          </a:xfrm>
          <a:prstGeom prst="rect">
            <a:avLst/>
          </a:prstGeom>
          <a:noFill/>
          <a:effectLst/>
        </p:spPr>
        <p:txBody>
          <a:bodyPr wrap="none" lIns="0" rIns="0" tIns="0" bIns="0" anchor="t">
            <a:noAutofit/>
          </a:bodyPr>
          <a:lstStyle/>
          <a:p>
            <a:pPr algn="l">
              <a:lnSpc>
                <a:spcPts val="1852"/>
              </a:lnSpc>
              <a:spcBef>
                <a:spcPts val="0"/>
              </a:spcBef>
              <a:spcAft>
                <a:spcPts val="0"/>
              </a:spcAft>
            </a:pPr>
            <a:r>
              <a:rPr sz="1570" b="0" lang="zh-CN">
                <a:solidFill>
                  <a:srgbClr val="52677D"/>
                </a:solidFill>
                <a:latin typeface="Microsoft YaHei"/>
                <a:ea typeface="Microsoft YaHei"/>
              </a:rPr>
              <a:t>B 对响应签名，将其绑定到原请求、双方身份和新鲜挑战，并覆盖必要的响应内容或流</a:t>
            </a:r>
            <a:br/>
            <a:r>
              <a:rPr sz="1570" b="0" lang="zh-CN">
                <a:solidFill>
                  <a:srgbClr val="52677D"/>
                </a:solidFill>
                <a:latin typeface="Microsoft YaHei"/>
                <a:ea typeface="Microsoft YaHei"/>
              </a:rPr>
              <a:t>上下文。</a:t>
            </a:r>
          </a:p>
        </p:txBody>
      </p:sp>
      <p:cxnSp>
        <p:nvCxnSpPr>
          <p:cNvPr id="27" name="Connector 26"/>
          <p:cNvCxnSpPr/>
          <p:nvPr/>
        </p:nvCxnSpPr>
        <p:spPr>
          <a:xfrm>
            <a:off x="3502152" y="3566160"/>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28" name="Panel"/>
          <p:cNvSpPr/>
          <p:nvPr/>
        </p:nvSpPr>
        <p:spPr>
          <a:xfrm>
            <a:off x="585216" y="4855464"/>
            <a:ext cx="11021567" cy="1362456"/>
          </a:xfrm>
          <a:prstGeom prst="roundRect">
            <a:avLst>
              <a:gd name="adj" fmla="val 7000"/>
            </a:avLst>
          </a:prstGeom>
          <a:solidFill>
            <a:srgbClr val="EC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Panel"/>
          <p:cNvSpPr/>
          <p:nvPr/>
        </p:nvSpPr>
        <p:spPr>
          <a:xfrm>
            <a:off x="585216" y="4855464"/>
            <a:ext cx="32004" cy="1362456"/>
          </a:xfrm>
          <a:prstGeom prst="rect">
            <a:avLst/>
          </a:prstGeom>
          <a:solidFill>
            <a:srgbClr val="008C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
          <p:cNvSpPr txBox="1"/>
          <p:nvPr/>
        </p:nvSpPr>
        <p:spPr>
          <a:xfrm>
            <a:off x="740664" y="5010912"/>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008C91"/>
                </a:solidFill>
                <a:latin typeface="Arial"/>
                <a:ea typeface="Microsoft YaHei"/>
              </a:rPr>
              <a:t>03</a:t>
            </a:r>
          </a:p>
        </p:txBody>
      </p:sp>
      <p:sp>
        <p:nvSpPr>
          <p:cNvPr id="31" name="Row heading EN"/>
          <p:cNvSpPr txBox="1"/>
          <p:nvPr/>
        </p:nvSpPr>
        <p:spPr>
          <a:xfrm>
            <a:off x="1133856" y="5020056"/>
            <a:ext cx="2258568" cy="309118"/>
          </a:xfrm>
          <a:prstGeom prst="rect">
            <a:avLst/>
          </a:prstGeom>
          <a:noFill/>
          <a:effectLst/>
        </p:spPr>
        <p:txBody>
          <a:bodyPr wrap="none" lIns="0" rIns="0" tIns="0" bIns="0" anchor="t">
            <a:noAutofit/>
          </a:bodyPr>
          <a:lstStyle/>
          <a:p>
            <a:pPr algn="l">
              <a:lnSpc>
                <a:spcPts val="2090"/>
              </a:lnSpc>
              <a:spcBef>
                <a:spcPts val="0"/>
              </a:spcBef>
              <a:spcAft>
                <a:spcPts val="0"/>
              </a:spcAft>
            </a:pPr>
            <a:r>
              <a:rPr sz="1900" b="1" lang="en-US">
                <a:solidFill>
                  <a:srgbClr val="193249"/>
                </a:solidFill>
                <a:latin typeface="Arial"/>
                <a:ea typeface="Microsoft YaHei"/>
              </a:rPr>
              <a:t>A verifies B’s DID</a:t>
            </a:r>
          </a:p>
        </p:txBody>
      </p:sp>
      <p:sp>
        <p:nvSpPr>
          <p:cNvPr id="32" name="Row heading ZH"/>
          <p:cNvSpPr txBox="1"/>
          <p:nvPr/>
        </p:nvSpPr>
        <p:spPr>
          <a:xfrm>
            <a:off x="1133856" y="5429758"/>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008C91"/>
                </a:solidFill>
                <a:latin typeface="Microsoft YaHei"/>
                <a:ea typeface="Microsoft YaHei"/>
              </a:rPr>
              <a:t>A 验证预期 B DID</a:t>
            </a:r>
          </a:p>
        </p:txBody>
      </p:sp>
      <p:sp>
        <p:nvSpPr>
          <p:cNvPr id="33" name="Reading paragraph EN"/>
          <p:cNvSpPr txBox="1"/>
          <p:nvPr/>
        </p:nvSpPr>
        <p:spPr>
          <a:xfrm>
            <a:off x="3730752" y="5010912"/>
            <a:ext cx="7656575" cy="550418"/>
          </a:xfrm>
          <a:prstGeom prst="rect">
            <a:avLst/>
          </a:prstGeom>
          <a:noFill/>
          <a:effectLst/>
        </p:spPr>
        <p:txBody>
          <a:bodyPr wrap="none" lIns="0" rIns="0" tIns="0" bIns="0" anchor="t">
            <a:noAutofit/>
          </a:bodyPr>
          <a:lstStyle/>
          <a:p>
            <a:pPr algn="l">
              <a:lnSpc>
                <a:spcPts val="1995"/>
              </a:lnSpc>
              <a:spcBef>
                <a:spcPts val="0"/>
              </a:spcBef>
              <a:spcAft>
                <a:spcPts val="0"/>
              </a:spcAft>
            </a:pPr>
            <a:r>
              <a:rPr sz="1750" b="0" lang="en-US">
                <a:solidFill>
                  <a:srgbClr val="24394E"/>
                </a:solidFill>
                <a:latin typeface="Arial"/>
                <a:ea typeface="Microsoft YaHei"/>
              </a:rPr>
              <a:t>A checks the expected B DID, freshness and request binding. Keep HTTPS;</a:t>
            </a:r>
            <a:br/>
            <a:r>
              <a:rPr sz="1750" b="0" lang="en-US">
                <a:solidFill>
                  <a:srgbClr val="24394E"/>
                </a:solidFill>
                <a:latin typeface="Arial"/>
                <a:ea typeface="Microsoft YaHei"/>
              </a:rPr>
              <a:t>fail if a required server proof is missing.</a:t>
            </a:r>
          </a:p>
        </p:txBody>
      </p:sp>
      <p:sp>
        <p:nvSpPr>
          <p:cNvPr id="34" name="Reading paragraph ZH"/>
          <p:cNvSpPr txBox="1"/>
          <p:nvPr/>
        </p:nvSpPr>
        <p:spPr>
          <a:xfrm>
            <a:off x="3730752" y="5634482"/>
            <a:ext cx="7656575" cy="514248"/>
          </a:xfrm>
          <a:prstGeom prst="rect">
            <a:avLst/>
          </a:prstGeom>
          <a:noFill/>
          <a:effectLst/>
        </p:spPr>
        <p:txBody>
          <a:bodyPr wrap="none" lIns="0" rIns="0" tIns="0" bIns="0" anchor="t">
            <a:noAutofit/>
          </a:bodyPr>
          <a:lstStyle/>
          <a:p>
            <a:pPr algn="l">
              <a:lnSpc>
                <a:spcPts val="1852"/>
              </a:lnSpc>
              <a:spcBef>
                <a:spcPts val="0"/>
              </a:spcBef>
              <a:spcAft>
                <a:spcPts val="0"/>
              </a:spcAft>
            </a:pPr>
            <a:r>
              <a:rPr sz="1570" b="0" lang="zh-CN">
                <a:solidFill>
                  <a:srgbClr val="52677D"/>
                </a:solidFill>
                <a:latin typeface="Microsoft YaHei"/>
                <a:ea typeface="Microsoft YaHei"/>
              </a:rPr>
              <a:t>A 验证预期的 B DID、新鲜度与请求关联。保留 HTTPS；要求双向认证时，服务端证明</a:t>
            </a:r>
            <a:br/>
            <a:r>
              <a:rPr sz="1570" b="0" lang="zh-CN">
                <a:solidFill>
                  <a:srgbClr val="52677D"/>
                </a:solidFill>
                <a:latin typeface="Microsoft YaHei"/>
                <a:ea typeface="Microsoft YaHei"/>
              </a:rPr>
              <a:t>缺失应拒绝。</a:t>
            </a:r>
          </a:p>
        </p:txBody>
      </p:sp>
      <p:cxnSp>
        <p:nvCxnSpPr>
          <p:cNvPr id="35" name="Connector 34"/>
          <p:cNvCxnSpPr/>
          <p:nvPr/>
        </p:nvCxnSpPr>
        <p:spPr>
          <a:xfrm>
            <a:off x="3502152" y="5020056"/>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nel"/>
          <p:cNvSpPr/>
          <p:nvPr/>
        </p:nvSpPr>
        <p:spPr>
          <a:xfrm>
            <a:off x="0" y="0"/>
            <a:ext cx="12191999" cy="59436"/>
          </a:xfrm>
          <a:prstGeom prst="rect">
            <a:avLst/>
          </a:prstGeom>
          <a:solidFill>
            <a:srgbClr val="7855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
          <p:cNvSpPr txBox="1"/>
          <p:nvPr/>
        </p:nvSpPr>
        <p:spPr>
          <a:xfrm>
            <a:off x="585216" y="274320"/>
            <a:ext cx="8686800" cy="228600"/>
          </a:xfrm>
          <a:prstGeom prst="rect">
            <a:avLst/>
          </a:prstGeom>
          <a:noFill/>
          <a:effectLst/>
        </p:spPr>
        <p:txBody>
          <a:bodyPr wrap="none" lIns="0" rIns="0" tIns="0" bIns="0" anchor="t">
            <a:noAutofit/>
          </a:bodyPr>
          <a:lstStyle/>
          <a:p>
            <a:pPr algn="l">
              <a:lnSpc>
                <a:spcPts val="1219"/>
              </a:lnSpc>
              <a:spcBef>
                <a:spcPts val="0"/>
              </a:spcBef>
              <a:spcAft>
                <a:spcPts val="0"/>
              </a:spcAft>
            </a:pPr>
            <a:r>
              <a:rPr sz="1060" b="1" lang="en-US">
                <a:solidFill>
                  <a:srgbClr val="7855B5"/>
                </a:solidFill>
                <a:latin typeface="Arial"/>
                <a:ea typeface="Microsoft YaHei"/>
              </a:rPr>
              <a:t>PROPOSAL 03 / 提案三  ·  DID + OAUTH / DID 与 OAuth</a:t>
            </a:r>
          </a:p>
        </p:txBody>
      </p:sp>
      <p:sp>
        <p:nvSpPr>
          <p:cNvPr id="4" name="Panel"/>
          <p:cNvSpPr/>
          <p:nvPr/>
        </p:nvSpPr>
        <p:spPr>
          <a:xfrm>
            <a:off x="9384791" y="246888"/>
            <a:ext cx="2221992" cy="365760"/>
          </a:xfrm>
          <a:prstGeom prst="roundRect">
            <a:avLst>
              <a:gd name="adj" fmla="val 7000"/>
            </a:avLst>
          </a:prstGeom>
          <a:solidFill>
            <a:srgbClr val="F4F0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
          <p:cNvSpPr txBox="1"/>
          <p:nvPr/>
        </p:nvSpPr>
        <p:spPr>
          <a:xfrm>
            <a:off x="9457943" y="314553"/>
            <a:ext cx="2075688" cy="201168"/>
          </a:xfrm>
          <a:prstGeom prst="rect">
            <a:avLst/>
          </a:prstGeom>
          <a:noFill/>
          <a:effectLst/>
        </p:spPr>
        <p:txBody>
          <a:bodyPr wrap="none" lIns="0" rIns="0" tIns="0" bIns="0" anchor="t">
            <a:noAutofit/>
          </a:bodyPr>
          <a:lstStyle/>
          <a:p>
            <a:pPr algn="ctr">
              <a:lnSpc>
                <a:spcPts val="1161"/>
              </a:lnSpc>
              <a:spcBef>
                <a:spcPts val="0"/>
              </a:spcBef>
              <a:spcAft>
                <a:spcPts val="0"/>
              </a:spcAft>
            </a:pPr>
            <a:r>
              <a:rPr sz="1010" b="1" lang="en-US">
                <a:solidFill>
                  <a:srgbClr val="7855B5"/>
                </a:solidFill>
                <a:latin typeface="Arial"/>
                <a:ea typeface="Microsoft YaHei"/>
              </a:rPr>
              <a:t>PROBLEM / 当前问题</a:t>
            </a:r>
          </a:p>
        </p:txBody>
      </p:sp>
      <p:sp>
        <p:nvSpPr>
          <p:cNvPr id="6" name="English title"/>
          <p:cNvSpPr txBox="1"/>
          <p:nvPr/>
        </p:nvSpPr>
        <p:spPr>
          <a:xfrm>
            <a:off x="585216" y="841248"/>
            <a:ext cx="11021567" cy="493776"/>
          </a:xfrm>
          <a:prstGeom prst="rect">
            <a:avLst/>
          </a:prstGeom>
          <a:noFill/>
          <a:effectLst/>
        </p:spPr>
        <p:txBody>
          <a:bodyPr wrap="none" lIns="0" rIns="0" tIns="0" bIns="0" anchor="t">
            <a:noAutofit/>
          </a:bodyPr>
          <a:lstStyle/>
          <a:p>
            <a:pPr algn="l">
              <a:lnSpc>
                <a:spcPts val="3454"/>
              </a:lnSpc>
              <a:spcBef>
                <a:spcPts val="0"/>
              </a:spcBef>
              <a:spcAft>
                <a:spcPts val="0"/>
              </a:spcAft>
            </a:pPr>
            <a:r>
              <a:rPr sz="3140" b="1" lang="en-US">
                <a:solidFill>
                  <a:srgbClr val="193249"/>
                </a:solidFill>
                <a:latin typeface="Arial"/>
                <a:ea typeface="Microsoft YaHei"/>
              </a:rPr>
              <a:t>A verified identity is not permission to act</a:t>
            </a:r>
          </a:p>
        </p:txBody>
      </p:sp>
      <p:sp>
        <p:nvSpPr>
          <p:cNvPr id="7" name="Chinese title"/>
          <p:cNvSpPr txBox="1"/>
          <p:nvPr/>
        </p:nvSpPr>
        <p:spPr>
          <a:xfrm>
            <a:off x="585216" y="1371600"/>
            <a:ext cx="11021567" cy="365760"/>
          </a:xfrm>
          <a:prstGeom prst="rect">
            <a:avLst/>
          </a:prstGeom>
          <a:noFill/>
          <a:effectLst/>
        </p:spPr>
        <p:txBody>
          <a:bodyPr wrap="none" lIns="0" rIns="0" tIns="0" bIns="0" anchor="t">
            <a:noAutofit/>
          </a:bodyPr>
          <a:lstStyle/>
          <a:p>
            <a:pPr algn="l">
              <a:lnSpc>
                <a:spcPts val="2392"/>
              </a:lnSpc>
              <a:spcBef>
                <a:spcPts val="0"/>
              </a:spcBef>
              <a:spcAft>
                <a:spcPts val="0"/>
              </a:spcAft>
            </a:pPr>
            <a:r>
              <a:rPr sz="2080" b="0" lang="zh-CN">
                <a:solidFill>
                  <a:srgbClr val="52677D"/>
                </a:solidFill>
                <a:latin typeface="Microsoft YaHei"/>
                <a:ea typeface="Microsoft YaHei"/>
              </a:rPr>
              <a:t>身份可验证，不等于获得操作权限</a:t>
            </a:r>
          </a:p>
        </p:txBody>
      </p:sp>
      <p:cxnSp>
        <p:nvCxnSpPr>
          <p:cNvPr id="8" name="Connector 7"/>
          <p:cNvCxnSpPr/>
          <p:nvPr/>
        </p:nvCxnSpPr>
        <p:spPr>
          <a:xfrm>
            <a:off x="585216" y="6400800"/>
            <a:ext cx="11021567" cy="0"/>
          </a:xfrm>
          <a:prstGeom prst="line">
            <a:avLst/>
          </a:prstGeom>
          <a:ln w="889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9" name="Text"/>
          <p:cNvSpPr txBox="1"/>
          <p:nvPr/>
        </p:nvSpPr>
        <p:spPr>
          <a:xfrm>
            <a:off x="585216" y="6505956"/>
            <a:ext cx="8595360" cy="192024"/>
          </a:xfrm>
          <a:prstGeom prst="rect">
            <a:avLst/>
          </a:prstGeom>
          <a:noFill/>
          <a:effectLst/>
        </p:spPr>
        <p:txBody>
          <a:bodyPr wrap="none" lIns="0" rIns="0" tIns="0" bIns="0" anchor="t">
            <a:noAutofit/>
          </a:bodyPr>
          <a:lstStyle/>
          <a:p>
            <a:pPr algn="l">
              <a:lnSpc>
                <a:spcPts val="1080"/>
              </a:lnSpc>
              <a:spcBef>
                <a:spcPts val="0"/>
              </a:spcBef>
              <a:spcAft>
                <a:spcPts val="0"/>
              </a:spcAft>
            </a:pPr>
            <a:r>
              <a:rPr sz="940" b="0" lang="en-US">
                <a:solidFill>
                  <a:srgbClr val="52677D"/>
                </a:solidFill>
                <a:latin typeface="Arial"/>
                <a:ea typeface="Microsoft YaHei"/>
              </a:rPr>
              <a:t>W3C AI Agent Protocol CG  ·  Discussion draft / 讨论稿</a:t>
            </a:r>
          </a:p>
        </p:txBody>
      </p:sp>
      <p:sp>
        <p:nvSpPr>
          <p:cNvPr id="10" name="Text"/>
          <p:cNvSpPr txBox="1"/>
          <p:nvPr/>
        </p:nvSpPr>
        <p:spPr>
          <a:xfrm>
            <a:off x="8439912" y="6505956"/>
            <a:ext cx="2194560" cy="192024"/>
          </a:xfrm>
          <a:prstGeom prst="rect">
            <a:avLst/>
          </a:prstGeom>
          <a:noFill/>
          <a:effectLst/>
        </p:spPr>
        <p:txBody>
          <a:bodyPr wrap="none" lIns="0" rIns="0" tIns="0" bIns="0" anchor="t">
            <a:noAutofit/>
          </a:bodyPr>
          <a:lstStyle/>
          <a:p>
            <a:pPr algn="r">
              <a:lnSpc>
                <a:spcPts val="1069"/>
              </a:lnSpc>
              <a:spcBef>
                <a:spcPts val="0"/>
              </a:spcBef>
              <a:spcAft>
                <a:spcPts val="0"/>
              </a:spcAft>
            </a:pPr>
            <a:r>
              <a:rPr sz="930" b="0" lang="en-US">
                <a:solidFill>
                  <a:srgbClr val="52677D"/>
                </a:solidFill>
                <a:latin typeface="Arial"/>
                <a:ea typeface="Microsoft YaHei"/>
              </a:rPr>
              <a:t>Refs: identity, 6749</a:t>
            </a:r>
          </a:p>
        </p:txBody>
      </p:sp>
      <p:sp>
        <p:nvSpPr>
          <p:cNvPr id="11" name="Text"/>
          <p:cNvSpPr txBox="1"/>
          <p:nvPr/>
        </p:nvSpPr>
        <p:spPr>
          <a:xfrm>
            <a:off x="10890504" y="6487668"/>
            <a:ext cx="694944" cy="228600"/>
          </a:xfrm>
          <a:prstGeom prst="rect">
            <a:avLst/>
          </a:prstGeom>
          <a:noFill/>
          <a:effectLst/>
        </p:spPr>
        <p:txBody>
          <a:bodyPr wrap="none" lIns="0" rIns="0" tIns="0" bIns="0" anchor="t">
            <a:noAutofit/>
          </a:bodyPr>
          <a:lstStyle/>
          <a:p>
            <a:pPr algn="r">
              <a:lnSpc>
                <a:spcPts val="1299"/>
              </a:lnSpc>
              <a:spcBef>
                <a:spcPts val="0"/>
              </a:spcBef>
              <a:spcAft>
                <a:spcPts val="0"/>
              </a:spcAft>
            </a:pPr>
            <a:r>
              <a:rPr sz="1130" b="1" lang="en-US">
                <a:solidFill>
                  <a:srgbClr val="7855B5"/>
                </a:solidFill>
                <a:latin typeface="Arial"/>
                <a:ea typeface="Microsoft YaHei"/>
              </a:rPr>
              <a:t>06 / 07</a:t>
            </a:r>
          </a:p>
        </p:txBody>
      </p:sp>
      <p:sp>
        <p:nvSpPr>
          <p:cNvPr id="12" name="Panel"/>
          <p:cNvSpPr/>
          <p:nvPr/>
        </p:nvSpPr>
        <p:spPr>
          <a:xfrm>
            <a:off x="585216" y="1947672"/>
            <a:ext cx="11021567" cy="1362456"/>
          </a:xfrm>
          <a:prstGeom prst="roundRect">
            <a:avLst>
              <a:gd name="adj" fmla="val 7000"/>
            </a:avLst>
          </a:prstGeom>
          <a:solidFill>
            <a:srgbClr val="F4F0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anel"/>
          <p:cNvSpPr/>
          <p:nvPr/>
        </p:nvSpPr>
        <p:spPr>
          <a:xfrm>
            <a:off x="585216" y="1947672"/>
            <a:ext cx="32004" cy="1362456"/>
          </a:xfrm>
          <a:prstGeom prst="rect">
            <a:avLst/>
          </a:prstGeom>
          <a:solidFill>
            <a:srgbClr val="7855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
          <p:cNvSpPr txBox="1"/>
          <p:nvPr/>
        </p:nvSpPr>
        <p:spPr>
          <a:xfrm>
            <a:off x="740664" y="2103120"/>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7855B5"/>
                </a:solidFill>
                <a:latin typeface="Arial"/>
                <a:ea typeface="Microsoft YaHei"/>
              </a:rPr>
              <a:t>01</a:t>
            </a:r>
          </a:p>
        </p:txBody>
      </p:sp>
      <p:sp>
        <p:nvSpPr>
          <p:cNvPr id="15" name="Row heading EN"/>
          <p:cNvSpPr txBox="1"/>
          <p:nvPr/>
        </p:nvSpPr>
        <p:spPr>
          <a:xfrm>
            <a:off x="1133856" y="2112264"/>
            <a:ext cx="2258568" cy="309118"/>
          </a:xfrm>
          <a:prstGeom prst="rect">
            <a:avLst/>
          </a:prstGeom>
          <a:noFill/>
          <a:effectLst/>
        </p:spPr>
        <p:txBody>
          <a:bodyPr wrap="none" lIns="0" rIns="0" tIns="0" bIns="0" anchor="t">
            <a:noAutofit/>
          </a:bodyPr>
          <a:lstStyle/>
          <a:p>
            <a:pPr algn="l">
              <a:lnSpc>
                <a:spcPts val="2090"/>
              </a:lnSpc>
              <a:spcBef>
                <a:spcPts val="0"/>
              </a:spcBef>
              <a:spcAft>
                <a:spcPts val="0"/>
              </a:spcAft>
            </a:pPr>
            <a:r>
              <a:rPr sz="1900" b="1" lang="en-US">
                <a:solidFill>
                  <a:srgbClr val="193249"/>
                </a:solidFill>
                <a:latin typeface="Arial"/>
                <a:ea typeface="Microsoft YaHei"/>
              </a:rPr>
              <a:t>Who authorizes?</a:t>
            </a:r>
          </a:p>
        </p:txBody>
      </p:sp>
      <p:sp>
        <p:nvSpPr>
          <p:cNvPr id="16" name="Row heading ZH"/>
          <p:cNvSpPr txBox="1"/>
          <p:nvPr/>
        </p:nvSpPr>
        <p:spPr>
          <a:xfrm>
            <a:off x="1133856" y="2521966"/>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7855B5"/>
                </a:solidFill>
                <a:latin typeface="Microsoft YaHei"/>
                <a:ea typeface="Microsoft YaHei"/>
              </a:rPr>
              <a:t>谁授权，代表谁？</a:t>
            </a:r>
          </a:p>
        </p:txBody>
      </p:sp>
      <p:sp>
        <p:nvSpPr>
          <p:cNvPr id="17" name="Reading paragraph EN"/>
          <p:cNvSpPr txBox="1"/>
          <p:nvPr/>
        </p:nvSpPr>
        <p:spPr>
          <a:xfrm>
            <a:off x="3730752" y="2103120"/>
            <a:ext cx="7656575" cy="556209"/>
          </a:xfrm>
          <a:prstGeom prst="rect">
            <a:avLst/>
          </a:prstGeom>
          <a:noFill/>
          <a:effectLst/>
        </p:spPr>
        <p:txBody>
          <a:bodyPr wrap="none" lIns="0" rIns="0" tIns="0" bIns="0" anchor="t">
            <a:noAutofit/>
          </a:bodyPr>
          <a:lstStyle/>
          <a:p>
            <a:pPr algn="l">
              <a:lnSpc>
                <a:spcPts val="2017"/>
              </a:lnSpc>
              <a:spcBef>
                <a:spcPts val="0"/>
              </a:spcBef>
              <a:spcAft>
                <a:spcPts val="0"/>
              </a:spcAft>
            </a:pPr>
            <a:r>
              <a:rPr sz="1770" b="0" lang="en-US">
                <a:solidFill>
                  <a:srgbClr val="24394E"/>
                </a:solidFill>
                <a:latin typeface="Arial"/>
                <a:ea typeface="Microsoft YaHei"/>
              </a:rPr>
              <a:t>An agent may act for a user or under organizational policy. Distinguish the</a:t>
            </a:r>
            <a:br/>
            <a:r>
              <a:rPr sz="1770" b="0" lang="en-US">
                <a:solidFill>
                  <a:srgbClr val="24394E"/>
                </a:solidFill>
                <a:latin typeface="Arial"/>
                <a:ea typeface="Microsoft YaHei"/>
              </a:rPr>
              <a:t>authorizing party from the agent executing the task.</a:t>
            </a:r>
          </a:p>
        </p:txBody>
      </p:sp>
      <p:sp>
        <p:nvSpPr>
          <p:cNvPr id="18" name="Reading paragraph ZH"/>
          <p:cNvSpPr txBox="1"/>
          <p:nvPr/>
        </p:nvSpPr>
        <p:spPr>
          <a:xfrm>
            <a:off x="3730752" y="2732481"/>
            <a:ext cx="7656575" cy="514248"/>
          </a:xfrm>
          <a:prstGeom prst="rect">
            <a:avLst/>
          </a:prstGeom>
          <a:noFill/>
          <a:effectLst/>
        </p:spPr>
        <p:txBody>
          <a:bodyPr wrap="none" lIns="0" rIns="0" tIns="0" bIns="0" anchor="t">
            <a:noAutofit/>
          </a:bodyPr>
          <a:lstStyle/>
          <a:p>
            <a:pPr algn="l">
              <a:lnSpc>
                <a:spcPts val="1852"/>
              </a:lnSpc>
              <a:spcBef>
                <a:spcPts val="0"/>
              </a:spcBef>
              <a:spcAft>
                <a:spcPts val="0"/>
              </a:spcAft>
            </a:pPr>
            <a:r>
              <a:rPr sz="1570" b="0" lang="zh-CN">
                <a:solidFill>
                  <a:srgbClr val="52677D"/>
                </a:solidFill>
                <a:latin typeface="Microsoft YaHei"/>
                <a:ea typeface="Microsoft YaHei"/>
              </a:rPr>
              <a:t>智能体可能代表用户，也可能依据组织既有策略执行任务。需要区分授权方与实际执行</a:t>
            </a:r>
            <a:br/>
            <a:r>
              <a:rPr sz="1570" b="0" lang="zh-CN">
                <a:solidFill>
                  <a:srgbClr val="52677D"/>
                </a:solidFill>
                <a:latin typeface="Microsoft YaHei"/>
                <a:ea typeface="Microsoft YaHei"/>
              </a:rPr>
              <a:t>任务的智能体，不能把二者视为同一个身份。</a:t>
            </a:r>
          </a:p>
        </p:txBody>
      </p:sp>
      <p:cxnSp>
        <p:nvCxnSpPr>
          <p:cNvPr id="19" name="Connector 18"/>
          <p:cNvCxnSpPr/>
          <p:nvPr/>
        </p:nvCxnSpPr>
        <p:spPr>
          <a:xfrm>
            <a:off x="3502152" y="2112264"/>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20" name="Panel"/>
          <p:cNvSpPr/>
          <p:nvPr/>
        </p:nvSpPr>
        <p:spPr>
          <a:xfrm>
            <a:off x="585216" y="3401568"/>
            <a:ext cx="11021567" cy="1362456"/>
          </a:xfrm>
          <a:prstGeom prst="roundRect">
            <a:avLst>
              <a:gd name="adj" fmla="val 7000"/>
            </a:avLst>
          </a:prstGeom>
          <a:solidFill>
            <a:srgbClr val="F4F0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Panel"/>
          <p:cNvSpPr/>
          <p:nvPr/>
        </p:nvSpPr>
        <p:spPr>
          <a:xfrm>
            <a:off x="585216" y="3401568"/>
            <a:ext cx="32004" cy="1362456"/>
          </a:xfrm>
          <a:prstGeom prst="rect">
            <a:avLst/>
          </a:prstGeom>
          <a:solidFill>
            <a:srgbClr val="7855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
          <p:cNvSpPr txBox="1"/>
          <p:nvPr/>
        </p:nvSpPr>
        <p:spPr>
          <a:xfrm>
            <a:off x="740664" y="3557015"/>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7855B5"/>
                </a:solidFill>
                <a:latin typeface="Arial"/>
                <a:ea typeface="Microsoft YaHei"/>
              </a:rPr>
              <a:t>02</a:t>
            </a:r>
          </a:p>
        </p:txBody>
      </p:sp>
      <p:sp>
        <p:nvSpPr>
          <p:cNvPr id="23" name="Row heading EN"/>
          <p:cNvSpPr txBox="1"/>
          <p:nvPr/>
        </p:nvSpPr>
        <p:spPr>
          <a:xfrm>
            <a:off x="1133856" y="3566160"/>
            <a:ext cx="2258568" cy="309118"/>
          </a:xfrm>
          <a:prstGeom prst="rect">
            <a:avLst/>
          </a:prstGeom>
          <a:noFill/>
          <a:effectLst/>
        </p:spPr>
        <p:txBody>
          <a:bodyPr wrap="none" lIns="0" rIns="0" tIns="0" bIns="0" anchor="t">
            <a:noAutofit/>
          </a:bodyPr>
          <a:lstStyle/>
          <a:p>
            <a:pPr algn="l">
              <a:lnSpc>
                <a:spcPts val="2090"/>
              </a:lnSpc>
              <a:spcBef>
                <a:spcPts val="0"/>
              </a:spcBef>
              <a:spcAft>
                <a:spcPts val="0"/>
              </a:spcAft>
            </a:pPr>
            <a:r>
              <a:rPr sz="1900" b="1" lang="en-US">
                <a:solidFill>
                  <a:srgbClr val="193249"/>
                </a:solidFill>
                <a:latin typeface="Arial"/>
                <a:ea typeface="Microsoft YaHei"/>
              </a:rPr>
              <a:t>What is allowed?</a:t>
            </a:r>
          </a:p>
        </p:txBody>
      </p:sp>
      <p:sp>
        <p:nvSpPr>
          <p:cNvPr id="24" name="Row heading ZH"/>
          <p:cNvSpPr txBox="1"/>
          <p:nvPr/>
        </p:nvSpPr>
        <p:spPr>
          <a:xfrm>
            <a:off x="1133856" y="3975862"/>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7855B5"/>
                </a:solidFill>
                <a:latin typeface="Microsoft YaHei"/>
                <a:ea typeface="Microsoft YaHei"/>
              </a:rPr>
              <a:t>允许哪些操作？</a:t>
            </a:r>
          </a:p>
        </p:txBody>
      </p:sp>
      <p:sp>
        <p:nvSpPr>
          <p:cNvPr id="25" name="Reading paragraph EN"/>
          <p:cNvSpPr txBox="1"/>
          <p:nvPr/>
        </p:nvSpPr>
        <p:spPr>
          <a:xfrm>
            <a:off x="3730752" y="3557015"/>
            <a:ext cx="7656575" cy="556209"/>
          </a:xfrm>
          <a:prstGeom prst="rect">
            <a:avLst/>
          </a:prstGeom>
          <a:noFill/>
          <a:effectLst/>
        </p:spPr>
        <p:txBody>
          <a:bodyPr wrap="none" lIns="0" rIns="0" tIns="0" bIns="0" anchor="t">
            <a:noAutofit/>
          </a:bodyPr>
          <a:lstStyle/>
          <a:p>
            <a:pPr algn="l">
              <a:lnSpc>
                <a:spcPts val="2017"/>
              </a:lnSpc>
              <a:spcBef>
                <a:spcPts val="0"/>
              </a:spcBef>
              <a:spcAft>
                <a:spcPts val="0"/>
              </a:spcAft>
            </a:pPr>
            <a:r>
              <a:rPr sz="1770" b="0" lang="en-US">
                <a:solidFill>
                  <a:srgbClr val="24394E"/>
                </a:solidFill>
                <a:latin typeface="Arial"/>
                <a:ea typeface="Microsoft YaHei"/>
              </a:rPr>
              <a:t>A DID does not define permitted resources, allowed actions or permission</a:t>
            </a:r>
            <a:br/>
            <a:r>
              <a:rPr sz="1770" b="0" lang="en-US">
                <a:solidFill>
                  <a:srgbClr val="24394E"/>
                </a:solidFill>
                <a:latin typeface="Arial"/>
                <a:ea typeface="Microsoft YaHei"/>
              </a:rPr>
              <a:t>lifetime. These boundaries must come from authorization.</a:t>
            </a:r>
          </a:p>
        </p:txBody>
      </p:sp>
      <p:sp>
        <p:nvSpPr>
          <p:cNvPr id="26" name="Reading paragraph ZH"/>
          <p:cNvSpPr txBox="1"/>
          <p:nvPr/>
        </p:nvSpPr>
        <p:spPr>
          <a:xfrm>
            <a:off x="3730752" y="4186377"/>
            <a:ext cx="7656575" cy="514248"/>
          </a:xfrm>
          <a:prstGeom prst="rect">
            <a:avLst/>
          </a:prstGeom>
          <a:noFill/>
          <a:effectLst/>
        </p:spPr>
        <p:txBody>
          <a:bodyPr wrap="none" lIns="0" rIns="0" tIns="0" bIns="0" anchor="t">
            <a:noAutofit/>
          </a:bodyPr>
          <a:lstStyle/>
          <a:p>
            <a:pPr algn="l">
              <a:lnSpc>
                <a:spcPts val="1852"/>
              </a:lnSpc>
              <a:spcBef>
                <a:spcPts val="0"/>
              </a:spcBef>
              <a:spcAft>
                <a:spcPts val="0"/>
              </a:spcAft>
            </a:pPr>
            <a:r>
              <a:rPr sz="1570" b="0" lang="zh-CN">
                <a:solidFill>
                  <a:srgbClr val="52677D"/>
                </a:solidFill>
                <a:latin typeface="Microsoft YaHei"/>
                <a:ea typeface="Microsoft YaHei"/>
              </a:rPr>
              <a:t>知道智能体的 DID，并不能说明它可以访问哪些资源、执行哪些操作，以及这些权限何</a:t>
            </a:r>
            <a:br/>
            <a:r>
              <a:rPr sz="1570" b="0" lang="zh-CN">
                <a:solidFill>
                  <a:srgbClr val="52677D"/>
                </a:solidFill>
                <a:latin typeface="Microsoft YaHei"/>
                <a:ea typeface="Microsoft YaHei"/>
              </a:rPr>
              <a:t>时到期；这些都需要由授权机制明确。</a:t>
            </a:r>
          </a:p>
        </p:txBody>
      </p:sp>
      <p:cxnSp>
        <p:nvCxnSpPr>
          <p:cNvPr id="27" name="Connector 26"/>
          <p:cNvCxnSpPr/>
          <p:nvPr/>
        </p:nvCxnSpPr>
        <p:spPr>
          <a:xfrm>
            <a:off x="3502152" y="3566160"/>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28" name="Panel"/>
          <p:cNvSpPr/>
          <p:nvPr/>
        </p:nvSpPr>
        <p:spPr>
          <a:xfrm>
            <a:off x="585216" y="4855464"/>
            <a:ext cx="11021567" cy="1362456"/>
          </a:xfrm>
          <a:prstGeom prst="roundRect">
            <a:avLst>
              <a:gd name="adj" fmla="val 7000"/>
            </a:avLst>
          </a:prstGeom>
          <a:solidFill>
            <a:srgbClr val="F4F0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Panel"/>
          <p:cNvSpPr/>
          <p:nvPr/>
        </p:nvSpPr>
        <p:spPr>
          <a:xfrm>
            <a:off x="585216" y="4855464"/>
            <a:ext cx="32004" cy="1362456"/>
          </a:xfrm>
          <a:prstGeom prst="rect">
            <a:avLst/>
          </a:prstGeom>
          <a:solidFill>
            <a:srgbClr val="7855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
          <p:cNvSpPr txBox="1"/>
          <p:nvPr/>
        </p:nvSpPr>
        <p:spPr>
          <a:xfrm>
            <a:off x="740664" y="5010912"/>
            <a:ext cx="310896" cy="210312"/>
          </a:xfrm>
          <a:prstGeom prst="rect">
            <a:avLst/>
          </a:prstGeom>
          <a:noFill/>
          <a:effectLst/>
        </p:spPr>
        <p:txBody>
          <a:bodyPr wrap="none" lIns="0" rIns="0" tIns="0" bIns="0" anchor="t">
            <a:noAutofit/>
          </a:bodyPr>
          <a:lstStyle/>
          <a:p>
            <a:pPr algn="l">
              <a:lnSpc>
                <a:spcPts val="1402"/>
              </a:lnSpc>
              <a:spcBef>
                <a:spcPts val="0"/>
              </a:spcBef>
              <a:spcAft>
                <a:spcPts val="0"/>
              </a:spcAft>
            </a:pPr>
            <a:r>
              <a:rPr sz="1220" b="1" lang="en-US">
                <a:solidFill>
                  <a:srgbClr val="7855B5"/>
                </a:solidFill>
                <a:latin typeface="Arial"/>
                <a:ea typeface="Microsoft YaHei"/>
              </a:rPr>
              <a:t>03</a:t>
            </a:r>
          </a:p>
        </p:txBody>
      </p:sp>
      <p:sp>
        <p:nvSpPr>
          <p:cNvPr id="31" name="Row heading EN"/>
          <p:cNvSpPr txBox="1"/>
          <p:nvPr/>
        </p:nvSpPr>
        <p:spPr>
          <a:xfrm>
            <a:off x="1133856" y="5020056"/>
            <a:ext cx="2258568" cy="309118"/>
          </a:xfrm>
          <a:prstGeom prst="rect">
            <a:avLst/>
          </a:prstGeom>
          <a:noFill/>
          <a:effectLst/>
        </p:spPr>
        <p:txBody>
          <a:bodyPr wrap="none" lIns="0" rIns="0" tIns="0" bIns="0" anchor="t">
            <a:noAutofit/>
          </a:bodyPr>
          <a:lstStyle/>
          <a:p>
            <a:pPr algn="l">
              <a:lnSpc>
                <a:spcPts val="2090"/>
              </a:lnSpc>
              <a:spcBef>
                <a:spcPts val="0"/>
              </a:spcBef>
              <a:spcAft>
                <a:spcPts val="0"/>
              </a:spcAft>
            </a:pPr>
            <a:r>
              <a:rPr sz="1900" b="1" lang="en-US">
                <a:solidFill>
                  <a:srgbClr val="193249"/>
                </a:solidFill>
                <a:latin typeface="Arial"/>
                <a:ea typeface="Microsoft YaHei"/>
              </a:rPr>
              <a:t>How does it link?</a:t>
            </a:r>
          </a:p>
        </p:txBody>
      </p:sp>
      <p:sp>
        <p:nvSpPr>
          <p:cNvPr id="32" name="Row heading ZH"/>
          <p:cNvSpPr txBox="1"/>
          <p:nvPr/>
        </p:nvSpPr>
        <p:spPr>
          <a:xfrm>
            <a:off x="1133856" y="5429758"/>
            <a:ext cx="2258568" cy="289712"/>
          </a:xfrm>
          <a:prstGeom prst="rect">
            <a:avLst/>
          </a:prstGeom>
          <a:noFill/>
          <a:effectLst/>
        </p:spPr>
        <p:txBody>
          <a:bodyPr wrap="none" lIns="0" rIns="0" tIns="0" bIns="0" anchor="t">
            <a:noAutofit/>
          </a:bodyPr>
          <a:lstStyle/>
          <a:p>
            <a:pPr algn="l">
              <a:lnSpc>
                <a:spcPts val="1937"/>
              </a:lnSpc>
              <a:spcBef>
                <a:spcPts val="0"/>
              </a:spcBef>
              <a:spcAft>
                <a:spcPts val="0"/>
              </a:spcAft>
            </a:pPr>
            <a:r>
              <a:rPr sz="1670" b="1" lang="zh-CN">
                <a:solidFill>
                  <a:srgbClr val="7855B5"/>
                </a:solidFill>
                <a:latin typeface="Microsoft YaHei"/>
                <a:ea typeface="Microsoft YaHei"/>
              </a:rPr>
              <a:t>如何关联 OAuth？</a:t>
            </a:r>
          </a:p>
        </p:txBody>
      </p:sp>
      <p:sp>
        <p:nvSpPr>
          <p:cNvPr id="33" name="Reading paragraph EN"/>
          <p:cNvSpPr txBox="1"/>
          <p:nvPr/>
        </p:nvSpPr>
        <p:spPr>
          <a:xfrm>
            <a:off x="3730752" y="5010912"/>
            <a:ext cx="7656575" cy="556209"/>
          </a:xfrm>
          <a:prstGeom prst="rect">
            <a:avLst/>
          </a:prstGeom>
          <a:noFill/>
          <a:effectLst/>
        </p:spPr>
        <p:txBody>
          <a:bodyPr wrap="none" lIns="0" rIns="0" tIns="0" bIns="0" anchor="t">
            <a:noAutofit/>
          </a:bodyPr>
          <a:lstStyle/>
          <a:p>
            <a:pPr algn="l">
              <a:lnSpc>
                <a:spcPts val="2017"/>
              </a:lnSpc>
              <a:spcBef>
                <a:spcPts val="0"/>
              </a:spcBef>
              <a:spcAft>
                <a:spcPts val="0"/>
              </a:spcAft>
            </a:pPr>
            <a:r>
              <a:rPr sz="1770" b="0" lang="en-US">
                <a:solidFill>
                  <a:srgbClr val="24394E"/>
                </a:solidFill>
                <a:latin typeface="Arial"/>
                <a:ea typeface="Microsoft YaHei"/>
              </a:rPr>
              <a:t>We want to link DID identities to OAuth clients and authorized resource</a:t>
            </a:r>
            <a:br/>
            <a:r>
              <a:rPr sz="1770" b="0" lang="en-US">
                <a:solidFill>
                  <a:srgbClr val="24394E"/>
                </a:solidFill>
                <a:latin typeface="Arial"/>
                <a:ea typeface="Microsoft YaHei"/>
              </a:rPr>
              <a:t>access, rather than define a separate authorization system.</a:t>
            </a:r>
          </a:p>
        </p:txBody>
      </p:sp>
      <p:sp>
        <p:nvSpPr>
          <p:cNvPr id="34" name="Reading paragraph ZH"/>
          <p:cNvSpPr txBox="1"/>
          <p:nvPr/>
        </p:nvSpPr>
        <p:spPr>
          <a:xfrm>
            <a:off x="3730752" y="5640273"/>
            <a:ext cx="7656575" cy="514248"/>
          </a:xfrm>
          <a:prstGeom prst="rect">
            <a:avLst/>
          </a:prstGeom>
          <a:noFill/>
          <a:effectLst/>
        </p:spPr>
        <p:txBody>
          <a:bodyPr wrap="none" lIns="0" rIns="0" tIns="0" bIns="0" anchor="t">
            <a:noAutofit/>
          </a:bodyPr>
          <a:lstStyle/>
          <a:p>
            <a:pPr algn="l">
              <a:lnSpc>
                <a:spcPts val="1852"/>
              </a:lnSpc>
              <a:spcBef>
                <a:spcPts val="0"/>
              </a:spcBef>
              <a:spcAft>
                <a:spcPts val="0"/>
              </a:spcAft>
            </a:pPr>
            <a:r>
              <a:rPr sz="1570" b="0" lang="zh-CN">
                <a:solidFill>
                  <a:srgbClr val="52677D"/>
                </a:solidFill>
                <a:latin typeface="Microsoft YaHei"/>
                <a:ea typeface="Microsoft YaHei"/>
              </a:rPr>
              <a:t>我们不希望另起一套独立的授权体系，而是探索如何把 DID 身份与 OAuth 客户端及资</a:t>
            </a:r>
            <a:br/>
            <a:r>
              <a:rPr sz="1570" b="0" lang="zh-CN">
                <a:solidFill>
                  <a:srgbClr val="52677D"/>
                </a:solidFill>
                <a:latin typeface="Microsoft YaHei"/>
                <a:ea typeface="Microsoft YaHei"/>
              </a:rPr>
              <a:t>源访问授权关联起来，复用已有机制。</a:t>
            </a:r>
          </a:p>
        </p:txBody>
      </p:sp>
      <p:cxnSp>
        <p:nvCxnSpPr>
          <p:cNvPr id="35" name="Connector 34"/>
          <p:cNvCxnSpPr/>
          <p:nvPr/>
        </p:nvCxnSpPr>
        <p:spPr>
          <a:xfrm>
            <a:off x="3502152" y="5020056"/>
            <a:ext cx="0" cy="1033272"/>
          </a:xfrm>
          <a:prstGeom prst="line">
            <a:avLst/>
          </a:prstGeom>
          <a:ln w="7620">
            <a:solidFill>
              <a:srgbClr val="DCE5ED"/>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nel"/>
          <p:cNvSpPr/>
          <p:nvPr/>
        </p:nvSpPr>
        <p:spPr>
          <a:xfrm>
            <a:off x="0" y="0"/>
            <a:ext cx="12191999" cy="59436"/>
          </a:xfrm>
          <a:prstGeom prst="rect">
            <a:avLst/>
          </a:prstGeom>
          <a:solidFill>
            <a:srgbClr val="7855B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
          <p:cNvSpPr txBox="1"/>
          <p:nvPr/>
        </p:nvSpPr>
        <p:spPr>
          <a:xfrm>
            <a:off x="585216" y="274320"/>
            <a:ext cx="8686800" cy="228600"/>
          </a:xfrm>
          <a:prstGeom prst="rect">
            <a:avLst/>
          </a:prstGeom>
          <a:noFill/>
          <a:effectLst/>
        </p:spPr>
        <p:txBody>
          <a:bodyPr wrap="none" lIns="0" rIns="0" tIns="0" bIns="0" anchor="t">
            <a:noAutofit/>
          </a:bodyPr>
          <a:lstStyle/>
          <a:p>
            <a:pPr algn="l">
              <a:lnSpc>
                <a:spcPts val="1219"/>
              </a:lnSpc>
              <a:spcBef>
                <a:spcPts val="0"/>
              </a:spcBef>
              <a:spcAft>
                <a:spcPts val="0"/>
              </a:spcAft>
            </a:pPr>
            <a:r>
              <a:rPr sz="1060" b="1" lang="en-US">
                <a:solidFill>
                  <a:srgbClr val="7855B5"/>
                </a:solidFill>
                <a:latin typeface="Arial"/>
                <a:ea typeface="Microsoft YaHei"/>
              </a:rPr>
              <a:t>PROPOSAL 03 / 提案三  ·  DID + OAUTH / DID 与 OAuth</a:t>
            </a:r>
          </a:p>
        </p:txBody>
      </p:sp>
      <p:sp>
        <p:nvSpPr>
          <p:cNvPr id="4" name="Panel"/>
          <p:cNvSpPr/>
          <p:nvPr/>
        </p:nvSpPr>
        <p:spPr>
          <a:xfrm>
            <a:off x="9384791" y="246888"/>
            <a:ext cx="2221992" cy="365760"/>
          </a:xfrm>
          <a:prstGeom prst="roundRect">
            <a:avLst>
              <a:gd name="adj" fmla="val 7000"/>
            </a:avLst>
          </a:prstGeom>
          <a:solidFill>
            <a:srgbClr val="F4F0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
          <p:cNvSpPr txBox="1"/>
          <p:nvPr/>
        </p:nvSpPr>
        <p:spPr>
          <a:xfrm>
            <a:off x="9457943" y="314553"/>
            <a:ext cx="2075688" cy="201168"/>
          </a:xfrm>
          <a:prstGeom prst="rect">
            <a:avLst/>
          </a:prstGeom>
          <a:noFill/>
          <a:effectLst/>
        </p:spPr>
        <p:txBody>
          <a:bodyPr wrap="none" lIns="0" rIns="0" tIns="0" bIns="0" anchor="t">
            <a:noAutofit/>
          </a:bodyPr>
          <a:lstStyle/>
          <a:p>
            <a:pPr algn="ctr">
              <a:lnSpc>
                <a:spcPts val="1161"/>
              </a:lnSpc>
              <a:spcBef>
                <a:spcPts val="0"/>
              </a:spcBef>
              <a:spcAft>
                <a:spcPts val="0"/>
              </a:spcAft>
            </a:pPr>
            <a:r>
              <a:rPr sz="1010" b="1" lang="en-US">
                <a:solidFill>
                  <a:srgbClr val="7855B5"/>
                </a:solidFill>
                <a:latin typeface="Arial"/>
                <a:ea typeface="Microsoft YaHei"/>
              </a:rPr>
              <a:t>OPEN DIRECTION / 开放方向</a:t>
            </a:r>
          </a:p>
        </p:txBody>
      </p:sp>
      <p:sp>
        <p:nvSpPr>
          <p:cNvPr id="6" name="English title"/>
          <p:cNvSpPr txBox="1"/>
          <p:nvPr/>
        </p:nvSpPr>
        <p:spPr>
          <a:xfrm>
            <a:off x="585216" y="841248"/>
            <a:ext cx="11021567" cy="493776"/>
          </a:xfrm>
          <a:prstGeom prst="rect">
            <a:avLst/>
          </a:prstGeom>
          <a:noFill/>
          <a:effectLst/>
        </p:spPr>
        <p:txBody>
          <a:bodyPr wrap="none" lIns="0" rIns="0" tIns="0" bIns="0" anchor="t">
            <a:noAutofit/>
          </a:bodyPr>
          <a:lstStyle/>
          <a:p>
            <a:pPr algn="l">
              <a:lnSpc>
                <a:spcPts val="3454"/>
              </a:lnSpc>
              <a:spcBef>
                <a:spcPts val="0"/>
              </a:spcBef>
              <a:spcAft>
                <a:spcPts val="0"/>
              </a:spcAft>
            </a:pPr>
            <a:r>
              <a:rPr sz="3140" b="1" lang="en-US">
                <a:solidFill>
                  <a:srgbClr val="193249"/>
                </a:solidFill>
                <a:latin typeface="Arial"/>
                <a:ea typeface="Microsoft YaHei"/>
              </a:rPr>
              <a:t>Let DID-based agents reuse OAuth authorization</a:t>
            </a:r>
          </a:p>
        </p:txBody>
      </p:sp>
      <p:sp>
        <p:nvSpPr>
          <p:cNvPr id="7" name="Chinese title"/>
          <p:cNvSpPr txBox="1"/>
          <p:nvPr/>
        </p:nvSpPr>
        <p:spPr>
          <a:xfrm>
            <a:off x="585216" y="1371600"/>
            <a:ext cx="11021567" cy="365760"/>
          </a:xfrm>
          <a:prstGeom prst="rect">
            <a:avLst/>
          </a:prstGeom>
          <a:noFill/>
          <a:effectLst/>
        </p:spPr>
        <p:txBody>
          <a:bodyPr wrap="none" lIns="0" rIns="0" tIns="0" bIns="0" anchor="t">
            <a:noAutofit/>
          </a:bodyPr>
          <a:lstStyle/>
          <a:p>
            <a:pPr algn="l">
              <a:lnSpc>
                <a:spcPts val="2392"/>
              </a:lnSpc>
              <a:spcBef>
                <a:spcPts val="0"/>
              </a:spcBef>
              <a:spcAft>
                <a:spcPts val="0"/>
              </a:spcAft>
            </a:pPr>
            <a:r>
              <a:rPr sz="2080" b="0" lang="zh-CN">
                <a:solidFill>
                  <a:srgbClr val="52677D"/>
                </a:solidFill>
                <a:latin typeface="Microsoft YaHei"/>
                <a:ea typeface="Microsoft YaHei"/>
              </a:rPr>
              <a:t>开放方向：尝试结合 DID 与 OAuth 两套规范</a:t>
            </a:r>
          </a:p>
        </p:txBody>
      </p:sp>
      <p:cxnSp>
        <p:nvCxnSpPr>
          <p:cNvPr id="8" name="Connector 7"/>
          <p:cNvCxnSpPr/>
          <p:nvPr/>
        </p:nvCxnSpPr>
        <p:spPr>
          <a:xfrm>
            <a:off x="585216" y="6400800"/>
            <a:ext cx="11021567" cy="0"/>
          </a:xfrm>
          <a:prstGeom prst="line">
            <a:avLst/>
          </a:prstGeom>
          <a:ln w="8890">
            <a:solidFill>
              <a:srgbClr val="DCE5ED"/>
            </a:solidFill>
          </a:ln>
          <a:effectLst/>
        </p:spPr>
        <p:style>
          <a:lnRef idx="2">
            <a:schemeClr val="accent1"/>
          </a:lnRef>
          <a:fillRef idx="0">
            <a:schemeClr val="accent1"/>
          </a:fillRef>
          <a:effectRef idx="0">
            <a:schemeClr val="accent1"/>
          </a:effectRef>
          <a:fontRef idx="minor">
            <a:schemeClr val="tx1"/>
          </a:fontRef>
        </p:style>
      </p:cxnSp>
      <p:sp>
        <p:nvSpPr>
          <p:cNvPr id="9" name="Text"/>
          <p:cNvSpPr txBox="1"/>
          <p:nvPr/>
        </p:nvSpPr>
        <p:spPr>
          <a:xfrm>
            <a:off x="585216" y="6505956"/>
            <a:ext cx="8595360" cy="192024"/>
          </a:xfrm>
          <a:prstGeom prst="rect">
            <a:avLst/>
          </a:prstGeom>
          <a:noFill/>
          <a:effectLst/>
        </p:spPr>
        <p:txBody>
          <a:bodyPr wrap="none" lIns="0" rIns="0" tIns="0" bIns="0" anchor="t">
            <a:noAutofit/>
          </a:bodyPr>
          <a:lstStyle/>
          <a:p>
            <a:pPr algn="l">
              <a:lnSpc>
                <a:spcPts val="1080"/>
              </a:lnSpc>
              <a:spcBef>
                <a:spcPts val="0"/>
              </a:spcBef>
              <a:spcAft>
                <a:spcPts val="0"/>
              </a:spcAft>
            </a:pPr>
            <a:r>
              <a:rPr sz="940" b="0" lang="en-US">
                <a:solidFill>
                  <a:srgbClr val="52677D"/>
                </a:solidFill>
                <a:latin typeface="Arial"/>
                <a:ea typeface="Microsoft YaHei"/>
              </a:rPr>
              <a:t>W3C AI Agent Protocol CG  ·  Discussion draft / 讨论稿</a:t>
            </a:r>
          </a:p>
        </p:txBody>
      </p:sp>
      <p:sp>
        <p:nvSpPr>
          <p:cNvPr id="10" name="Text"/>
          <p:cNvSpPr txBox="1"/>
          <p:nvPr/>
        </p:nvSpPr>
        <p:spPr>
          <a:xfrm>
            <a:off x="8439912" y="6505956"/>
            <a:ext cx="2194560" cy="192024"/>
          </a:xfrm>
          <a:prstGeom prst="rect">
            <a:avLst/>
          </a:prstGeom>
          <a:noFill/>
          <a:effectLst/>
        </p:spPr>
        <p:txBody>
          <a:bodyPr wrap="none" lIns="0" rIns="0" tIns="0" bIns="0" anchor="t">
            <a:noAutofit/>
          </a:bodyPr>
          <a:lstStyle/>
          <a:p>
            <a:pPr algn="r">
              <a:lnSpc>
                <a:spcPts val="1069"/>
              </a:lnSpc>
              <a:spcBef>
                <a:spcPts val="0"/>
              </a:spcBef>
              <a:spcAft>
                <a:spcPts val="0"/>
              </a:spcAft>
            </a:pPr>
            <a:r>
              <a:rPr sz="930" b="0" lang="en-US">
                <a:solidFill>
                  <a:srgbClr val="52677D"/>
                </a:solidFill>
                <a:latin typeface="Arial"/>
                <a:ea typeface="Microsoft YaHei"/>
              </a:rPr>
              <a:t>Refs: identity, 6749</a:t>
            </a:r>
          </a:p>
        </p:txBody>
      </p:sp>
      <p:sp>
        <p:nvSpPr>
          <p:cNvPr id="11" name="Text"/>
          <p:cNvSpPr txBox="1"/>
          <p:nvPr/>
        </p:nvSpPr>
        <p:spPr>
          <a:xfrm>
            <a:off x="10890504" y="6487668"/>
            <a:ext cx="694944" cy="228600"/>
          </a:xfrm>
          <a:prstGeom prst="rect">
            <a:avLst/>
          </a:prstGeom>
          <a:noFill/>
          <a:effectLst/>
        </p:spPr>
        <p:txBody>
          <a:bodyPr wrap="none" lIns="0" rIns="0" tIns="0" bIns="0" anchor="t">
            <a:noAutofit/>
          </a:bodyPr>
          <a:lstStyle/>
          <a:p>
            <a:pPr algn="r">
              <a:lnSpc>
                <a:spcPts val="1299"/>
              </a:lnSpc>
              <a:spcBef>
                <a:spcPts val="0"/>
              </a:spcBef>
              <a:spcAft>
                <a:spcPts val="0"/>
              </a:spcAft>
            </a:pPr>
            <a:r>
              <a:rPr sz="1130" b="1" lang="en-US">
                <a:solidFill>
                  <a:srgbClr val="7855B5"/>
                </a:solidFill>
                <a:latin typeface="Arial"/>
                <a:ea typeface="Microsoft YaHei"/>
              </a:rPr>
              <a:t>07 / 07</a:t>
            </a:r>
          </a:p>
        </p:txBody>
      </p:sp>
      <p:sp>
        <p:nvSpPr>
          <p:cNvPr id="12" name="Panel"/>
          <p:cNvSpPr/>
          <p:nvPr/>
        </p:nvSpPr>
        <p:spPr>
          <a:xfrm>
            <a:off x="585216" y="1828800"/>
            <a:ext cx="11021567" cy="1051560"/>
          </a:xfrm>
          <a:prstGeom prst="roundRect">
            <a:avLst>
              <a:gd name="adj" fmla="val 7000"/>
            </a:avLst>
          </a:prstGeom>
          <a:solidFill>
            <a:srgbClr val="F4F0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Integration goal EN"/>
          <p:cNvSpPr txBox="1"/>
          <p:nvPr/>
        </p:nvSpPr>
        <p:spPr>
          <a:xfrm>
            <a:off x="795528" y="1975104"/>
            <a:ext cx="10600943" cy="594360"/>
          </a:xfrm>
          <a:prstGeom prst="rect">
            <a:avLst/>
          </a:prstGeom>
          <a:noFill/>
          <a:effectLst/>
        </p:spPr>
        <p:txBody>
          <a:bodyPr wrap="none" lIns="0" rIns="0" tIns="0" bIns="0" anchor="t">
            <a:noAutofit/>
          </a:bodyPr>
          <a:lstStyle/>
          <a:p>
            <a:pPr algn="l">
              <a:lnSpc>
                <a:spcPts val="2322"/>
              </a:lnSpc>
              <a:spcBef>
                <a:spcPts val="0"/>
              </a:spcBef>
              <a:spcAft>
                <a:spcPts val="0"/>
              </a:spcAft>
            </a:pPr>
            <a:r>
              <a:rPr sz="2020" b="1" lang="en-US">
                <a:solidFill>
                  <a:srgbClr val="7855B5"/>
                </a:solidFill>
                <a:latin typeface="Arial"/>
                <a:ea typeface="Microsoft YaHei"/>
              </a:rPr>
              <a:t>We would like to explore combining the DID and OAuth specifications, so agents</a:t>
            </a:r>
            <a:br/>
            <a:r>
              <a:rPr sz="2020" b="1" lang="en-US">
                <a:solidFill>
                  <a:srgbClr val="7855B5"/>
                </a:solidFill>
                <a:latin typeface="Arial"/>
                <a:ea typeface="Microsoft YaHei"/>
              </a:rPr>
              <a:t>using DID identities can reuse OAuth’s authorization capabilities.</a:t>
            </a:r>
          </a:p>
        </p:txBody>
      </p:sp>
      <p:sp>
        <p:nvSpPr>
          <p:cNvPr id="14" name="Integration goal ZH"/>
          <p:cNvSpPr txBox="1"/>
          <p:nvPr/>
        </p:nvSpPr>
        <p:spPr>
          <a:xfrm>
            <a:off x="795528" y="2560320"/>
            <a:ext cx="10600943" cy="292608"/>
          </a:xfrm>
          <a:prstGeom prst="rect">
            <a:avLst/>
          </a:prstGeom>
          <a:noFill/>
          <a:effectLst/>
        </p:spPr>
        <p:txBody>
          <a:bodyPr wrap="none" lIns="0" rIns="0" tIns="0" bIns="0" anchor="t">
            <a:noAutofit/>
          </a:bodyPr>
          <a:lstStyle/>
          <a:p>
            <a:pPr algn="l">
              <a:lnSpc>
                <a:spcPts val="1909"/>
              </a:lnSpc>
              <a:spcBef>
                <a:spcPts val="0"/>
              </a:spcBef>
              <a:spcAft>
                <a:spcPts val="0"/>
              </a:spcAft>
            </a:pPr>
            <a:r>
              <a:rPr sz="1660" b="0" lang="zh-CN">
                <a:solidFill>
                  <a:srgbClr val="52677D"/>
                </a:solidFill>
                <a:latin typeface="Microsoft YaHei"/>
                <a:ea typeface="Microsoft YaHei"/>
              </a:rPr>
              <a:t>我们想尝试结合 DID 与 OAuth 两套规范，让使用 DID 身份的智能体复用 OAuth 的授权能力。</a:t>
            </a:r>
          </a:p>
        </p:txBody>
      </p:sp>
      <p:sp>
        <p:nvSpPr>
          <p:cNvPr id="15" name="Panel"/>
          <p:cNvSpPr/>
          <p:nvPr/>
        </p:nvSpPr>
        <p:spPr>
          <a:xfrm>
            <a:off x="585216" y="3090672"/>
            <a:ext cx="5391911" cy="2633472"/>
          </a:xfrm>
          <a:prstGeom prst="roundRect">
            <a:avLst>
              <a:gd name="adj" fmla="val 7000"/>
            </a:avLst>
          </a:prstGeom>
          <a:solidFill>
            <a:srgbClr val="F5F8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
          <p:cNvSpPr txBox="1"/>
          <p:nvPr/>
        </p:nvSpPr>
        <p:spPr>
          <a:xfrm>
            <a:off x="795528" y="3273552"/>
            <a:ext cx="4971287" cy="365760"/>
          </a:xfrm>
          <a:prstGeom prst="rect">
            <a:avLst/>
          </a:prstGeom>
          <a:noFill/>
          <a:effectLst/>
        </p:spPr>
        <p:txBody>
          <a:bodyPr wrap="none" lIns="0" rIns="0" tIns="0" bIns="0" anchor="t">
            <a:noAutofit/>
          </a:bodyPr>
          <a:lstStyle/>
          <a:p>
            <a:pPr algn="l">
              <a:lnSpc>
                <a:spcPts val="2529"/>
              </a:lnSpc>
              <a:spcBef>
                <a:spcPts val="0"/>
              </a:spcBef>
              <a:spcAft>
                <a:spcPts val="0"/>
              </a:spcAft>
            </a:pPr>
            <a:r>
              <a:rPr sz="2200" b="1" lang="en-US">
                <a:solidFill>
                  <a:srgbClr val="193249"/>
                </a:solidFill>
                <a:latin typeface="Arial"/>
                <a:ea typeface="Microsoft YaHei"/>
              </a:rPr>
              <a:t>DID: establish agent identity</a:t>
            </a:r>
          </a:p>
        </p:txBody>
      </p:sp>
      <p:sp>
        <p:nvSpPr>
          <p:cNvPr id="17" name="Text"/>
          <p:cNvSpPr txBox="1"/>
          <p:nvPr/>
        </p:nvSpPr>
        <p:spPr>
          <a:xfrm>
            <a:off x="795528" y="3721608"/>
            <a:ext cx="4971287" cy="301752"/>
          </a:xfrm>
          <a:prstGeom prst="rect">
            <a:avLst/>
          </a:prstGeom>
          <a:noFill/>
          <a:effectLst/>
        </p:spPr>
        <p:txBody>
          <a:bodyPr wrap="none" lIns="0" rIns="0" tIns="0" bIns="0" anchor="t">
            <a:noAutofit/>
          </a:bodyPr>
          <a:lstStyle/>
          <a:p>
            <a:pPr algn="l">
              <a:lnSpc>
                <a:spcPts val="2070"/>
              </a:lnSpc>
              <a:spcBef>
                <a:spcPts val="0"/>
              </a:spcBef>
              <a:spcAft>
                <a:spcPts val="0"/>
              </a:spcAft>
            </a:pPr>
            <a:r>
              <a:rPr sz="1800" b="1" lang="zh-CN">
                <a:solidFill>
                  <a:srgbClr val="7855B5"/>
                </a:solidFill>
                <a:latin typeface="Microsoft YaHei"/>
                <a:ea typeface="Microsoft YaHei"/>
              </a:rPr>
              <a:t>DID：建立智能体身份</a:t>
            </a:r>
          </a:p>
        </p:txBody>
      </p:sp>
      <p:sp>
        <p:nvSpPr>
          <p:cNvPr id="18" name="OAuth card paragraph EN"/>
          <p:cNvSpPr txBox="1"/>
          <p:nvPr/>
        </p:nvSpPr>
        <p:spPr>
          <a:xfrm>
            <a:off x="795528" y="4187952"/>
            <a:ext cx="4971287" cy="825499"/>
          </a:xfrm>
          <a:prstGeom prst="rect">
            <a:avLst/>
          </a:prstGeom>
          <a:noFill/>
          <a:effectLst/>
        </p:spPr>
        <p:txBody>
          <a:bodyPr wrap="none" lIns="0" rIns="0" tIns="0" bIns="0" anchor="t">
            <a:noAutofit/>
          </a:bodyPr>
          <a:lstStyle/>
          <a:p>
            <a:pPr algn="l">
              <a:lnSpc>
                <a:spcPts val="2052"/>
              </a:lnSpc>
              <a:spcBef>
                <a:spcPts val="0"/>
              </a:spcBef>
              <a:spcAft>
                <a:spcPts val="0"/>
              </a:spcAft>
            </a:pPr>
            <a:r>
              <a:rPr sz="1800" b="0" lang="en-US">
                <a:solidFill>
                  <a:srgbClr val="24394E"/>
                </a:solidFill>
                <a:latin typeface="Arial"/>
                <a:ea typeface="Microsoft YaHei"/>
              </a:rPr>
              <a:t>DID identifies the acting agent and proves</a:t>
            </a:r>
            <a:br/>
            <a:r>
              <a:rPr sz="1800" b="0" lang="en-US">
                <a:solidFill>
                  <a:srgbClr val="24394E"/>
                </a:solidFill>
                <a:latin typeface="Arial"/>
                <a:ea typeface="Microsoft YaHei"/>
              </a:rPr>
              <a:t>control of an authorized key. We will explore its</a:t>
            </a:r>
            <a:br/>
            <a:r>
              <a:rPr sz="1800" b="0" lang="en-US">
                <a:solidFill>
                  <a:srgbClr val="24394E"/>
                </a:solidFill>
                <a:latin typeface="Arial"/>
                <a:ea typeface="Microsoft YaHei"/>
              </a:rPr>
              <a:t>link to an OAuth client.</a:t>
            </a:r>
          </a:p>
        </p:txBody>
      </p:sp>
      <p:sp>
        <p:nvSpPr>
          <p:cNvPr id="19" name="OAuth card paragraph ZH"/>
          <p:cNvSpPr txBox="1"/>
          <p:nvPr/>
        </p:nvSpPr>
        <p:spPr>
          <a:xfrm>
            <a:off x="795528" y="5123179"/>
            <a:ext cx="4971287" cy="525272"/>
          </a:xfrm>
          <a:prstGeom prst="rect">
            <a:avLst/>
          </a:prstGeom>
          <a:noFill/>
          <a:effectLst/>
        </p:spPr>
        <p:txBody>
          <a:bodyPr wrap="none" lIns="0" rIns="0" tIns="0" bIns="0" anchor="t">
            <a:noAutofit/>
          </a:bodyPr>
          <a:lstStyle/>
          <a:p>
            <a:pPr algn="l">
              <a:lnSpc>
                <a:spcPts val="1896"/>
              </a:lnSpc>
              <a:spcBef>
                <a:spcPts val="0"/>
              </a:spcBef>
              <a:spcAft>
                <a:spcPts val="0"/>
              </a:spcAft>
            </a:pPr>
            <a:r>
              <a:rPr sz="1580" b="0" lang="zh-CN">
                <a:solidFill>
                  <a:srgbClr val="52677D"/>
                </a:solidFill>
                <a:latin typeface="Microsoft YaHei"/>
                <a:ea typeface="Microsoft YaHei"/>
              </a:rPr>
              <a:t>DID 用于识别实际执行任务的智能体，并验证密钥控</a:t>
            </a:r>
            <a:br/>
            <a:r>
              <a:rPr sz="1580" b="0" lang="zh-CN">
                <a:solidFill>
                  <a:srgbClr val="52677D"/>
                </a:solidFill>
                <a:latin typeface="Microsoft YaHei"/>
                <a:ea typeface="Microsoft YaHei"/>
              </a:rPr>
              <a:t>制；再探索这一身份与 OAuth 客户端如何关联。</a:t>
            </a:r>
          </a:p>
        </p:txBody>
      </p:sp>
      <p:sp>
        <p:nvSpPr>
          <p:cNvPr id="20" name="Panel"/>
          <p:cNvSpPr/>
          <p:nvPr/>
        </p:nvSpPr>
        <p:spPr>
          <a:xfrm>
            <a:off x="6214871" y="3090672"/>
            <a:ext cx="5391911" cy="2633472"/>
          </a:xfrm>
          <a:prstGeom prst="roundRect">
            <a:avLst>
              <a:gd name="adj" fmla="val 7000"/>
            </a:avLst>
          </a:prstGeom>
          <a:solidFill>
            <a:srgbClr val="F5F8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
          <p:cNvSpPr txBox="1"/>
          <p:nvPr/>
        </p:nvSpPr>
        <p:spPr>
          <a:xfrm>
            <a:off x="6425183" y="3273552"/>
            <a:ext cx="4971287" cy="365760"/>
          </a:xfrm>
          <a:prstGeom prst="rect">
            <a:avLst/>
          </a:prstGeom>
          <a:noFill/>
          <a:effectLst/>
        </p:spPr>
        <p:txBody>
          <a:bodyPr wrap="none" lIns="0" rIns="0" tIns="0" bIns="0" anchor="t">
            <a:noAutofit/>
          </a:bodyPr>
          <a:lstStyle/>
          <a:p>
            <a:pPr algn="l">
              <a:lnSpc>
                <a:spcPts val="2529"/>
              </a:lnSpc>
              <a:spcBef>
                <a:spcPts val="0"/>
              </a:spcBef>
              <a:spcAft>
                <a:spcPts val="0"/>
              </a:spcAft>
            </a:pPr>
            <a:r>
              <a:rPr sz="2200" b="1" lang="en-US">
                <a:solidFill>
                  <a:srgbClr val="193249"/>
                </a:solidFill>
                <a:latin typeface="Arial"/>
                <a:ea typeface="Microsoft YaHei"/>
              </a:rPr>
              <a:t>OAuth: reuse authorization</a:t>
            </a:r>
          </a:p>
        </p:txBody>
      </p:sp>
      <p:sp>
        <p:nvSpPr>
          <p:cNvPr id="22" name="Text"/>
          <p:cNvSpPr txBox="1"/>
          <p:nvPr/>
        </p:nvSpPr>
        <p:spPr>
          <a:xfrm>
            <a:off x="6425183" y="3721608"/>
            <a:ext cx="4971287" cy="301752"/>
          </a:xfrm>
          <a:prstGeom prst="rect">
            <a:avLst/>
          </a:prstGeom>
          <a:noFill/>
          <a:effectLst/>
        </p:spPr>
        <p:txBody>
          <a:bodyPr wrap="none" lIns="0" rIns="0" tIns="0" bIns="0" anchor="t">
            <a:noAutofit/>
          </a:bodyPr>
          <a:lstStyle/>
          <a:p>
            <a:pPr algn="l">
              <a:lnSpc>
                <a:spcPts val="2070"/>
              </a:lnSpc>
              <a:spcBef>
                <a:spcPts val="0"/>
              </a:spcBef>
              <a:spcAft>
                <a:spcPts val="0"/>
              </a:spcAft>
            </a:pPr>
            <a:r>
              <a:rPr sz="1800" b="1" lang="zh-CN">
                <a:solidFill>
                  <a:srgbClr val="7855B5"/>
                </a:solidFill>
                <a:latin typeface="Microsoft YaHei"/>
                <a:ea typeface="Microsoft YaHei"/>
              </a:rPr>
              <a:t>OAuth：复用现有授权</a:t>
            </a:r>
          </a:p>
        </p:txBody>
      </p:sp>
      <p:sp>
        <p:nvSpPr>
          <p:cNvPr id="23" name="OAuth card paragraph EN"/>
          <p:cNvSpPr txBox="1"/>
          <p:nvPr/>
        </p:nvSpPr>
        <p:spPr>
          <a:xfrm>
            <a:off x="6425183" y="4187952"/>
            <a:ext cx="4971287" cy="825499"/>
          </a:xfrm>
          <a:prstGeom prst="rect">
            <a:avLst/>
          </a:prstGeom>
          <a:noFill/>
          <a:effectLst/>
        </p:spPr>
        <p:txBody>
          <a:bodyPr wrap="none" lIns="0" rIns="0" tIns="0" bIns="0" anchor="t">
            <a:noAutofit/>
          </a:bodyPr>
          <a:lstStyle/>
          <a:p>
            <a:pPr algn="l">
              <a:lnSpc>
                <a:spcPts val="2052"/>
              </a:lnSpc>
              <a:spcBef>
                <a:spcPts val="0"/>
              </a:spcBef>
              <a:spcAft>
                <a:spcPts val="0"/>
              </a:spcAft>
            </a:pPr>
            <a:r>
              <a:rPr sz="1800" b="0" lang="en-US">
                <a:solidFill>
                  <a:srgbClr val="24394E"/>
                </a:solidFill>
                <a:latin typeface="Arial"/>
                <a:ea typeface="Microsoft YaHei"/>
              </a:rPr>
              <a:t>OAuth manages consent or policy, permission</a:t>
            </a:r>
            <a:br/>
            <a:r>
              <a:rPr sz="1800" b="0" lang="en-US">
                <a:solidFill>
                  <a:srgbClr val="24394E"/>
                </a:solidFill>
                <a:latin typeface="Arial"/>
                <a:ea typeface="Microsoft YaHei"/>
              </a:rPr>
              <a:t>scope and token lifetime. The agent uses the</a:t>
            </a:r>
            <a:br/>
            <a:r>
              <a:rPr sz="1800" b="0" lang="en-US">
                <a:solidFill>
                  <a:srgbClr val="24394E"/>
                </a:solidFill>
                <a:latin typeface="Arial"/>
                <a:ea typeface="Microsoft YaHei"/>
              </a:rPr>
              <a:t>issued token to access permitted resources.</a:t>
            </a:r>
          </a:p>
        </p:txBody>
      </p:sp>
      <p:sp>
        <p:nvSpPr>
          <p:cNvPr id="24" name="OAuth card paragraph ZH"/>
          <p:cNvSpPr txBox="1"/>
          <p:nvPr/>
        </p:nvSpPr>
        <p:spPr>
          <a:xfrm>
            <a:off x="6425183" y="5123179"/>
            <a:ext cx="4971287" cy="525272"/>
          </a:xfrm>
          <a:prstGeom prst="rect">
            <a:avLst/>
          </a:prstGeom>
          <a:noFill/>
          <a:effectLst/>
        </p:spPr>
        <p:txBody>
          <a:bodyPr wrap="none" lIns="0" rIns="0" tIns="0" bIns="0" anchor="t">
            <a:noAutofit/>
          </a:bodyPr>
          <a:lstStyle/>
          <a:p>
            <a:pPr algn="l">
              <a:lnSpc>
                <a:spcPts val="1896"/>
              </a:lnSpc>
              <a:spcBef>
                <a:spcPts val="0"/>
              </a:spcBef>
              <a:spcAft>
                <a:spcPts val="0"/>
              </a:spcAft>
            </a:pPr>
            <a:r>
              <a:rPr sz="1580" b="0" lang="zh-CN">
                <a:solidFill>
                  <a:srgbClr val="52677D"/>
                </a:solidFill>
                <a:latin typeface="Microsoft YaHei"/>
                <a:ea typeface="Microsoft YaHei"/>
              </a:rPr>
              <a:t>OAuth 管理用户同意或既有策略、权限范围和令牌有效</a:t>
            </a:r>
            <a:br/>
            <a:r>
              <a:rPr sz="1580" b="0" lang="zh-CN">
                <a:solidFill>
                  <a:srgbClr val="52677D"/>
                </a:solidFill>
                <a:latin typeface="Microsoft YaHei"/>
                <a:ea typeface="Microsoft YaHei"/>
              </a:rPr>
              <a:t>期；智能体使用令牌访问获准的资源。</a:t>
            </a:r>
          </a:p>
        </p:txBody>
      </p:sp>
      <p:sp>
        <p:nvSpPr>
          <p:cNvPr id="25" name="Panel"/>
          <p:cNvSpPr/>
          <p:nvPr/>
        </p:nvSpPr>
        <p:spPr>
          <a:xfrm>
            <a:off x="585216" y="5843016"/>
            <a:ext cx="11021567" cy="502920"/>
          </a:xfrm>
          <a:prstGeom prst="roundRect">
            <a:avLst>
              <a:gd name="adj" fmla="val 7000"/>
            </a:avLst>
          </a:prstGeom>
          <a:solidFill>
            <a:srgbClr val="F4F0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
          <p:cNvSpPr txBox="1"/>
          <p:nvPr/>
        </p:nvSpPr>
        <p:spPr>
          <a:xfrm>
            <a:off x="749808" y="5875020"/>
            <a:ext cx="10692383" cy="256032"/>
          </a:xfrm>
          <a:prstGeom prst="rect">
            <a:avLst/>
          </a:prstGeom>
          <a:noFill/>
          <a:effectLst/>
        </p:spPr>
        <p:txBody>
          <a:bodyPr wrap="none" lIns="0" rIns="0" tIns="0" bIns="0" anchor="t">
            <a:noAutofit/>
          </a:bodyPr>
          <a:lstStyle/>
          <a:p>
            <a:pPr algn="l">
              <a:lnSpc>
                <a:spcPts val="1885"/>
              </a:lnSpc>
              <a:spcBef>
                <a:spcPts val="0"/>
              </a:spcBef>
              <a:spcAft>
                <a:spcPts val="0"/>
              </a:spcAft>
            </a:pPr>
            <a:r>
              <a:rPr sz="1639" b="1" lang="en-US">
                <a:solidFill>
                  <a:srgbClr val="7855B5"/>
                </a:solidFill>
                <a:latin typeface="Arial"/>
                <a:ea typeface="Microsoft YaHei"/>
              </a:rPr>
              <a:t>Start with shared roles and one minimal example—not a new authorization protocol.</a:t>
            </a:r>
          </a:p>
        </p:txBody>
      </p:sp>
      <p:sp>
        <p:nvSpPr>
          <p:cNvPr id="27" name="Text"/>
          <p:cNvSpPr txBox="1"/>
          <p:nvPr/>
        </p:nvSpPr>
        <p:spPr>
          <a:xfrm>
            <a:off x="749808" y="6112764"/>
            <a:ext cx="10692383" cy="210312"/>
          </a:xfrm>
          <a:prstGeom prst="rect">
            <a:avLst/>
          </a:prstGeom>
          <a:noFill/>
          <a:effectLst/>
        </p:spPr>
        <p:txBody>
          <a:bodyPr wrap="none" lIns="0" rIns="0" tIns="0" bIns="0" anchor="t">
            <a:noAutofit/>
          </a:bodyPr>
          <a:lstStyle/>
          <a:p>
            <a:pPr algn="l">
              <a:lnSpc>
                <a:spcPts val="1621"/>
              </a:lnSpc>
              <a:spcBef>
                <a:spcPts val="0"/>
              </a:spcBef>
              <a:spcAft>
                <a:spcPts val="0"/>
              </a:spcAft>
            </a:pPr>
            <a:r>
              <a:rPr sz="1410" b="0" lang="zh-CN">
                <a:solidFill>
                  <a:srgbClr val="52677D"/>
                </a:solidFill>
                <a:latin typeface="Microsoft YaHei"/>
                <a:ea typeface="Microsoft YaHei"/>
              </a:rPr>
              <a:t>先讨论角色关系与一个最小互操作示例，不预设完整协议，也不另起授权体系。</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W3C AI Agent Protocol — Three Proposals / 三项协议提案</dc:title>
  <dc:subject>Bilingual discussion deck: streaming HTTP, mutual DID authentication, and DID + OAuth</dc:subject>
  <dc:creator>Gaowei Chang</dc:creator>
  <cp:keywords>W3C, AI Agent Protocol, DID, HTTP, OAuth, bilingual, discussion draft</cp:keywords>
  <dc:description>Seven-slide revision; overview plus two slides per proposal; two streaming modes only.</dc:description>
  <cp:lastModifiedBy>Steve Canny</cp:lastModifiedBy>
  <cp:revision>1</cp:revision>
  <dcterms:created xsi:type="dcterms:W3CDTF">2013-01-27T09:14:16Z</dcterms:created>
  <dcterms:modified xsi:type="dcterms:W3CDTF">2013-01-27T09:15:58Z</dcterms:modified>
  <cp:category/>
</cp:coreProperties>
</file>